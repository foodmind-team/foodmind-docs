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77" r:id="rId4"/>
    <p:sldId id="258" r:id="rId5"/>
    <p:sldId id="259" r:id="rId6"/>
    <p:sldId id="260" r:id="rId7"/>
    <p:sldId id="261" r:id="rId8"/>
    <p:sldId id="262" r:id="rId9"/>
    <p:sldId id="263" r:id="rId10"/>
    <p:sldId id="278" r:id="rId11"/>
    <p:sldId id="275" r:id="rId12"/>
    <p:sldId id="265" r:id="rId13"/>
    <p:sldId id="266" r:id="rId14"/>
    <p:sldId id="279" r:id="rId15"/>
    <p:sldId id="274" r:id="rId16"/>
    <p:sldId id="264" r:id="rId17"/>
    <p:sldId id="281" r:id="rId18"/>
    <p:sldId id="280" r:id="rId19"/>
    <p:sldId id="276" r:id="rId20"/>
    <p:sldId id="267" r:id="rId21"/>
    <p:sldId id="268" r:id="rId22"/>
    <p:sldId id="282" r:id="rId23"/>
    <p:sldId id="269" r:id="rId24"/>
    <p:sldId id="270" r:id="rId25"/>
    <p:sldId id="271" r:id="rId26"/>
    <p:sldId id="272" r:id="rId27"/>
    <p:sldId id="273" r:id="rId28"/>
  </p:sldIdLst>
  <p:sldSz cx="12192000" cy="6858000"/>
  <p:notesSz cx="6858000" cy="9144000"/>
  <p:custDataLst>
    <p:tags r:id="rId3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01"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470B24-6655-4984-AEB5-E1D20DECD066}" type="datetimeFigureOut">
              <a:rPr lang="zh-CN" altLang="en-US" smtClean="0"/>
              <a:t>2026/8/16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7E5DBE-236F-47BF-A482-99D2EA63E386}" type="slidenum">
              <a:rPr lang="zh-CN" altLang="en-US" smtClean="0"/>
              <a:t>‹#›</a:t>
            </a:fld>
            <a:endParaRPr lang="zh-CN" altLang="en-US"/>
          </a:p>
        </p:txBody>
      </p:sp>
    </p:spTree>
    <p:extLst>
      <p:ext uri="{BB962C8B-B14F-4D97-AF65-F5344CB8AC3E}">
        <p14:creationId xmlns:p14="http://schemas.microsoft.com/office/powerpoint/2010/main" val="281962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Our Hybrid Model combines rules, Collaborative Filtering and Logistic Regression.</a:t>
            </a:r>
          </a:p>
          <a:p>
            <a:endParaRPr dirty="0"/>
          </a:p>
          <a:p>
            <a:r>
              <a:rPr dirty="0"/>
              <a:t>We first build a user-meal interaction matrix. User-based CF asks, “What do users with </a:t>
            </a:r>
            <a:r>
              <a:rPr dirty="0" err="1"/>
              <a:t>behaviour</a:t>
            </a:r>
            <a:r>
              <a:rPr dirty="0"/>
              <a:t> similar to mine enjoy?” Item-based CF asks, “Is this candidate </a:t>
            </a:r>
            <a:r>
              <a:rPr dirty="0" err="1"/>
              <a:t>behaviourally</a:t>
            </a:r>
            <a:r>
              <a:rPr dirty="0"/>
              <a:t> similar to meals I liked?”</a:t>
            </a:r>
          </a:p>
          <a:p>
            <a:endParaRPr dirty="0"/>
          </a:p>
          <a:p>
            <a:r>
              <a:rPr dirty="0"/>
              <a:t>Both CF scores become Logistic Regression features. Other features include cuisine match, spice compatibility, price, location, meal time, ratings and repetition.</a:t>
            </a:r>
          </a:p>
          <a:p>
            <a:endParaRPr dirty="0"/>
          </a:p>
          <a:p>
            <a:r>
              <a:rPr dirty="0"/>
              <a:t>Logistic Regression learns the importance of these features and estimates the probability that the user will accept each valid candidate. We therefore avoid guessing a fixed CF-to-LR ratio.</a:t>
            </a:r>
          </a:p>
          <a:p>
            <a:endParaRPr dirty="0"/>
          </a:p>
          <a:p>
            <a:r>
              <a:rPr dirty="0"/>
              <a:t>For a new user or meal, CF may be unavailable. Availability flags identify missing scores, so the model falls back to preferences, context, seed data and rules. Missing CF data is not treated as dislike.</a:t>
            </a:r>
          </a:p>
          <a:p>
            <a:endParaRPr dirty="0"/>
          </a:p>
          <a:p>
            <a:r>
              <a:rPr dirty="0"/>
              <a:t>Verified evidence and strong positive model contributions become reason codes. The Agent explains these codes but cannot invent evidence.</a:t>
            </a:r>
          </a:p>
          <a:p>
            <a:endParaRPr dirty="0"/>
          </a:p>
          <a:p>
            <a:r>
              <a:rPr dirty="0"/>
              <a:t>We will evaluate the classifier with a confusion matrix, precision, recall, F1 and ROC-AUC. Any simulated prototype data will be disclosed.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FoodMind</a:t>
            </a:r>
            <a:r>
              <a:rPr dirty="0"/>
              <a:t> has three AI entry points: recommendation, cooking and platform exploration.</a:t>
            </a:r>
          </a:p>
          <a:p>
            <a:endParaRPr dirty="0"/>
          </a:p>
          <a:p>
            <a:r>
              <a:rPr dirty="0"/>
              <a:t>The Recommendation Agent calls retrieval, filtering and ranking tools, then explains the result. The Cooking Planner Agent uses ingredients, time, budget and dietary rules to retrieve a seed recipe and produce practical steps.</a:t>
            </a:r>
          </a:p>
          <a:p>
            <a:endParaRPr dirty="0"/>
          </a:p>
          <a:p>
            <a:r>
              <a:rPr dirty="0"/>
              <a:t>The independent Chatbot uses three Agents. Its Orchestrator delegates to the Platform Search Agent or Content Summary Agent. They search, </a:t>
            </a:r>
            <a:r>
              <a:rPr dirty="0" err="1"/>
              <a:t>summarise</a:t>
            </a:r>
            <a:r>
              <a:rPr dirty="0"/>
              <a:t> or compare </a:t>
            </a:r>
            <a:r>
              <a:rPr dirty="0" err="1"/>
              <a:t>authorised</a:t>
            </a:r>
            <a:r>
              <a:rPr dirty="0"/>
              <a:t> Meal Notes, Food Products and Places while keeping source references.</a:t>
            </a:r>
          </a:p>
          <a:p>
            <a:endParaRPr dirty="0"/>
          </a:p>
          <a:p>
            <a:r>
              <a:rPr dirty="0" err="1"/>
              <a:t>LangGraph</a:t>
            </a:r>
            <a:r>
              <a:rPr dirty="0"/>
              <a:t> manages state, routing, timeouts and traces. Agents use only allow-listed tools, cannot access PostgreSQL directly and cannot cross into another AI workflow. This keeps the system controlled and testable.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Android uses Kotlin and Jetpack Compose, while Web uses React and TypeScript. Both provide the same capabilities through one Spring Boot REST API.</a:t>
            </a:r>
          </a:p>
          <a:p>
            <a:endParaRPr dirty="0"/>
          </a:p>
          <a:p>
            <a:r>
              <a:rPr dirty="0"/>
              <a:t>Spring Boot is the only public business API. It owns authentication, </a:t>
            </a:r>
            <a:r>
              <a:rPr dirty="0" err="1"/>
              <a:t>authorisation</a:t>
            </a:r>
            <a:r>
              <a:rPr dirty="0"/>
              <a:t>, rules, search, analytics and database writes. PostgreSQL is the system of record. S3 stores optional photos, while PostgreSQL stores their keys and metadata.</a:t>
            </a:r>
          </a:p>
          <a:p>
            <a:endParaRPr dirty="0"/>
          </a:p>
          <a:p>
            <a:r>
              <a:rPr dirty="0" err="1"/>
              <a:t>FastAPI</a:t>
            </a:r>
            <a:r>
              <a:rPr dirty="0"/>
              <a:t> is private and runs </a:t>
            </a:r>
            <a:r>
              <a:rPr dirty="0" err="1"/>
              <a:t>LangGraph</a:t>
            </a:r>
            <a:r>
              <a:rPr dirty="0"/>
              <a:t> and scikit-learn. Spring Boot sends only </a:t>
            </a:r>
            <a:r>
              <a:rPr dirty="0" err="1"/>
              <a:t>authorised</a:t>
            </a:r>
            <a:r>
              <a:rPr dirty="0"/>
              <a:t> context. </a:t>
            </a:r>
            <a:r>
              <a:rPr dirty="0" err="1"/>
              <a:t>Pydantic</a:t>
            </a:r>
            <a:r>
              <a:rPr dirty="0"/>
              <a:t> validates structured AI outputs, and Spring Boot separately validates permissions, business rules and persistence.</a:t>
            </a:r>
          </a:p>
          <a:p>
            <a:endParaRPr dirty="0"/>
          </a:p>
          <a:p>
            <a:r>
              <a:rPr dirty="0"/>
              <a:t>Users therefore cannot call Agents directly, and Agents cannot retrieve arbitrary private data or write to the database.</a:t>
            </a:r>
          </a:p>
          <a:p>
            <a:endParaRPr dirty="0"/>
          </a:p>
          <a:p>
            <a:r>
              <a:rPr dirty="0"/>
              <a:t>Web runs on </a:t>
            </a:r>
            <a:r>
              <a:rPr dirty="0" err="1"/>
              <a:t>Vercel</a:t>
            </a:r>
            <a:r>
              <a:rPr dirty="0"/>
              <a:t>. Spring Boot runs on AWS ECS Fargate, </a:t>
            </a:r>
            <a:r>
              <a:rPr dirty="0" err="1"/>
              <a:t>FastAPI</a:t>
            </a:r>
            <a:r>
              <a:rPr dirty="0"/>
              <a:t> remains private, PostgreSQL uses RDS and S3 stores photos.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072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286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960120"/>
            <a:ext cx="10515600" cy="1371600"/>
          </a:xfrm>
          <a:prstGeom prst="rect">
            <a:avLst/>
          </a:prstGeom>
          <a:noFill/>
        </p:spPr>
        <p:txBody>
          <a:bodyPr wrap="square" lIns="0" tIns="0" rIns="0" bIns="0" anchor="t">
            <a:spAutoFit/>
          </a:bodyPr>
          <a:lstStyle/>
          <a:p>
            <a:pPr algn="l">
              <a:lnSpc>
                <a:spcPct val="100000"/>
              </a:lnSpc>
              <a:spcBef>
                <a:spcPts val="0"/>
              </a:spcBef>
              <a:spcAft>
                <a:spcPts val="600"/>
              </a:spcAft>
            </a:pPr>
            <a:r>
              <a:rPr sz="6000" b="1" i="0">
                <a:solidFill>
                  <a:srgbClr val="1F2937"/>
                </a:solidFill>
                <a:latin typeface="Calibri"/>
              </a:rPr>
              <a:t>FoodMind</a:t>
            </a:r>
          </a:p>
        </p:txBody>
      </p:sp>
      <p:sp>
        <p:nvSpPr>
          <p:cNvPr id="5" name="TextBox 4"/>
          <p:cNvSpPr txBox="1"/>
          <p:nvPr/>
        </p:nvSpPr>
        <p:spPr>
          <a:xfrm>
            <a:off x="850392" y="2148840"/>
            <a:ext cx="10515600" cy="640080"/>
          </a:xfrm>
          <a:prstGeom prst="rect">
            <a:avLst/>
          </a:prstGeom>
          <a:noFill/>
        </p:spPr>
        <p:txBody>
          <a:bodyPr wrap="square" lIns="0" tIns="0" rIns="0" bIns="0" anchor="t">
            <a:spAutoFit/>
          </a:bodyPr>
          <a:lstStyle/>
          <a:p>
            <a:pPr algn="l">
              <a:lnSpc>
                <a:spcPct val="100000"/>
              </a:lnSpc>
              <a:spcBef>
                <a:spcPts val="0"/>
              </a:spcBef>
              <a:spcAft>
                <a:spcPts val="600"/>
              </a:spcAft>
            </a:pPr>
            <a:r>
              <a:rPr sz="2400" b="1" i="0">
                <a:solidFill>
                  <a:srgbClr val="C44607"/>
                </a:solidFill>
                <a:latin typeface="Calibri"/>
              </a:rPr>
              <a:t>Personalized food decision support</a:t>
            </a:r>
          </a:p>
        </p:txBody>
      </p:sp>
      <p:sp>
        <p:nvSpPr>
          <p:cNvPr id="6" name="TextBox 5"/>
          <p:cNvSpPr txBox="1"/>
          <p:nvPr/>
        </p:nvSpPr>
        <p:spPr>
          <a:xfrm>
            <a:off x="850392" y="2743200"/>
            <a:ext cx="1051560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0" i="0">
                <a:solidFill>
                  <a:srgbClr val="5B6472"/>
                </a:solidFill>
                <a:latin typeface="Calibri"/>
              </a:rPr>
              <a:t>AD Project  ·  Team 5  ·  Final Project Presentation</a:t>
            </a:r>
          </a:p>
        </p:txBody>
      </p:sp>
      <p:sp>
        <p:nvSpPr>
          <p:cNvPr id="7" name="TextBox 6"/>
          <p:cNvSpPr txBox="1"/>
          <p:nvPr/>
        </p:nvSpPr>
        <p:spPr>
          <a:xfrm>
            <a:off x="822960" y="365760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Chen Yaqi</a:t>
            </a:r>
            <a:r>
              <a:rPr sz="1400" b="0" i="0">
                <a:solidFill>
                  <a:srgbClr val="5B6472"/>
                </a:solidFill>
                <a:latin typeface="Calibri"/>
              </a:rPr>
              <a:t>   A0335050U</a:t>
            </a:r>
          </a:p>
        </p:txBody>
      </p:sp>
      <p:sp>
        <p:nvSpPr>
          <p:cNvPr id="8" name="TextBox 7"/>
          <p:cNvSpPr txBox="1"/>
          <p:nvPr/>
        </p:nvSpPr>
        <p:spPr>
          <a:xfrm>
            <a:off x="822960" y="429768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Wu Aomo</a:t>
            </a:r>
            <a:r>
              <a:rPr sz="1400" b="0" i="0">
                <a:solidFill>
                  <a:srgbClr val="5B6472"/>
                </a:solidFill>
                <a:latin typeface="Calibri"/>
              </a:rPr>
              <a:t>   A0335088X</a:t>
            </a:r>
          </a:p>
        </p:txBody>
      </p:sp>
      <p:sp>
        <p:nvSpPr>
          <p:cNvPr id="9" name="TextBox 8"/>
          <p:cNvSpPr txBox="1"/>
          <p:nvPr/>
        </p:nvSpPr>
        <p:spPr>
          <a:xfrm>
            <a:off x="822960" y="493776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Huang Qijun</a:t>
            </a:r>
            <a:r>
              <a:rPr sz="1400" b="0" i="0">
                <a:solidFill>
                  <a:srgbClr val="5B6472"/>
                </a:solidFill>
                <a:latin typeface="Calibri"/>
              </a:rPr>
              <a:t>   A0335061N</a:t>
            </a:r>
          </a:p>
        </p:txBody>
      </p:sp>
      <p:sp>
        <p:nvSpPr>
          <p:cNvPr id="10" name="TextBox 9"/>
          <p:cNvSpPr txBox="1"/>
          <p:nvPr/>
        </p:nvSpPr>
        <p:spPr>
          <a:xfrm>
            <a:off x="822960" y="557784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Luo Yuxiang</a:t>
            </a:r>
            <a:r>
              <a:rPr sz="1400" b="0" i="0">
                <a:solidFill>
                  <a:srgbClr val="5B6472"/>
                </a:solidFill>
                <a:latin typeface="Calibri"/>
              </a:rPr>
              <a:t>   A0335071M</a:t>
            </a:r>
          </a:p>
        </p:txBody>
      </p:sp>
      <p:sp>
        <p:nvSpPr>
          <p:cNvPr id="11" name="TextBox 10"/>
          <p:cNvSpPr txBox="1"/>
          <p:nvPr/>
        </p:nvSpPr>
        <p:spPr>
          <a:xfrm>
            <a:off x="4023360" y="365760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Lei Tianyou</a:t>
            </a:r>
            <a:r>
              <a:rPr sz="1400" b="0" i="0">
                <a:solidFill>
                  <a:srgbClr val="5B6472"/>
                </a:solidFill>
                <a:latin typeface="Calibri"/>
              </a:rPr>
              <a:t>   A0335067A</a:t>
            </a:r>
          </a:p>
        </p:txBody>
      </p:sp>
      <p:sp>
        <p:nvSpPr>
          <p:cNvPr id="12" name="TextBox 11"/>
          <p:cNvSpPr txBox="1"/>
          <p:nvPr/>
        </p:nvSpPr>
        <p:spPr>
          <a:xfrm>
            <a:off x="4023360" y="429768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Chen Chen</a:t>
            </a:r>
            <a:r>
              <a:rPr sz="1400" b="0" i="0">
                <a:solidFill>
                  <a:srgbClr val="5B6472"/>
                </a:solidFill>
                <a:latin typeface="Calibri"/>
              </a:rPr>
              <a:t>   A0335082J</a:t>
            </a:r>
          </a:p>
        </p:txBody>
      </p:sp>
      <p:sp>
        <p:nvSpPr>
          <p:cNvPr id="13" name="TextBox 12"/>
          <p:cNvSpPr txBox="1"/>
          <p:nvPr/>
        </p:nvSpPr>
        <p:spPr>
          <a:xfrm>
            <a:off x="4023360" y="4937760"/>
            <a:ext cx="301752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1F2937"/>
                </a:solidFill>
                <a:latin typeface="Calibri"/>
              </a:rPr>
              <a:t>Deng Yunke</a:t>
            </a:r>
            <a:r>
              <a:rPr sz="1400" b="0" i="0">
                <a:solidFill>
                  <a:srgbClr val="5B6472"/>
                </a:solidFill>
                <a:latin typeface="Calibri"/>
              </a:rPr>
              <a:t>   A0335081L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Agenda</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a:t>
            </a:r>
          </a:p>
        </p:txBody>
      </p:sp>
      <p:sp>
        <p:nvSpPr>
          <p:cNvPr id="8" name="TextBox 7"/>
          <p:cNvSpPr txBox="1"/>
          <p:nvPr/>
        </p:nvSpPr>
        <p:spPr>
          <a:xfrm>
            <a:off x="1097280" y="1554480"/>
            <a:ext cx="9601200" cy="3898503"/>
          </a:xfrm>
          <a:prstGeom prst="rect">
            <a:avLst/>
          </a:prstGeom>
          <a:noFill/>
        </p:spPr>
        <p:txBody>
          <a:bodyPr wrap="square" lIns="0" tIns="0" rIns="0" bIns="0" anchor="t">
            <a:spAutoFit/>
          </a:bodyPr>
          <a:lstStyle/>
          <a:p>
            <a:pPr algn="l">
              <a:lnSpc>
                <a:spcPct val="100000"/>
              </a:lnSpc>
              <a:spcBef>
                <a:spcPts val="0"/>
              </a:spcBef>
              <a:spcAft>
                <a:spcPts val="1600"/>
              </a:spcAft>
            </a:pPr>
            <a:r>
              <a:rPr sz="2000" b="1" i="0" dirty="0">
                <a:solidFill>
                  <a:srgbClr val="E8590C"/>
                </a:solidFill>
                <a:latin typeface="Calibri"/>
              </a:rPr>
              <a:t>01</a:t>
            </a:r>
            <a:r>
              <a:rPr sz="2000" b="0" i="0" dirty="0">
                <a:solidFill>
                  <a:srgbClr val="1F2937"/>
                </a:solidFill>
                <a:latin typeface="Calibri"/>
              </a:rPr>
              <a:t>    </a:t>
            </a:r>
            <a:r>
              <a:rPr lang="en-US" sz="2000" b="0" i="0" dirty="0">
                <a:solidFill>
                  <a:srgbClr val="1F2937"/>
                </a:solidFill>
                <a:latin typeface="Calibri"/>
              </a:rPr>
              <a:t>Overview</a:t>
            </a:r>
            <a:endParaRPr sz="2000" b="0" i="0" dirty="0">
              <a:solidFill>
                <a:srgbClr val="1F2937"/>
              </a:solidFill>
              <a:latin typeface="Calibri"/>
            </a:endParaRPr>
          </a:p>
          <a:p>
            <a:pPr algn="l">
              <a:lnSpc>
                <a:spcPct val="100000"/>
              </a:lnSpc>
              <a:spcBef>
                <a:spcPts val="0"/>
              </a:spcBef>
              <a:spcAft>
                <a:spcPts val="1600"/>
              </a:spcAft>
            </a:pPr>
            <a:r>
              <a:rPr sz="2000" b="1" i="0" dirty="0">
                <a:solidFill>
                  <a:srgbClr val="E8590C"/>
                </a:solidFill>
                <a:latin typeface="Calibri"/>
              </a:rPr>
              <a:t>02</a:t>
            </a:r>
            <a:r>
              <a:rPr sz="2000" b="0" i="0" dirty="0">
                <a:solidFill>
                  <a:srgbClr val="1F2937"/>
                </a:solidFill>
                <a:latin typeface="Calibri"/>
              </a:rPr>
              <a:t>    </a:t>
            </a:r>
            <a:r>
              <a:rPr lang="en-US" sz="2000" b="0" i="0" dirty="0">
                <a:solidFill>
                  <a:srgbClr val="1F2937"/>
                </a:solidFill>
                <a:latin typeface="Calibri"/>
              </a:rPr>
              <a:t>Machine Learning</a:t>
            </a:r>
            <a:endParaRPr sz="2000" b="0" i="0" dirty="0">
              <a:solidFill>
                <a:srgbClr val="1F2937"/>
              </a:solidFill>
              <a:latin typeface="Calibri"/>
            </a:endParaRPr>
          </a:p>
          <a:p>
            <a:pPr algn="l">
              <a:lnSpc>
                <a:spcPct val="100000"/>
              </a:lnSpc>
              <a:spcBef>
                <a:spcPts val="0"/>
              </a:spcBef>
              <a:spcAft>
                <a:spcPts val="1600"/>
              </a:spcAft>
            </a:pPr>
            <a:r>
              <a:rPr sz="2000" b="1" i="0" dirty="0">
                <a:solidFill>
                  <a:srgbClr val="E8590C"/>
                </a:solidFill>
                <a:latin typeface="Calibri"/>
              </a:rPr>
              <a:t>03</a:t>
            </a:r>
            <a:r>
              <a:rPr sz="2000" b="0" i="0" dirty="0">
                <a:solidFill>
                  <a:srgbClr val="1F2937"/>
                </a:solidFill>
                <a:latin typeface="Calibri"/>
              </a:rPr>
              <a:t>    </a:t>
            </a:r>
            <a:r>
              <a:rPr lang="en-US" sz="2000" b="0" i="0" dirty="0">
                <a:solidFill>
                  <a:srgbClr val="1F2937"/>
                </a:solidFill>
                <a:latin typeface="Calibri"/>
              </a:rPr>
              <a:t>Agent</a:t>
            </a:r>
            <a:endParaRPr sz="2000" b="0" i="0" dirty="0">
              <a:solidFill>
                <a:srgbClr val="1F2937"/>
              </a:solidFill>
              <a:latin typeface="Calibri"/>
            </a:endParaRPr>
          </a:p>
          <a:p>
            <a:pPr algn="l">
              <a:lnSpc>
                <a:spcPct val="100000"/>
              </a:lnSpc>
              <a:spcBef>
                <a:spcPts val="0"/>
              </a:spcBef>
              <a:spcAft>
                <a:spcPts val="1600"/>
              </a:spcAft>
            </a:pPr>
            <a:r>
              <a:rPr sz="2000" b="1" i="0" dirty="0">
                <a:solidFill>
                  <a:srgbClr val="E8590C"/>
                </a:solidFill>
                <a:latin typeface="Calibri"/>
              </a:rPr>
              <a:t>04</a:t>
            </a:r>
            <a:r>
              <a:rPr sz="2000" b="0" i="0" dirty="0">
                <a:solidFill>
                  <a:srgbClr val="1F2937"/>
                </a:solidFill>
                <a:latin typeface="Calibri"/>
              </a:rPr>
              <a:t>    </a:t>
            </a:r>
            <a:r>
              <a:rPr lang="en-US" sz="2000" b="0" i="0" dirty="0">
                <a:solidFill>
                  <a:srgbClr val="1F2937"/>
                </a:solidFill>
                <a:latin typeface="Calibri"/>
              </a:rPr>
              <a:t>Backend</a:t>
            </a:r>
            <a:endParaRPr sz="2000" b="0" i="0" dirty="0">
              <a:solidFill>
                <a:srgbClr val="1F2937"/>
              </a:solidFill>
              <a:latin typeface="Calibri"/>
            </a:endParaRPr>
          </a:p>
          <a:p>
            <a:pPr algn="l">
              <a:lnSpc>
                <a:spcPct val="100000"/>
              </a:lnSpc>
              <a:spcBef>
                <a:spcPts val="0"/>
              </a:spcBef>
              <a:spcAft>
                <a:spcPts val="1600"/>
              </a:spcAft>
            </a:pPr>
            <a:r>
              <a:rPr sz="2000" b="1" i="0" dirty="0">
                <a:solidFill>
                  <a:srgbClr val="E8590C"/>
                </a:solidFill>
                <a:latin typeface="Calibri"/>
              </a:rPr>
              <a:t>05</a:t>
            </a:r>
            <a:r>
              <a:rPr sz="2000" b="0" i="0" dirty="0">
                <a:solidFill>
                  <a:srgbClr val="1F2937"/>
                </a:solidFill>
                <a:latin typeface="Calibri"/>
              </a:rPr>
              <a:t>    </a:t>
            </a:r>
            <a:r>
              <a:rPr lang="en-US" sz="2000" b="0" i="0" dirty="0">
                <a:solidFill>
                  <a:srgbClr val="1F2937"/>
                </a:solidFill>
                <a:latin typeface="Calibri"/>
              </a:rPr>
              <a:t>Android and Web</a:t>
            </a:r>
            <a:endParaRPr sz="2000" b="0" i="0" dirty="0">
              <a:solidFill>
                <a:srgbClr val="1F2937"/>
              </a:solidFill>
              <a:latin typeface="Calibri"/>
            </a:endParaRPr>
          </a:p>
          <a:p>
            <a:pPr>
              <a:spcAft>
                <a:spcPts val="1600"/>
              </a:spcAft>
            </a:pPr>
            <a:r>
              <a:rPr sz="2000" b="1" i="0" dirty="0">
                <a:solidFill>
                  <a:srgbClr val="E8590C"/>
                </a:solidFill>
                <a:latin typeface="Calibri"/>
              </a:rPr>
              <a:t>06</a:t>
            </a:r>
            <a:r>
              <a:rPr sz="2000" b="0" i="0" dirty="0">
                <a:solidFill>
                  <a:srgbClr val="1F2937"/>
                </a:solidFill>
                <a:latin typeface="Calibri"/>
              </a:rPr>
              <a:t>    </a:t>
            </a:r>
            <a:r>
              <a:rPr lang="en-US" sz="2000" b="0" i="0" dirty="0" err="1">
                <a:solidFill>
                  <a:srgbClr val="1F2937"/>
                </a:solidFill>
                <a:latin typeface="Calibri"/>
              </a:rPr>
              <a:t>DevSecOps</a:t>
            </a:r>
            <a:r>
              <a:rPr lang="en-US" sz="2000" b="0" i="0" dirty="0">
                <a:solidFill>
                  <a:srgbClr val="1F2937"/>
                </a:solidFill>
                <a:latin typeface="Calibri"/>
              </a:rPr>
              <a:t>, </a:t>
            </a:r>
            <a:r>
              <a:rPr lang="en-SG" altLang="zh-CN" sz="2000" dirty="0">
                <a:solidFill>
                  <a:srgbClr val="1F2937"/>
                </a:solidFill>
              </a:rPr>
              <a:t>CI/CD &amp; security testing</a:t>
            </a:r>
            <a:endParaRPr sz="2000" b="0" i="0" dirty="0">
              <a:solidFill>
                <a:srgbClr val="1F2937"/>
              </a:solidFill>
              <a:latin typeface="Calibri"/>
            </a:endParaRPr>
          </a:p>
          <a:p>
            <a:pPr>
              <a:spcAft>
                <a:spcPts val="1600"/>
              </a:spcAft>
            </a:pPr>
            <a:r>
              <a:rPr sz="2000" b="1" i="0" dirty="0">
                <a:solidFill>
                  <a:srgbClr val="E8590C"/>
                </a:solidFill>
                <a:latin typeface="Calibri"/>
              </a:rPr>
              <a:t>07</a:t>
            </a:r>
            <a:r>
              <a:rPr lang="en-US" sz="2000" b="1" dirty="0">
                <a:solidFill>
                  <a:srgbClr val="E8590C"/>
                </a:solidFill>
                <a:latin typeface="Calibri"/>
              </a:rPr>
              <a:t>	</a:t>
            </a:r>
            <a:r>
              <a:rPr lang="en-SG" altLang="zh-CN" sz="2000" dirty="0">
                <a:solidFill>
                  <a:srgbClr val="1F2937"/>
                </a:solidFill>
              </a:rPr>
              <a:t> Technical highlights &amp; summary </a:t>
            </a:r>
          </a:p>
          <a:p>
            <a:pPr>
              <a:spcAft>
                <a:spcPts val="1600"/>
              </a:spcAft>
            </a:pPr>
            <a:r>
              <a:rPr sz="2000" b="1" i="0" dirty="0">
                <a:solidFill>
                  <a:srgbClr val="E8590C"/>
                </a:solidFill>
                <a:latin typeface="Calibri"/>
              </a:rPr>
              <a:t>08</a:t>
            </a:r>
            <a:r>
              <a:rPr lang="en-US" sz="2000" b="1" i="0" dirty="0">
                <a:solidFill>
                  <a:srgbClr val="E8590C"/>
                </a:solidFill>
                <a:latin typeface="Calibri"/>
              </a:rPr>
              <a:t>	</a:t>
            </a:r>
            <a:r>
              <a:rPr lang="en-US" altLang="zh-CN" sz="2000" dirty="0">
                <a:solidFill>
                  <a:srgbClr val="1F2937"/>
                </a:solidFill>
              </a:rPr>
              <a:t>Cloud Deployment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A6A850F-9530-3B3C-C121-AC983E98CF38}"/>
              </a:ext>
            </a:extLst>
          </p:cNvPr>
          <p:cNvSpPr txBox="1"/>
          <p:nvPr/>
        </p:nvSpPr>
        <p:spPr>
          <a:xfrm>
            <a:off x="4522973" y="2921168"/>
            <a:ext cx="3146054" cy="1015663"/>
          </a:xfrm>
          <a:prstGeom prst="rect">
            <a:avLst/>
          </a:prstGeom>
          <a:noFill/>
        </p:spPr>
        <p:txBody>
          <a:bodyPr wrap="none" rtlCol="0">
            <a:spAutoFit/>
          </a:bodyPr>
          <a:lstStyle/>
          <a:p>
            <a:r>
              <a:rPr lang="en-US" altLang="zh-CN" sz="6000"/>
              <a:t>Overview</a:t>
            </a:r>
            <a:endParaRPr lang="zh-CN" altLang="en-US" sz="6000" dirty="0"/>
          </a:p>
        </p:txBody>
      </p:sp>
    </p:spTree>
    <p:extLst>
      <p:ext uri="{BB962C8B-B14F-4D97-AF65-F5344CB8AC3E}">
        <p14:creationId xmlns:p14="http://schemas.microsoft.com/office/powerpoint/2010/main" val="3344543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Problem &amp; Inspiration</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2</a:t>
            </a:r>
          </a:p>
        </p:txBody>
      </p:sp>
      <p:sp>
        <p:nvSpPr>
          <p:cNvPr id="8" name="TextBox 7"/>
          <p:cNvSpPr txBox="1"/>
          <p:nvPr/>
        </p:nvSpPr>
        <p:spPr>
          <a:xfrm>
            <a:off x="502920" y="1325880"/>
            <a:ext cx="11155680" cy="1737360"/>
          </a:xfrm>
          <a:prstGeom prst="rect">
            <a:avLst/>
          </a:prstGeom>
          <a:noFill/>
        </p:spPr>
        <p:txBody>
          <a:bodyPr wrap="square" lIns="0" tIns="0" rIns="0" bIns="0" anchor="t">
            <a:spAutoFit/>
          </a:bodyPr>
          <a:lstStyle/>
          <a:p>
            <a:pPr algn="l">
              <a:lnSpc>
                <a:spcPct val="100000"/>
              </a:lnSpc>
              <a:spcBef>
                <a:spcPts val="0"/>
              </a:spcBef>
              <a:spcAft>
                <a:spcPts val="1000"/>
              </a:spcAft>
            </a:pPr>
            <a:r>
              <a:rPr sz="1600" b="0" i="0">
                <a:solidFill>
                  <a:srgbClr val="1F2937"/>
                </a:solidFill>
                <a:latin typeface="Calibri"/>
              </a:rPr>
              <a:t>Inspired by a real Xiaohongshu post: friends kept a shared document to remember good meals, restaurants and drinks — so the group could decide what to eat quickly.</a:t>
            </a:r>
          </a:p>
        </p:txBody>
      </p:sp>
      <p:sp>
        <p:nvSpPr>
          <p:cNvPr id="9" name="Rectangle 8"/>
          <p:cNvSpPr/>
          <p:nvPr/>
        </p:nvSpPr>
        <p:spPr>
          <a:xfrm>
            <a:off x="502920" y="3246120"/>
            <a:ext cx="3611880" cy="22860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3246120"/>
            <a:ext cx="3611880" cy="82296"/>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520440"/>
            <a:ext cx="3154680" cy="54864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590C"/>
                </a:solidFill>
                <a:latin typeface="Calibri"/>
              </a:rPr>
              <a:t>01</a:t>
            </a:r>
          </a:p>
        </p:txBody>
      </p:sp>
      <p:sp>
        <p:nvSpPr>
          <p:cNvPr id="12" name="TextBox 11"/>
          <p:cNvSpPr txBox="1"/>
          <p:nvPr/>
        </p:nvSpPr>
        <p:spPr>
          <a:xfrm>
            <a:off x="731520" y="4069080"/>
            <a:ext cx="3154680" cy="548640"/>
          </a:xfrm>
          <a:prstGeom prst="rect">
            <a:avLst/>
          </a:prstGeom>
          <a:noFill/>
        </p:spPr>
        <p:txBody>
          <a:bodyPr wrap="square" lIns="0" tIns="0" rIns="0" bIns="0" anchor="t">
            <a:spAutoFit/>
          </a:bodyPr>
          <a:lstStyle/>
          <a:p>
            <a:pPr algn="l">
              <a:lnSpc>
                <a:spcPct val="100000"/>
              </a:lnSpc>
              <a:spcBef>
                <a:spcPts val="0"/>
              </a:spcBef>
              <a:spcAft>
                <a:spcPts val="600"/>
              </a:spcAft>
            </a:pPr>
            <a:r>
              <a:rPr sz="1900" b="1" i="0">
                <a:solidFill>
                  <a:srgbClr val="1F2937"/>
                </a:solidFill>
                <a:latin typeface="Calibri"/>
              </a:rPr>
              <a:t>Time cost</a:t>
            </a:r>
          </a:p>
        </p:txBody>
      </p:sp>
      <p:sp>
        <p:nvSpPr>
          <p:cNvPr id="13" name="TextBox 12"/>
          <p:cNvSpPr txBox="1"/>
          <p:nvPr/>
        </p:nvSpPr>
        <p:spPr>
          <a:xfrm>
            <a:off x="731520" y="4617720"/>
            <a:ext cx="3154680" cy="822960"/>
          </a:xfrm>
          <a:prstGeom prst="rect">
            <a:avLst/>
          </a:prstGeom>
          <a:noFill/>
        </p:spPr>
        <p:txBody>
          <a:bodyPr wrap="square" lIns="0" tIns="0" rIns="0" bIns="0" anchor="t">
            <a:spAutoFit/>
          </a:bodyPr>
          <a:lstStyle/>
          <a:p>
            <a:pPr algn="l">
              <a:lnSpc>
                <a:spcPct val="100000"/>
              </a:lnSpc>
              <a:spcBef>
                <a:spcPts val="0"/>
              </a:spcBef>
              <a:spcAft>
                <a:spcPts val="600"/>
              </a:spcAft>
            </a:pPr>
            <a:r>
              <a:rPr sz="1400" b="0" i="0">
                <a:solidFill>
                  <a:srgbClr val="5B6472"/>
                </a:solidFill>
                <a:latin typeface="Calibri"/>
              </a:rPr>
              <a:t>Every meal became a research task.</a:t>
            </a:r>
          </a:p>
        </p:txBody>
      </p:sp>
      <p:sp>
        <p:nvSpPr>
          <p:cNvPr id="14" name="Rectangle 13"/>
          <p:cNvSpPr/>
          <p:nvPr/>
        </p:nvSpPr>
        <p:spPr>
          <a:xfrm>
            <a:off x="4297680" y="3246120"/>
            <a:ext cx="3611880" cy="22860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97680" y="3246120"/>
            <a:ext cx="3611880" cy="82296"/>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26280" y="3520440"/>
            <a:ext cx="3154680" cy="54864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590C"/>
                </a:solidFill>
                <a:latin typeface="Calibri"/>
              </a:rPr>
              <a:t>02</a:t>
            </a:r>
          </a:p>
        </p:txBody>
      </p:sp>
      <p:sp>
        <p:nvSpPr>
          <p:cNvPr id="17" name="TextBox 16"/>
          <p:cNvSpPr txBox="1"/>
          <p:nvPr/>
        </p:nvSpPr>
        <p:spPr>
          <a:xfrm>
            <a:off x="4526280" y="4069080"/>
            <a:ext cx="3154680" cy="548640"/>
          </a:xfrm>
          <a:prstGeom prst="rect">
            <a:avLst/>
          </a:prstGeom>
          <a:noFill/>
        </p:spPr>
        <p:txBody>
          <a:bodyPr wrap="square" lIns="0" tIns="0" rIns="0" bIns="0" anchor="t">
            <a:spAutoFit/>
          </a:bodyPr>
          <a:lstStyle/>
          <a:p>
            <a:pPr algn="l">
              <a:lnSpc>
                <a:spcPct val="100000"/>
              </a:lnSpc>
              <a:spcBef>
                <a:spcPts val="0"/>
              </a:spcBef>
              <a:spcAft>
                <a:spcPts val="600"/>
              </a:spcAft>
            </a:pPr>
            <a:r>
              <a:rPr sz="1900" b="1" i="0">
                <a:solidFill>
                  <a:srgbClr val="1F2937"/>
                </a:solidFill>
                <a:latin typeface="Calibri"/>
              </a:rPr>
              <a:t>Scattered evidence</a:t>
            </a:r>
          </a:p>
        </p:txBody>
      </p:sp>
      <p:sp>
        <p:nvSpPr>
          <p:cNvPr id="18" name="TextBox 17"/>
          <p:cNvSpPr txBox="1"/>
          <p:nvPr/>
        </p:nvSpPr>
        <p:spPr>
          <a:xfrm>
            <a:off x="4526280" y="4617720"/>
            <a:ext cx="3154680" cy="822960"/>
          </a:xfrm>
          <a:prstGeom prst="rect">
            <a:avLst/>
          </a:prstGeom>
          <a:noFill/>
        </p:spPr>
        <p:txBody>
          <a:bodyPr wrap="square" lIns="0" tIns="0" rIns="0" bIns="0" anchor="t">
            <a:spAutoFit/>
          </a:bodyPr>
          <a:lstStyle/>
          <a:p>
            <a:pPr algn="l">
              <a:lnSpc>
                <a:spcPct val="100000"/>
              </a:lnSpc>
              <a:spcBef>
                <a:spcPts val="0"/>
              </a:spcBef>
              <a:spcAft>
                <a:spcPts val="600"/>
              </a:spcAft>
            </a:pPr>
            <a:r>
              <a:rPr sz="1400" b="0" i="0">
                <a:solidFill>
                  <a:srgbClr val="5B6472"/>
                </a:solidFill>
                <a:latin typeface="Calibri"/>
              </a:rPr>
              <a:t>Reviews, hygiene cues, preferences and history lived in different places.</a:t>
            </a:r>
          </a:p>
        </p:txBody>
      </p:sp>
      <p:sp>
        <p:nvSpPr>
          <p:cNvPr id="19" name="Rectangle 18"/>
          <p:cNvSpPr/>
          <p:nvPr/>
        </p:nvSpPr>
        <p:spPr>
          <a:xfrm>
            <a:off x="8092440" y="3246120"/>
            <a:ext cx="3611880" cy="22860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92440" y="3246120"/>
            <a:ext cx="3611880" cy="82296"/>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3520440"/>
            <a:ext cx="3154680" cy="548640"/>
          </a:xfrm>
          <a:prstGeom prst="rect">
            <a:avLst/>
          </a:prstGeom>
          <a:noFill/>
        </p:spPr>
        <p:txBody>
          <a:bodyPr wrap="square" lIns="0" tIns="0" rIns="0" bIns="0" anchor="t">
            <a:spAutoFit/>
          </a:bodyPr>
          <a:lstStyle/>
          <a:p>
            <a:pPr algn="l">
              <a:lnSpc>
                <a:spcPct val="100000"/>
              </a:lnSpc>
              <a:spcBef>
                <a:spcPts val="0"/>
              </a:spcBef>
              <a:spcAft>
                <a:spcPts val="600"/>
              </a:spcAft>
            </a:pPr>
            <a:r>
              <a:rPr sz="2200" b="1" i="0">
                <a:solidFill>
                  <a:srgbClr val="E8590C"/>
                </a:solidFill>
                <a:latin typeface="Calibri"/>
              </a:rPr>
              <a:t>03</a:t>
            </a:r>
          </a:p>
        </p:txBody>
      </p:sp>
      <p:sp>
        <p:nvSpPr>
          <p:cNvPr id="22" name="TextBox 21"/>
          <p:cNvSpPr txBox="1"/>
          <p:nvPr/>
        </p:nvSpPr>
        <p:spPr>
          <a:xfrm>
            <a:off x="8321040" y="4069080"/>
            <a:ext cx="3154680" cy="548640"/>
          </a:xfrm>
          <a:prstGeom prst="rect">
            <a:avLst/>
          </a:prstGeom>
          <a:noFill/>
        </p:spPr>
        <p:txBody>
          <a:bodyPr wrap="square" lIns="0" tIns="0" rIns="0" bIns="0" anchor="t">
            <a:spAutoFit/>
          </a:bodyPr>
          <a:lstStyle/>
          <a:p>
            <a:pPr algn="l">
              <a:lnSpc>
                <a:spcPct val="100000"/>
              </a:lnSpc>
              <a:spcBef>
                <a:spcPts val="0"/>
              </a:spcBef>
              <a:spcAft>
                <a:spcPts val="600"/>
              </a:spcAft>
            </a:pPr>
            <a:r>
              <a:rPr sz="1900" b="1" i="0">
                <a:solidFill>
                  <a:srgbClr val="1F2937"/>
                </a:solidFill>
                <a:latin typeface="Calibri"/>
              </a:rPr>
              <a:t>Still manual</a:t>
            </a:r>
          </a:p>
        </p:txBody>
      </p:sp>
      <p:sp>
        <p:nvSpPr>
          <p:cNvPr id="23" name="TextBox 22"/>
          <p:cNvSpPr txBox="1"/>
          <p:nvPr/>
        </p:nvSpPr>
        <p:spPr>
          <a:xfrm>
            <a:off x="8321040" y="4617720"/>
            <a:ext cx="3154680" cy="822960"/>
          </a:xfrm>
          <a:prstGeom prst="rect">
            <a:avLst/>
          </a:prstGeom>
          <a:noFill/>
        </p:spPr>
        <p:txBody>
          <a:bodyPr wrap="square" lIns="0" tIns="0" rIns="0" bIns="0" anchor="t">
            <a:spAutoFit/>
          </a:bodyPr>
          <a:lstStyle/>
          <a:p>
            <a:pPr algn="l">
              <a:lnSpc>
                <a:spcPct val="100000"/>
              </a:lnSpc>
              <a:spcBef>
                <a:spcPts val="0"/>
              </a:spcBef>
              <a:spcAft>
                <a:spcPts val="600"/>
              </a:spcAft>
            </a:pPr>
            <a:r>
              <a:rPr sz="1400" b="0" i="0">
                <a:solidFill>
                  <a:srgbClr val="5B6472"/>
                </a:solidFill>
                <a:latin typeface="Calibri"/>
              </a:rPr>
              <a:t>Users still had to search, compare and choose themselves.</a:t>
            </a:r>
          </a:p>
        </p:txBody>
      </p:sp>
      <p:sp>
        <p:nvSpPr>
          <p:cNvPr id="24" name="TextBox 23"/>
          <p:cNvSpPr txBox="1"/>
          <p:nvPr/>
        </p:nvSpPr>
        <p:spPr>
          <a:xfrm>
            <a:off x="502920" y="5806440"/>
            <a:ext cx="11155680" cy="457200"/>
          </a:xfrm>
          <a:prstGeom prst="rect">
            <a:avLst/>
          </a:prstGeom>
          <a:noFill/>
        </p:spPr>
        <p:txBody>
          <a:bodyPr wrap="square" lIns="0" tIns="0" rIns="0" bIns="0" anchor="t">
            <a:spAutoFit/>
          </a:bodyPr>
          <a:lstStyle/>
          <a:p>
            <a:pPr algn="l">
              <a:lnSpc>
                <a:spcPct val="100000"/>
              </a:lnSpc>
              <a:spcBef>
                <a:spcPts val="0"/>
              </a:spcBef>
              <a:spcAft>
                <a:spcPts val="600"/>
              </a:spcAft>
            </a:pPr>
            <a:r>
              <a:rPr sz="1700" b="1" i="0" dirty="0">
                <a:solidFill>
                  <a:srgbClr val="C44607"/>
                </a:solidFill>
                <a:latin typeface="Calibri"/>
              </a:rPr>
              <a:t>The need: reusable, </a:t>
            </a:r>
            <a:r>
              <a:rPr sz="1700" b="1" i="0" dirty="0" err="1">
                <a:solidFill>
                  <a:srgbClr val="C44607"/>
                </a:solidFill>
                <a:latin typeface="Calibri"/>
              </a:rPr>
              <a:t>personalised</a:t>
            </a:r>
            <a:r>
              <a:rPr sz="1700" b="1" i="0" dirty="0">
                <a:solidFill>
                  <a:srgbClr val="C44607"/>
                </a:solidFill>
                <a:latin typeface="Calibri"/>
              </a:rPr>
              <a:t> decision support.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Solution Overview</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3</a:t>
            </a:r>
          </a:p>
        </p:txBody>
      </p:sp>
      <p:sp>
        <p:nvSpPr>
          <p:cNvPr id="8" name="Rectangle 7"/>
          <p:cNvSpPr/>
          <p:nvPr/>
        </p:nvSpPr>
        <p:spPr>
          <a:xfrm>
            <a:off x="417423" y="1737360"/>
            <a:ext cx="1481328" cy="9144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7423" y="2086838"/>
            <a:ext cx="1481328" cy="215444"/>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dirty="0">
                <a:solidFill>
                  <a:srgbClr val="FFFFFF"/>
                </a:solidFill>
                <a:latin typeface="Calibri"/>
              </a:rPr>
              <a:t>Record &amp; share</a:t>
            </a:r>
          </a:p>
        </p:txBody>
      </p:sp>
      <p:sp>
        <p:nvSpPr>
          <p:cNvPr id="10" name="TextBox 9"/>
          <p:cNvSpPr txBox="1"/>
          <p:nvPr/>
        </p:nvSpPr>
        <p:spPr>
          <a:xfrm>
            <a:off x="1898751" y="1737360"/>
            <a:ext cx="164592" cy="914400"/>
          </a:xfrm>
          <a:prstGeom prst="rect">
            <a:avLst/>
          </a:prstGeom>
          <a:noFill/>
        </p:spPr>
        <p:txBody>
          <a:bodyPr wrap="square" lIns="0" tIns="0" rIns="0" bIns="0" anchor="ctr">
            <a:spAutoFit/>
          </a:bodyPr>
          <a:lstStyle/>
          <a:p>
            <a:pPr algn="ctr">
              <a:lnSpc>
                <a:spcPct val="100000"/>
              </a:lnSpc>
              <a:spcBef>
                <a:spcPts val="0"/>
              </a:spcBef>
              <a:spcAft>
                <a:spcPts val="600"/>
              </a:spcAft>
            </a:pPr>
            <a:r>
              <a:rPr sz="2000" b="1" i="0">
                <a:solidFill>
                  <a:srgbClr val="5B6472"/>
                </a:solidFill>
                <a:latin typeface="Calibri"/>
              </a:rPr>
              <a:t>›</a:t>
            </a:r>
          </a:p>
        </p:txBody>
      </p:sp>
      <p:sp>
        <p:nvSpPr>
          <p:cNvPr id="11" name="Rectangle 10"/>
          <p:cNvSpPr/>
          <p:nvPr/>
        </p:nvSpPr>
        <p:spPr>
          <a:xfrm>
            <a:off x="2063343" y="1737360"/>
            <a:ext cx="1481328" cy="9144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63343" y="1737360"/>
            <a:ext cx="1481328"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dirty="0">
                <a:solidFill>
                  <a:srgbClr val="FFFFFF"/>
                </a:solidFill>
                <a:latin typeface="Calibri"/>
              </a:rPr>
              <a:t>Generate</a:t>
            </a:r>
          </a:p>
        </p:txBody>
      </p:sp>
      <p:sp>
        <p:nvSpPr>
          <p:cNvPr id="13" name="TextBox 12"/>
          <p:cNvSpPr txBox="1"/>
          <p:nvPr/>
        </p:nvSpPr>
        <p:spPr>
          <a:xfrm>
            <a:off x="3544671" y="1737360"/>
            <a:ext cx="164592" cy="914400"/>
          </a:xfrm>
          <a:prstGeom prst="rect">
            <a:avLst/>
          </a:prstGeom>
          <a:noFill/>
        </p:spPr>
        <p:txBody>
          <a:bodyPr wrap="square" lIns="0" tIns="0" rIns="0" bIns="0" anchor="ctr">
            <a:spAutoFit/>
          </a:bodyPr>
          <a:lstStyle/>
          <a:p>
            <a:pPr algn="ctr">
              <a:lnSpc>
                <a:spcPct val="100000"/>
              </a:lnSpc>
              <a:spcBef>
                <a:spcPts val="0"/>
              </a:spcBef>
              <a:spcAft>
                <a:spcPts val="600"/>
              </a:spcAft>
            </a:pPr>
            <a:r>
              <a:rPr sz="2000" b="1" i="0">
                <a:solidFill>
                  <a:srgbClr val="5B6472"/>
                </a:solidFill>
                <a:latin typeface="Calibri"/>
              </a:rPr>
              <a:t>›</a:t>
            </a:r>
          </a:p>
        </p:txBody>
      </p:sp>
      <p:sp>
        <p:nvSpPr>
          <p:cNvPr id="14" name="Rectangle 13"/>
          <p:cNvSpPr/>
          <p:nvPr/>
        </p:nvSpPr>
        <p:spPr>
          <a:xfrm>
            <a:off x="3709263" y="1737360"/>
            <a:ext cx="1481328" cy="9144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09263" y="1737360"/>
            <a:ext cx="1481328"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Filter &amp; rank</a:t>
            </a:r>
          </a:p>
        </p:txBody>
      </p:sp>
      <p:sp>
        <p:nvSpPr>
          <p:cNvPr id="16" name="TextBox 15"/>
          <p:cNvSpPr txBox="1"/>
          <p:nvPr/>
        </p:nvSpPr>
        <p:spPr>
          <a:xfrm>
            <a:off x="5190591" y="1737360"/>
            <a:ext cx="164592" cy="914400"/>
          </a:xfrm>
          <a:prstGeom prst="rect">
            <a:avLst/>
          </a:prstGeom>
          <a:noFill/>
        </p:spPr>
        <p:txBody>
          <a:bodyPr wrap="square" lIns="0" tIns="0" rIns="0" bIns="0" anchor="ctr">
            <a:spAutoFit/>
          </a:bodyPr>
          <a:lstStyle/>
          <a:p>
            <a:pPr algn="ctr">
              <a:lnSpc>
                <a:spcPct val="100000"/>
              </a:lnSpc>
              <a:spcBef>
                <a:spcPts val="0"/>
              </a:spcBef>
              <a:spcAft>
                <a:spcPts val="600"/>
              </a:spcAft>
            </a:pPr>
            <a:r>
              <a:rPr sz="2000" b="1" i="0">
                <a:solidFill>
                  <a:srgbClr val="5B6472"/>
                </a:solidFill>
                <a:latin typeface="Calibri"/>
              </a:rPr>
              <a:t>›</a:t>
            </a:r>
          </a:p>
        </p:txBody>
      </p:sp>
      <p:sp>
        <p:nvSpPr>
          <p:cNvPr id="17" name="Rectangle 16"/>
          <p:cNvSpPr/>
          <p:nvPr/>
        </p:nvSpPr>
        <p:spPr>
          <a:xfrm>
            <a:off x="5355183" y="1737360"/>
            <a:ext cx="1481328" cy="9144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55183" y="1737360"/>
            <a:ext cx="1481328"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Explain</a:t>
            </a:r>
          </a:p>
        </p:txBody>
      </p:sp>
      <p:sp>
        <p:nvSpPr>
          <p:cNvPr id="19" name="TextBox 18"/>
          <p:cNvSpPr txBox="1"/>
          <p:nvPr/>
        </p:nvSpPr>
        <p:spPr>
          <a:xfrm>
            <a:off x="6836511" y="1737360"/>
            <a:ext cx="164592" cy="914400"/>
          </a:xfrm>
          <a:prstGeom prst="rect">
            <a:avLst/>
          </a:prstGeom>
          <a:noFill/>
        </p:spPr>
        <p:txBody>
          <a:bodyPr wrap="square" lIns="0" tIns="0" rIns="0" bIns="0" anchor="ctr">
            <a:spAutoFit/>
          </a:bodyPr>
          <a:lstStyle/>
          <a:p>
            <a:pPr algn="ctr">
              <a:lnSpc>
                <a:spcPct val="100000"/>
              </a:lnSpc>
              <a:spcBef>
                <a:spcPts val="0"/>
              </a:spcBef>
              <a:spcAft>
                <a:spcPts val="600"/>
              </a:spcAft>
            </a:pPr>
            <a:r>
              <a:rPr sz="2000" b="1" i="0">
                <a:solidFill>
                  <a:srgbClr val="5B6472"/>
                </a:solidFill>
                <a:latin typeface="Calibri"/>
              </a:rPr>
              <a:t>›</a:t>
            </a:r>
          </a:p>
        </p:txBody>
      </p:sp>
      <p:sp>
        <p:nvSpPr>
          <p:cNvPr id="20" name="Rectangle 19"/>
          <p:cNvSpPr/>
          <p:nvPr/>
        </p:nvSpPr>
        <p:spPr>
          <a:xfrm>
            <a:off x="7001103" y="1737360"/>
            <a:ext cx="1481328" cy="9144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01103" y="1737360"/>
            <a:ext cx="1481328"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dirty="0">
                <a:solidFill>
                  <a:srgbClr val="FFFFFF"/>
                </a:solidFill>
                <a:latin typeface="Calibri"/>
              </a:rPr>
              <a:t>Decide</a:t>
            </a:r>
          </a:p>
        </p:txBody>
      </p:sp>
      <p:sp>
        <p:nvSpPr>
          <p:cNvPr id="22" name="TextBox 21"/>
          <p:cNvSpPr txBox="1"/>
          <p:nvPr/>
        </p:nvSpPr>
        <p:spPr>
          <a:xfrm>
            <a:off x="8482431" y="1737360"/>
            <a:ext cx="164592" cy="914400"/>
          </a:xfrm>
          <a:prstGeom prst="rect">
            <a:avLst/>
          </a:prstGeom>
          <a:noFill/>
        </p:spPr>
        <p:txBody>
          <a:bodyPr wrap="square" lIns="0" tIns="0" rIns="0" bIns="0" anchor="ctr">
            <a:spAutoFit/>
          </a:bodyPr>
          <a:lstStyle/>
          <a:p>
            <a:pPr algn="ctr">
              <a:lnSpc>
                <a:spcPct val="100000"/>
              </a:lnSpc>
              <a:spcBef>
                <a:spcPts val="0"/>
              </a:spcBef>
              <a:spcAft>
                <a:spcPts val="600"/>
              </a:spcAft>
            </a:pPr>
            <a:r>
              <a:rPr sz="2000" b="1" i="0">
                <a:solidFill>
                  <a:srgbClr val="5B6472"/>
                </a:solidFill>
                <a:latin typeface="Calibri"/>
              </a:rPr>
              <a:t>›</a:t>
            </a:r>
          </a:p>
        </p:txBody>
      </p:sp>
      <p:sp>
        <p:nvSpPr>
          <p:cNvPr id="23" name="Rectangle 22"/>
          <p:cNvSpPr/>
          <p:nvPr/>
        </p:nvSpPr>
        <p:spPr>
          <a:xfrm>
            <a:off x="8647023" y="1737360"/>
            <a:ext cx="1481328" cy="9144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47023" y="1737360"/>
            <a:ext cx="1481328"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dirty="0">
                <a:solidFill>
                  <a:srgbClr val="FFFFFF"/>
                </a:solidFill>
                <a:latin typeface="Calibri"/>
              </a:rPr>
              <a:t>Rate</a:t>
            </a:r>
          </a:p>
        </p:txBody>
      </p:sp>
      <p:sp>
        <p:nvSpPr>
          <p:cNvPr id="25" name="TextBox 24"/>
          <p:cNvSpPr txBox="1"/>
          <p:nvPr/>
        </p:nvSpPr>
        <p:spPr>
          <a:xfrm>
            <a:off x="10128351" y="1737360"/>
            <a:ext cx="164592" cy="914400"/>
          </a:xfrm>
          <a:prstGeom prst="rect">
            <a:avLst/>
          </a:prstGeom>
          <a:noFill/>
        </p:spPr>
        <p:txBody>
          <a:bodyPr wrap="square" lIns="0" tIns="0" rIns="0" bIns="0" anchor="ctr">
            <a:spAutoFit/>
          </a:bodyPr>
          <a:lstStyle/>
          <a:p>
            <a:pPr algn="ctr">
              <a:lnSpc>
                <a:spcPct val="100000"/>
              </a:lnSpc>
              <a:spcBef>
                <a:spcPts val="0"/>
              </a:spcBef>
              <a:spcAft>
                <a:spcPts val="600"/>
              </a:spcAft>
            </a:pPr>
            <a:r>
              <a:rPr sz="2000" b="1" i="0">
                <a:solidFill>
                  <a:srgbClr val="5B6472"/>
                </a:solidFill>
                <a:latin typeface="Calibri"/>
              </a:rPr>
              <a:t>›</a:t>
            </a:r>
          </a:p>
        </p:txBody>
      </p:sp>
      <p:sp>
        <p:nvSpPr>
          <p:cNvPr id="26" name="Rectangle 25"/>
          <p:cNvSpPr/>
          <p:nvPr/>
        </p:nvSpPr>
        <p:spPr>
          <a:xfrm>
            <a:off x="10292943" y="1737360"/>
            <a:ext cx="1481328" cy="9144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92943" y="1737360"/>
            <a:ext cx="1481328"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400" b="1" i="0">
                <a:solidFill>
                  <a:srgbClr val="FFFFFF"/>
                </a:solidFill>
                <a:latin typeface="Calibri"/>
              </a:rPr>
              <a:t>Analyse</a:t>
            </a:r>
          </a:p>
        </p:txBody>
      </p:sp>
      <p:sp>
        <p:nvSpPr>
          <p:cNvPr id="29" name="TextBox 28"/>
          <p:cNvSpPr txBox="1"/>
          <p:nvPr/>
        </p:nvSpPr>
        <p:spPr>
          <a:xfrm>
            <a:off x="838047" y="3132900"/>
            <a:ext cx="10515600" cy="2446824"/>
          </a:xfrm>
          <a:prstGeom prst="rect">
            <a:avLst/>
          </a:prstGeom>
          <a:noFill/>
        </p:spPr>
        <p:txBody>
          <a:bodyPr wrap="square" lIns="0" tIns="0" rIns="0" bIns="0" anchor="t">
            <a:spAutoFit/>
          </a:bodyPr>
          <a:lstStyle/>
          <a:p>
            <a:pPr algn="l">
              <a:lnSpc>
                <a:spcPct val="100000"/>
              </a:lnSpc>
              <a:spcBef>
                <a:spcPts val="0"/>
              </a:spcBef>
              <a:spcAft>
                <a:spcPts val="600"/>
              </a:spcAft>
            </a:pPr>
            <a:r>
              <a:rPr sz="2400" b="1" i="0" dirty="0">
                <a:solidFill>
                  <a:srgbClr val="1F2937"/>
                </a:solidFill>
                <a:latin typeface="Calibri"/>
              </a:rPr>
              <a:t>•  Candidate meals come from the user's own history, </a:t>
            </a:r>
            <a:r>
              <a:rPr sz="2400" b="1" i="0" dirty="0" err="1">
                <a:solidFill>
                  <a:srgbClr val="1F2937"/>
                </a:solidFill>
                <a:latin typeface="Calibri"/>
              </a:rPr>
              <a:t>authorised</a:t>
            </a:r>
            <a:r>
              <a:rPr sz="2400" b="1" i="0" dirty="0">
                <a:solidFill>
                  <a:srgbClr val="1F2937"/>
                </a:solidFill>
                <a:latin typeface="Calibri"/>
              </a:rPr>
              <a:t> group records and a curated seed catalogue.</a:t>
            </a:r>
          </a:p>
          <a:p>
            <a:pPr algn="l">
              <a:lnSpc>
                <a:spcPct val="100000"/>
              </a:lnSpc>
              <a:spcBef>
                <a:spcPts val="0"/>
              </a:spcBef>
              <a:spcAft>
                <a:spcPts val="600"/>
              </a:spcAft>
            </a:pPr>
            <a:r>
              <a:rPr sz="2400" b="1" i="0" dirty="0">
                <a:solidFill>
                  <a:srgbClr val="1F2937"/>
                </a:solidFill>
                <a:latin typeface="Calibri"/>
              </a:rPr>
              <a:t>•  Hard rules remove invalid items; a hybrid model ranks the rest.</a:t>
            </a:r>
          </a:p>
          <a:p>
            <a:pPr algn="l">
              <a:lnSpc>
                <a:spcPct val="100000"/>
              </a:lnSpc>
              <a:spcBef>
                <a:spcPts val="0"/>
              </a:spcBef>
              <a:spcAft>
                <a:spcPts val="600"/>
              </a:spcAft>
            </a:pPr>
            <a:r>
              <a:rPr sz="2400" b="1" i="0" dirty="0">
                <a:solidFill>
                  <a:srgbClr val="1F2937"/>
                </a:solidFill>
                <a:latin typeface="Calibri"/>
              </a:rPr>
              <a:t>•  Users accept, reject, rate or mark "Would Eat Again" — feedback drives the next decision and offline retraining.</a:t>
            </a:r>
          </a:p>
          <a:p>
            <a:pPr algn="l">
              <a:lnSpc>
                <a:spcPct val="100000"/>
              </a:lnSpc>
              <a:spcBef>
                <a:spcPts val="0"/>
              </a:spcBef>
              <a:spcAft>
                <a:spcPts val="600"/>
              </a:spcAft>
            </a:pPr>
            <a:r>
              <a:rPr sz="2400" b="1" i="0" dirty="0">
                <a:solidFill>
                  <a:srgbClr val="1F2937"/>
                </a:solidFill>
                <a:latin typeface="Calibri"/>
              </a:rPr>
              <a:t>•  Android and Web expose the same capabilities and business rules.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Product Features Built</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4</a:t>
            </a:r>
          </a:p>
        </p:txBody>
      </p:sp>
      <p:graphicFrame>
        <p:nvGraphicFramePr>
          <p:cNvPr id="8" name="Table 7"/>
          <p:cNvGraphicFramePr>
            <a:graphicFrameLocks noGrp="1"/>
          </p:cNvGraphicFramePr>
          <p:nvPr>
            <p:extLst>
              <p:ext uri="{D42A27DB-BD31-4B8C-83A1-F6EECF244321}">
                <p14:modId xmlns:p14="http://schemas.microsoft.com/office/powerpoint/2010/main" val="1461706708"/>
              </p:ext>
            </p:extLst>
          </p:nvPr>
        </p:nvGraphicFramePr>
        <p:xfrm>
          <a:off x="502920" y="1325880"/>
          <a:ext cx="11155680" cy="4846320"/>
        </p:xfrm>
        <a:graphic>
          <a:graphicData uri="http://schemas.openxmlformats.org/drawingml/2006/table">
            <a:tbl>
              <a:tblPr bandRow="1">
                <a:tableStyleId>{5C22544A-7EE6-4342-B048-85BDC9FD1C3A}</a:tableStyleId>
              </a:tblPr>
              <a:tblGrid>
                <a:gridCol w="82296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84632">
                <a:tc>
                  <a:txBody>
                    <a:bodyPr/>
                    <a:lstStyle/>
                    <a:p>
                      <a:r>
                        <a:rPr sz="1300" b="1">
                          <a:solidFill>
                            <a:srgbClr val="FFFFFF"/>
                          </a:solidFill>
                          <a:latin typeface="Calibri"/>
                        </a:rPr>
                        <a:t>ID</a:t>
                      </a:r>
                    </a:p>
                  </a:txBody>
                  <a:tcPr marT="38100" marB="38100">
                    <a:solidFill>
                      <a:srgbClr val="E8590C"/>
                    </a:solidFill>
                  </a:tcPr>
                </a:tc>
                <a:tc>
                  <a:txBody>
                    <a:bodyPr/>
                    <a:lstStyle/>
                    <a:p>
                      <a:r>
                        <a:rPr sz="1300" b="1" dirty="0">
                          <a:solidFill>
                            <a:srgbClr val="FFFFFF"/>
                          </a:solidFill>
                          <a:latin typeface="Calibri"/>
                        </a:rPr>
                        <a:t>Use case</a:t>
                      </a:r>
                    </a:p>
                  </a:txBody>
                  <a:tcPr marT="38100" marB="38100">
                    <a:solidFill>
                      <a:srgbClr val="E8590C"/>
                    </a:solidFill>
                  </a:tcPr>
                </a:tc>
                <a:tc>
                  <a:txBody>
                    <a:bodyPr/>
                    <a:lstStyle/>
                    <a:p>
                      <a:r>
                        <a:rPr sz="1300" b="1">
                          <a:solidFill>
                            <a:srgbClr val="FFFFFF"/>
                          </a:solidFill>
                          <a:latin typeface="Calibri"/>
                        </a:rPr>
                        <a:t>Key technologies</a:t>
                      </a:r>
                    </a:p>
                  </a:txBody>
                  <a:tcPr marT="38100" marB="38100">
                    <a:solidFill>
                      <a:srgbClr val="E8590C"/>
                    </a:solidFill>
                  </a:tcPr>
                </a:tc>
                <a:extLst>
                  <a:ext uri="{0D108BD9-81ED-4DB2-BD59-A6C34878D82A}">
                    <a16:rowId xmlns:a16="http://schemas.microsoft.com/office/drawing/2014/main" val="10000"/>
                  </a:ext>
                </a:extLst>
              </a:tr>
              <a:tr h="484632">
                <a:tc>
                  <a:txBody>
                    <a:bodyPr/>
                    <a:lstStyle/>
                    <a:p>
                      <a:r>
                        <a:rPr sz="1200">
                          <a:solidFill>
                            <a:srgbClr val="1F2937"/>
                          </a:solidFill>
                          <a:latin typeface="Calibri"/>
                        </a:rPr>
                        <a:t>UC-01</a:t>
                      </a:r>
                    </a:p>
                  </a:txBody>
                  <a:tcPr marT="25400" marB="25400">
                    <a:solidFill>
                      <a:srgbClr val="FFFFFF"/>
                    </a:solidFill>
                  </a:tcPr>
                </a:tc>
                <a:tc>
                  <a:txBody>
                    <a:bodyPr/>
                    <a:lstStyle/>
                    <a:p>
                      <a:r>
                        <a:rPr sz="1200" dirty="0">
                          <a:solidFill>
                            <a:srgbClr val="1F2937"/>
                          </a:solidFill>
                          <a:latin typeface="Calibri"/>
                        </a:rPr>
                        <a:t>Register, sign in, manage profile &amp; preferences</a:t>
                      </a:r>
                    </a:p>
                  </a:txBody>
                  <a:tcPr marT="25400" marB="25400">
                    <a:solidFill>
                      <a:srgbClr val="FFFFFF"/>
                    </a:solidFill>
                  </a:tcPr>
                </a:tc>
                <a:tc>
                  <a:txBody>
                    <a:bodyPr/>
                    <a:lstStyle/>
                    <a:p>
                      <a:r>
                        <a:rPr sz="1200">
                          <a:solidFill>
                            <a:srgbClr val="1F2937"/>
                          </a:solidFill>
                          <a:latin typeface="Calibri"/>
                        </a:rPr>
                        <a:t>Spring Security, JWT, Bean Validation, JPA</a:t>
                      </a:r>
                    </a:p>
                  </a:txBody>
                  <a:tcPr marT="25400" marB="25400">
                    <a:solidFill>
                      <a:srgbClr val="FFFFFF"/>
                    </a:solidFill>
                  </a:tcPr>
                </a:tc>
                <a:extLst>
                  <a:ext uri="{0D108BD9-81ED-4DB2-BD59-A6C34878D82A}">
                    <a16:rowId xmlns:a16="http://schemas.microsoft.com/office/drawing/2014/main" val="10001"/>
                  </a:ext>
                </a:extLst>
              </a:tr>
              <a:tr h="484632">
                <a:tc>
                  <a:txBody>
                    <a:bodyPr/>
                    <a:lstStyle/>
                    <a:p>
                      <a:r>
                        <a:rPr sz="1200">
                          <a:solidFill>
                            <a:srgbClr val="1F2937"/>
                          </a:solidFill>
                          <a:latin typeface="Calibri"/>
                        </a:rPr>
                        <a:t>UC-02</a:t>
                      </a:r>
                    </a:p>
                  </a:txBody>
                  <a:tcPr marT="25400" marB="25400">
                    <a:solidFill>
                      <a:srgbClr val="F3F4F6"/>
                    </a:solidFill>
                  </a:tcPr>
                </a:tc>
                <a:tc>
                  <a:txBody>
                    <a:bodyPr/>
                    <a:lstStyle/>
                    <a:p>
                      <a:r>
                        <a:rPr sz="1200" dirty="0">
                          <a:solidFill>
                            <a:srgbClr val="1F2937"/>
                          </a:solidFill>
                          <a:latin typeface="Calibri"/>
                        </a:rPr>
                        <a:t>Food &amp; drink posts and history</a:t>
                      </a:r>
                    </a:p>
                  </a:txBody>
                  <a:tcPr marT="25400" marB="25400">
                    <a:solidFill>
                      <a:srgbClr val="F3F4F6"/>
                    </a:solidFill>
                  </a:tcPr>
                </a:tc>
                <a:tc>
                  <a:txBody>
                    <a:bodyPr/>
                    <a:lstStyle/>
                    <a:p>
                      <a:r>
                        <a:rPr sz="1200">
                          <a:solidFill>
                            <a:srgbClr val="1F2937"/>
                          </a:solidFill>
                          <a:latin typeface="Calibri"/>
                        </a:rPr>
                        <a:t>Spring Boot REST, ownership &amp; visibility rules</a:t>
                      </a:r>
                    </a:p>
                  </a:txBody>
                  <a:tcPr marT="25400" marB="25400">
                    <a:solidFill>
                      <a:srgbClr val="F3F4F6"/>
                    </a:solidFill>
                  </a:tcPr>
                </a:tc>
                <a:extLst>
                  <a:ext uri="{0D108BD9-81ED-4DB2-BD59-A6C34878D82A}">
                    <a16:rowId xmlns:a16="http://schemas.microsoft.com/office/drawing/2014/main" val="10002"/>
                  </a:ext>
                </a:extLst>
              </a:tr>
              <a:tr h="484632">
                <a:tc>
                  <a:txBody>
                    <a:bodyPr/>
                    <a:lstStyle/>
                    <a:p>
                      <a:r>
                        <a:rPr sz="1200">
                          <a:solidFill>
                            <a:srgbClr val="1F2937"/>
                          </a:solidFill>
                          <a:latin typeface="Calibri"/>
                        </a:rPr>
                        <a:t>UC-03</a:t>
                      </a:r>
                    </a:p>
                  </a:txBody>
                  <a:tcPr marT="25400" marB="25400">
                    <a:solidFill>
                      <a:srgbClr val="FFFFFF"/>
                    </a:solidFill>
                  </a:tcPr>
                </a:tc>
                <a:tc>
                  <a:txBody>
                    <a:bodyPr/>
                    <a:lstStyle/>
                    <a:p>
                      <a:r>
                        <a:rPr sz="1200">
                          <a:solidFill>
                            <a:srgbClr val="1F2937"/>
                          </a:solidFill>
                          <a:latin typeface="Calibri"/>
                        </a:rPr>
                        <a:t>Groups, feed &amp; Want to Try</a:t>
                      </a:r>
                    </a:p>
                  </a:txBody>
                  <a:tcPr marT="25400" marB="25400">
                    <a:solidFill>
                      <a:srgbClr val="FFFFFF"/>
                    </a:solidFill>
                  </a:tcPr>
                </a:tc>
                <a:tc>
                  <a:txBody>
                    <a:bodyPr/>
                    <a:lstStyle/>
                    <a:p>
                      <a:r>
                        <a:rPr sz="1200">
                          <a:solidFill>
                            <a:srgbClr val="1F2937"/>
                          </a:solidFill>
                          <a:latin typeface="Calibri"/>
                        </a:rPr>
                        <a:t>Group APIs, invite codes, permission filters</a:t>
                      </a:r>
                    </a:p>
                  </a:txBody>
                  <a:tcPr marT="25400" marB="25400">
                    <a:solidFill>
                      <a:srgbClr val="FFFFFF"/>
                    </a:solidFill>
                  </a:tcPr>
                </a:tc>
                <a:extLst>
                  <a:ext uri="{0D108BD9-81ED-4DB2-BD59-A6C34878D82A}">
                    <a16:rowId xmlns:a16="http://schemas.microsoft.com/office/drawing/2014/main" val="10003"/>
                  </a:ext>
                </a:extLst>
              </a:tr>
              <a:tr h="484632">
                <a:tc>
                  <a:txBody>
                    <a:bodyPr/>
                    <a:lstStyle/>
                    <a:p>
                      <a:r>
                        <a:rPr sz="1200">
                          <a:solidFill>
                            <a:srgbClr val="1F2937"/>
                          </a:solidFill>
                          <a:latin typeface="Calibri"/>
                        </a:rPr>
                        <a:t>UC-04</a:t>
                      </a:r>
                    </a:p>
                  </a:txBody>
                  <a:tcPr marT="25400" marB="25400">
                    <a:solidFill>
                      <a:srgbClr val="F3F4F6"/>
                    </a:solidFill>
                  </a:tcPr>
                </a:tc>
                <a:tc>
                  <a:txBody>
                    <a:bodyPr/>
                    <a:lstStyle/>
                    <a:p>
                      <a:r>
                        <a:rPr sz="1200">
                          <a:solidFill>
                            <a:srgbClr val="1F2937"/>
                          </a:solidFill>
                          <a:latin typeface="Calibri"/>
                        </a:rPr>
                        <a:t>Explainable food recommendations</a:t>
                      </a:r>
                    </a:p>
                  </a:txBody>
                  <a:tcPr marT="25400" marB="25400">
                    <a:solidFill>
                      <a:srgbClr val="F3F4F6"/>
                    </a:solidFill>
                  </a:tcPr>
                </a:tc>
                <a:tc>
                  <a:txBody>
                    <a:bodyPr/>
                    <a:lstStyle/>
                    <a:p>
                      <a:r>
                        <a:rPr sz="1200">
                          <a:solidFill>
                            <a:srgbClr val="1F2937"/>
                          </a:solidFill>
                          <a:latin typeface="Calibri"/>
                        </a:rPr>
                        <a:t>Recommendation Agent, hard filters, Logistic Regression</a:t>
                      </a:r>
                    </a:p>
                  </a:txBody>
                  <a:tcPr marT="25400" marB="25400">
                    <a:solidFill>
                      <a:srgbClr val="F3F4F6"/>
                    </a:solidFill>
                  </a:tcPr>
                </a:tc>
                <a:extLst>
                  <a:ext uri="{0D108BD9-81ED-4DB2-BD59-A6C34878D82A}">
                    <a16:rowId xmlns:a16="http://schemas.microsoft.com/office/drawing/2014/main" val="10004"/>
                  </a:ext>
                </a:extLst>
              </a:tr>
              <a:tr h="484632">
                <a:tc>
                  <a:txBody>
                    <a:bodyPr/>
                    <a:lstStyle/>
                    <a:p>
                      <a:r>
                        <a:rPr sz="1200">
                          <a:solidFill>
                            <a:srgbClr val="1F2937"/>
                          </a:solidFill>
                          <a:latin typeface="Calibri"/>
                        </a:rPr>
                        <a:t>UC-05</a:t>
                      </a:r>
                    </a:p>
                  </a:txBody>
                  <a:tcPr marT="25400" marB="25400">
                    <a:solidFill>
                      <a:srgbClr val="FFFFFF"/>
                    </a:solidFill>
                  </a:tcPr>
                </a:tc>
                <a:tc>
                  <a:txBody>
                    <a:bodyPr/>
                    <a:lstStyle/>
                    <a:p>
                      <a:r>
                        <a:rPr sz="1200">
                          <a:solidFill>
                            <a:srgbClr val="1F2937"/>
                          </a:solidFill>
                          <a:latin typeface="Calibri"/>
                        </a:rPr>
                        <a:t>Accept / reject / rate / re-recommend</a:t>
                      </a:r>
                    </a:p>
                  </a:txBody>
                  <a:tcPr marT="25400" marB="25400">
                    <a:solidFill>
                      <a:srgbClr val="FFFFFF"/>
                    </a:solidFill>
                  </a:tcPr>
                </a:tc>
                <a:tc>
                  <a:txBody>
                    <a:bodyPr/>
                    <a:lstStyle/>
                    <a:p>
                      <a:r>
                        <a:rPr sz="1200">
                          <a:solidFill>
                            <a:srgbClr val="1F2937"/>
                          </a:solidFill>
                          <a:latin typeface="Calibri"/>
                        </a:rPr>
                        <a:t>Feedback API, rejection constraints, offline retraining</a:t>
                      </a:r>
                    </a:p>
                  </a:txBody>
                  <a:tcPr marT="25400" marB="25400">
                    <a:solidFill>
                      <a:srgbClr val="FFFFFF"/>
                    </a:solidFill>
                  </a:tcPr>
                </a:tc>
                <a:extLst>
                  <a:ext uri="{0D108BD9-81ED-4DB2-BD59-A6C34878D82A}">
                    <a16:rowId xmlns:a16="http://schemas.microsoft.com/office/drawing/2014/main" val="10005"/>
                  </a:ext>
                </a:extLst>
              </a:tr>
              <a:tr h="484632">
                <a:tc>
                  <a:txBody>
                    <a:bodyPr/>
                    <a:lstStyle/>
                    <a:p>
                      <a:r>
                        <a:rPr sz="1200">
                          <a:solidFill>
                            <a:srgbClr val="1F2937"/>
                          </a:solidFill>
                          <a:latin typeface="Calibri"/>
                        </a:rPr>
                        <a:t>UC-06</a:t>
                      </a:r>
                    </a:p>
                  </a:txBody>
                  <a:tcPr marT="25400" marB="25400">
                    <a:solidFill>
                      <a:srgbClr val="F3F4F6"/>
                    </a:solidFill>
                  </a:tcPr>
                </a:tc>
                <a:tc>
                  <a:txBody>
                    <a:bodyPr/>
                    <a:lstStyle/>
                    <a:p>
                      <a:r>
                        <a:rPr sz="1200">
                          <a:solidFill>
                            <a:srgbClr val="1F2937"/>
                          </a:solidFill>
                          <a:latin typeface="Calibri"/>
                        </a:rPr>
                        <a:t>Cooking plan from ingredients, budget, time</a:t>
                      </a:r>
                    </a:p>
                  </a:txBody>
                  <a:tcPr marT="25400" marB="25400">
                    <a:solidFill>
                      <a:srgbClr val="F3F4F6"/>
                    </a:solidFill>
                  </a:tcPr>
                </a:tc>
                <a:tc>
                  <a:txBody>
                    <a:bodyPr/>
                    <a:lstStyle/>
                    <a:p>
                      <a:r>
                        <a:rPr sz="1200">
                          <a:solidFill>
                            <a:srgbClr val="1F2937"/>
                          </a:solidFill>
                          <a:latin typeface="Calibri"/>
                        </a:rPr>
                        <a:t>Cooking Planner Agent, recipe catalogue, Pydantic schema</a:t>
                      </a:r>
                    </a:p>
                  </a:txBody>
                  <a:tcPr marT="25400" marB="25400">
                    <a:solidFill>
                      <a:srgbClr val="F3F4F6"/>
                    </a:solidFill>
                  </a:tcPr>
                </a:tc>
                <a:extLst>
                  <a:ext uri="{0D108BD9-81ED-4DB2-BD59-A6C34878D82A}">
                    <a16:rowId xmlns:a16="http://schemas.microsoft.com/office/drawing/2014/main" val="10006"/>
                  </a:ext>
                </a:extLst>
              </a:tr>
              <a:tr h="484632">
                <a:tc>
                  <a:txBody>
                    <a:bodyPr/>
                    <a:lstStyle/>
                    <a:p>
                      <a:r>
                        <a:rPr sz="1200">
                          <a:solidFill>
                            <a:srgbClr val="1F2937"/>
                          </a:solidFill>
                          <a:latin typeface="Calibri"/>
                        </a:rPr>
                        <a:t>UC-07</a:t>
                      </a:r>
                    </a:p>
                  </a:txBody>
                  <a:tcPr marT="25400" marB="25400">
                    <a:solidFill>
                      <a:srgbClr val="FFFFFF"/>
                    </a:solidFill>
                  </a:tcPr>
                </a:tc>
                <a:tc>
                  <a:txBody>
                    <a:bodyPr/>
                    <a:lstStyle/>
                    <a:p>
                      <a:r>
                        <a:rPr sz="1200">
                          <a:solidFill>
                            <a:srgbClr val="1F2937"/>
                          </a:solidFill>
                          <a:latin typeface="Calibri"/>
                        </a:rPr>
                        <a:t>Chatbot platform search</a:t>
                      </a:r>
                    </a:p>
                  </a:txBody>
                  <a:tcPr marT="25400" marB="25400">
                    <a:solidFill>
                      <a:srgbClr val="FFFFFF"/>
                    </a:solidFill>
                  </a:tcPr>
                </a:tc>
                <a:tc>
                  <a:txBody>
                    <a:bodyPr/>
                    <a:lstStyle/>
                    <a:p>
                      <a:r>
                        <a:rPr sz="1200">
                          <a:solidFill>
                            <a:srgbClr val="1F2937"/>
                          </a:solidFill>
                          <a:latin typeface="Calibri"/>
                        </a:rPr>
                        <a:t>Chatbot Orchestrator + Platform Search Agent</a:t>
                      </a:r>
                    </a:p>
                  </a:txBody>
                  <a:tcPr marT="25400" marB="25400">
                    <a:solidFill>
                      <a:srgbClr val="FFFFFF"/>
                    </a:solidFill>
                  </a:tcPr>
                </a:tc>
                <a:extLst>
                  <a:ext uri="{0D108BD9-81ED-4DB2-BD59-A6C34878D82A}">
                    <a16:rowId xmlns:a16="http://schemas.microsoft.com/office/drawing/2014/main" val="10007"/>
                  </a:ext>
                </a:extLst>
              </a:tr>
              <a:tr h="484632">
                <a:tc>
                  <a:txBody>
                    <a:bodyPr/>
                    <a:lstStyle/>
                    <a:p>
                      <a:r>
                        <a:rPr sz="1200">
                          <a:solidFill>
                            <a:srgbClr val="1F2937"/>
                          </a:solidFill>
                          <a:latin typeface="Calibri"/>
                        </a:rPr>
                        <a:t>UC-08</a:t>
                      </a:r>
                    </a:p>
                  </a:txBody>
                  <a:tcPr marT="25400" marB="25400">
                    <a:solidFill>
                      <a:srgbClr val="F3F4F6"/>
                    </a:solidFill>
                  </a:tcPr>
                </a:tc>
                <a:tc>
                  <a:txBody>
                    <a:bodyPr/>
                    <a:lstStyle/>
                    <a:p>
                      <a:r>
                        <a:rPr sz="1200">
                          <a:solidFill>
                            <a:srgbClr val="1F2937"/>
                          </a:solidFill>
                          <a:latin typeface="Calibri"/>
                        </a:rPr>
                        <a:t>Summarise / compare shared items</a:t>
                      </a:r>
                    </a:p>
                  </a:txBody>
                  <a:tcPr marT="25400" marB="25400">
                    <a:solidFill>
                      <a:srgbClr val="F3F4F6"/>
                    </a:solidFill>
                  </a:tcPr>
                </a:tc>
                <a:tc>
                  <a:txBody>
                    <a:bodyPr/>
                    <a:lstStyle/>
                    <a:p>
                      <a:r>
                        <a:rPr sz="1200">
                          <a:solidFill>
                            <a:srgbClr val="1F2937"/>
                          </a:solidFill>
                          <a:latin typeface="Calibri"/>
                        </a:rPr>
                        <a:t>Content Summary Agent, reference resolver</a:t>
                      </a:r>
                    </a:p>
                  </a:txBody>
                  <a:tcPr marT="25400" marB="25400">
                    <a:solidFill>
                      <a:srgbClr val="F3F4F6"/>
                    </a:solidFill>
                  </a:tcPr>
                </a:tc>
                <a:extLst>
                  <a:ext uri="{0D108BD9-81ED-4DB2-BD59-A6C34878D82A}">
                    <a16:rowId xmlns:a16="http://schemas.microsoft.com/office/drawing/2014/main" val="10008"/>
                  </a:ext>
                </a:extLst>
              </a:tr>
              <a:tr h="484632">
                <a:tc>
                  <a:txBody>
                    <a:bodyPr/>
                    <a:lstStyle/>
                    <a:p>
                      <a:r>
                        <a:rPr sz="1200">
                          <a:solidFill>
                            <a:srgbClr val="1F2937"/>
                          </a:solidFill>
                          <a:latin typeface="Calibri"/>
                        </a:rPr>
                        <a:t>UC-09</a:t>
                      </a:r>
                    </a:p>
                  </a:txBody>
                  <a:tcPr marT="25400" marB="25400">
                    <a:solidFill>
                      <a:srgbClr val="FFFFFF"/>
                    </a:solidFill>
                  </a:tcPr>
                </a:tc>
                <a:tc>
                  <a:txBody>
                    <a:bodyPr/>
                    <a:lstStyle/>
                    <a:p>
                      <a:r>
                        <a:rPr sz="1200">
                          <a:solidFill>
                            <a:srgbClr val="1F2937"/>
                          </a:solidFill>
                          <a:latin typeface="Calibri"/>
                        </a:rPr>
                        <a:t>Dashboard &amp; weekly recap</a:t>
                      </a:r>
                    </a:p>
                  </a:txBody>
                  <a:tcPr marT="25400" marB="25400">
                    <a:solidFill>
                      <a:srgbClr val="FFFFFF"/>
                    </a:solidFill>
                  </a:tcPr>
                </a:tc>
                <a:tc>
                  <a:txBody>
                    <a:bodyPr/>
                    <a:lstStyle/>
                    <a:p>
                      <a:r>
                        <a:rPr sz="1200" dirty="0">
                          <a:solidFill>
                            <a:srgbClr val="1F2937"/>
                          </a:solidFill>
                          <a:latin typeface="Calibri"/>
                        </a:rPr>
                        <a:t>Vico / Recharts, Spring Boot aggregation</a:t>
                      </a:r>
                    </a:p>
                  </a:txBody>
                  <a:tcPr marT="25400" marB="25400">
                    <a:solidFill>
                      <a:srgbClr val="FFFFFF"/>
                    </a:solidFill>
                  </a:tcPr>
                </a:tc>
                <a:extLst>
                  <a:ext uri="{0D108BD9-81ED-4DB2-BD59-A6C34878D82A}">
                    <a16:rowId xmlns:a16="http://schemas.microsoft.com/office/drawing/2014/main" val="10009"/>
                  </a:ext>
                </a:extLst>
              </a:tr>
            </a:tbl>
          </a:graphicData>
        </a:graphic>
      </p:graphicFrame>
      <p:sp>
        <p:nvSpPr>
          <p:cNvPr id="9" name="TextBox 8"/>
          <p:cNvSpPr txBox="1"/>
          <p:nvPr/>
        </p:nvSpPr>
        <p:spPr>
          <a:xfrm>
            <a:off x="502920" y="6263640"/>
            <a:ext cx="1115568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0" i="1" dirty="0">
                <a:solidFill>
                  <a:srgbClr val="5B6472"/>
                </a:solidFill>
                <a:latin typeface="Calibri"/>
              </a:rPr>
              <a:t>Identical business scope on Android and Web; only the UI layout differs.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High-Level Use Case Diagram</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5</a:t>
            </a:r>
          </a:p>
        </p:txBody>
      </p:sp>
      <p:pic>
        <p:nvPicPr>
          <p:cNvPr id="8" name="Picture 7" descr="use-case.png"/>
          <p:cNvPicPr>
            <a:picLocks noChangeAspect="1"/>
          </p:cNvPicPr>
          <p:nvPr/>
        </p:nvPicPr>
        <p:blipFill>
          <a:blip r:embed="rId2"/>
          <a:stretch>
            <a:fillRect/>
          </a:stretch>
        </p:blipFill>
        <p:spPr>
          <a:xfrm>
            <a:off x="1286050" y="1234440"/>
            <a:ext cx="9589419" cy="5029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System Architecture</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6</a:t>
            </a:r>
          </a:p>
        </p:txBody>
      </p:sp>
      <p:sp>
        <p:nvSpPr>
          <p:cNvPr id="9" name="TextBox 8"/>
          <p:cNvSpPr txBox="1"/>
          <p:nvPr/>
        </p:nvSpPr>
        <p:spPr>
          <a:xfrm>
            <a:off x="7726679" y="1463040"/>
            <a:ext cx="4023360" cy="457200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1F2937"/>
                </a:solidFill>
                <a:latin typeface="Calibri"/>
              </a:rPr>
              <a:t>•  Spring Boot is the only public API boundary; FastAPI agents stay private.</a:t>
            </a:r>
          </a:p>
          <a:p>
            <a:pPr algn="l">
              <a:lnSpc>
                <a:spcPct val="100000"/>
              </a:lnSpc>
              <a:spcBef>
                <a:spcPts val="0"/>
              </a:spcBef>
              <a:spcAft>
                <a:spcPts val="600"/>
              </a:spcAft>
            </a:pPr>
            <a:r>
              <a:rPr sz="1300" b="1" i="0">
                <a:solidFill>
                  <a:srgbClr val="1F2937"/>
                </a:solidFill>
                <a:latin typeface="Calibri"/>
              </a:rPr>
              <a:t>•  Every agent call carries a service token; chatbot tools also carry a short-lived user delegation token.</a:t>
            </a:r>
          </a:p>
          <a:p>
            <a:pPr algn="l">
              <a:lnSpc>
                <a:spcPct val="100000"/>
              </a:lnSpc>
              <a:spcBef>
                <a:spcPts val="0"/>
              </a:spcBef>
              <a:spcAft>
                <a:spcPts val="600"/>
              </a:spcAft>
            </a:pPr>
            <a:r>
              <a:rPr sz="1300" b="1" i="0">
                <a:solidFill>
                  <a:srgbClr val="1F2937"/>
                </a:solidFill>
                <a:latin typeface="Calibri"/>
              </a:rPr>
              <a:t>•  Authorisation happens before retrieval — no downstream service receives data the user cannot access.</a:t>
            </a:r>
          </a:p>
          <a:p>
            <a:pPr algn="l">
              <a:lnSpc>
                <a:spcPct val="100000"/>
              </a:lnSpc>
              <a:spcBef>
                <a:spcPts val="0"/>
              </a:spcBef>
              <a:spcAft>
                <a:spcPts val="600"/>
              </a:spcAft>
            </a:pPr>
            <a:r>
              <a:rPr sz="1300" b="1" i="0">
                <a:solidFill>
                  <a:srgbClr val="1F2937"/>
                </a:solidFill>
                <a:latin typeface="Calibri"/>
              </a:rPr>
              <a:t>•  The model-package job builds the versioned runtime package before Inference starts.</a:t>
            </a:r>
          </a:p>
        </p:txBody>
      </p:sp>
      <p:pic>
        <p:nvPicPr>
          <p:cNvPr id="11" name="FoodMind architecture diagram">
            <a:extLst>
              <a:ext uri="{FF2B5EF4-FFF2-40B4-BE49-F238E27FC236}">
                <a16:creationId xmlns:a16="http://schemas.microsoft.com/office/drawing/2014/main" id="{E95E81C3-93A3-C9DA-AE67-9E1B2E26E1CC}"/>
              </a:ext>
            </a:extLst>
          </p:cNvPr>
          <p:cNvPicPr>
            <a:picLocks noChangeAspect="1"/>
          </p:cNvPicPr>
          <p:nvPr/>
        </p:nvPicPr>
        <p:blipFill>
          <a:blip r:embed="rId2"/>
          <a:stretch/>
        </p:blipFill>
        <p:spPr>
          <a:xfrm>
            <a:off x="502920" y="698264"/>
            <a:ext cx="6805989" cy="6121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415498"/>
          </a:xfrm>
          <a:prstGeom prst="rect">
            <a:avLst/>
          </a:prstGeom>
          <a:noFill/>
        </p:spPr>
        <p:txBody>
          <a:bodyPr wrap="square" lIns="0" tIns="0" rIns="0" bIns="0" anchor="t">
            <a:spAutoFit/>
          </a:bodyPr>
          <a:lstStyle/>
          <a:p>
            <a:pPr algn="l">
              <a:lnSpc>
                <a:spcPct val="100000"/>
              </a:lnSpc>
              <a:spcBef>
                <a:spcPts val="0"/>
              </a:spcBef>
              <a:spcAft>
                <a:spcPts val="600"/>
              </a:spcAft>
            </a:pPr>
            <a:r>
              <a:rPr sz="2700" b="1" i="0" dirty="0">
                <a:solidFill>
                  <a:srgbClr val="1F2937"/>
                </a:solidFill>
                <a:highlight>
                  <a:srgbClr val="FFFF00"/>
                </a:highlight>
                <a:latin typeface="Calibri"/>
              </a:rPr>
              <a:t>Data Model — High-Level ER Diagram</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7</a:t>
            </a:r>
          </a:p>
        </p:txBody>
      </p:sp>
      <p:pic>
        <p:nvPicPr>
          <p:cNvPr id="8" name="Picture 7" descr="erd.png"/>
          <p:cNvPicPr>
            <a:picLocks noChangeAspect="1"/>
          </p:cNvPicPr>
          <p:nvPr/>
        </p:nvPicPr>
        <p:blipFill>
          <a:blip r:embed="rId2"/>
          <a:stretch>
            <a:fillRect/>
          </a:stretch>
        </p:blipFill>
        <p:spPr>
          <a:xfrm>
            <a:off x="0" y="1069847"/>
            <a:ext cx="12123317" cy="46699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D57D-68DC-7F75-4F36-C78C07DA099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413599A-8933-1501-8677-2D4FEAAE9127}"/>
              </a:ext>
            </a:extLst>
          </p:cNvPr>
          <p:cNvSpPr txBox="1"/>
          <p:nvPr/>
        </p:nvSpPr>
        <p:spPr>
          <a:xfrm>
            <a:off x="3212037" y="2921168"/>
            <a:ext cx="5767926" cy="1015663"/>
          </a:xfrm>
          <a:prstGeom prst="rect">
            <a:avLst/>
          </a:prstGeom>
          <a:noFill/>
        </p:spPr>
        <p:txBody>
          <a:bodyPr wrap="none" rtlCol="0">
            <a:spAutoFit/>
          </a:bodyPr>
          <a:lstStyle/>
          <a:p>
            <a:r>
              <a:rPr lang="en-US" altLang="zh-CN" sz="6000" dirty="0"/>
              <a:t>Machine Learning</a:t>
            </a:r>
            <a:endParaRPr lang="zh-CN" altLang="en-US" sz="6000" dirty="0"/>
          </a:p>
        </p:txBody>
      </p:sp>
    </p:spTree>
    <p:extLst>
      <p:ext uri="{BB962C8B-B14F-4D97-AF65-F5344CB8AC3E}">
        <p14:creationId xmlns:p14="http://schemas.microsoft.com/office/powerpoint/2010/main" val="2384137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20D9A2E1-E88C-4CD7-A1F2-31591B67242C}"/>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6-title">
            <a:extLst>
              <a:ext uri="{FF2B5EF4-FFF2-40B4-BE49-F238E27FC236}">
                <a16:creationId xmlns:a16="http://schemas.microsoft.com/office/drawing/2014/main" id="{1CD4F976-F6EC-44DF-A807-6C4723A99DF5}"/>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3450" b="1" i="0" dirty="0">
                <a:solidFill>
                  <a:srgbClr val="192526"/>
                </a:solidFill>
                <a:latin typeface="Arial"/>
                <a:ea typeface="Arial"/>
                <a:cs typeface="Arial"/>
              </a:rPr>
              <a:t>Hybrid </a:t>
            </a:r>
            <a:r>
              <a:rPr lang="en-US" altLang="zh-CN" sz="4400" b="1" i="0" dirty="0">
                <a:solidFill>
                  <a:srgbClr val="192526"/>
                </a:solidFill>
                <a:latin typeface="Arial"/>
                <a:ea typeface="Arial"/>
                <a:cs typeface="Arial"/>
              </a:rPr>
              <a:t>Machine Learning </a:t>
            </a:r>
            <a:r>
              <a:rPr sz="3450" b="1" i="0" dirty="0">
                <a:solidFill>
                  <a:srgbClr val="192526"/>
                </a:solidFill>
                <a:latin typeface="Arial"/>
                <a:ea typeface="Arial"/>
                <a:cs typeface="Arial"/>
              </a:rPr>
              <a:t>Mode</a:t>
            </a:r>
            <a:r>
              <a:rPr lang="en-US" sz="3450" b="1" i="0" dirty="0">
                <a:solidFill>
                  <a:srgbClr val="192526"/>
                </a:solidFill>
                <a:latin typeface="Arial"/>
                <a:ea typeface="Arial"/>
                <a:cs typeface="Arial"/>
              </a:rPr>
              <a:t>l</a:t>
            </a:r>
            <a:endParaRPr sz="3450" b="1" i="0" dirty="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64BDC852-FFF9-4B14-9524-41E98C54B4D5}"/>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F47B87D9-1A84-4FCE-A6DF-C153C65CB3AF}"/>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EAAD4A59-037F-44E1-B97D-64D01F56FA86}"/>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08</a:t>
            </a:r>
          </a:p>
        </p:txBody>
      </p:sp>
      <p:sp>
        <p:nvSpPr>
          <p:cNvPr id="6" name="矩形: 圆角 5">
            <a:extLst>
              <a:ext uri="{FF2B5EF4-FFF2-40B4-BE49-F238E27FC236}">
                <a16:creationId xmlns:a16="http://schemas.microsoft.com/office/drawing/2014/main" id="{D39B4821-DF72-4F57-8014-DFCF4D69EC74}"/>
              </a:ext>
            </a:extLst>
          </p:cNvPr>
          <p:cNvSpPr>
            <a:spLocks noGrp="1"/>
          </p:cNvSpPr>
          <p:nvPr/>
        </p:nvSpPr>
        <p:spPr>
          <a:xfrm>
            <a:off x="666750" y="1504950"/>
            <a:ext cx="2095500" cy="685800"/>
          </a:xfrm>
          <a:prstGeom prst="roundRect">
            <a:avLst>
              <a:gd name="adj" fmla="val 19444"/>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800" b="1">
                <a:solidFill>
                  <a:srgbClr val="B86143"/>
                </a:solidFill>
                <a:latin typeface="Arial"/>
                <a:ea typeface="Arial"/>
                <a:cs typeface="Arial"/>
              </a:defRPr>
            </a:pPr>
            <a:r>
              <a:rPr sz="1800" b="1">
                <a:solidFill>
                  <a:srgbClr val="B86143"/>
                </a:solidFill>
                <a:latin typeface="Arial"/>
                <a:ea typeface="Arial"/>
                <a:cs typeface="Arial"/>
              </a:rPr>
              <a:t>HARD RULES</a:t>
            </a:r>
          </a:p>
        </p:txBody>
      </p:sp>
      <p:sp>
        <p:nvSpPr>
          <p:cNvPr id="7" name="矩形 6">
            <a:extLst>
              <a:ext uri="{FF2B5EF4-FFF2-40B4-BE49-F238E27FC236}">
                <a16:creationId xmlns:a16="http://schemas.microsoft.com/office/drawing/2014/main" id="{D3194691-C257-434B-BE46-B9BA9B7E2D8B}"/>
              </a:ext>
            </a:extLst>
          </p:cNvPr>
          <p:cNvSpPr>
            <a:spLocks noGrp="1"/>
          </p:cNvSpPr>
          <p:nvPr/>
        </p:nvSpPr>
        <p:spPr>
          <a:xfrm>
            <a:off x="3105150" y="1676400"/>
            <a:ext cx="7924800" cy="361950"/>
          </a:xfrm>
          <a:prstGeom prst="rect">
            <a:avLst/>
          </a:prstGeom>
          <a:noFill/>
          <a:ln w="0">
            <a:noFill/>
            <a:prstDash val="solid"/>
          </a:ln>
        </p:spPr>
        <p:txBody>
          <a:bodyPr wrap="square" lIns="0" tIns="0" rIns="0" bIns="0" anchor="ctr">
            <a:noAutofit/>
          </a:bodyPr>
          <a:lstStyle/>
          <a:p>
            <a:pPr algn="l">
              <a:lnSpc>
                <a:spcPct val="105000"/>
              </a:lnSpc>
              <a:buNone/>
              <a:defRPr sz="1575" b="0" i="0">
                <a:solidFill>
                  <a:srgbClr val="667174"/>
                </a:solidFill>
                <a:latin typeface="Arial"/>
                <a:ea typeface="Arial"/>
                <a:cs typeface="Arial"/>
              </a:defRPr>
            </a:pPr>
            <a:r>
              <a:rPr sz="1575" b="0" i="0">
                <a:solidFill>
                  <a:srgbClr val="667174"/>
                </a:solidFill>
                <a:latin typeface="Arial"/>
                <a:ea typeface="Arial"/>
                <a:cs typeface="Arial"/>
              </a:rPr>
              <a:t>Allergies  •  dietary restrictions  •  budget  •  spice  •  repetition</a:t>
            </a:r>
          </a:p>
        </p:txBody>
      </p:sp>
      <p:sp>
        <p:nvSpPr>
          <p:cNvPr id="8" name="直接连接符 7">
            <a:extLst>
              <a:ext uri="{FF2B5EF4-FFF2-40B4-BE49-F238E27FC236}">
                <a16:creationId xmlns:a16="http://schemas.microsoft.com/office/drawing/2014/main" id="{E760F973-9230-422D-8A49-332BEC24B114}"/>
              </a:ext>
            </a:extLst>
          </p:cNvPr>
          <p:cNvSpPr>
            <a:spLocks noGrp="1"/>
          </p:cNvSpPr>
          <p:nvPr/>
        </p:nvSpPr>
        <p:spPr>
          <a:xfrm>
            <a:off x="666750" y="2400300"/>
            <a:ext cx="10363200" cy="0"/>
          </a:xfrm>
          <a:prstGeom prst="line">
            <a:avLst/>
          </a:prstGeom>
          <a:noFill/>
          <a:ln w="11430">
            <a:solidFill>
              <a:srgbClr val="D8DDD9"/>
            </a:solidFill>
            <a:prstDash val="solid"/>
          </a:ln>
        </p:spPr>
        <p:txBody>
          <a:bodyPr/>
          <a:lstStyle/>
          <a:p>
            <a:endParaRPr/>
          </a:p>
        </p:txBody>
      </p:sp>
      <p:sp>
        <p:nvSpPr>
          <p:cNvPr id="9" name="矩形: 圆角 8">
            <a:extLst>
              <a:ext uri="{FF2B5EF4-FFF2-40B4-BE49-F238E27FC236}">
                <a16:creationId xmlns:a16="http://schemas.microsoft.com/office/drawing/2014/main" id="{05163E14-23F6-464C-8A79-C281D2026393}"/>
              </a:ext>
            </a:extLst>
          </p:cNvPr>
          <p:cNvSpPr>
            <a:spLocks noGrp="1"/>
          </p:cNvSpPr>
          <p:nvPr/>
        </p:nvSpPr>
        <p:spPr>
          <a:xfrm>
            <a:off x="666750" y="3009900"/>
            <a:ext cx="5295900" cy="2152650"/>
          </a:xfrm>
          <a:prstGeom prst="roundRect">
            <a:avLst>
              <a:gd name="adj" fmla="val 7080"/>
            </a:avLst>
          </a:prstGeom>
          <a:solidFill>
            <a:srgbClr val="FFFFFF"/>
          </a:solidFill>
          <a:ln w="12383">
            <a:solidFill>
              <a:srgbClr val="4F806B"/>
            </a:solidFill>
            <a:prstDash val="solid"/>
          </a:ln>
        </p:spPr>
        <p:txBody>
          <a:bodyPr/>
          <a:lstStyle/>
          <a:p>
            <a:endParaRPr/>
          </a:p>
        </p:txBody>
      </p:sp>
      <p:sp>
        <p:nvSpPr>
          <p:cNvPr id="10" name="矩形 9">
            <a:extLst>
              <a:ext uri="{FF2B5EF4-FFF2-40B4-BE49-F238E27FC236}">
                <a16:creationId xmlns:a16="http://schemas.microsoft.com/office/drawing/2014/main" id="{4FF74F85-90D6-4288-8D8E-B211DAC6627C}"/>
              </a:ext>
            </a:extLst>
          </p:cNvPr>
          <p:cNvSpPr>
            <a:spLocks noGrp="1"/>
          </p:cNvSpPr>
          <p:nvPr/>
        </p:nvSpPr>
        <p:spPr>
          <a:xfrm>
            <a:off x="933450" y="3219450"/>
            <a:ext cx="2286000" cy="266700"/>
          </a:xfrm>
          <a:prstGeom prst="rect">
            <a:avLst/>
          </a:prstGeom>
          <a:noFill/>
          <a:ln w="0">
            <a:noFill/>
            <a:prstDash val="solid"/>
          </a:ln>
        </p:spPr>
        <p:txBody>
          <a:bodyPr wrap="square" lIns="0" tIns="0" rIns="0" bIns="0" anchor="t">
            <a:noAutofit/>
          </a:bodyPr>
          <a:lstStyle/>
          <a:p>
            <a:pPr algn="l">
              <a:lnSpc>
                <a:spcPct val="105000"/>
              </a:lnSpc>
              <a:buNone/>
              <a:defRPr sz="1425" b="1" i="0">
                <a:solidFill>
                  <a:srgbClr val="356B56"/>
                </a:solidFill>
                <a:latin typeface="Arial"/>
                <a:ea typeface="Arial"/>
                <a:cs typeface="Arial"/>
              </a:defRPr>
            </a:pPr>
            <a:r>
              <a:rPr sz="1425" b="1" i="0">
                <a:solidFill>
                  <a:srgbClr val="356B56"/>
                </a:solidFill>
                <a:latin typeface="Arial"/>
                <a:ea typeface="Arial"/>
                <a:cs typeface="Arial"/>
              </a:rPr>
              <a:t>MODEL FEATURES</a:t>
            </a:r>
          </a:p>
        </p:txBody>
      </p:sp>
      <p:sp>
        <p:nvSpPr>
          <p:cNvPr id="11" name="矩形 10">
            <a:extLst>
              <a:ext uri="{FF2B5EF4-FFF2-40B4-BE49-F238E27FC236}">
                <a16:creationId xmlns:a16="http://schemas.microsoft.com/office/drawing/2014/main" id="{AB8C57AB-E7F7-4555-A106-59714108791D}"/>
              </a:ext>
            </a:extLst>
          </p:cNvPr>
          <p:cNvSpPr>
            <a:spLocks noGrp="1"/>
          </p:cNvSpPr>
          <p:nvPr/>
        </p:nvSpPr>
        <p:spPr>
          <a:xfrm>
            <a:off x="933450" y="369570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UserCF</a:t>
            </a:r>
          </a:p>
        </p:txBody>
      </p:sp>
      <p:sp>
        <p:nvSpPr>
          <p:cNvPr id="12" name="矩形 11">
            <a:extLst>
              <a:ext uri="{FF2B5EF4-FFF2-40B4-BE49-F238E27FC236}">
                <a16:creationId xmlns:a16="http://schemas.microsoft.com/office/drawing/2014/main" id="{E7C116C2-9859-4E90-B40D-2174FCE2D00C}"/>
              </a:ext>
            </a:extLst>
          </p:cNvPr>
          <p:cNvSpPr>
            <a:spLocks noGrp="1"/>
          </p:cNvSpPr>
          <p:nvPr/>
        </p:nvSpPr>
        <p:spPr>
          <a:xfrm>
            <a:off x="2171700" y="3714750"/>
            <a:ext cx="3143250" cy="266700"/>
          </a:xfrm>
          <a:prstGeom prst="rect">
            <a:avLst/>
          </a:prstGeom>
          <a:noFill/>
          <a:ln w="0">
            <a:noFill/>
            <a:prstDash val="solid"/>
          </a:ln>
        </p:spPr>
        <p:txBody>
          <a:bodyPr wrap="square" lIns="0" tIns="0" rIns="0" bIns="0" anchor="t">
            <a:noAutofit/>
          </a:bodyPr>
          <a:lstStyle/>
          <a:p>
            <a:pPr algn="l">
              <a:lnSpc>
                <a:spcPct val="105000"/>
              </a:lnSpc>
              <a:buNone/>
              <a:defRPr sz="1575" b="0" i="0">
                <a:solidFill>
                  <a:srgbClr val="667174"/>
                </a:solidFill>
                <a:latin typeface="Arial"/>
                <a:ea typeface="Arial"/>
                <a:cs typeface="Arial"/>
              </a:defRPr>
            </a:pPr>
            <a:r>
              <a:rPr sz="1575" b="0" i="0">
                <a:solidFill>
                  <a:srgbClr val="667174"/>
                </a:solidFill>
                <a:latin typeface="Arial"/>
                <a:ea typeface="Arial"/>
                <a:cs typeface="Arial"/>
              </a:rPr>
              <a:t>Similar users</a:t>
            </a:r>
          </a:p>
        </p:txBody>
      </p:sp>
      <p:sp>
        <p:nvSpPr>
          <p:cNvPr id="13" name="直接连接符 12">
            <a:extLst>
              <a:ext uri="{FF2B5EF4-FFF2-40B4-BE49-F238E27FC236}">
                <a16:creationId xmlns:a16="http://schemas.microsoft.com/office/drawing/2014/main" id="{8C5394DC-9D02-4416-A1E6-1B71359CC4A4}"/>
              </a:ext>
            </a:extLst>
          </p:cNvPr>
          <p:cNvSpPr>
            <a:spLocks noGrp="1"/>
          </p:cNvSpPr>
          <p:nvPr/>
        </p:nvSpPr>
        <p:spPr>
          <a:xfrm>
            <a:off x="933450" y="4095750"/>
            <a:ext cx="4705350" cy="0"/>
          </a:xfrm>
          <a:prstGeom prst="line">
            <a:avLst/>
          </a:prstGeom>
          <a:noFill/>
          <a:ln w="9525">
            <a:solidFill>
              <a:srgbClr val="D8DDD9"/>
            </a:solidFill>
            <a:prstDash val="solid"/>
          </a:ln>
        </p:spPr>
        <p:txBody>
          <a:bodyPr/>
          <a:lstStyle/>
          <a:p>
            <a:endParaRPr/>
          </a:p>
        </p:txBody>
      </p:sp>
      <p:sp>
        <p:nvSpPr>
          <p:cNvPr id="14" name="矩形 13">
            <a:extLst>
              <a:ext uri="{FF2B5EF4-FFF2-40B4-BE49-F238E27FC236}">
                <a16:creationId xmlns:a16="http://schemas.microsoft.com/office/drawing/2014/main" id="{64A13D41-5F83-40A4-8F58-D399176412D5}"/>
              </a:ext>
            </a:extLst>
          </p:cNvPr>
          <p:cNvSpPr>
            <a:spLocks noGrp="1"/>
          </p:cNvSpPr>
          <p:nvPr/>
        </p:nvSpPr>
        <p:spPr>
          <a:xfrm>
            <a:off x="933450" y="424815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ItemCF</a:t>
            </a:r>
          </a:p>
        </p:txBody>
      </p:sp>
      <p:sp>
        <p:nvSpPr>
          <p:cNvPr id="15" name="矩形 14">
            <a:extLst>
              <a:ext uri="{FF2B5EF4-FFF2-40B4-BE49-F238E27FC236}">
                <a16:creationId xmlns:a16="http://schemas.microsoft.com/office/drawing/2014/main" id="{CAE61713-32F9-46F0-9472-F464AC6AB9E6}"/>
              </a:ext>
            </a:extLst>
          </p:cNvPr>
          <p:cNvSpPr>
            <a:spLocks noGrp="1"/>
          </p:cNvSpPr>
          <p:nvPr/>
        </p:nvSpPr>
        <p:spPr>
          <a:xfrm>
            <a:off x="2171700" y="4267200"/>
            <a:ext cx="3143250" cy="266700"/>
          </a:xfrm>
          <a:prstGeom prst="rect">
            <a:avLst/>
          </a:prstGeom>
          <a:noFill/>
          <a:ln w="0">
            <a:noFill/>
            <a:prstDash val="solid"/>
          </a:ln>
        </p:spPr>
        <p:txBody>
          <a:bodyPr wrap="square" lIns="0" tIns="0" rIns="0" bIns="0" anchor="t">
            <a:noAutofit/>
          </a:bodyPr>
          <a:lstStyle/>
          <a:p>
            <a:pPr algn="l">
              <a:lnSpc>
                <a:spcPct val="105000"/>
              </a:lnSpc>
              <a:buNone/>
              <a:defRPr sz="1575" b="0" i="0">
                <a:solidFill>
                  <a:srgbClr val="667174"/>
                </a:solidFill>
                <a:latin typeface="Arial"/>
                <a:ea typeface="Arial"/>
                <a:cs typeface="Arial"/>
              </a:defRPr>
            </a:pPr>
            <a:r>
              <a:rPr sz="1575" b="0" i="0">
                <a:solidFill>
                  <a:srgbClr val="667174"/>
                </a:solidFill>
                <a:latin typeface="Arial"/>
                <a:ea typeface="Arial"/>
                <a:cs typeface="Arial"/>
              </a:rPr>
              <a:t>Similar meals</a:t>
            </a:r>
          </a:p>
        </p:txBody>
      </p:sp>
      <p:sp>
        <p:nvSpPr>
          <p:cNvPr id="16" name="直接连接符 15">
            <a:extLst>
              <a:ext uri="{FF2B5EF4-FFF2-40B4-BE49-F238E27FC236}">
                <a16:creationId xmlns:a16="http://schemas.microsoft.com/office/drawing/2014/main" id="{73B86C44-783F-4A39-BFE2-545214D0B052}"/>
              </a:ext>
            </a:extLst>
          </p:cNvPr>
          <p:cNvSpPr>
            <a:spLocks noGrp="1"/>
          </p:cNvSpPr>
          <p:nvPr/>
        </p:nvSpPr>
        <p:spPr>
          <a:xfrm>
            <a:off x="933450" y="4648200"/>
            <a:ext cx="4705350" cy="0"/>
          </a:xfrm>
          <a:prstGeom prst="line">
            <a:avLst/>
          </a:prstGeom>
          <a:noFill/>
          <a:ln w="9525">
            <a:solidFill>
              <a:srgbClr val="D8DDD9"/>
            </a:solidFill>
            <a:prstDash val="solid"/>
          </a:ln>
        </p:spPr>
        <p:txBody>
          <a:bodyPr/>
          <a:lstStyle/>
          <a:p>
            <a:endParaRPr/>
          </a:p>
        </p:txBody>
      </p:sp>
      <p:sp>
        <p:nvSpPr>
          <p:cNvPr id="17" name="矩形 16">
            <a:extLst>
              <a:ext uri="{FF2B5EF4-FFF2-40B4-BE49-F238E27FC236}">
                <a16:creationId xmlns:a16="http://schemas.microsoft.com/office/drawing/2014/main" id="{CACDEC88-DDCB-4283-A3EC-CF3BA1197722}"/>
              </a:ext>
            </a:extLst>
          </p:cNvPr>
          <p:cNvSpPr>
            <a:spLocks noGrp="1"/>
          </p:cNvSpPr>
          <p:nvPr/>
        </p:nvSpPr>
        <p:spPr>
          <a:xfrm>
            <a:off x="933450" y="4781550"/>
            <a:ext cx="1162050" cy="285750"/>
          </a:xfrm>
          <a:prstGeom prst="rect">
            <a:avLst/>
          </a:prstGeom>
          <a:noFill/>
          <a:ln w="0">
            <a:noFill/>
            <a:prstDash val="solid"/>
          </a:ln>
        </p:spPr>
        <p:txBody>
          <a:bodyPr wrap="square" lIns="0" tIns="0" rIns="0" bIns="0" anchor="t">
            <a:noAutofit/>
          </a:bodyPr>
          <a:lstStyle/>
          <a:p>
            <a:pPr algn="l">
              <a:lnSpc>
                <a:spcPct val="105000"/>
              </a:lnSpc>
              <a:buNone/>
              <a:defRPr sz="1725" b="1" i="0">
                <a:solidFill>
                  <a:srgbClr val="192526"/>
                </a:solidFill>
                <a:latin typeface="Arial"/>
                <a:ea typeface="Arial"/>
                <a:cs typeface="Arial"/>
              </a:defRPr>
            </a:pPr>
            <a:r>
              <a:rPr sz="1725" b="1" i="0">
                <a:solidFill>
                  <a:srgbClr val="192526"/>
                </a:solidFill>
                <a:latin typeface="Arial"/>
                <a:ea typeface="Arial"/>
                <a:cs typeface="Arial"/>
              </a:rPr>
              <a:t>Context</a:t>
            </a:r>
          </a:p>
        </p:txBody>
      </p:sp>
      <p:sp>
        <p:nvSpPr>
          <p:cNvPr id="18" name="矩形 17">
            <a:extLst>
              <a:ext uri="{FF2B5EF4-FFF2-40B4-BE49-F238E27FC236}">
                <a16:creationId xmlns:a16="http://schemas.microsoft.com/office/drawing/2014/main" id="{D50061F2-86E4-468B-9AF4-2CFE1E2DBD3C}"/>
              </a:ext>
            </a:extLst>
          </p:cNvPr>
          <p:cNvSpPr>
            <a:spLocks noGrp="1"/>
          </p:cNvSpPr>
          <p:nvPr/>
        </p:nvSpPr>
        <p:spPr>
          <a:xfrm>
            <a:off x="2171700" y="4800600"/>
            <a:ext cx="3333750" cy="266700"/>
          </a:xfrm>
          <a:prstGeom prst="rect">
            <a:avLst/>
          </a:prstGeom>
          <a:noFill/>
          <a:ln w="0">
            <a:noFill/>
            <a:prstDash val="solid"/>
          </a:ln>
        </p:spPr>
        <p:txBody>
          <a:bodyPr wrap="square" lIns="0" tIns="0" rIns="0" bIns="0" anchor="t">
            <a:noAutofit/>
          </a:bodyPr>
          <a:lstStyle/>
          <a:p>
            <a:pPr algn="l">
              <a:lnSpc>
                <a:spcPct val="105000"/>
              </a:lnSpc>
              <a:buNone/>
              <a:defRPr sz="1500" b="0" i="0">
                <a:solidFill>
                  <a:srgbClr val="667174"/>
                </a:solidFill>
                <a:latin typeface="Arial"/>
                <a:ea typeface="Arial"/>
                <a:cs typeface="Arial"/>
              </a:defRPr>
            </a:pPr>
            <a:r>
              <a:rPr sz="1500" b="0" i="0" dirty="0">
                <a:solidFill>
                  <a:srgbClr val="667174"/>
                </a:solidFill>
                <a:latin typeface="Arial"/>
                <a:ea typeface="Arial"/>
                <a:cs typeface="Arial"/>
              </a:rPr>
              <a:t>Cuisine • price • location • time</a:t>
            </a:r>
          </a:p>
        </p:txBody>
      </p:sp>
      <p:sp>
        <p:nvSpPr>
          <p:cNvPr id="19" name="矩形: 圆角 18">
            <a:extLst>
              <a:ext uri="{FF2B5EF4-FFF2-40B4-BE49-F238E27FC236}">
                <a16:creationId xmlns:a16="http://schemas.microsoft.com/office/drawing/2014/main" id="{1F66D045-9E70-48B7-B0A4-F9D888A4BB59}"/>
              </a:ext>
            </a:extLst>
          </p:cNvPr>
          <p:cNvSpPr>
            <a:spLocks noGrp="1"/>
          </p:cNvSpPr>
          <p:nvPr/>
        </p:nvSpPr>
        <p:spPr>
          <a:xfrm>
            <a:off x="6724650" y="3448050"/>
            <a:ext cx="2266950" cy="1276350"/>
          </a:xfrm>
          <a:prstGeom prst="roundRect">
            <a:avLst>
              <a:gd name="adj" fmla="val 10448"/>
            </a:avLst>
          </a:prstGeom>
          <a:solidFill>
            <a:srgbClr val="E7F0EB"/>
          </a:solidFill>
          <a:ln w="13335">
            <a:solidFill>
              <a:srgbClr val="4F806B"/>
            </a:solidFill>
            <a:prstDash val="solid"/>
          </a:ln>
        </p:spPr>
        <p:txBody>
          <a:bodyPr wrap="square" lIns="114300" tIns="95250" rIns="114300" bIns="95250" anchor="ctr">
            <a:noAutofit/>
          </a:bodyPr>
          <a:lstStyle/>
          <a:p>
            <a:pPr algn="ctr">
              <a:lnSpc>
                <a:spcPct val="100000"/>
              </a:lnSpc>
              <a:buNone/>
              <a:defRPr sz="1875" b="1">
                <a:solidFill>
                  <a:srgbClr val="356B56"/>
                </a:solidFill>
                <a:latin typeface="Arial"/>
                <a:ea typeface="Arial"/>
                <a:cs typeface="Arial"/>
              </a:defRPr>
            </a:pPr>
            <a:r>
              <a:rPr sz="1875" b="1">
                <a:solidFill>
                  <a:srgbClr val="356B56"/>
                </a:solidFill>
                <a:latin typeface="Arial"/>
                <a:ea typeface="Arial"/>
                <a:cs typeface="Arial"/>
              </a:rPr>
              <a:t>LOGISTIC</a:t>
            </a:r>
          </a:p>
          <a:p>
            <a:pPr algn="ctr">
              <a:lnSpc>
                <a:spcPct val="100000"/>
              </a:lnSpc>
              <a:buNone/>
              <a:defRPr sz="1875" b="1">
                <a:solidFill>
                  <a:srgbClr val="356B56"/>
                </a:solidFill>
                <a:latin typeface="Arial"/>
                <a:ea typeface="Arial"/>
                <a:cs typeface="Arial"/>
              </a:defRPr>
            </a:pPr>
            <a:r>
              <a:rPr sz="1875" b="1">
                <a:solidFill>
                  <a:srgbClr val="356B56"/>
                </a:solidFill>
                <a:latin typeface="Arial"/>
                <a:ea typeface="Arial"/>
                <a:cs typeface="Arial"/>
              </a:rPr>
              <a:t>REGRESSION</a:t>
            </a:r>
          </a:p>
        </p:txBody>
      </p:sp>
      <p:sp>
        <p:nvSpPr>
          <p:cNvPr id="20" name="矩形: 圆角 19">
            <a:extLst>
              <a:ext uri="{FF2B5EF4-FFF2-40B4-BE49-F238E27FC236}">
                <a16:creationId xmlns:a16="http://schemas.microsoft.com/office/drawing/2014/main" id="{7DE022AF-2FF8-44A6-BB8F-EC2DA9D17A28}"/>
              </a:ext>
            </a:extLst>
          </p:cNvPr>
          <p:cNvSpPr>
            <a:spLocks noGrp="1"/>
          </p:cNvSpPr>
          <p:nvPr/>
        </p:nvSpPr>
        <p:spPr>
          <a:xfrm>
            <a:off x="9582150" y="3449336"/>
            <a:ext cx="1943100" cy="1276350"/>
          </a:xfrm>
          <a:prstGeom prst="roundRect">
            <a:avLst>
              <a:gd name="adj" fmla="val 10448"/>
            </a:avLst>
          </a:prstGeom>
          <a:solidFill>
            <a:srgbClr val="F4E8E1"/>
          </a:solidFill>
          <a:ln w="13335">
            <a:solidFill>
              <a:srgbClr val="B86143"/>
            </a:solidFill>
            <a:prstDash val="solid"/>
          </a:ln>
        </p:spPr>
        <p:txBody>
          <a:bodyPr wrap="square" lIns="114300" tIns="95250" rIns="114300" bIns="95250" anchor="ctr">
            <a:noAutofit/>
          </a:bodyPr>
          <a:lstStyle/>
          <a:p>
            <a:pPr algn="ctr">
              <a:lnSpc>
                <a:spcPct val="100000"/>
              </a:lnSpc>
              <a:buNone/>
              <a:defRPr sz="1725" b="1">
                <a:solidFill>
                  <a:srgbClr val="B86143"/>
                </a:solidFill>
                <a:latin typeface="Arial"/>
                <a:ea typeface="Arial"/>
                <a:cs typeface="Arial"/>
              </a:defRPr>
            </a:pPr>
            <a:r>
              <a:rPr sz="1725" b="1">
                <a:solidFill>
                  <a:srgbClr val="B86143"/>
                </a:solidFill>
                <a:latin typeface="Arial"/>
                <a:ea typeface="Arial"/>
                <a:cs typeface="Arial"/>
              </a:rPr>
              <a:t>ACCEPTANCE</a:t>
            </a:r>
          </a:p>
          <a:p>
            <a:pPr algn="ctr">
              <a:lnSpc>
                <a:spcPct val="100000"/>
              </a:lnSpc>
              <a:buNone/>
              <a:defRPr sz="1725" b="1">
                <a:solidFill>
                  <a:srgbClr val="B86143"/>
                </a:solidFill>
                <a:latin typeface="Arial"/>
                <a:ea typeface="Arial"/>
                <a:cs typeface="Arial"/>
              </a:defRPr>
            </a:pPr>
            <a:r>
              <a:rPr sz="1725" b="1">
                <a:solidFill>
                  <a:srgbClr val="B86143"/>
                </a:solidFill>
                <a:latin typeface="Arial"/>
                <a:ea typeface="Arial"/>
                <a:cs typeface="Arial"/>
              </a:rPr>
              <a:t>PROBABILITY</a:t>
            </a:r>
          </a:p>
        </p:txBody>
      </p:sp>
      <p:cxnSp>
        <p:nvCxnSpPr>
          <p:cNvPr id="89" name="直接箭头连接符 44"/>
          <p:cNvCxnSpPr>
            <a:stCxn id="9" idx="3"/>
            <a:endCxn id="19" idx="1"/>
          </p:cNvCxnSpPr>
          <p:nvPr/>
        </p:nvCxnSpPr>
        <p:spPr>
          <a:xfrm>
            <a:off x="5962650" y="4086225"/>
            <a:ext cx="762000" cy="0"/>
          </a:xfrm>
          <a:prstGeom prst="straightConnector1">
            <a:avLst/>
          </a:prstGeom>
          <a:ln w="19050">
            <a:solidFill>
              <a:srgbClr val="4F806B"/>
            </a:solidFill>
            <a:prstDash val="solid"/>
            <a:tailEnd type="arrow" w="sm" len="sm"/>
          </a:ln>
        </p:spPr>
      </p:cxnSp>
      <p:cxnSp>
        <p:nvCxnSpPr>
          <p:cNvPr id="90" name="直接箭头连接符 45"/>
          <p:cNvCxnSpPr>
            <a:stCxn id="19" idx="3"/>
            <a:endCxn id="20" idx="1"/>
          </p:cNvCxnSpPr>
          <p:nvPr/>
        </p:nvCxnSpPr>
        <p:spPr>
          <a:xfrm>
            <a:off x="8991600" y="4086225"/>
            <a:ext cx="590550" cy="1286"/>
          </a:xfrm>
          <a:prstGeom prst="straightConnector1">
            <a:avLst/>
          </a:prstGeom>
          <a:ln w="20955">
            <a:solidFill>
              <a:srgbClr val="B86143"/>
            </a:solidFill>
            <a:prstDash val="solid"/>
            <a:tailEnd type="arrow" w="sm" len="sm"/>
          </a:ln>
        </p:spPr>
      </p:cxnSp>
      <p:sp>
        <p:nvSpPr>
          <p:cNvPr id="23" name="矩形: 圆角 22">
            <a:extLst>
              <a:ext uri="{FF2B5EF4-FFF2-40B4-BE49-F238E27FC236}">
                <a16:creationId xmlns:a16="http://schemas.microsoft.com/office/drawing/2014/main" id="{FF9AD598-DE59-4A7A-B349-03A9D8969546}"/>
              </a:ext>
            </a:extLst>
          </p:cNvPr>
          <p:cNvSpPr>
            <a:spLocks noGrp="1"/>
          </p:cNvSpPr>
          <p:nvPr/>
        </p:nvSpPr>
        <p:spPr>
          <a:xfrm>
            <a:off x="666750" y="5524500"/>
            <a:ext cx="5219700" cy="685800"/>
          </a:xfrm>
          <a:prstGeom prst="roundRect">
            <a:avLst>
              <a:gd name="adj" fmla="val 19444"/>
            </a:avLst>
          </a:prstGeom>
          <a:solidFill>
            <a:srgbClr val="F0F1EE"/>
          </a:solidFill>
          <a:ln w="9525">
            <a:solidFill>
              <a:srgbClr val="D8DDD9"/>
            </a:solidFill>
            <a:prstDash val="solid"/>
          </a:ln>
        </p:spPr>
        <p:txBody>
          <a:bodyPr wrap="square" lIns="152400" tIns="104775" rIns="152400" bIns="95250" anchor="ctr">
            <a:noAutofit/>
          </a:bodyPr>
          <a:lstStyle/>
          <a:p>
            <a:pPr>
              <a:defRPr sz="1350" b="0">
                <a:solidFill>
                  <a:srgbClr val="667174"/>
                </a:solidFill>
                <a:latin typeface="Arial"/>
                <a:ea typeface="Arial"/>
                <a:cs typeface="Arial"/>
              </a:defRPr>
            </a:pPr>
            <a:r>
              <a:rPr lang="en-US" sz="1350" dirty="0">
                <a:solidFill>
                  <a:srgbClr val="667174"/>
                </a:solidFill>
                <a:latin typeface="Arial"/>
                <a:ea typeface="Arial"/>
                <a:cs typeface="Arial"/>
              </a:rPr>
              <a:t>Start dataset</a:t>
            </a:r>
            <a:r>
              <a:rPr sz="1350" b="0" dirty="0">
                <a:solidFill>
                  <a:srgbClr val="667174"/>
                </a:solidFill>
                <a:latin typeface="Arial"/>
                <a:ea typeface="Arial"/>
                <a:cs typeface="Arial"/>
              </a:rPr>
              <a:t>.</a:t>
            </a:r>
            <a:r>
              <a:rPr lang="en-US" sz="1350" b="0" dirty="0">
                <a:solidFill>
                  <a:srgbClr val="667174"/>
                </a:solidFill>
                <a:latin typeface="Arial"/>
                <a:ea typeface="Arial"/>
                <a:cs typeface="Arial"/>
              </a:rPr>
              <a:t> </a:t>
            </a:r>
            <a:r>
              <a:rPr lang="en-US" sz="1350" dirty="0"/>
              <a:t>Yelp Open Dataset</a:t>
            </a:r>
            <a:r>
              <a:rPr lang="en-SG" sz="1350" dirty="0"/>
              <a:t> </a:t>
            </a:r>
            <a:endParaRPr sz="1350" b="0" dirty="0">
              <a:solidFill>
                <a:srgbClr val="667174"/>
              </a:solidFill>
              <a:latin typeface="Arial"/>
              <a:ea typeface="Arial"/>
              <a:cs typeface="Arial"/>
            </a:endParaRPr>
          </a:p>
        </p:txBody>
      </p:sp>
      <p:sp>
        <p:nvSpPr>
          <p:cNvPr id="24" name="矩形: 圆角 23">
            <a:extLst>
              <a:ext uri="{FF2B5EF4-FFF2-40B4-BE49-F238E27FC236}">
                <a16:creationId xmlns:a16="http://schemas.microsoft.com/office/drawing/2014/main" id="{59F18F94-AA8C-4FAD-BD46-29DE2EB908B1}"/>
              </a:ext>
            </a:extLst>
          </p:cNvPr>
          <p:cNvSpPr>
            <a:spLocks noGrp="1"/>
          </p:cNvSpPr>
          <p:nvPr/>
        </p:nvSpPr>
        <p:spPr>
          <a:xfrm>
            <a:off x="6305550" y="5524500"/>
            <a:ext cx="5238750" cy="685800"/>
          </a:xfrm>
          <a:prstGeom prst="roundRect">
            <a:avLst>
              <a:gd name="adj" fmla="val 19444"/>
            </a:avLst>
          </a:prstGeom>
          <a:solidFill>
            <a:srgbClr val="F0F1EE"/>
          </a:solidFill>
          <a:ln w="9525">
            <a:solidFill>
              <a:srgbClr val="D8DDD9"/>
            </a:solidFill>
            <a:prstDash val="solid"/>
          </a:ln>
        </p:spPr>
        <p:txBody>
          <a:bodyPr wrap="square" lIns="152400" tIns="104775" rIns="152400" bIns="95250" anchor="ctr">
            <a:noAutofit/>
          </a:bodyPr>
          <a:lstStyle/>
          <a:p>
            <a:pPr algn="l">
              <a:lnSpc>
                <a:spcPct val="100000"/>
              </a:lnSpc>
              <a:buNone/>
              <a:defRPr sz="1350" b="0">
                <a:solidFill>
                  <a:srgbClr val="667174"/>
                </a:solidFill>
                <a:latin typeface="Arial"/>
                <a:ea typeface="Arial"/>
                <a:cs typeface="Arial"/>
              </a:defRPr>
            </a:pPr>
            <a:r>
              <a:rPr sz="1350" b="0">
                <a:solidFill>
                  <a:srgbClr val="667174"/>
                </a:solidFill>
                <a:latin typeface="Arial"/>
                <a:ea typeface="Arial"/>
                <a:cs typeface="Arial"/>
              </a:rPr>
              <a:t>Explanation: verified reason codes only.</a:t>
            </a:r>
          </a:p>
          <a:p>
            <a:pPr algn="l">
              <a:lnSpc>
                <a:spcPct val="100000"/>
              </a:lnSpc>
              <a:buNone/>
              <a:defRPr sz="1350" b="0">
                <a:solidFill>
                  <a:srgbClr val="667174"/>
                </a:solidFill>
                <a:latin typeface="Arial"/>
                <a:ea typeface="Arial"/>
                <a:cs typeface="Arial"/>
              </a:defRPr>
            </a:pPr>
            <a:r>
              <a:rPr sz="1350" b="0">
                <a:solidFill>
                  <a:srgbClr val="667174"/>
                </a:solidFill>
                <a:latin typeface="Arial"/>
                <a:ea typeface="Arial"/>
                <a:cs typeface="Arial"/>
              </a:rPr>
              <a:t>The Agent cannot invent evidence.</a:t>
            </a:r>
          </a:p>
        </p:txBody>
      </p:sp>
    </p:spTree>
    <p:extLst>
      <p:ext uri="{BB962C8B-B14F-4D97-AF65-F5344CB8AC3E}">
        <p14:creationId xmlns:p14="http://schemas.microsoft.com/office/powerpoint/2010/main" val="1393030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Hybrid Machine Learning Model</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9</a:t>
            </a:r>
          </a:p>
        </p:txBody>
      </p:sp>
      <p:pic>
        <p:nvPicPr>
          <p:cNvPr id="8" name="Picture 7" descr="ml-pipeline.png"/>
          <p:cNvPicPr>
            <a:picLocks noChangeAspect="1"/>
          </p:cNvPicPr>
          <p:nvPr/>
        </p:nvPicPr>
        <p:blipFill>
          <a:blip r:embed="rId2"/>
          <a:stretch>
            <a:fillRect/>
          </a:stretch>
        </p:blipFill>
        <p:spPr>
          <a:xfrm>
            <a:off x="877529" y="1234440"/>
            <a:ext cx="10406461" cy="2468880"/>
          </a:xfrm>
          <a:prstGeom prst="rect">
            <a:avLst/>
          </a:prstGeom>
        </p:spPr>
      </p:pic>
      <p:sp>
        <p:nvSpPr>
          <p:cNvPr id="9" name="TextBox 8"/>
          <p:cNvSpPr txBox="1"/>
          <p:nvPr/>
        </p:nvSpPr>
        <p:spPr>
          <a:xfrm>
            <a:off x="822960" y="3977639"/>
            <a:ext cx="10515600" cy="2194560"/>
          </a:xfrm>
          <a:prstGeom prst="rect">
            <a:avLst/>
          </a:prstGeom>
          <a:noFill/>
        </p:spPr>
        <p:txBody>
          <a:bodyPr wrap="square" lIns="0" tIns="0" rIns="0" bIns="0" anchor="t">
            <a:spAutoFit/>
          </a:bodyPr>
          <a:lstStyle/>
          <a:p>
            <a:pPr algn="l">
              <a:lnSpc>
                <a:spcPct val="100000"/>
              </a:lnSpc>
              <a:spcBef>
                <a:spcPts val="0"/>
              </a:spcBef>
              <a:spcAft>
                <a:spcPts val="600"/>
              </a:spcAft>
            </a:pPr>
            <a:r>
              <a:rPr sz="1500" b="1" i="0">
                <a:solidFill>
                  <a:srgbClr val="1F2937"/>
                </a:solidFill>
                <a:latin typeface="Calibri"/>
              </a:rPr>
              <a:t>•  Hard rules are never replaced by model predictions — safety constraints are applied first.</a:t>
            </a:r>
          </a:p>
          <a:p>
            <a:pPr algn="l">
              <a:lnSpc>
                <a:spcPct val="100000"/>
              </a:lnSpc>
              <a:spcBef>
                <a:spcPts val="0"/>
              </a:spcBef>
              <a:spcAft>
                <a:spcPts val="600"/>
              </a:spcAft>
            </a:pPr>
            <a:r>
              <a:rPr sz="1500" b="1" i="0">
                <a:solidFill>
                  <a:srgbClr val="1F2937"/>
                </a:solidFill>
                <a:latin typeface="Calibri"/>
              </a:rPr>
              <a:t>•  UserCF and ItemCF contribute similarity signals only when interaction data is sufficient (availability flags otherwise).</a:t>
            </a:r>
          </a:p>
          <a:p>
            <a:pPr algn="l">
              <a:lnSpc>
                <a:spcPct val="100000"/>
              </a:lnSpc>
              <a:spcBef>
                <a:spcPts val="0"/>
              </a:spcBef>
              <a:spcAft>
                <a:spcPts val="600"/>
              </a:spcAft>
            </a:pPr>
            <a:r>
              <a:rPr sz="1500" b="1" i="0">
                <a:solidFill>
                  <a:srgbClr val="1F2937"/>
                </a:solidFill>
                <a:latin typeface="Calibri"/>
              </a:rPr>
              <a:t>•  Explanations use verified reason codes only; the score is not the explanation.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dirty="0">
                <a:solidFill>
                  <a:srgbClr val="1F2937"/>
                </a:solidFill>
                <a:latin typeface="Calibri"/>
              </a:rPr>
              <a:t>ML Evaluation</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10</a:t>
            </a:r>
          </a:p>
        </p:txBody>
      </p:sp>
      <p:graphicFrame>
        <p:nvGraphicFramePr>
          <p:cNvPr id="8" name="Table 7"/>
          <p:cNvGraphicFramePr>
            <a:graphicFrameLocks noGrp="1"/>
          </p:cNvGraphicFramePr>
          <p:nvPr/>
        </p:nvGraphicFramePr>
        <p:xfrm>
          <a:off x="502920" y="1371600"/>
          <a:ext cx="7498080" cy="3108960"/>
        </p:xfrm>
        <a:graphic>
          <a:graphicData uri="http://schemas.openxmlformats.org/drawingml/2006/table">
            <a:tbl>
              <a:tblPr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518160">
                <a:tc>
                  <a:txBody>
                    <a:bodyPr/>
                    <a:lstStyle/>
                    <a:p>
                      <a:r>
                        <a:rPr sz="1300" b="1">
                          <a:solidFill>
                            <a:srgbClr val="FFFFFF"/>
                          </a:solidFill>
                          <a:latin typeface="Calibri"/>
                        </a:rPr>
                        <a:t>Metric</a:t>
                      </a:r>
                    </a:p>
                  </a:txBody>
                  <a:tcPr marT="38100" marB="38100">
                    <a:solidFill>
                      <a:srgbClr val="E8590C"/>
                    </a:solidFill>
                  </a:tcPr>
                </a:tc>
                <a:tc>
                  <a:txBody>
                    <a:bodyPr/>
                    <a:lstStyle/>
                    <a:p>
                      <a:r>
                        <a:rPr sz="1300" b="1">
                          <a:solidFill>
                            <a:srgbClr val="FFFFFF"/>
                          </a:solidFill>
                          <a:latin typeface="Calibri"/>
                        </a:rPr>
                        <a:t>Majority (val)</a:t>
                      </a:r>
                    </a:p>
                  </a:txBody>
                  <a:tcPr marT="38100" marB="38100">
                    <a:solidFill>
                      <a:srgbClr val="E8590C"/>
                    </a:solidFill>
                  </a:tcPr>
                </a:tc>
                <a:tc>
                  <a:txBody>
                    <a:bodyPr/>
                    <a:lstStyle/>
                    <a:p>
                      <a:r>
                        <a:rPr sz="1300" b="1">
                          <a:solidFill>
                            <a:srgbClr val="FFFFFF"/>
                          </a:solidFill>
                          <a:latin typeface="Calibri"/>
                        </a:rPr>
                        <a:t>Hybrid LR (val)</a:t>
                      </a:r>
                    </a:p>
                  </a:txBody>
                  <a:tcPr marT="38100" marB="38100">
                    <a:solidFill>
                      <a:srgbClr val="E8590C"/>
                    </a:solidFill>
                  </a:tcPr>
                </a:tc>
                <a:tc>
                  <a:txBody>
                    <a:bodyPr/>
                    <a:lstStyle/>
                    <a:p>
                      <a:r>
                        <a:rPr sz="1300" b="1">
                          <a:solidFill>
                            <a:srgbClr val="FFFFFF"/>
                          </a:solidFill>
                          <a:latin typeface="Calibri"/>
                        </a:rPr>
                        <a:t>Hybrid LR (test)</a:t>
                      </a:r>
                    </a:p>
                  </a:txBody>
                  <a:tcPr marT="38100" marB="38100">
                    <a:solidFill>
                      <a:srgbClr val="E8590C"/>
                    </a:solidFill>
                  </a:tcPr>
                </a:tc>
                <a:extLst>
                  <a:ext uri="{0D108BD9-81ED-4DB2-BD59-A6C34878D82A}">
                    <a16:rowId xmlns:a16="http://schemas.microsoft.com/office/drawing/2014/main" val="10000"/>
                  </a:ext>
                </a:extLst>
              </a:tr>
              <a:tr h="518160">
                <a:tc>
                  <a:txBody>
                    <a:bodyPr/>
                    <a:lstStyle/>
                    <a:p>
                      <a:r>
                        <a:rPr sz="1300">
                          <a:solidFill>
                            <a:srgbClr val="1F2937"/>
                          </a:solidFill>
                          <a:latin typeface="Calibri"/>
                        </a:rPr>
                        <a:t>Accuracy</a:t>
                      </a:r>
                    </a:p>
                  </a:txBody>
                  <a:tcPr marT="25400" marB="25400">
                    <a:solidFill>
                      <a:srgbClr val="FFFFFF"/>
                    </a:solidFill>
                  </a:tcPr>
                </a:tc>
                <a:tc>
                  <a:txBody>
                    <a:bodyPr/>
                    <a:lstStyle/>
                    <a:p>
                      <a:r>
                        <a:rPr sz="1300">
                          <a:solidFill>
                            <a:srgbClr val="1F2937"/>
                          </a:solidFill>
                          <a:latin typeface="Calibri"/>
                        </a:rPr>
                        <a:t>0.9925</a:t>
                      </a:r>
                    </a:p>
                  </a:txBody>
                  <a:tcPr marT="25400" marB="25400">
                    <a:solidFill>
                      <a:srgbClr val="FFFFFF"/>
                    </a:solidFill>
                  </a:tcPr>
                </a:tc>
                <a:tc>
                  <a:txBody>
                    <a:bodyPr/>
                    <a:lstStyle/>
                    <a:p>
                      <a:r>
                        <a:rPr sz="1300">
                          <a:solidFill>
                            <a:srgbClr val="1F2937"/>
                          </a:solidFill>
                          <a:latin typeface="Calibri"/>
                        </a:rPr>
                        <a:t>0.9925</a:t>
                      </a:r>
                    </a:p>
                  </a:txBody>
                  <a:tcPr marT="25400" marB="25400">
                    <a:solidFill>
                      <a:srgbClr val="FFFFFF"/>
                    </a:solidFill>
                  </a:tcPr>
                </a:tc>
                <a:tc>
                  <a:txBody>
                    <a:bodyPr/>
                    <a:lstStyle/>
                    <a:p>
                      <a:r>
                        <a:rPr sz="1300">
                          <a:solidFill>
                            <a:srgbClr val="1F2937"/>
                          </a:solidFill>
                          <a:latin typeface="Calibri"/>
                        </a:rPr>
                        <a:t>0.9815</a:t>
                      </a:r>
                    </a:p>
                  </a:txBody>
                  <a:tcPr marT="25400" marB="25400">
                    <a:solidFill>
                      <a:srgbClr val="FFFFFF"/>
                    </a:solidFill>
                  </a:tcPr>
                </a:tc>
                <a:extLst>
                  <a:ext uri="{0D108BD9-81ED-4DB2-BD59-A6C34878D82A}">
                    <a16:rowId xmlns:a16="http://schemas.microsoft.com/office/drawing/2014/main" val="10001"/>
                  </a:ext>
                </a:extLst>
              </a:tr>
              <a:tr h="518160">
                <a:tc>
                  <a:txBody>
                    <a:bodyPr/>
                    <a:lstStyle/>
                    <a:p>
                      <a:r>
                        <a:rPr sz="1300">
                          <a:solidFill>
                            <a:srgbClr val="1F2937"/>
                          </a:solidFill>
                          <a:latin typeface="Calibri"/>
                        </a:rPr>
                        <a:t>Precision</a:t>
                      </a:r>
                    </a:p>
                  </a:txBody>
                  <a:tcPr marT="25400" marB="25400">
                    <a:solidFill>
                      <a:srgbClr val="F3F4F6"/>
                    </a:solidFill>
                  </a:tcPr>
                </a:tc>
                <a:tc>
                  <a:txBody>
                    <a:bodyPr/>
                    <a:lstStyle/>
                    <a:p>
                      <a:r>
                        <a:rPr sz="1300">
                          <a:solidFill>
                            <a:srgbClr val="1F2937"/>
                          </a:solidFill>
                          <a:latin typeface="Calibri"/>
                        </a:rPr>
                        <a:t>0.9925</a:t>
                      </a:r>
                    </a:p>
                  </a:txBody>
                  <a:tcPr marT="25400" marB="25400">
                    <a:solidFill>
                      <a:srgbClr val="F3F4F6"/>
                    </a:solidFill>
                  </a:tcPr>
                </a:tc>
                <a:tc>
                  <a:txBody>
                    <a:bodyPr/>
                    <a:lstStyle/>
                    <a:p>
                      <a:r>
                        <a:rPr sz="1300">
                          <a:solidFill>
                            <a:srgbClr val="1F2937"/>
                          </a:solidFill>
                          <a:latin typeface="Calibri"/>
                        </a:rPr>
                        <a:t>0.9925</a:t>
                      </a:r>
                    </a:p>
                  </a:txBody>
                  <a:tcPr marT="25400" marB="25400">
                    <a:solidFill>
                      <a:srgbClr val="F3F4F6"/>
                    </a:solidFill>
                  </a:tcPr>
                </a:tc>
                <a:tc>
                  <a:txBody>
                    <a:bodyPr/>
                    <a:lstStyle/>
                    <a:p>
                      <a:r>
                        <a:rPr sz="1300">
                          <a:solidFill>
                            <a:srgbClr val="1F2937"/>
                          </a:solidFill>
                          <a:latin typeface="Calibri"/>
                        </a:rPr>
                        <a:t>0.9815</a:t>
                      </a:r>
                    </a:p>
                  </a:txBody>
                  <a:tcPr marT="25400" marB="25400">
                    <a:solidFill>
                      <a:srgbClr val="F3F4F6"/>
                    </a:solidFill>
                  </a:tcPr>
                </a:tc>
                <a:extLst>
                  <a:ext uri="{0D108BD9-81ED-4DB2-BD59-A6C34878D82A}">
                    <a16:rowId xmlns:a16="http://schemas.microsoft.com/office/drawing/2014/main" val="10002"/>
                  </a:ext>
                </a:extLst>
              </a:tr>
              <a:tr h="518160">
                <a:tc>
                  <a:txBody>
                    <a:bodyPr/>
                    <a:lstStyle/>
                    <a:p>
                      <a:r>
                        <a:rPr sz="1300">
                          <a:solidFill>
                            <a:srgbClr val="1F2937"/>
                          </a:solidFill>
                          <a:latin typeface="Calibri"/>
                        </a:rPr>
                        <a:t>Recall</a:t>
                      </a:r>
                    </a:p>
                  </a:txBody>
                  <a:tcPr marT="25400" marB="25400">
                    <a:solidFill>
                      <a:srgbClr val="FFFFFF"/>
                    </a:solidFill>
                  </a:tcPr>
                </a:tc>
                <a:tc>
                  <a:txBody>
                    <a:bodyPr/>
                    <a:lstStyle/>
                    <a:p>
                      <a:r>
                        <a:rPr sz="1300">
                          <a:solidFill>
                            <a:srgbClr val="1F2937"/>
                          </a:solidFill>
                          <a:latin typeface="Calibri"/>
                        </a:rPr>
                        <a:t>1.0000</a:t>
                      </a:r>
                    </a:p>
                  </a:txBody>
                  <a:tcPr marT="25400" marB="25400">
                    <a:solidFill>
                      <a:srgbClr val="FFFFFF"/>
                    </a:solidFill>
                  </a:tcPr>
                </a:tc>
                <a:tc>
                  <a:txBody>
                    <a:bodyPr/>
                    <a:lstStyle/>
                    <a:p>
                      <a:r>
                        <a:rPr sz="1300">
                          <a:solidFill>
                            <a:srgbClr val="1F2937"/>
                          </a:solidFill>
                          <a:latin typeface="Calibri"/>
                        </a:rPr>
                        <a:t>1.0000</a:t>
                      </a:r>
                    </a:p>
                  </a:txBody>
                  <a:tcPr marT="25400" marB="25400">
                    <a:solidFill>
                      <a:srgbClr val="FFFFFF"/>
                    </a:solidFill>
                  </a:tcPr>
                </a:tc>
                <a:tc>
                  <a:txBody>
                    <a:bodyPr/>
                    <a:lstStyle/>
                    <a:p>
                      <a:r>
                        <a:rPr sz="1300">
                          <a:solidFill>
                            <a:srgbClr val="1F2937"/>
                          </a:solidFill>
                          <a:latin typeface="Calibri"/>
                        </a:rPr>
                        <a:t>1.0000</a:t>
                      </a:r>
                    </a:p>
                  </a:txBody>
                  <a:tcPr marT="25400" marB="25400">
                    <a:solidFill>
                      <a:srgbClr val="FFFFFF"/>
                    </a:solidFill>
                  </a:tcPr>
                </a:tc>
                <a:extLst>
                  <a:ext uri="{0D108BD9-81ED-4DB2-BD59-A6C34878D82A}">
                    <a16:rowId xmlns:a16="http://schemas.microsoft.com/office/drawing/2014/main" val="10003"/>
                  </a:ext>
                </a:extLst>
              </a:tr>
              <a:tr h="518160">
                <a:tc>
                  <a:txBody>
                    <a:bodyPr/>
                    <a:lstStyle/>
                    <a:p>
                      <a:r>
                        <a:rPr sz="1300">
                          <a:solidFill>
                            <a:srgbClr val="1F2937"/>
                          </a:solidFill>
                          <a:latin typeface="Calibri"/>
                        </a:rPr>
                        <a:t>F1</a:t>
                      </a:r>
                    </a:p>
                  </a:txBody>
                  <a:tcPr marT="25400" marB="25400">
                    <a:solidFill>
                      <a:srgbClr val="F3F4F6"/>
                    </a:solidFill>
                  </a:tcPr>
                </a:tc>
                <a:tc>
                  <a:txBody>
                    <a:bodyPr/>
                    <a:lstStyle/>
                    <a:p>
                      <a:r>
                        <a:rPr sz="1300">
                          <a:solidFill>
                            <a:srgbClr val="1F2937"/>
                          </a:solidFill>
                          <a:latin typeface="Calibri"/>
                        </a:rPr>
                        <a:t>0.9962</a:t>
                      </a:r>
                    </a:p>
                  </a:txBody>
                  <a:tcPr marT="25400" marB="25400">
                    <a:solidFill>
                      <a:srgbClr val="F3F4F6"/>
                    </a:solidFill>
                  </a:tcPr>
                </a:tc>
                <a:tc>
                  <a:txBody>
                    <a:bodyPr/>
                    <a:lstStyle/>
                    <a:p>
                      <a:r>
                        <a:rPr sz="1300">
                          <a:solidFill>
                            <a:srgbClr val="1F2937"/>
                          </a:solidFill>
                          <a:latin typeface="Calibri"/>
                        </a:rPr>
                        <a:t>0.9962</a:t>
                      </a:r>
                    </a:p>
                  </a:txBody>
                  <a:tcPr marT="25400" marB="25400">
                    <a:solidFill>
                      <a:srgbClr val="F3F4F6"/>
                    </a:solidFill>
                  </a:tcPr>
                </a:tc>
                <a:tc>
                  <a:txBody>
                    <a:bodyPr/>
                    <a:lstStyle/>
                    <a:p>
                      <a:r>
                        <a:rPr sz="1300">
                          <a:solidFill>
                            <a:srgbClr val="1F2937"/>
                          </a:solidFill>
                          <a:latin typeface="Calibri"/>
                        </a:rPr>
                        <a:t>0.9907</a:t>
                      </a:r>
                    </a:p>
                  </a:txBody>
                  <a:tcPr marT="25400" marB="25400">
                    <a:solidFill>
                      <a:srgbClr val="F3F4F6"/>
                    </a:solidFill>
                  </a:tcPr>
                </a:tc>
                <a:extLst>
                  <a:ext uri="{0D108BD9-81ED-4DB2-BD59-A6C34878D82A}">
                    <a16:rowId xmlns:a16="http://schemas.microsoft.com/office/drawing/2014/main" val="10004"/>
                  </a:ext>
                </a:extLst>
              </a:tr>
              <a:tr h="518160">
                <a:tc>
                  <a:txBody>
                    <a:bodyPr/>
                    <a:lstStyle/>
                    <a:p>
                      <a:r>
                        <a:rPr sz="1300">
                          <a:solidFill>
                            <a:srgbClr val="1F2937"/>
                          </a:solidFill>
                          <a:latin typeface="Calibri"/>
                        </a:rPr>
                        <a:t>ROC-AUC</a:t>
                      </a:r>
                    </a:p>
                  </a:txBody>
                  <a:tcPr marT="25400" marB="25400">
                    <a:solidFill>
                      <a:srgbClr val="FFFFFF"/>
                    </a:solidFill>
                  </a:tcPr>
                </a:tc>
                <a:tc>
                  <a:txBody>
                    <a:bodyPr/>
                    <a:lstStyle/>
                    <a:p>
                      <a:r>
                        <a:rPr sz="1300">
                          <a:solidFill>
                            <a:srgbClr val="1F2937"/>
                          </a:solidFill>
                          <a:latin typeface="Calibri"/>
                        </a:rPr>
                        <a:t>0.5000</a:t>
                      </a:r>
                    </a:p>
                  </a:txBody>
                  <a:tcPr marT="25400" marB="25400">
                    <a:solidFill>
                      <a:srgbClr val="FFFFFF"/>
                    </a:solidFill>
                  </a:tcPr>
                </a:tc>
                <a:tc>
                  <a:txBody>
                    <a:bodyPr/>
                    <a:lstStyle/>
                    <a:p>
                      <a:r>
                        <a:rPr sz="1300">
                          <a:solidFill>
                            <a:srgbClr val="1F2937"/>
                          </a:solidFill>
                          <a:latin typeface="Calibri"/>
                        </a:rPr>
                        <a:t>0.5568</a:t>
                      </a:r>
                    </a:p>
                  </a:txBody>
                  <a:tcPr marT="25400" marB="25400">
                    <a:solidFill>
                      <a:srgbClr val="FFFFFF"/>
                    </a:solidFill>
                  </a:tcPr>
                </a:tc>
                <a:tc>
                  <a:txBody>
                    <a:bodyPr/>
                    <a:lstStyle/>
                    <a:p>
                      <a:r>
                        <a:rPr sz="1300">
                          <a:solidFill>
                            <a:srgbClr val="1F2937"/>
                          </a:solidFill>
                          <a:latin typeface="Calibri"/>
                        </a:rPr>
                        <a:t>0.8068</a:t>
                      </a:r>
                    </a:p>
                  </a:txBody>
                  <a:tcPr marT="25400" marB="25400">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8321040" y="1371600"/>
            <a:ext cx="3383280" cy="3108960"/>
          </a:xfrm>
          <a:prstGeom prst="rect">
            <a:avLst/>
          </a:prstGeom>
          <a:noFill/>
        </p:spPr>
        <p:txBody>
          <a:bodyPr wrap="square" lIns="0" tIns="0" rIns="0" bIns="0" anchor="t">
            <a:spAutoFit/>
          </a:bodyPr>
          <a:lstStyle/>
          <a:p>
            <a:pPr algn="l">
              <a:lnSpc>
                <a:spcPct val="100000"/>
              </a:lnSpc>
              <a:spcBef>
                <a:spcPts val="0"/>
              </a:spcBef>
              <a:spcAft>
                <a:spcPts val="600"/>
              </a:spcAft>
            </a:pPr>
            <a:r>
              <a:rPr sz="1500" b="1" i="0">
                <a:solidFill>
                  <a:srgbClr val="1F2937"/>
                </a:solidFill>
                <a:latin typeface="Calibri"/>
              </a:rPr>
              <a:t>Dataset</a:t>
            </a:r>
          </a:p>
          <a:p>
            <a:pPr algn="l">
              <a:lnSpc>
                <a:spcPct val="100000"/>
              </a:lnSpc>
              <a:spcBef>
                <a:spcPts val="0"/>
              </a:spcBef>
              <a:spcAft>
                <a:spcPts val="300"/>
              </a:spcAft>
            </a:pPr>
            <a:r>
              <a:rPr sz="1300" b="0" i="0">
                <a:solidFill>
                  <a:srgbClr val="5B6472"/>
                </a:solidFill>
                <a:latin typeface="Calibri"/>
              </a:rPr>
              <a:t>Train: 48,379</a:t>
            </a:r>
          </a:p>
          <a:p>
            <a:pPr algn="l">
              <a:lnSpc>
                <a:spcPct val="100000"/>
              </a:lnSpc>
              <a:spcBef>
                <a:spcPts val="0"/>
              </a:spcBef>
              <a:spcAft>
                <a:spcPts val="300"/>
              </a:spcAft>
            </a:pPr>
            <a:r>
              <a:rPr sz="1300" b="0" i="0">
                <a:solidFill>
                  <a:srgbClr val="5B6472"/>
                </a:solidFill>
                <a:latin typeface="Calibri"/>
              </a:rPr>
              <a:t>Validation: 266</a:t>
            </a:r>
          </a:p>
          <a:p>
            <a:pPr algn="l">
              <a:lnSpc>
                <a:spcPct val="100000"/>
              </a:lnSpc>
              <a:spcBef>
                <a:spcPts val="0"/>
              </a:spcBef>
              <a:spcAft>
                <a:spcPts val="800"/>
              </a:spcAft>
            </a:pPr>
            <a:r>
              <a:rPr sz="1300" b="0" i="0">
                <a:solidFill>
                  <a:srgbClr val="5B6472"/>
                </a:solidFill>
                <a:latin typeface="Calibri"/>
              </a:rPr>
              <a:t>Test: 270</a:t>
            </a:r>
          </a:p>
          <a:p>
            <a:pPr algn="l">
              <a:lnSpc>
                <a:spcPct val="100000"/>
              </a:lnSpc>
              <a:spcBef>
                <a:spcPts val="0"/>
              </a:spcBef>
              <a:spcAft>
                <a:spcPts val="800"/>
              </a:spcAft>
            </a:pPr>
            <a:r>
              <a:rPr sz="1300" b="0" i="0">
                <a:solidFill>
                  <a:srgbClr val="5B6472"/>
                </a:solidFill>
                <a:latin typeface="Calibri"/>
              </a:rPr>
              <a:t>19 engineered features</a:t>
            </a:r>
          </a:p>
          <a:p>
            <a:pPr algn="l">
              <a:lnSpc>
                <a:spcPct val="100000"/>
              </a:lnSpc>
              <a:spcBef>
                <a:spcPts val="0"/>
              </a:spcBef>
              <a:spcAft>
                <a:spcPts val="600"/>
              </a:spcAft>
            </a:pPr>
            <a:r>
              <a:rPr sz="1100" b="0" i="1">
                <a:solidFill>
                  <a:srgbClr val="5B6472"/>
                </a:solidFill>
                <a:latin typeface="Calibri"/>
              </a:rPr>
              <a:t>user_cf / item_cf scores + availability, preference, context, price, distance, history</a:t>
            </a:r>
          </a:p>
        </p:txBody>
      </p:sp>
      <p:sp>
        <p:nvSpPr>
          <p:cNvPr id="10" name="TextBox 9"/>
          <p:cNvSpPr txBox="1"/>
          <p:nvPr/>
        </p:nvSpPr>
        <p:spPr>
          <a:xfrm>
            <a:off x="502920" y="4663440"/>
            <a:ext cx="11155680" cy="1463040"/>
          </a:xfrm>
          <a:prstGeom prst="rect">
            <a:avLst/>
          </a:prstGeom>
          <a:noFill/>
        </p:spPr>
        <p:txBody>
          <a:bodyPr wrap="square" lIns="0" tIns="0" rIns="0" bIns="0" anchor="t">
            <a:spAutoFit/>
          </a:bodyPr>
          <a:lstStyle/>
          <a:p>
            <a:pPr algn="l">
              <a:lnSpc>
                <a:spcPct val="100000"/>
              </a:lnSpc>
              <a:spcBef>
                <a:spcPts val="0"/>
              </a:spcBef>
              <a:spcAft>
                <a:spcPts val="500"/>
              </a:spcAft>
            </a:pPr>
            <a:r>
              <a:rPr sz="1500" b="1" i="0">
                <a:solidFill>
                  <a:srgbClr val="C44607"/>
                </a:solidFill>
                <a:latin typeface="Calibri"/>
              </a:rPr>
              <a:t>Honest limitations</a:t>
            </a:r>
          </a:p>
          <a:p>
            <a:pPr algn="l">
              <a:lnSpc>
                <a:spcPct val="100000"/>
              </a:lnSpc>
              <a:spcBef>
                <a:spcPts val="0"/>
              </a:spcBef>
              <a:spcAft>
                <a:spcPts val="400"/>
              </a:spcAft>
            </a:pPr>
            <a:r>
              <a:rPr sz="1300" b="0" i="0">
                <a:solidFill>
                  <a:srgbClr val="1F2937"/>
                </a:solidFill>
                <a:latin typeface="Calibri"/>
              </a:rPr>
              <a:t>The dataset is heavily imbalanced (positive majority); the validation set contains no true negatives, so validation ROC-AUC is weak.</a:t>
            </a:r>
          </a:p>
          <a:p>
            <a:pPr algn="l">
              <a:lnSpc>
                <a:spcPct val="100000"/>
              </a:lnSpc>
              <a:spcBef>
                <a:spcPts val="0"/>
              </a:spcBef>
              <a:spcAft>
                <a:spcPts val="600"/>
              </a:spcAft>
            </a:pPr>
            <a:r>
              <a:rPr sz="1300" b="0" i="0">
                <a:solidFill>
                  <a:srgbClr val="1F2937"/>
                </a:solidFill>
                <a:latin typeface="Calibri"/>
              </a:rPr>
              <a:t>Cold start and insufficient collaborative data fall back to preference/context features and a deterministic ranking.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1D9D-47C0-D40A-AB1B-4E1CDB20003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2B6D802-FCC3-89BF-4160-CE30FA945652}"/>
              </a:ext>
            </a:extLst>
          </p:cNvPr>
          <p:cNvSpPr txBox="1"/>
          <p:nvPr/>
        </p:nvSpPr>
        <p:spPr>
          <a:xfrm>
            <a:off x="5083896" y="2921168"/>
            <a:ext cx="2024208" cy="1015663"/>
          </a:xfrm>
          <a:prstGeom prst="rect">
            <a:avLst/>
          </a:prstGeom>
          <a:noFill/>
        </p:spPr>
        <p:txBody>
          <a:bodyPr wrap="none" rtlCol="0">
            <a:spAutoFit/>
          </a:bodyPr>
          <a:lstStyle/>
          <a:p>
            <a:r>
              <a:rPr lang="en-US" altLang="zh-CN" sz="6000" dirty="0"/>
              <a:t>Agent</a:t>
            </a:r>
            <a:endParaRPr lang="zh-CN" altLang="en-US" sz="6000" dirty="0"/>
          </a:p>
        </p:txBody>
      </p:sp>
    </p:spTree>
    <p:extLst>
      <p:ext uri="{BB962C8B-B14F-4D97-AF65-F5344CB8AC3E}">
        <p14:creationId xmlns:p14="http://schemas.microsoft.com/office/powerpoint/2010/main" val="1287027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B956062-6872-41BE-9D6C-5CF227C9207B}"/>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7-title">
            <a:extLst>
              <a:ext uri="{FF2B5EF4-FFF2-40B4-BE49-F238E27FC236}">
                <a16:creationId xmlns:a16="http://schemas.microsoft.com/office/drawing/2014/main" id="{4ED1C83C-7EF4-4EF0-8AC1-E96BD87B962A}"/>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4800" b="1" i="0">
                <a:solidFill>
                  <a:srgbClr val="192526"/>
                </a:solidFill>
                <a:latin typeface="Arial"/>
                <a:ea typeface="Arial"/>
                <a:cs typeface="Arial"/>
              </a:rPr>
              <a:t>Agents</a:t>
            </a:r>
            <a:r>
              <a:rPr lang="en-US" sz="3450" b="1" i="0">
                <a:solidFill>
                  <a:srgbClr val="192526"/>
                </a:solidFill>
                <a:latin typeface="Arial"/>
                <a:ea typeface="Arial"/>
                <a:cs typeface="Arial"/>
              </a:rPr>
              <a:t> Design</a:t>
            </a:r>
            <a:endParaRPr sz="3450" b="1" i="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A341B89E-F124-426E-A5F9-B5AFBBA3E267}"/>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EC0E0A4C-F0D9-46E6-B046-A8537669BB22}"/>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5CD27802-8175-4425-9FE4-0C8AE9E9911C}"/>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07</a:t>
            </a:r>
          </a:p>
        </p:txBody>
      </p:sp>
      <p:sp>
        <p:nvSpPr>
          <p:cNvPr id="6" name="矩形 5">
            <a:extLst>
              <a:ext uri="{FF2B5EF4-FFF2-40B4-BE49-F238E27FC236}">
                <a16:creationId xmlns:a16="http://schemas.microsoft.com/office/drawing/2014/main" id="{9352B7F0-DFF8-4F9D-8DB0-4E665B91A6C4}"/>
              </a:ext>
            </a:extLst>
          </p:cNvPr>
          <p:cNvSpPr>
            <a:spLocks noGrp="1"/>
          </p:cNvSpPr>
          <p:nvPr/>
        </p:nvSpPr>
        <p:spPr>
          <a:xfrm>
            <a:off x="66675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356B56"/>
                </a:solidFill>
                <a:latin typeface="Arial"/>
                <a:ea typeface="Arial"/>
                <a:cs typeface="Arial"/>
              </a:defRPr>
            </a:pPr>
            <a:r>
              <a:rPr sz="2925" b="1" i="0">
                <a:solidFill>
                  <a:srgbClr val="356B56"/>
                </a:solidFill>
                <a:latin typeface="Arial"/>
                <a:ea typeface="Arial"/>
                <a:cs typeface="Arial"/>
              </a:rPr>
              <a:t>01</a:t>
            </a:r>
          </a:p>
        </p:txBody>
      </p:sp>
      <p:sp>
        <p:nvSpPr>
          <p:cNvPr id="7" name="矩形 6">
            <a:extLst>
              <a:ext uri="{FF2B5EF4-FFF2-40B4-BE49-F238E27FC236}">
                <a16:creationId xmlns:a16="http://schemas.microsoft.com/office/drawing/2014/main" id="{4FDCAFDD-857B-4537-B17A-7D0A76A984DA}"/>
              </a:ext>
            </a:extLst>
          </p:cNvPr>
          <p:cNvSpPr>
            <a:spLocks noGrp="1"/>
          </p:cNvSpPr>
          <p:nvPr/>
        </p:nvSpPr>
        <p:spPr>
          <a:xfrm>
            <a:off x="666750" y="2266950"/>
            <a:ext cx="302895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RECOMMENDATION</a:t>
            </a:r>
          </a:p>
        </p:txBody>
      </p:sp>
      <p:sp>
        <p:nvSpPr>
          <p:cNvPr id="8" name="矩形 7">
            <a:extLst>
              <a:ext uri="{FF2B5EF4-FFF2-40B4-BE49-F238E27FC236}">
                <a16:creationId xmlns:a16="http://schemas.microsoft.com/office/drawing/2014/main" id="{ECDF3DD6-B010-49CC-BF4F-F385485C684B}"/>
              </a:ext>
            </a:extLst>
          </p:cNvPr>
          <p:cNvSpPr>
            <a:spLocks noGrp="1"/>
          </p:cNvSpPr>
          <p:nvPr/>
        </p:nvSpPr>
        <p:spPr>
          <a:xfrm>
            <a:off x="272955" y="2838450"/>
            <a:ext cx="3822795" cy="342900"/>
          </a:xfrm>
          <a:prstGeom prst="rect">
            <a:avLst/>
          </a:prstGeom>
          <a:noFill/>
          <a:ln w="0">
            <a:noFill/>
            <a:prstDash val="solid"/>
          </a:ln>
        </p:spPr>
        <p:txBody>
          <a:bodyPr wrap="square" lIns="0" tIns="0" rIns="0" bIns="0" anchor="t">
            <a:noAutofit/>
          </a:bodyPr>
          <a:lstStyle/>
          <a:p>
            <a:pPr algn="l">
              <a:lnSpc>
                <a:spcPct val="105000"/>
              </a:lnSpc>
              <a:buNone/>
              <a:defRPr sz="2100" b="1" i="0">
                <a:solidFill>
                  <a:srgbClr val="192526"/>
                </a:solidFill>
                <a:latin typeface="Arial"/>
                <a:ea typeface="Arial"/>
                <a:cs typeface="Arial"/>
              </a:defRPr>
            </a:pPr>
            <a:r>
              <a:rPr sz="2100" b="1" i="0" dirty="0">
                <a:solidFill>
                  <a:srgbClr val="192526"/>
                </a:solidFill>
                <a:latin typeface="Arial"/>
                <a:ea typeface="Arial"/>
                <a:cs typeface="Arial"/>
              </a:rPr>
              <a:t>Recommendation </a:t>
            </a:r>
            <a:r>
              <a:rPr lang="en-US" sz="2100" b="1" i="0" dirty="0" err="1">
                <a:solidFill>
                  <a:srgbClr val="192526"/>
                </a:solidFill>
                <a:latin typeface="Arial"/>
                <a:ea typeface="Arial"/>
                <a:cs typeface="Arial"/>
              </a:rPr>
              <a:t>WorkFlow</a:t>
            </a:r>
            <a:endParaRPr sz="2100" b="1" i="0" dirty="0">
              <a:solidFill>
                <a:srgbClr val="192526"/>
              </a:solidFill>
              <a:latin typeface="Arial"/>
              <a:ea typeface="Arial"/>
              <a:cs typeface="Arial"/>
            </a:endParaRPr>
          </a:p>
        </p:txBody>
      </p:sp>
      <p:sp>
        <p:nvSpPr>
          <p:cNvPr id="9" name="矩形 8">
            <a:extLst>
              <a:ext uri="{FF2B5EF4-FFF2-40B4-BE49-F238E27FC236}">
                <a16:creationId xmlns:a16="http://schemas.microsoft.com/office/drawing/2014/main" id="{787C9841-FF88-4D4E-AA6C-8A193C4723D4}"/>
              </a:ext>
            </a:extLst>
          </p:cNvPr>
          <p:cNvSpPr>
            <a:spLocks noGrp="1"/>
          </p:cNvSpPr>
          <p:nvPr/>
        </p:nvSpPr>
        <p:spPr>
          <a:xfrm>
            <a:off x="666750" y="3352800"/>
            <a:ext cx="3143250" cy="781050"/>
          </a:xfrm>
          <a:prstGeom prst="rect">
            <a:avLst/>
          </a:prstGeom>
          <a:noFill/>
          <a:ln w="0">
            <a:noFill/>
            <a:prstDash val="solid"/>
          </a:ln>
        </p:spPr>
        <p:txBody>
          <a:bodyPr wrap="square" lIns="0" tIns="0" rIns="0" bIns="0" anchor="t">
            <a:noAutofit/>
          </a:bodyPr>
          <a:lstStyle/>
          <a:p>
            <a:pPr algn="l">
              <a:lnSpc>
                <a:spcPct val="118000"/>
              </a:lnSpc>
              <a:buNone/>
              <a:defRPr sz="1575" b="0" i="0">
                <a:solidFill>
                  <a:srgbClr val="667174"/>
                </a:solidFill>
                <a:latin typeface="Arial"/>
                <a:ea typeface="Arial"/>
                <a:cs typeface="Arial"/>
              </a:defRPr>
            </a:pPr>
            <a:r>
              <a:rPr sz="1575" b="0" i="0">
                <a:solidFill>
                  <a:srgbClr val="667174"/>
                </a:solidFill>
                <a:latin typeface="Arial"/>
                <a:ea typeface="Arial"/>
                <a:cs typeface="Arial"/>
              </a:rPr>
              <a:t>Retrieves, filters, ranks</a:t>
            </a:r>
          </a:p>
          <a:p>
            <a:pPr algn="l">
              <a:lnSpc>
                <a:spcPct val="118000"/>
              </a:lnSpc>
              <a:buNone/>
              <a:defRPr sz="1575" b="0" i="0">
                <a:solidFill>
                  <a:srgbClr val="667174"/>
                </a:solidFill>
                <a:latin typeface="Arial"/>
                <a:ea typeface="Arial"/>
                <a:cs typeface="Arial"/>
              </a:defRPr>
            </a:pPr>
            <a:r>
              <a:rPr sz="1575" b="0" i="0">
                <a:solidFill>
                  <a:srgbClr val="667174"/>
                </a:solidFill>
                <a:latin typeface="Arial"/>
                <a:ea typeface="Arial"/>
                <a:cs typeface="Arial"/>
              </a:rPr>
              <a:t>and explains meal options.</a:t>
            </a:r>
          </a:p>
        </p:txBody>
      </p:sp>
      <p:sp>
        <p:nvSpPr>
          <p:cNvPr id="10" name="直接连接符 9">
            <a:extLst>
              <a:ext uri="{FF2B5EF4-FFF2-40B4-BE49-F238E27FC236}">
                <a16:creationId xmlns:a16="http://schemas.microsoft.com/office/drawing/2014/main" id="{1C56C701-8F82-47CD-BDD7-ED96EB72BBEF}"/>
              </a:ext>
            </a:extLst>
          </p:cNvPr>
          <p:cNvSpPr>
            <a:spLocks noGrp="1"/>
          </p:cNvSpPr>
          <p:nvPr/>
        </p:nvSpPr>
        <p:spPr>
          <a:xfrm>
            <a:off x="4095750" y="1600200"/>
            <a:ext cx="0" cy="0"/>
          </a:xfrm>
          <a:prstGeom prst="line">
            <a:avLst/>
          </a:prstGeom>
          <a:noFill/>
          <a:ln w="9525">
            <a:solidFill>
              <a:srgbClr val="D8DDD9"/>
            </a:solidFill>
            <a:prstDash val="solid"/>
          </a:ln>
        </p:spPr>
        <p:txBody>
          <a:bodyPr/>
          <a:lstStyle/>
          <a:p>
            <a:endParaRPr/>
          </a:p>
        </p:txBody>
      </p:sp>
      <p:sp>
        <p:nvSpPr>
          <p:cNvPr id="11" name="直接连接符 10">
            <a:extLst>
              <a:ext uri="{FF2B5EF4-FFF2-40B4-BE49-F238E27FC236}">
                <a16:creationId xmlns:a16="http://schemas.microsoft.com/office/drawing/2014/main" id="{2D84C2BF-56E8-4F78-9260-8D7216B8A4DD}"/>
              </a:ext>
            </a:extLst>
          </p:cNvPr>
          <p:cNvSpPr>
            <a:spLocks noGrp="1"/>
          </p:cNvSpPr>
          <p:nvPr/>
        </p:nvSpPr>
        <p:spPr>
          <a:xfrm>
            <a:off x="4095750" y="1600200"/>
            <a:ext cx="0" cy="3810000"/>
          </a:xfrm>
          <a:prstGeom prst="line">
            <a:avLst/>
          </a:prstGeom>
          <a:noFill/>
          <a:ln w="11430">
            <a:solidFill>
              <a:srgbClr val="D8DDD9"/>
            </a:solidFill>
            <a:prstDash val="solid"/>
          </a:ln>
        </p:spPr>
        <p:txBody>
          <a:bodyPr/>
          <a:lstStyle/>
          <a:p>
            <a:endParaRPr/>
          </a:p>
        </p:txBody>
      </p:sp>
      <p:sp>
        <p:nvSpPr>
          <p:cNvPr id="12" name="矩形 11">
            <a:extLst>
              <a:ext uri="{FF2B5EF4-FFF2-40B4-BE49-F238E27FC236}">
                <a16:creationId xmlns:a16="http://schemas.microsoft.com/office/drawing/2014/main" id="{D125D16E-14AC-4F58-A313-9B437B19D038}"/>
              </a:ext>
            </a:extLst>
          </p:cNvPr>
          <p:cNvSpPr>
            <a:spLocks noGrp="1"/>
          </p:cNvSpPr>
          <p:nvPr/>
        </p:nvSpPr>
        <p:spPr>
          <a:xfrm>
            <a:off x="451485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356B56"/>
                </a:solidFill>
                <a:latin typeface="Arial"/>
                <a:ea typeface="Arial"/>
                <a:cs typeface="Arial"/>
              </a:defRPr>
            </a:pPr>
            <a:r>
              <a:rPr sz="2925" b="1" i="0">
                <a:solidFill>
                  <a:srgbClr val="356B56"/>
                </a:solidFill>
                <a:latin typeface="Arial"/>
                <a:ea typeface="Arial"/>
                <a:cs typeface="Arial"/>
              </a:rPr>
              <a:t>02</a:t>
            </a:r>
          </a:p>
        </p:txBody>
      </p:sp>
      <p:sp>
        <p:nvSpPr>
          <p:cNvPr id="13" name="矩形 12">
            <a:extLst>
              <a:ext uri="{FF2B5EF4-FFF2-40B4-BE49-F238E27FC236}">
                <a16:creationId xmlns:a16="http://schemas.microsoft.com/office/drawing/2014/main" id="{A4B7B59B-775D-4C90-AB48-7B4D31F8B11F}"/>
              </a:ext>
            </a:extLst>
          </p:cNvPr>
          <p:cNvSpPr>
            <a:spLocks noGrp="1"/>
          </p:cNvSpPr>
          <p:nvPr/>
        </p:nvSpPr>
        <p:spPr>
          <a:xfrm>
            <a:off x="4514850" y="2266950"/>
            <a:ext cx="285750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COOKING</a:t>
            </a:r>
          </a:p>
        </p:txBody>
      </p:sp>
      <p:sp>
        <p:nvSpPr>
          <p:cNvPr id="14" name="矩形 13">
            <a:extLst>
              <a:ext uri="{FF2B5EF4-FFF2-40B4-BE49-F238E27FC236}">
                <a16:creationId xmlns:a16="http://schemas.microsoft.com/office/drawing/2014/main" id="{CFA48AD0-07F9-423D-9CDB-C34041D9C641}"/>
              </a:ext>
            </a:extLst>
          </p:cNvPr>
          <p:cNvSpPr>
            <a:spLocks noGrp="1"/>
          </p:cNvSpPr>
          <p:nvPr/>
        </p:nvSpPr>
        <p:spPr>
          <a:xfrm>
            <a:off x="4514850" y="2838450"/>
            <a:ext cx="3143250" cy="666750"/>
          </a:xfrm>
          <a:prstGeom prst="rect">
            <a:avLst/>
          </a:prstGeom>
          <a:noFill/>
          <a:ln w="0">
            <a:noFill/>
            <a:prstDash val="solid"/>
          </a:ln>
        </p:spPr>
        <p:txBody>
          <a:bodyPr wrap="square" lIns="0" tIns="0" rIns="0" bIns="0" anchor="t">
            <a:noAutofit/>
          </a:bodyPr>
          <a:lstStyle/>
          <a:p>
            <a:pPr algn="l">
              <a:lnSpc>
                <a:spcPct val="105000"/>
              </a:lnSpc>
              <a:buNone/>
              <a:defRPr sz="2100" b="1" i="0">
                <a:solidFill>
                  <a:srgbClr val="192526"/>
                </a:solidFill>
                <a:latin typeface="Arial"/>
                <a:ea typeface="Arial"/>
                <a:cs typeface="Arial"/>
              </a:defRPr>
            </a:pPr>
            <a:r>
              <a:rPr sz="2100" b="1" i="0">
                <a:solidFill>
                  <a:srgbClr val="192526"/>
                </a:solidFill>
                <a:latin typeface="Arial"/>
                <a:ea typeface="Arial"/>
                <a:cs typeface="Arial"/>
              </a:rPr>
              <a:t>Cooking Planner Agent</a:t>
            </a:r>
          </a:p>
        </p:txBody>
      </p:sp>
      <p:sp>
        <p:nvSpPr>
          <p:cNvPr id="15" name="矩形 14">
            <a:extLst>
              <a:ext uri="{FF2B5EF4-FFF2-40B4-BE49-F238E27FC236}">
                <a16:creationId xmlns:a16="http://schemas.microsoft.com/office/drawing/2014/main" id="{9645B9F1-427D-473B-89A2-6C755197386B}"/>
              </a:ext>
            </a:extLst>
          </p:cNvPr>
          <p:cNvSpPr>
            <a:spLocks noGrp="1"/>
          </p:cNvSpPr>
          <p:nvPr/>
        </p:nvSpPr>
        <p:spPr>
          <a:xfrm>
            <a:off x="4514850" y="3619500"/>
            <a:ext cx="3143250" cy="800100"/>
          </a:xfrm>
          <a:prstGeom prst="rect">
            <a:avLst/>
          </a:prstGeom>
          <a:noFill/>
          <a:ln w="0">
            <a:noFill/>
            <a:prstDash val="solid"/>
          </a:ln>
        </p:spPr>
        <p:txBody>
          <a:bodyPr wrap="square" lIns="0" tIns="0" rIns="0" bIns="0" anchor="t">
            <a:noAutofit/>
          </a:bodyPr>
          <a:lstStyle/>
          <a:p>
            <a:pPr algn="l">
              <a:lnSpc>
                <a:spcPct val="118000"/>
              </a:lnSpc>
              <a:buNone/>
              <a:defRPr sz="1575" b="0" i="0">
                <a:solidFill>
                  <a:srgbClr val="667174"/>
                </a:solidFill>
                <a:latin typeface="Arial"/>
                <a:ea typeface="Arial"/>
                <a:cs typeface="Arial"/>
              </a:defRPr>
            </a:pPr>
            <a:r>
              <a:rPr sz="1575" b="0" i="0">
                <a:solidFill>
                  <a:srgbClr val="667174"/>
                </a:solidFill>
                <a:latin typeface="Arial"/>
                <a:ea typeface="Arial"/>
                <a:cs typeface="Arial"/>
              </a:rPr>
              <a:t>Uses ingredients, time, budget</a:t>
            </a:r>
          </a:p>
          <a:p>
            <a:pPr algn="l">
              <a:lnSpc>
                <a:spcPct val="118000"/>
              </a:lnSpc>
              <a:buNone/>
              <a:defRPr sz="1575" b="0" i="0">
                <a:solidFill>
                  <a:srgbClr val="667174"/>
                </a:solidFill>
                <a:latin typeface="Arial"/>
                <a:ea typeface="Arial"/>
                <a:cs typeface="Arial"/>
              </a:defRPr>
            </a:pPr>
            <a:r>
              <a:rPr sz="1575" b="0" i="0">
                <a:solidFill>
                  <a:srgbClr val="667174"/>
                </a:solidFill>
                <a:latin typeface="Arial"/>
                <a:ea typeface="Arial"/>
                <a:cs typeface="Arial"/>
              </a:rPr>
              <a:t>and dietary rules to build a plan.</a:t>
            </a:r>
          </a:p>
        </p:txBody>
      </p:sp>
      <p:sp>
        <p:nvSpPr>
          <p:cNvPr id="16" name="直接连接符 15">
            <a:extLst>
              <a:ext uri="{FF2B5EF4-FFF2-40B4-BE49-F238E27FC236}">
                <a16:creationId xmlns:a16="http://schemas.microsoft.com/office/drawing/2014/main" id="{F7CB57B3-C620-473C-8229-D4D3BFD6B310}"/>
              </a:ext>
            </a:extLst>
          </p:cNvPr>
          <p:cNvSpPr>
            <a:spLocks noGrp="1"/>
          </p:cNvSpPr>
          <p:nvPr/>
        </p:nvSpPr>
        <p:spPr>
          <a:xfrm>
            <a:off x="7953375" y="1600200"/>
            <a:ext cx="0" cy="3810000"/>
          </a:xfrm>
          <a:prstGeom prst="line">
            <a:avLst/>
          </a:prstGeom>
          <a:noFill/>
          <a:ln w="11430">
            <a:solidFill>
              <a:srgbClr val="D8DDD9"/>
            </a:solidFill>
            <a:prstDash val="solid"/>
          </a:ln>
        </p:spPr>
        <p:txBody>
          <a:bodyPr/>
          <a:lstStyle/>
          <a:p>
            <a:endParaRPr/>
          </a:p>
        </p:txBody>
      </p:sp>
      <p:sp>
        <p:nvSpPr>
          <p:cNvPr id="17" name="矩形 16">
            <a:extLst>
              <a:ext uri="{FF2B5EF4-FFF2-40B4-BE49-F238E27FC236}">
                <a16:creationId xmlns:a16="http://schemas.microsoft.com/office/drawing/2014/main" id="{DA73F909-54A6-4C1A-AC4B-014176F3325C}"/>
              </a:ext>
            </a:extLst>
          </p:cNvPr>
          <p:cNvSpPr>
            <a:spLocks noGrp="1"/>
          </p:cNvSpPr>
          <p:nvPr/>
        </p:nvSpPr>
        <p:spPr>
          <a:xfrm>
            <a:off x="8382000" y="1676400"/>
            <a:ext cx="704850" cy="476250"/>
          </a:xfrm>
          <a:prstGeom prst="rect">
            <a:avLst/>
          </a:prstGeom>
          <a:noFill/>
          <a:ln w="0">
            <a:noFill/>
            <a:prstDash val="solid"/>
          </a:ln>
        </p:spPr>
        <p:txBody>
          <a:bodyPr wrap="square" lIns="0" tIns="0" rIns="0" bIns="0" anchor="t">
            <a:noAutofit/>
          </a:bodyPr>
          <a:lstStyle/>
          <a:p>
            <a:pPr algn="l">
              <a:lnSpc>
                <a:spcPct val="105000"/>
              </a:lnSpc>
              <a:buNone/>
              <a:defRPr sz="2925" b="1" i="0">
                <a:solidFill>
                  <a:srgbClr val="B86143"/>
                </a:solidFill>
                <a:latin typeface="Arial"/>
                <a:ea typeface="Arial"/>
                <a:cs typeface="Arial"/>
              </a:defRPr>
            </a:pPr>
            <a:r>
              <a:rPr sz="2925" b="1" i="0">
                <a:solidFill>
                  <a:srgbClr val="B86143"/>
                </a:solidFill>
                <a:latin typeface="Arial"/>
                <a:ea typeface="Arial"/>
                <a:cs typeface="Arial"/>
              </a:rPr>
              <a:t>03</a:t>
            </a:r>
          </a:p>
        </p:txBody>
      </p:sp>
      <p:sp>
        <p:nvSpPr>
          <p:cNvPr id="18" name="矩形 17">
            <a:extLst>
              <a:ext uri="{FF2B5EF4-FFF2-40B4-BE49-F238E27FC236}">
                <a16:creationId xmlns:a16="http://schemas.microsoft.com/office/drawing/2014/main" id="{BAB93A56-DB33-4691-A7A1-B4EF2202AE05}"/>
              </a:ext>
            </a:extLst>
          </p:cNvPr>
          <p:cNvSpPr>
            <a:spLocks noGrp="1"/>
          </p:cNvSpPr>
          <p:nvPr/>
        </p:nvSpPr>
        <p:spPr>
          <a:xfrm>
            <a:off x="8382000" y="2266950"/>
            <a:ext cx="247650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667174"/>
                </a:solidFill>
                <a:latin typeface="Arial"/>
                <a:ea typeface="Arial"/>
                <a:cs typeface="Arial"/>
              </a:defRPr>
            </a:pPr>
            <a:r>
              <a:rPr sz="1650" b="1" i="0">
                <a:solidFill>
                  <a:srgbClr val="667174"/>
                </a:solidFill>
                <a:latin typeface="Arial"/>
                <a:ea typeface="Arial"/>
                <a:cs typeface="Arial"/>
              </a:rPr>
              <a:t>CHATBOT</a:t>
            </a:r>
          </a:p>
        </p:txBody>
      </p:sp>
      <p:sp>
        <p:nvSpPr>
          <p:cNvPr id="19" name="矩形 18">
            <a:extLst>
              <a:ext uri="{FF2B5EF4-FFF2-40B4-BE49-F238E27FC236}">
                <a16:creationId xmlns:a16="http://schemas.microsoft.com/office/drawing/2014/main" id="{8CB6E57B-BBC5-4764-8E29-F4C92174A8F9}"/>
              </a:ext>
            </a:extLst>
          </p:cNvPr>
          <p:cNvSpPr>
            <a:spLocks noGrp="1"/>
          </p:cNvSpPr>
          <p:nvPr/>
        </p:nvSpPr>
        <p:spPr>
          <a:xfrm>
            <a:off x="8382000" y="2838450"/>
            <a:ext cx="3143250" cy="381000"/>
          </a:xfrm>
          <a:prstGeom prst="rect">
            <a:avLst/>
          </a:prstGeom>
          <a:noFill/>
          <a:ln w="0">
            <a:noFill/>
            <a:prstDash val="solid"/>
          </a:ln>
        </p:spPr>
        <p:txBody>
          <a:bodyPr wrap="square" lIns="0" tIns="0" rIns="0" bIns="0" anchor="t">
            <a:noAutofit/>
          </a:bodyPr>
          <a:lstStyle/>
          <a:p>
            <a:pPr algn="l">
              <a:lnSpc>
                <a:spcPct val="105000"/>
              </a:lnSpc>
              <a:buNone/>
              <a:defRPr sz="2025" b="1" i="0">
                <a:solidFill>
                  <a:srgbClr val="192526"/>
                </a:solidFill>
                <a:latin typeface="Arial"/>
                <a:ea typeface="Arial"/>
                <a:cs typeface="Arial"/>
              </a:defRPr>
            </a:pPr>
            <a:r>
              <a:rPr sz="2025" b="1" i="0">
                <a:solidFill>
                  <a:srgbClr val="192526"/>
                </a:solidFill>
                <a:latin typeface="Arial"/>
                <a:ea typeface="Arial"/>
                <a:cs typeface="Arial"/>
              </a:rPr>
              <a:t>Chatbot Orchestrator</a:t>
            </a:r>
          </a:p>
        </p:txBody>
      </p:sp>
      <p:sp>
        <p:nvSpPr>
          <p:cNvPr id="20" name="矩形 19">
            <a:extLst>
              <a:ext uri="{FF2B5EF4-FFF2-40B4-BE49-F238E27FC236}">
                <a16:creationId xmlns:a16="http://schemas.microsoft.com/office/drawing/2014/main" id="{647C0D22-9731-46D7-9108-06E9A3AE4CF5}"/>
              </a:ext>
            </a:extLst>
          </p:cNvPr>
          <p:cNvSpPr>
            <a:spLocks noGrp="1"/>
          </p:cNvSpPr>
          <p:nvPr/>
        </p:nvSpPr>
        <p:spPr>
          <a:xfrm>
            <a:off x="8382000" y="3390900"/>
            <a:ext cx="3143250" cy="781050"/>
          </a:xfrm>
          <a:prstGeom prst="rect">
            <a:avLst/>
          </a:prstGeom>
          <a:noFill/>
          <a:ln w="0">
            <a:noFill/>
            <a:prstDash val="solid"/>
          </a:ln>
        </p:spPr>
        <p:txBody>
          <a:bodyPr wrap="square" lIns="0" tIns="0" rIns="0" bIns="0" anchor="t">
            <a:noAutofit/>
          </a:bodyPr>
          <a:lstStyle/>
          <a:p>
            <a:pPr algn="l">
              <a:lnSpc>
                <a:spcPct val="118000"/>
              </a:lnSpc>
              <a:buNone/>
              <a:defRPr sz="1725" b="1" i="0">
                <a:solidFill>
                  <a:srgbClr val="356B56"/>
                </a:solidFill>
                <a:latin typeface="Arial"/>
                <a:ea typeface="Arial"/>
                <a:cs typeface="Arial"/>
              </a:defRPr>
            </a:pPr>
            <a:r>
              <a:rPr sz="1725" b="1" i="0">
                <a:solidFill>
                  <a:srgbClr val="356B56"/>
                </a:solidFill>
                <a:latin typeface="Arial"/>
                <a:ea typeface="Arial"/>
                <a:cs typeface="Arial"/>
              </a:rPr>
              <a:t>Platform Search Agent</a:t>
            </a:r>
          </a:p>
          <a:p>
            <a:pPr algn="l">
              <a:lnSpc>
                <a:spcPct val="118000"/>
              </a:lnSpc>
              <a:buNone/>
              <a:defRPr sz="1725" b="1" i="0">
                <a:solidFill>
                  <a:srgbClr val="356B56"/>
                </a:solidFill>
                <a:latin typeface="Arial"/>
                <a:ea typeface="Arial"/>
                <a:cs typeface="Arial"/>
              </a:defRPr>
            </a:pPr>
            <a:r>
              <a:rPr sz="1725" b="1" i="0">
                <a:solidFill>
                  <a:srgbClr val="356B56"/>
                </a:solidFill>
                <a:latin typeface="Arial"/>
                <a:ea typeface="Arial"/>
                <a:cs typeface="Arial"/>
              </a:rPr>
              <a:t>Content Summary Agent</a:t>
            </a:r>
          </a:p>
        </p:txBody>
      </p:sp>
      <p:sp>
        <p:nvSpPr>
          <p:cNvPr id="21" name="矩形 20">
            <a:extLst>
              <a:ext uri="{FF2B5EF4-FFF2-40B4-BE49-F238E27FC236}">
                <a16:creationId xmlns:a16="http://schemas.microsoft.com/office/drawing/2014/main" id="{72A8EB44-5E42-421D-B89D-6823AA8C8A25}"/>
              </a:ext>
            </a:extLst>
          </p:cNvPr>
          <p:cNvSpPr>
            <a:spLocks noGrp="1"/>
          </p:cNvSpPr>
          <p:nvPr/>
        </p:nvSpPr>
        <p:spPr>
          <a:xfrm>
            <a:off x="8382000" y="4362450"/>
            <a:ext cx="2952750" cy="323850"/>
          </a:xfrm>
          <a:prstGeom prst="rect">
            <a:avLst/>
          </a:prstGeom>
          <a:noFill/>
          <a:ln w="0">
            <a:noFill/>
            <a:prstDash val="solid"/>
          </a:ln>
        </p:spPr>
        <p:txBody>
          <a:bodyPr wrap="square" lIns="0" tIns="0" rIns="0" bIns="0" anchor="t">
            <a:noAutofit/>
          </a:bodyPr>
          <a:lstStyle/>
          <a:p>
            <a:pPr algn="l">
              <a:lnSpc>
                <a:spcPct val="105000"/>
              </a:lnSpc>
              <a:buNone/>
              <a:defRPr sz="1500" b="0" i="0">
                <a:solidFill>
                  <a:srgbClr val="667174"/>
                </a:solidFill>
                <a:latin typeface="Arial"/>
                <a:ea typeface="Arial"/>
                <a:cs typeface="Arial"/>
              </a:defRPr>
            </a:pPr>
            <a:r>
              <a:rPr sz="1500" b="0" i="0">
                <a:solidFill>
                  <a:srgbClr val="667174"/>
                </a:solidFill>
                <a:latin typeface="Arial"/>
                <a:ea typeface="Arial"/>
                <a:cs typeface="Arial"/>
              </a:rPr>
              <a:t>Authorised platform content only.</a:t>
            </a:r>
          </a:p>
        </p:txBody>
      </p:sp>
      <p:sp>
        <p:nvSpPr>
          <p:cNvPr id="22" name="矩形: 圆角 21">
            <a:extLst>
              <a:ext uri="{FF2B5EF4-FFF2-40B4-BE49-F238E27FC236}">
                <a16:creationId xmlns:a16="http://schemas.microsoft.com/office/drawing/2014/main" id="{961C28F3-AD1E-4910-AAE4-66563CF2BBC2}"/>
              </a:ext>
            </a:extLst>
          </p:cNvPr>
          <p:cNvSpPr>
            <a:spLocks noGrp="1"/>
          </p:cNvSpPr>
          <p:nvPr/>
        </p:nvSpPr>
        <p:spPr>
          <a:xfrm>
            <a:off x="1562100" y="5476875"/>
            <a:ext cx="9067800" cy="609600"/>
          </a:xfrm>
          <a:prstGeom prst="roundRect">
            <a:avLst>
              <a:gd name="adj" fmla="val 18750"/>
            </a:avLst>
          </a:prstGeom>
          <a:solidFill>
            <a:srgbClr val="E7F0EB"/>
          </a:solidFill>
          <a:ln w="10478">
            <a:solidFill>
              <a:srgbClr val="4F806B"/>
            </a:solidFill>
            <a:prstDash val="solid"/>
          </a:ln>
        </p:spPr>
        <p:txBody>
          <a:bodyPr wrap="square" lIns="114300" tIns="95250" rIns="114300" bIns="95250" anchor="ctr">
            <a:noAutofit/>
          </a:bodyPr>
          <a:lstStyle/>
          <a:p>
            <a:pPr algn="ctr">
              <a:lnSpc>
                <a:spcPct val="100000"/>
              </a:lnSpc>
              <a:buNone/>
              <a:defRPr sz="1425" b="1">
                <a:solidFill>
                  <a:srgbClr val="356B56"/>
                </a:solidFill>
                <a:latin typeface="Arial"/>
                <a:ea typeface="Arial"/>
                <a:cs typeface="Arial"/>
              </a:defRPr>
            </a:pPr>
            <a:r>
              <a:rPr sz="1425" b="1">
                <a:solidFill>
                  <a:srgbClr val="356B56"/>
                </a:solidFill>
                <a:latin typeface="Arial"/>
                <a:ea typeface="Arial"/>
                <a:cs typeface="Arial"/>
              </a:rPr>
              <a:t>LangGraph manages state, routing, timeouts and traces. Agents use allow-listed tools and cannot cross into another AI workflow.</a:t>
            </a:r>
          </a:p>
        </p:txBody>
      </p:sp>
    </p:spTree>
    <p:extLst>
      <p:ext uri="{BB962C8B-B14F-4D97-AF65-F5344CB8AC3E}">
        <p14:creationId xmlns:p14="http://schemas.microsoft.com/office/powerpoint/2010/main" val="584264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Agentic AI Design — Five Agents, Three Workflows</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8</a:t>
            </a:r>
          </a:p>
        </p:txBody>
      </p:sp>
      <p:pic>
        <p:nvPicPr>
          <p:cNvPr id="8" name="Picture 7" descr="agents.png"/>
          <p:cNvPicPr>
            <a:picLocks noChangeAspect="1"/>
          </p:cNvPicPr>
          <p:nvPr/>
        </p:nvPicPr>
        <p:blipFill>
          <a:blip r:embed="rId2"/>
          <a:stretch>
            <a:fillRect/>
          </a:stretch>
        </p:blipFill>
        <p:spPr>
          <a:xfrm>
            <a:off x="3165934" y="1188720"/>
            <a:ext cx="5829651" cy="3383280"/>
          </a:xfrm>
          <a:prstGeom prst="rect">
            <a:avLst/>
          </a:prstGeom>
        </p:spPr>
      </p:pic>
      <p:sp>
        <p:nvSpPr>
          <p:cNvPr id="9" name="TextBox 8"/>
          <p:cNvSpPr txBox="1"/>
          <p:nvPr/>
        </p:nvSpPr>
        <p:spPr>
          <a:xfrm>
            <a:off x="822960" y="4754880"/>
            <a:ext cx="10515600" cy="1554480"/>
          </a:xfrm>
          <a:prstGeom prst="rect">
            <a:avLst/>
          </a:prstGeom>
          <a:noFill/>
        </p:spPr>
        <p:txBody>
          <a:bodyPr wrap="square" lIns="0" tIns="0" rIns="0" bIns="0" anchor="t">
            <a:spAutoFit/>
          </a:bodyPr>
          <a:lstStyle/>
          <a:p>
            <a:pPr algn="l">
              <a:lnSpc>
                <a:spcPct val="100000"/>
              </a:lnSpc>
              <a:spcBef>
                <a:spcPts val="0"/>
              </a:spcBef>
              <a:spcAft>
                <a:spcPts val="600"/>
              </a:spcAft>
            </a:pPr>
            <a:r>
              <a:rPr sz="1500" b="1" i="0">
                <a:solidFill>
                  <a:srgbClr val="1F2937"/>
                </a:solidFill>
                <a:latin typeface="Calibri"/>
              </a:rPr>
              <a:t>•  LangGraph manages state, routing, timeouts and traces across all workflows.</a:t>
            </a:r>
          </a:p>
          <a:p>
            <a:pPr algn="l">
              <a:lnSpc>
                <a:spcPct val="100000"/>
              </a:lnSpc>
              <a:spcBef>
                <a:spcPts val="0"/>
              </a:spcBef>
              <a:spcAft>
                <a:spcPts val="600"/>
              </a:spcAft>
            </a:pPr>
            <a:r>
              <a:rPr sz="1500" b="1" i="0">
                <a:solidFill>
                  <a:srgbClr val="1F2937"/>
                </a:solidFill>
                <a:latin typeface="Calibri"/>
              </a:rPr>
              <a:t>•  Agents use allow-listed tools, cannot read arbitrary user data, and cannot write directly to PostgreSQL.</a:t>
            </a:r>
          </a:p>
          <a:p>
            <a:pPr algn="l">
              <a:lnSpc>
                <a:spcPct val="100000"/>
              </a:lnSpc>
              <a:spcBef>
                <a:spcPts val="0"/>
              </a:spcBef>
              <a:spcAft>
                <a:spcPts val="600"/>
              </a:spcAft>
            </a:pPr>
            <a:r>
              <a:rPr sz="1500" b="1" i="0">
                <a:solidFill>
                  <a:srgbClr val="1F2937"/>
                </a:solidFill>
                <a:latin typeface="Calibri"/>
              </a:rPr>
              <a:t>•  Spring Boot authorises context, validates Pydantic output and owns all persistence.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7334-CE53-69A8-7252-9F403035BA6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E150775-A748-54F6-3925-5770DB493DC5}"/>
              </a:ext>
            </a:extLst>
          </p:cNvPr>
          <p:cNvSpPr txBox="1"/>
          <p:nvPr/>
        </p:nvSpPr>
        <p:spPr>
          <a:xfrm>
            <a:off x="4689589" y="2921168"/>
            <a:ext cx="2812821" cy="1015663"/>
          </a:xfrm>
          <a:prstGeom prst="rect">
            <a:avLst/>
          </a:prstGeom>
          <a:noFill/>
        </p:spPr>
        <p:txBody>
          <a:bodyPr wrap="none" rtlCol="0">
            <a:spAutoFit/>
          </a:bodyPr>
          <a:lstStyle/>
          <a:p>
            <a:r>
              <a:rPr lang="en-US" altLang="zh-CN" sz="6000" dirty="0"/>
              <a:t>Backend</a:t>
            </a:r>
            <a:endParaRPr lang="zh-CN" altLang="en-US" sz="6000" dirty="0"/>
          </a:p>
        </p:txBody>
      </p:sp>
    </p:spTree>
    <p:extLst>
      <p:ext uri="{BB962C8B-B14F-4D97-AF65-F5344CB8AC3E}">
        <p14:creationId xmlns:p14="http://schemas.microsoft.com/office/powerpoint/2010/main" val="1274716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02554-DA38-0632-4C5C-0616E265272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A4EDAA5-983B-5BE6-68EF-615544E2D547}"/>
              </a:ext>
            </a:extLst>
          </p:cNvPr>
          <p:cNvSpPr txBox="1"/>
          <p:nvPr/>
        </p:nvSpPr>
        <p:spPr>
          <a:xfrm>
            <a:off x="3271573" y="2921168"/>
            <a:ext cx="5648854" cy="1015663"/>
          </a:xfrm>
          <a:prstGeom prst="rect">
            <a:avLst/>
          </a:prstGeom>
          <a:noFill/>
        </p:spPr>
        <p:txBody>
          <a:bodyPr wrap="none" rtlCol="0">
            <a:spAutoFit/>
          </a:bodyPr>
          <a:lstStyle/>
          <a:p>
            <a:r>
              <a:rPr lang="en-US" altLang="zh-CN" sz="6000" dirty="0"/>
              <a:t>Android and Web</a:t>
            </a:r>
            <a:endParaRPr lang="zh-CN" altLang="en-US" sz="6000" dirty="0"/>
          </a:p>
        </p:txBody>
      </p:sp>
    </p:spTree>
    <p:extLst>
      <p:ext uri="{BB962C8B-B14F-4D97-AF65-F5344CB8AC3E}">
        <p14:creationId xmlns:p14="http://schemas.microsoft.com/office/powerpoint/2010/main" val="1067809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6691D2B-365E-4B32-B199-68D5AC0148FF}"/>
              </a:ext>
            </a:extLst>
          </p:cNvPr>
          <p:cNvSpPr>
            <a:spLocks noGrp="1"/>
          </p:cNvSpPr>
          <p:nvPr/>
        </p:nvSpPr>
        <p:spPr>
          <a:xfrm>
            <a:off x="609600" y="476250"/>
            <a:ext cx="66675" cy="457200"/>
          </a:xfrm>
          <a:prstGeom prst="rect">
            <a:avLst/>
          </a:prstGeom>
          <a:solidFill>
            <a:srgbClr val="356B56"/>
          </a:solidFill>
          <a:ln w="0">
            <a:noFill/>
            <a:prstDash val="solid"/>
          </a:ln>
        </p:spPr>
        <p:txBody>
          <a:bodyPr/>
          <a:lstStyle/>
          <a:p>
            <a:endParaRPr/>
          </a:p>
        </p:txBody>
      </p:sp>
      <p:sp>
        <p:nvSpPr>
          <p:cNvPr id="2" name="slide-8-title">
            <a:extLst>
              <a:ext uri="{FF2B5EF4-FFF2-40B4-BE49-F238E27FC236}">
                <a16:creationId xmlns:a16="http://schemas.microsoft.com/office/drawing/2014/main" id="{6A6D6418-72D1-4ACA-9566-EF14A145E39C}"/>
              </a:ext>
            </a:extLst>
          </p:cNvPr>
          <p:cNvSpPr>
            <a:spLocks noGrp="1"/>
          </p:cNvSpPr>
          <p:nvPr/>
        </p:nvSpPr>
        <p:spPr>
          <a:xfrm>
            <a:off x="838200" y="457200"/>
            <a:ext cx="10572750" cy="571500"/>
          </a:xfrm>
          <a:prstGeom prst="rect">
            <a:avLst/>
          </a:prstGeom>
          <a:noFill/>
          <a:ln w="0">
            <a:noFill/>
            <a:prstDash val="solid"/>
          </a:ln>
        </p:spPr>
        <p:txBody>
          <a:bodyPr wrap="square" lIns="0" tIns="0" rIns="0" bIns="0" anchor="t">
            <a:noAutofit/>
          </a:bodyPr>
          <a:lstStyle/>
          <a:p>
            <a:pPr algn="l">
              <a:lnSpc>
                <a:spcPct val="105000"/>
              </a:lnSpc>
              <a:buNone/>
              <a:defRPr sz="3450" b="1" i="0">
                <a:solidFill>
                  <a:srgbClr val="192526"/>
                </a:solidFill>
                <a:latin typeface="Arial"/>
                <a:ea typeface="Arial"/>
                <a:cs typeface="Arial"/>
              </a:defRPr>
            </a:pPr>
            <a:r>
              <a:rPr sz="4800" b="1" i="0" dirty="0">
                <a:solidFill>
                  <a:srgbClr val="192526"/>
                </a:solidFill>
                <a:latin typeface="Arial"/>
                <a:ea typeface="Arial"/>
                <a:cs typeface="Arial"/>
              </a:rPr>
              <a:t>Android</a:t>
            </a:r>
            <a:r>
              <a:rPr sz="3450" b="1" i="0" dirty="0">
                <a:solidFill>
                  <a:srgbClr val="192526"/>
                </a:solidFill>
                <a:latin typeface="Arial"/>
                <a:ea typeface="Arial"/>
                <a:cs typeface="Arial"/>
              </a:rPr>
              <a:t> and </a:t>
            </a:r>
            <a:r>
              <a:rPr lang="en-GB" sz="4800" b="1">
                <a:solidFill>
                  <a:srgbClr val="192526"/>
                </a:solidFill>
                <a:latin typeface="Arial"/>
                <a:cs typeface="Arial"/>
              </a:rPr>
              <a:t>Web</a:t>
            </a:r>
            <a:endParaRPr sz="3450" b="1" i="0" dirty="0">
              <a:solidFill>
                <a:srgbClr val="192526"/>
              </a:solidFill>
              <a:latin typeface="Arial"/>
              <a:ea typeface="Arial"/>
              <a:cs typeface="Arial"/>
            </a:endParaRPr>
          </a:p>
        </p:txBody>
      </p:sp>
      <p:sp>
        <p:nvSpPr>
          <p:cNvPr id="3" name="直接连接符 2">
            <a:extLst>
              <a:ext uri="{FF2B5EF4-FFF2-40B4-BE49-F238E27FC236}">
                <a16:creationId xmlns:a16="http://schemas.microsoft.com/office/drawing/2014/main" id="{A358C5DE-9DE2-4F54-BCA5-486A439C8963}"/>
              </a:ext>
            </a:extLst>
          </p:cNvPr>
          <p:cNvSpPr>
            <a:spLocks noGrp="1"/>
          </p:cNvSpPr>
          <p:nvPr/>
        </p:nvSpPr>
        <p:spPr>
          <a:xfrm>
            <a:off x="609600" y="6477000"/>
            <a:ext cx="10972800" cy="0"/>
          </a:xfrm>
          <a:prstGeom prst="line">
            <a:avLst/>
          </a:prstGeom>
          <a:noFill/>
          <a:ln w="9525">
            <a:solidFill>
              <a:srgbClr val="D8DDD9"/>
            </a:solidFill>
            <a:prstDash val="solid"/>
          </a:ln>
        </p:spPr>
        <p:txBody>
          <a:bodyPr/>
          <a:lstStyle/>
          <a:p>
            <a:endParaRPr/>
          </a:p>
        </p:txBody>
      </p:sp>
      <p:sp>
        <p:nvSpPr>
          <p:cNvPr id="4" name="矩形 3">
            <a:extLst>
              <a:ext uri="{FF2B5EF4-FFF2-40B4-BE49-F238E27FC236}">
                <a16:creationId xmlns:a16="http://schemas.microsoft.com/office/drawing/2014/main" id="{D7E00DD6-8B21-4D48-A084-6262D2EBB3C7}"/>
              </a:ext>
            </a:extLst>
          </p:cNvPr>
          <p:cNvSpPr>
            <a:spLocks noGrp="1"/>
          </p:cNvSpPr>
          <p:nvPr/>
        </p:nvSpPr>
        <p:spPr>
          <a:xfrm>
            <a:off x="609600" y="6553200"/>
            <a:ext cx="2381250" cy="171450"/>
          </a:xfrm>
          <a:prstGeom prst="rect">
            <a:avLst/>
          </a:prstGeom>
          <a:noFill/>
          <a:ln w="0">
            <a:noFill/>
            <a:prstDash val="solid"/>
          </a:ln>
        </p:spPr>
        <p:txBody>
          <a:bodyPr wrap="square" lIns="0" tIns="0" rIns="0" bIns="0" anchor="t">
            <a:noAutofit/>
          </a:bodyPr>
          <a:lstStyle/>
          <a:p>
            <a:pPr algn="l">
              <a:lnSpc>
                <a:spcPct val="105000"/>
              </a:lnSpc>
              <a:buNone/>
              <a:defRPr sz="975" b="1" i="0">
                <a:solidFill>
                  <a:srgbClr val="667174"/>
                </a:solidFill>
                <a:latin typeface="Arial"/>
                <a:ea typeface="Arial"/>
                <a:cs typeface="Arial"/>
              </a:defRPr>
            </a:pPr>
            <a:r>
              <a:rPr sz="975" b="1" i="0">
                <a:solidFill>
                  <a:srgbClr val="667174"/>
                </a:solidFill>
                <a:latin typeface="Arial"/>
                <a:ea typeface="Arial"/>
                <a:cs typeface="Arial"/>
              </a:rPr>
              <a:t>FOODMIND  •  TEAM 5</a:t>
            </a:r>
          </a:p>
        </p:txBody>
      </p:sp>
      <p:sp>
        <p:nvSpPr>
          <p:cNvPr id="5" name="矩形 4">
            <a:extLst>
              <a:ext uri="{FF2B5EF4-FFF2-40B4-BE49-F238E27FC236}">
                <a16:creationId xmlns:a16="http://schemas.microsoft.com/office/drawing/2014/main" id="{FBF24911-4A84-4D76-BEAD-10152BE0DC67}"/>
              </a:ext>
            </a:extLst>
          </p:cNvPr>
          <p:cNvSpPr>
            <a:spLocks noGrp="1"/>
          </p:cNvSpPr>
          <p:nvPr/>
        </p:nvSpPr>
        <p:spPr>
          <a:xfrm>
            <a:off x="11144250" y="6534150"/>
            <a:ext cx="438150" cy="190500"/>
          </a:xfrm>
          <a:prstGeom prst="rect">
            <a:avLst/>
          </a:prstGeom>
          <a:noFill/>
          <a:ln w="0">
            <a:noFill/>
            <a:prstDash val="solid"/>
          </a:ln>
        </p:spPr>
        <p:txBody>
          <a:bodyPr wrap="square" lIns="0" tIns="0" rIns="0" bIns="0" anchor="t">
            <a:noAutofit/>
          </a:bodyPr>
          <a:lstStyle/>
          <a:p>
            <a:pPr algn="r">
              <a:lnSpc>
                <a:spcPct val="105000"/>
              </a:lnSpc>
              <a:buNone/>
              <a:defRPr sz="1050" b="0" i="0">
                <a:solidFill>
                  <a:srgbClr val="667174"/>
                </a:solidFill>
                <a:latin typeface="Arial"/>
                <a:ea typeface="Arial"/>
                <a:cs typeface="Arial"/>
              </a:defRPr>
            </a:pPr>
            <a:r>
              <a:rPr sz="1050" b="0" i="0">
                <a:solidFill>
                  <a:srgbClr val="667174"/>
                </a:solidFill>
                <a:latin typeface="Arial"/>
                <a:ea typeface="Arial"/>
                <a:cs typeface="Arial"/>
              </a:rPr>
              <a:t>09</a:t>
            </a:r>
          </a:p>
        </p:txBody>
      </p:sp>
      <p:sp>
        <p:nvSpPr>
          <p:cNvPr id="6" name="矩形: 圆角 5">
            <a:extLst>
              <a:ext uri="{FF2B5EF4-FFF2-40B4-BE49-F238E27FC236}">
                <a16:creationId xmlns:a16="http://schemas.microsoft.com/office/drawing/2014/main" id="{63484CC2-7A61-4C55-968B-0A70A0D29FDA}"/>
              </a:ext>
            </a:extLst>
          </p:cNvPr>
          <p:cNvSpPr>
            <a:spLocks noGrp="1"/>
          </p:cNvSpPr>
          <p:nvPr/>
        </p:nvSpPr>
        <p:spPr>
          <a:xfrm>
            <a:off x="666750" y="1752600"/>
            <a:ext cx="2057400" cy="914400"/>
          </a:xfrm>
          <a:prstGeom prst="roundRect">
            <a:avLst>
              <a:gd name="adj" fmla="val 14583"/>
            </a:avLst>
          </a:prstGeom>
          <a:solidFill>
            <a:srgbClr val="FFFFFF"/>
          </a:solidFill>
          <a:ln w="12383">
            <a:solidFill>
              <a:srgbClr val="D8DDD9"/>
            </a:solidFill>
            <a:prstDash val="solid"/>
          </a:ln>
        </p:spPr>
        <p:txBody>
          <a:bodyPr wrap="square" lIns="114300" tIns="95250" rIns="114300" bIns="95250" anchor="ctr">
            <a:noAutofit/>
          </a:bodyPr>
          <a:lstStyle/>
          <a:p>
            <a:pPr algn="ctr">
              <a:lnSpc>
                <a:spcPct val="100000"/>
              </a:lnSpc>
              <a:buNone/>
              <a:defRPr sz="1650" b="1">
                <a:solidFill>
                  <a:srgbClr val="192526"/>
                </a:solidFill>
                <a:latin typeface="Arial"/>
                <a:ea typeface="Arial"/>
                <a:cs typeface="Arial"/>
              </a:defRPr>
            </a:pPr>
            <a:r>
              <a:rPr sz="1650" b="1">
                <a:solidFill>
                  <a:srgbClr val="192526"/>
                </a:solidFill>
                <a:latin typeface="Arial"/>
                <a:ea typeface="Arial"/>
                <a:cs typeface="Arial"/>
              </a:rPr>
              <a:t>Android</a:t>
            </a:r>
          </a:p>
          <a:p>
            <a:pPr algn="ctr">
              <a:lnSpc>
                <a:spcPct val="100000"/>
              </a:lnSpc>
              <a:buNone/>
              <a:defRPr sz="1650" b="1">
                <a:solidFill>
                  <a:srgbClr val="192526"/>
                </a:solidFill>
                <a:latin typeface="Arial"/>
                <a:ea typeface="Arial"/>
                <a:cs typeface="Arial"/>
              </a:defRPr>
            </a:pPr>
            <a:r>
              <a:rPr sz="1650" b="1">
                <a:solidFill>
                  <a:srgbClr val="192526"/>
                </a:solidFill>
                <a:latin typeface="Arial"/>
                <a:ea typeface="Arial"/>
                <a:cs typeface="Arial"/>
              </a:rPr>
              <a:t>Kotlin + Compose</a:t>
            </a:r>
          </a:p>
        </p:txBody>
      </p:sp>
      <p:sp>
        <p:nvSpPr>
          <p:cNvPr id="7" name="矩形: 圆角 6">
            <a:extLst>
              <a:ext uri="{FF2B5EF4-FFF2-40B4-BE49-F238E27FC236}">
                <a16:creationId xmlns:a16="http://schemas.microsoft.com/office/drawing/2014/main" id="{10373676-D6D3-46B4-8150-DEBA5D475016}"/>
              </a:ext>
            </a:extLst>
          </p:cNvPr>
          <p:cNvSpPr>
            <a:spLocks noGrp="1"/>
          </p:cNvSpPr>
          <p:nvPr/>
        </p:nvSpPr>
        <p:spPr>
          <a:xfrm>
            <a:off x="666750" y="3067050"/>
            <a:ext cx="2057400" cy="914400"/>
          </a:xfrm>
          <a:prstGeom prst="roundRect">
            <a:avLst>
              <a:gd name="adj" fmla="val 14583"/>
            </a:avLst>
          </a:prstGeom>
          <a:solidFill>
            <a:srgbClr val="FFFFFF"/>
          </a:solidFill>
          <a:ln w="12383">
            <a:solidFill>
              <a:srgbClr val="D8DDD9"/>
            </a:solidFill>
            <a:prstDash val="solid"/>
          </a:ln>
        </p:spPr>
        <p:txBody>
          <a:bodyPr wrap="square" lIns="114300" tIns="95250" rIns="114300" bIns="95250" anchor="ctr">
            <a:noAutofit/>
          </a:bodyPr>
          <a:lstStyle/>
          <a:p>
            <a:pPr algn="ctr">
              <a:lnSpc>
                <a:spcPct val="100000"/>
              </a:lnSpc>
              <a:buNone/>
              <a:defRPr sz="1650" b="1">
                <a:solidFill>
                  <a:srgbClr val="192526"/>
                </a:solidFill>
                <a:latin typeface="Arial"/>
                <a:ea typeface="Arial"/>
                <a:cs typeface="Arial"/>
              </a:defRPr>
            </a:pPr>
            <a:r>
              <a:rPr sz="1650" b="1">
                <a:solidFill>
                  <a:srgbClr val="192526"/>
                </a:solidFill>
                <a:latin typeface="Arial"/>
                <a:ea typeface="Arial"/>
                <a:cs typeface="Arial"/>
              </a:rPr>
              <a:t>Web</a:t>
            </a:r>
          </a:p>
          <a:p>
            <a:pPr algn="ctr">
              <a:lnSpc>
                <a:spcPct val="100000"/>
              </a:lnSpc>
              <a:buNone/>
              <a:defRPr sz="1650" b="1">
                <a:solidFill>
                  <a:srgbClr val="192526"/>
                </a:solidFill>
                <a:latin typeface="Arial"/>
                <a:ea typeface="Arial"/>
                <a:cs typeface="Arial"/>
              </a:defRPr>
            </a:pPr>
            <a:r>
              <a:rPr sz="1650" b="1">
                <a:solidFill>
                  <a:srgbClr val="192526"/>
                </a:solidFill>
                <a:latin typeface="Arial"/>
                <a:ea typeface="Arial"/>
                <a:cs typeface="Arial"/>
              </a:rPr>
              <a:t>React + TypeScript</a:t>
            </a:r>
          </a:p>
        </p:txBody>
      </p:sp>
      <p:sp>
        <p:nvSpPr>
          <p:cNvPr id="8" name="矩形: 圆角 7">
            <a:extLst>
              <a:ext uri="{FF2B5EF4-FFF2-40B4-BE49-F238E27FC236}">
                <a16:creationId xmlns:a16="http://schemas.microsoft.com/office/drawing/2014/main" id="{7F77626D-5472-45E5-ACC7-878C365DD30B}"/>
              </a:ext>
            </a:extLst>
          </p:cNvPr>
          <p:cNvSpPr>
            <a:spLocks noGrp="1"/>
          </p:cNvSpPr>
          <p:nvPr/>
        </p:nvSpPr>
        <p:spPr>
          <a:xfrm>
            <a:off x="3638550" y="2209800"/>
            <a:ext cx="3238500" cy="1390650"/>
          </a:xfrm>
          <a:prstGeom prst="roundRect">
            <a:avLst>
              <a:gd name="adj" fmla="val 9589"/>
            </a:avLst>
          </a:prstGeom>
          <a:solidFill>
            <a:srgbClr val="E7F0EB"/>
          </a:solidFill>
          <a:ln w="14288">
            <a:solidFill>
              <a:srgbClr val="4F806B"/>
            </a:solidFill>
            <a:prstDash val="solid"/>
          </a:ln>
        </p:spPr>
        <p:txBody>
          <a:bodyPr wrap="square" lIns="114300" tIns="95250" rIns="114300" bIns="95250" anchor="ctr">
            <a:noAutofit/>
          </a:bodyPr>
          <a:lstStyle/>
          <a:p>
            <a:pPr algn="ctr">
              <a:lnSpc>
                <a:spcPct val="112000"/>
              </a:lnSpc>
              <a:buNone/>
              <a:defRPr sz="1650" b="1">
                <a:solidFill>
                  <a:srgbClr val="356B56"/>
                </a:solidFill>
                <a:latin typeface="Arial"/>
                <a:ea typeface="Arial"/>
                <a:cs typeface="Arial"/>
              </a:defRPr>
            </a:pPr>
            <a:r>
              <a:rPr sz="1650" b="1">
                <a:solidFill>
                  <a:srgbClr val="356B56"/>
                </a:solidFill>
                <a:latin typeface="Arial"/>
                <a:ea typeface="Arial"/>
                <a:cs typeface="Arial"/>
              </a:rPr>
              <a:t>SpringBoot REST API</a:t>
            </a:r>
          </a:p>
          <a:p>
            <a:pPr algn="ctr">
              <a:lnSpc>
                <a:spcPct val="112000"/>
              </a:lnSpc>
              <a:buNone/>
              <a:defRPr sz="1650" b="1">
                <a:solidFill>
                  <a:srgbClr val="356B56"/>
                </a:solidFill>
                <a:latin typeface="Arial"/>
                <a:ea typeface="Arial"/>
                <a:cs typeface="Arial"/>
              </a:defRPr>
            </a:pPr>
            <a:r>
              <a:rPr sz="1650" b="1">
                <a:solidFill>
                  <a:srgbClr val="356B56"/>
                </a:solidFill>
                <a:latin typeface="Arial"/>
                <a:ea typeface="Arial"/>
                <a:cs typeface="Arial"/>
              </a:rPr>
              <a:t>Authentication • permissions</a:t>
            </a:r>
          </a:p>
          <a:p>
            <a:pPr algn="ctr">
              <a:lnSpc>
                <a:spcPct val="112000"/>
              </a:lnSpc>
              <a:buNone/>
              <a:defRPr sz="1650" b="1">
                <a:solidFill>
                  <a:srgbClr val="356B56"/>
                </a:solidFill>
                <a:latin typeface="Arial"/>
                <a:ea typeface="Arial"/>
                <a:cs typeface="Arial"/>
              </a:defRPr>
            </a:pPr>
            <a:r>
              <a:rPr sz="1650" b="1">
                <a:solidFill>
                  <a:srgbClr val="356B56"/>
                </a:solidFill>
                <a:latin typeface="Arial"/>
                <a:ea typeface="Arial"/>
                <a:cs typeface="Arial"/>
              </a:rPr>
              <a:t>business rules • validation • writes</a:t>
            </a:r>
          </a:p>
        </p:txBody>
      </p:sp>
      <p:sp>
        <p:nvSpPr>
          <p:cNvPr id="9" name="矩形: 圆角 8">
            <a:extLst>
              <a:ext uri="{FF2B5EF4-FFF2-40B4-BE49-F238E27FC236}">
                <a16:creationId xmlns:a16="http://schemas.microsoft.com/office/drawing/2014/main" id="{03D1E896-E34C-4A86-95F2-072A8F6B8C1D}"/>
              </a:ext>
            </a:extLst>
          </p:cNvPr>
          <p:cNvSpPr>
            <a:spLocks noGrp="1"/>
          </p:cNvSpPr>
          <p:nvPr/>
        </p:nvSpPr>
        <p:spPr>
          <a:xfrm>
            <a:off x="7810500" y="1600200"/>
            <a:ext cx="3295650" cy="1009650"/>
          </a:xfrm>
          <a:prstGeom prst="roundRect">
            <a:avLst>
              <a:gd name="adj" fmla="val 13208"/>
            </a:avLst>
          </a:prstGeom>
          <a:solidFill>
            <a:srgbClr val="F1F6F3"/>
          </a:solidFill>
          <a:ln w="12383">
            <a:solidFill>
              <a:srgbClr val="4F806B"/>
            </a:solidFill>
            <a:prstDash val="solid"/>
          </a:ln>
        </p:spPr>
        <p:txBody>
          <a:bodyPr wrap="square" lIns="114300" tIns="95250" rIns="114300" bIns="95250" anchor="ctr">
            <a:noAutofit/>
          </a:bodyPr>
          <a:lstStyle/>
          <a:p>
            <a:pPr algn="ctr">
              <a:lnSpc>
                <a:spcPct val="100000"/>
              </a:lnSpc>
              <a:buNone/>
              <a:defRPr sz="1725" b="1">
                <a:solidFill>
                  <a:srgbClr val="356B56"/>
                </a:solidFill>
                <a:latin typeface="Arial"/>
                <a:ea typeface="Arial"/>
                <a:cs typeface="Arial"/>
              </a:defRPr>
            </a:pPr>
            <a:r>
              <a:rPr sz="1725" b="1">
                <a:solidFill>
                  <a:srgbClr val="356B56"/>
                </a:solidFill>
                <a:latin typeface="Arial"/>
                <a:ea typeface="Arial"/>
                <a:cs typeface="Arial"/>
              </a:rPr>
              <a:t>Private FastAPI</a:t>
            </a:r>
          </a:p>
          <a:p>
            <a:pPr algn="ctr">
              <a:lnSpc>
                <a:spcPct val="100000"/>
              </a:lnSpc>
              <a:buNone/>
              <a:defRPr sz="1725" b="1">
                <a:solidFill>
                  <a:srgbClr val="356B56"/>
                </a:solidFill>
                <a:latin typeface="Arial"/>
                <a:ea typeface="Arial"/>
                <a:cs typeface="Arial"/>
              </a:defRPr>
            </a:pPr>
            <a:r>
              <a:rPr sz="1725" b="1">
                <a:solidFill>
                  <a:srgbClr val="356B56"/>
                </a:solidFill>
                <a:latin typeface="Arial"/>
                <a:ea typeface="Arial"/>
                <a:cs typeface="Arial"/>
              </a:rPr>
              <a:t>Five Agents + Hybrid ML</a:t>
            </a:r>
          </a:p>
        </p:txBody>
      </p:sp>
      <p:sp>
        <p:nvSpPr>
          <p:cNvPr id="10" name="矩形: 圆角 9">
            <a:extLst>
              <a:ext uri="{FF2B5EF4-FFF2-40B4-BE49-F238E27FC236}">
                <a16:creationId xmlns:a16="http://schemas.microsoft.com/office/drawing/2014/main" id="{1A330449-D606-4817-89A4-893D94185C6C}"/>
              </a:ext>
            </a:extLst>
          </p:cNvPr>
          <p:cNvSpPr>
            <a:spLocks noGrp="1"/>
          </p:cNvSpPr>
          <p:nvPr/>
        </p:nvSpPr>
        <p:spPr>
          <a:xfrm>
            <a:off x="7810500" y="3162300"/>
            <a:ext cx="3295650" cy="1009650"/>
          </a:xfrm>
          <a:prstGeom prst="roundRect">
            <a:avLst>
              <a:gd name="adj" fmla="val 13208"/>
            </a:avLst>
          </a:prstGeom>
          <a:solidFill>
            <a:srgbClr val="F4E8E1"/>
          </a:solidFill>
          <a:ln w="12383">
            <a:solidFill>
              <a:srgbClr val="B86143"/>
            </a:solidFill>
            <a:prstDash val="solid"/>
          </a:ln>
        </p:spPr>
        <p:txBody>
          <a:bodyPr wrap="square" lIns="114300" tIns="95250" rIns="114300" bIns="95250" anchor="ctr">
            <a:noAutofit/>
          </a:bodyPr>
          <a:lstStyle/>
          <a:p>
            <a:pPr algn="ctr">
              <a:lnSpc>
                <a:spcPct val="100000"/>
              </a:lnSpc>
              <a:buNone/>
              <a:defRPr sz="1650" b="1">
                <a:solidFill>
                  <a:srgbClr val="B86143"/>
                </a:solidFill>
                <a:latin typeface="Arial"/>
                <a:ea typeface="Arial"/>
                <a:cs typeface="Arial"/>
              </a:defRPr>
            </a:pPr>
            <a:r>
              <a:rPr sz="1650" b="1">
                <a:solidFill>
                  <a:srgbClr val="B86143"/>
                </a:solidFill>
                <a:latin typeface="Arial"/>
                <a:ea typeface="Arial"/>
                <a:cs typeface="Arial"/>
              </a:rPr>
              <a:t>PostgreSQL</a:t>
            </a:r>
          </a:p>
        </p:txBody>
      </p:sp>
      <p:cxnSp>
        <p:nvCxnSpPr>
          <p:cNvPr id="58" name="连接符: 肘形 29"/>
          <p:cNvCxnSpPr>
            <a:stCxn id="6" idx="3"/>
            <a:endCxn id="8" idx="1"/>
          </p:cNvCxnSpPr>
          <p:nvPr/>
        </p:nvCxnSpPr>
        <p:spPr>
          <a:xfrm>
            <a:off x="2724150" y="2209800"/>
            <a:ext cx="914400" cy="695325"/>
          </a:xfrm>
          <a:prstGeom prst="bentConnector3">
            <a:avLst>
              <a:gd name="adj1" fmla="val 50000"/>
            </a:avLst>
          </a:prstGeom>
          <a:ln w="19050">
            <a:solidFill>
              <a:srgbClr val="4F806B"/>
            </a:solidFill>
            <a:prstDash val="solid"/>
            <a:tailEnd type="arrow" w="sm" len="sm"/>
          </a:ln>
        </p:spPr>
      </p:cxnSp>
      <p:cxnSp>
        <p:nvCxnSpPr>
          <p:cNvPr id="59" name="连接符: 肘形 30"/>
          <p:cNvCxnSpPr>
            <a:stCxn id="7" idx="3"/>
            <a:endCxn id="8" idx="1"/>
          </p:cNvCxnSpPr>
          <p:nvPr/>
        </p:nvCxnSpPr>
        <p:spPr>
          <a:xfrm flipV="1">
            <a:off x="2724150" y="2905125"/>
            <a:ext cx="914400" cy="619125"/>
          </a:xfrm>
          <a:prstGeom prst="bentConnector3">
            <a:avLst>
              <a:gd name="adj1" fmla="val 50000"/>
            </a:avLst>
          </a:prstGeom>
          <a:ln w="19050">
            <a:solidFill>
              <a:srgbClr val="4F806B"/>
            </a:solidFill>
            <a:prstDash val="solid"/>
            <a:tailEnd type="arrow" w="sm" len="sm"/>
          </a:ln>
        </p:spPr>
      </p:cxnSp>
      <p:cxnSp>
        <p:nvCxnSpPr>
          <p:cNvPr id="60" name="连接符: 肘形 31"/>
          <p:cNvCxnSpPr>
            <a:stCxn id="8" idx="3"/>
            <a:endCxn id="9" idx="1"/>
          </p:cNvCxnSpPr>
          <p:nvPr/>
        </p:nvCxnSpPr>
        <p:spPr>
          <a:xfrm flipV="1">
            <a:off x="6877050" y="2105025"/>
            <a:ext cx="933450" cy="800100"/>
          </a:xfrm>
          <a:prstGeom prst="bentConnector3">
            <a:avLst>
              <a:gd name="adj1" fmla="val 50000"/>
            </a:avLst>
          </a:prstGeom>
          <a:ln w="19050">
            <a:solidFill>
              <a:srgbClr val="4F806B"/>
            </a:solidFill>
            <a:prstDash val="solid"/>
            <a:tailEnd type="arrow" w="sm" len="sm"/>
          </a:ln>
        </p:spPr>
      </p:cxnSp>
      <p:cxnSp>
        <p:nvCxnSpPr>
          <p:cNvPr id="61" name="连接符: 肘形 32"/>
          <p:cNvCxnSpPr>
            <a:stCxn id="8" idx="3"/>
            <a:endCxn id="10" idx="1"/>
          </p:cNvCxnSpPr>
          <p:nvPr/>
        </p:nvCxnSpPr>
        <p:spPr>
          <a:xfrm>
            <a:off x="6877050" y="2905125"/>
            <a:ext cx="933450" cy="762000"/>
          </a:xfrm>
          <a:prstGeom prst="bentConnector3">
            <a:avLst>
              <a:gd name="adj1" fmla="val 50000"/>
            </a:avLst>
          </a:prstGeom>
          <a:ln w="19050">
            <a:solidFill>
              <a:srgbClr val="B86143"/>
            </a:solidFill>
            <a:prstDash val="solid"/>
            <a:tailEnd type="arrow" w="sm" len="sm"/>
          </a:ln>
        </p:spPr>
      </p:cxnSp>
      <p:sp>
        <p:nvSpPr>
          <p:cNvPr id="15" name="矩形 14">
            <a:extLst>
              <a:ext uri="{FF2B5EF4-FFF2-40B4-BE49-F238E27FC236}">
                <a16:creationId xmlns:a16="http://schemas.microsoft.com/office/drawing/2014/main" id="{6397FA86-440F-45F2-8D03-B3B7C0813528}"/>
              </a:ext>
            </a:extLst>
          </p:cNvPr>
          <p:cNvSpPr>
            <a:spLocks noGrp="1"/>
          </p:cNvSpPr>
          <p:nvPr/>
        </p:nvSpPr>
        <p:spPr>
          <a:xfrm>
            <a:off x="666750" y="4762500"/>
            <a:ext cx="1714500" cy="2857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192526"/>
                </a:solidFill>
                <a:latin typeface="Arial"/>
                <a:ea typeface="Arial"/>
                <a:cs typeface="Arial"/>
              </a:defRPr>
            </a:pPr>
            <a:r>
              <a:rPr sz="1650" b="1" i="0">
                <a:solidFill>
                  <a:srgbClr val="192526"/>
                </a:solidFill>
                <a:latin typeface="Arial"/>
                <a:ea typeface="Arial"/>
                <a:cs typeface="Arial"/>
              </a:rPr>
              <a:t>Guardrails</a:t>
            </a:r>
          </a:p>
        </p:txBody>
      </p:sp>
      <p:sp>
        <p:nvSpPr>
          <p:cNvPr id="16" name="矩形 15">
            <a:extLst>
              <a:ext uri="{FF2B5EF4-FFF2-40B4-BE49-F238E27FC236}">
                <a16:creationId xmlns:a16="http://schemas.microsoft.com/office/drawing/2014/main" id="{B9D5D3AB-411B-4786-A847-A6AA5F538962}"/>
              </a:ext>
            </a:extLst>
          </p:cNvPr>
          <p:cNvSpPr>
            <a:spLocks noGrp="1"/>
          </p:cNvSpPr>
          <p:nvPr/>
        </p:nvSpPr>
        <p:spPr>
          <a:xfrm>
            <a:off x="666750" y="5143500"/>
            <a:ext cx="5334000" cy="933450"/>
          </a:xfrm>
          <a:prstGeom prst="rect">
            <a:avLst/>
          </a:prstGeom>
          <a:noFill/>
          <a:ln w="0">
            <a:noFill/>
            <a:prstDash val="solid"/>
          </a:ln>
        </p:spPr>
        <p:txBody>
          <a:bodyPr wrap="square" lIns="0" tIns="0" rIns="0" bIns="0" anchor="t">
            <a:noAutofit/>
          </a:bodyPr>
          <a:lstStyle/>
          <a:p>
            <a:pPr algn="l">
              <a:lnSpc>
                <a:spcPct val="125000"/>
              </a:lnSpc>
              <a:buNone/>
              <a:defRPr sz="1500" b="0" i="0">
                <a:solidFill>
                  <a:srgbClr val="667174"/>
                </a:solidFill>
                <a:latin typeface="Arial"/>
                <a:ea typeface="Arial"/>
                <a:cs typeface="Arial"/>
              </a:defRPr>
            </a:pPr>
            <a:r>
              <a:rPr sz="1500" b="0" i="0">
                <a:solidFill>
                  <a:srgbClr val="667174"/>
                </a:solidFill>
                <a:latin typeface="Arial"/>
                <a:ea typeface="Arial"/>
                <a:cs typeface="Arial"/>
              </a:rPr>
              <a:t>• Spring Boot authorises every context</a:t>
            </a:r>
          </a:p>
          <a:p>
            <a:pPr algn="l">
              <a:lnSpc>
                <a:spcPct val="125000"/>
              </a:lnSpc>
              <a:buNone/>
              <a:defRPr sz="1500" b="0" i="0">
                <a:solidFill>
                  <a:srgbClr val="667174"/>
                </a:solidFill>
                <a:latin typeface="Arial"/>
                <a:ea typeface="Arial"/>
                <a:cs typeface="Arial"/>
              </a:defRPr>
            </a:pPr>
            <a:r>
              <a:rPr sz="1500" b="0" i="0">
                <a:solidFill>
                  <a:srgbClr val="667174"/>
                </a:solidFill>
                <a:latin typeface="Arial"/>
                <a:ea typeface="Arial"/>
                <a:cs typeface="Arial"/>
              </a:rPr>
              <a:t>• Agents use allow-listed tools</a:t>
            </a:r>
          </a:p>
          <a:p>
            <a:pPr algn="l">
              <a:lnSpc>
                <a:spcPct val="125000"/>
              </a:lnSpc>
              <a:buNone/>
              <a:defRPr sz="1500" b="0" i="0">
                <a:solidFill>
                  <a:srgbClr val="667174"/>
                </a:solidFill>
                <a:latin typeface="Arial"/>
                <a:ea typeface="Arial"/>
                <a:cs typeface="Arial"/>
              </a:defRPr>
            </a:pPr>
            <a:r>
              <a:rPr sz="1500" b="0" i="0">
                <a:solidFill>
                  <a:srgbClr val="667174"/>
                </a:solidFill>
                <a:latin typeface="Arial"/>
                <a:ea typeface="Arial"/>
                <a:cs typeface="Arial"/>
              </a:rPr>
              <a:t>• No direct Agent-to-database access</a:t>
            </a:r>
          </a:p>
        </p:txBody>
      </p:sp>
      <p:sp>
        <p:nvSpPr>
          <p:cNvPr id="17" name="矩形 16">
            <a:extLst>
              <a:ext uri="{FF2B5EF4-FFF2-40B4-BE49-F238E27FC236}">
                <a16:creationId xmlns:a16="http://schemas.microsoft.com/office/drawing/2014/main" id="{A30A1EE4-2CA3-47D6-883C-A8D401AAC1EC}"/>
              </a:ext>
            </a:extLst>
          </p:cNvPr>
          <p:cNvSpPr>
            <a:spLocks noGrp="1"/>
          </p:cNvSpPr>
          <p:nvPr/>
        </p:nvSpPr>
        <p:spPr>
          <a:xfrm>
            <a:off x="6838950" y="4762500"/>
            <a:ext cx="1714500" cy="2857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192526"/>
                </a:solidFill>
                <a:latin typeface="Arial"/>
                <a:ea typeface="Arial"/>
                <a:cs typeface="Arial"/>
              </a:defRPr>
            </a:pPr>
            <a:r>
              <a:rPr sz="1650" b="1" i="0">
                <a:solidFill>
                  <a:srgbClr val="192526"/>
                </a:solidFill>
                <a:latin typeface="Arial"/>
                <a:ea typeface="Arial"/>
                <a:cs typeface="Arial"/>
              </a:rPr>
              <a:t>Deployment</a:t>
            </a:r>
          </a:p>
        </p:txBody>
      </p:sp>
      <p:sp>
        <p:nvSpPr>
          <p:cNvPr id="18" name="矩形 17">
            <a:extLst>
              <a:ext uri="{FF2B5EF4-FFF2-40B4-BE49-F238E27FC236}">
                <a16:creationId xmlns:a16="http://schemas.microsoft.com/office/drawing/2014/main" id="{CC5091CA-090F-44C8-84B4-59C645802CE4}"/>
              </a:ext>
            </a:extLst>
          </p:cNvPr>
          <p:cNvSpPr>
            <a:spLocks noGrp="1"/>
          </p:cNvSpPr>
          <p:nvPr/>
        </p:nvSpPr>
        <p:spPr>
          <a:xfrm>
            <a:off x="6838950" y="5219700"/>
            <a:ext cx="4267200" cy="323850"/>
          </a:xfrm>
          <a:prstGeom prst="rect">
            <a:avLst/>
          </a:prstGeom>
          <a:noFill/>
          <a:ln w="0">
            <a:noFill/>
            <a:prstDash val="solid"/>
          </a:ln>
        </p:spPr>
        <p:txBody>
          <a:bodyPr wrap="square" lIns="0" tIns="0" rIns="0" bIns="0" anchor="t">
            <a:noAutofit/>
          </a:bodyPr>
          <a:lstStyle/>
          <a:p>
            <a:pPr algn="l">
              <a:lnSpc>
                <a:spcPct val="105000"/>
              </a:lnSpc>
              <a:buNone/>
              <a:defRPr sz="1650" b="1" i="0">
                <a:solidFill>
                  <a:srgbClr val="356B56"/>
                </a:solidFill>
                <a:latin typeface="Arial"/>
                <a:ea typeface="Arial"/>
                <a:cs typeface="Arial"/>
              </a:defRPr>
            </a:pPr>
            <a:r>
              <a:rPr sz="1650" b="1" i="0" dirty="0" err="1">
                <a:solidFill>
                  <a:srgbClr val="356B56"/>
                </a:solidFill>
                <a:latin typeface="Arial"/>
                <a:ea typeface="Arial"/>
                <a:cs typeface="Arial"/>
              </a:rPr>
              <a:t>Vercel</a:t>
            </a:r>
            <a:r>
              <a:rPr sz="1650" b="1" i="0" dirty="0">
                <a:solidFill>
                  <a:srgbClr val="356B56"/>
                </a:solidFill>
                <a:latin typeface="Arial"/>
                <a:ea typeface="Arial"/>
                <a:cs typeface="Arial"/>
              </a:rPr>
              <a:t>  •  ECS Fargate  •  RDS</a:t>
            </a:r>
          </a:p>
        </p:txBody>
      </p:sp>
      <p:sp>
        <p:nvSpPr>
          <p:cNvPr id="19" name="矩形 18">
            <a:extLst>
              <a:ext uri="{FF2B5EF4-FFF2-40B4-BE49-F238E27FC236}">
                <a16:creationId xmlns:a16="http://schemas.microsoft.com/office/drawing/2014/main" id="{C8D86B1E-3B8B-458D-A9F9-E1D2E602078B}"/>
              </a:ext>
            </a:extLst>
          </p:cNvPr>
          <p:cNvSpPr>
            <a:spLocks noGrp="1"/>
          </p:cNvSpPr>
          <p:nvPr/>
        </p:nvSpPr>
        <p:spPr>
          <a:xfrm>
            <a:off x="6838950" y="5619750"/>
            <a:ext cx="3143250" cy="266700"/>
          </a:xfrm>
          <a:prstGeom prst="rect">
            <a:avLst/>
          </a:prstGeom>
          <a:noFill/>
          <a:ln w="0">
            <a:noFill/>
            <a:prstDash val="solid"/>
          </a:ln>
        </p:spPr>
        <p:txBody>
          <a:bodyPr wrap="square" lIns="0" tIns="0" rIns="0" bIns="0" anchor="t">
            <a:noAutofit/>
          </a:bodyPr>
          <a:lstStyle/>
          <a:p>
            <a:pPr algn="l">
              <a:lnSpc>
                <a:spcPct val="105000"/>
              </a:lnSpc>
              <a:buNone/>
              <a:defRPr sz="1425" b="0" i="0">
                <a:solidFill>
                  <a:srgbClr val="667174"/>
                </a:solidFill>
                <a:latin typeface="Arial"/>
                <a:ea typeface="Arial"/>
                <a:cs typeface="Arial"/>
              </a:defRPr>
            </a:pPr>
            <a:r>
              <a:rPr sz="1425" b="0" i="0">
                <a:solidFill>
                  <a:srgbClr val="667174"/>
                </a:solidFill>
                <a:latin typeface="Arial"/>
                <a:ea typeface="Arial"/>
                <a:cs typeface="Arial"/>
              </a:rPr>
              <a:t>FastAPI remains private.</a:t>
            </a:r>
          </a:p>
        </p:txBody>
      </p:sp>
    </p:spTree>
    <p:extLst>
      <p:ext uri="{BB962C8B-B14F-4D97-AF65-F5344CB8AC3E}">
        <p14:creationId xmlns:p14="http://schemas.microsoft.com/office/powerpoint/2010/main" val="374037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Working Features — Web &amp; Android Parity</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11</a:t>
            </a:r>
          </a:p>
        </p:txBody>
      </p:sp>
      <p:sp>
        <p:nvSpPr>
          <p:cNvPr id="8" name="TextBox 7"/>
          <p:cNvSpPr txBox="1"/>
          <p:nvPr/>
        </p:nvSpPr>
        <p:spPr>
          <a:xfrm>
            <a:off x="914400" y="1463040"/>
            <a:ext cx="10332720" cy="3657600"/>
          </a:xfrm>
          <a:prstGeom prst="rect">
            <a:avLst/>
          </a:prstGeom>
          <a:noFill/>
        </p:spPr>
        <p:txBody>
          <a:bodyPr wrap="square" lIns="0" tIns="0" rIns="0" bIns="0" anchor="t">
            <a:spAutoFit/>
          </a:bodyPr>
          <a:lstStyle/>
          <a:p>
            <a:pPr algn="l">
              <a:lnSpc>
                <a:spcPct val="100000"/>
              </a:lnSpc>
              <a:spcBef>
                <a:spcPts val="0"/>
              </a:spcBef>
              <a:spcAft>
                <a:spcPts val="1000"/>
              </a:spcAft>
            </a:pPr>
            <a:r>
              <a:rPr sz="1600" b="1" i="0">
                <a:solidFill>
                  <a:srgbClr val="E8590C"/>
                </a:solidFill>
                <a:latin typeface="Calibri"/>
              </a:rPr>
              <a:t>✓  </a:t>
            </a:r>
            <a:r>
              <a:rPr sz="1600" b="0" i="0">
                <a:solidFill>
                  <a:srgbClr val="1F2937"/>
                </a:solidFill>
                <a:latin typeface="Calibri"/>
              </a:rPr>
              <a:t>Account, authentication (JWT) and preferences</a:t>
            </a:r>
          </a:p>
          <a:p>
            <a:pPr algn="l">
              <a:lnSpc>
                <a:spcPct val="100000"/>
              </a:lnSpc>
              <a:spcBef>
                <a:spcPts val="0"/>
              </a:spcBef>
              <a:spcAft>
                <a:spcPts val="1000"/>
              </a:spcAft>
            </a:pPr>
            <a:r>
              <a:rPr sz="1600" b="1" i="0">
                <a:solidFill>
                  <a:srgbClr val="E8590C"/>
                </a:solidFill>
                <a:latin typeface="Calibri"/>
              </a:rPr>
              <a:t>✓  </a:t>
            </a:r>
            <a:r>
              <a:rPr sz="1600" b="0" i="0">
                <a:solidFill>
                  <a:srgbClr val="1F2937"/>
                </a:solidFill>
                <a:latin typeface="Calibri"/>
              </a:rPr>
              <a:t>Food &amp; drink posts, personal history and filtering</a:t>
            </a:r>
          </a:p>
          <a:p>
            <a:pPr algn="l">
              <a:lnSpc>
                <a:spcPct val="100000"/>
              </a:lnSpc>
              <a:spcBef>
                <a:spcPts val="0"/>
              </a:spcBef>
              <a:spcAft>
                <a:spcPts val="1000"/>
              </a:spcAft>
            </a:pPr>
            <a:r>
              <a:rPr sz="1600" b="1" i="0">
                <a:solidFill>
                  <a:srgbClr val="E8590C"/>
                </a:solidFill>
                <a:latin typeface="Calibri"/>
              </a:rPr>
              <a:t>✓  </a:t>
            </a:r>
            <a:r>
              <a:rPr sz="1600" b="0" i="0">
                <a:solidFill>
                  <a:srgbClr val="1F2937"/>
                </a:solidFill>
                <a:latin typeface="Calibri"/>
              </a:rPr>
              <a:t>Groups, group feed and Want to Try</a:t>
            </a:r>
          </a:p>
          <a:p>
            <a:pPr algn="l">
              <a:lnSpc>
                <a:spcPct val="100000"/>
              </a:lnSpc>
              <a:spcBef>
                <a:spcPts val="0"/>
              </a:spcBef>
              <a:spcAft>
                <a:spcPts val="1000"/>
              </a:spcAft>
            </a:pPr>
            <a:r>
              <a:rPr sz="1600" b="1" i="0">
                <a:solidFill>
                  <a:srgbClr val="E8590C"/>
                </a:solidFill>
                <a:latin typeface="Calibri"/>
              </a:rPr>
              <a:t>✓  </a:t>
            </a:r>
            <a:r>
              <a:rPr sz="1600" b="0" i="0">
                <a:solidFill>
                  <a:srgbClr val="1F2937"/>
                </a:solidFill>
                <a:latin typeface="Calibri"/>
              </a:rPr>
              <a:t>Generate recommendation, lead result, try-another, feedback</a:t>
            </a:r>
          </a:p>
          <a:p>
            <a:pPr algn="l">
              <a:lnSpc>
                <a:spcPct val="100000"/>
              </a:lnSpc>
              <a:spcBef>
                <a:spcPts val="0"/>
              </a:spcBef>
              <a:spcAft>
                <a:spcPts val="1000"/>
              </a:spcAft>
            </a:pPr>
            <a:r>
              <a:rPr sz="1600" b="1" i="0">
                <a:solidFill>
                  <a:srgbClr val="E8590C"/>
                </a:solidFill>
                <a:latin typeface="Calibri"/>
              </a:rPr>
              <a:t>✓  </a:t>
            </a:r>
            <a:r>
              <a:rPr sz="1600" b="0" i="0">
                <a:solidFill>
                  <a:srgbClr val="1F2937"/>
                </a:solidFill>
                <a:latin typeface="Calibri"/>
              </a:rPr>
              <a:t>Cooking plan with ingredients, steps and warnings</a:t>
            </a:r>
          </a:p>
          <a:p>
            <a:pPr algn="l">
              <a:lnSpc>
                <a:spcPct val="100000"/>
              </a:lnSpc>
              <a:spcBef>
                <a:spcPts val="0"/>
              </a:spcBef>
              <a:spcAft>
                <a:spcPts val="1000"/>
              </a:spcAft>
            </a:pPr>
            <a:r>
              <a:rPr sz="1600" b="1" i="0">
                <a:solidFill>
                  <a:srgbClr val="E8590C"/>
                </a:solidFill>
                <a:latin typeface="Calibri"/>
              </a:rPr>
              <a:t>✓  </a:t>
            </a:r>
            <a:r>
              <a:rPr sz="1600" b="0" i="0">
                <a:solidFill>
                  <a:srgbClr val="1F2937"/>
                </a:solidFill>
                <a:latin typeface="Calibri"/>
              </a:rPr>
              <a:t>Independent chatbot: search, summary and comparison</a:t>
            </a:r>
          </a:p>
          <a:p>
            <a:pPr algn="l">
              <a:lnSpc>
                <a:spcPct val="100000"/>
              </a:lnSpc>
              <a:spcBef>
                <a:spcPts val="0"/>
              </a:spcBef>
              <a:spcAft>
                <a:spcPts val="1000"/>
              </a:spcAft>
            </a:pPr>
            <a:r>
              <a:rPr sz="1600" b="1" i="0">
                <a:solidFill>
                  <a:srgbClr val="E8590C"/>
                </a:solidFill>
                <a:latin typeface="Calibri"/>
              </a:rPr>
              <a:t>✓  </a:t>
            </a:r>
            <a:r>
              <a:rPr sz="1600" b="0" i="0">
                <a:solidFill>
                  <a:srgbClr val="1F2937"/>
                </a:solidFill>
                <a:latin typeface="Calibri"/>
              </a:rPr>
              <a:t>Dashboard (live charts) and weekly recap</a:t>
            </a:r>
          </a:p>
        </p:txBody>
      </p:sp>
      <p:sp>
        <p:nvSpPr>
          <p:cNvPr id="9" name="TextBox 8"/>
          <p:cNvSpPr txBox="1"/>
          <p:nvPr/>
        </p:nvSpPr>
        <p:spPr>
          <a:xfrm>
            <a:off x="914400" y="5486400"/>
            <a:ext cx="10332720" cy="731520"/>
          </a:xfrm>
          <a:prstGeom prst="rect">
            <a:avLst/>
          </a:prstGeom>
          <a:noFill/>
        </p:spPr>
        <p:txBody>
          <a:bodyPr wrap="square" lIns="0" tIns="0" rIns="0" bIns="0" anchor="t">
            <a:spAutoFit/>
          </a:bodyPr>
          <a:lstStyle/>
          <a:p>
            <a:pPr algn="l">
              <a:lnSpc>
                <a:spcPct val="100000"/>
              </a:lnSpc>
              <a:spcBef>
                <a:spcPts val="0"/>
              </a:spcBef>
              <a:spcAft>
                <a:spcPts val="600"/>
              </a:spcAft>
            </a:pPr>
            <a:r>
              <a:rPr sz="1300" b="0" i="1">
                <a:solidFill>
                  <a:srgbClr val="5B6472"/>
                </a:solidFill>
                <a:latin typeface="Calibri"/>
              </a:rPr>
              <a:t>Working-feature screenshots and the demonstration recording are submitted as separate deliverables.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dirty="0">
                <a:solidFill>
                  <a:srgbClr val="1F2937"/>
                </a:solidFill>
                <a:latin typeface="Calibri"/>
              </a:rPr>
              <a:t>Data </a:t>
            </a:r>
            <a:r>
              <a:rPr sz="2700" b="1" i="0" dirty="0" err="1">
                <a:solidFill>
                  <a:srgbClr val="1F2937"/>
                </a:solidFill>
                <a:latin typeface="Calibri"/>
              </a:rPr>
              <a:t>Visualisation</a:t>
            </a:r>
            <a:r>
              <a:rPr sz="2700" b="1" i="0" dirty="0">
                <a:solidFill>
                  <a:srgbClr val="1F2937"/>
                </a:solidFill>
                <a:latin typeface="Calibri"/>
              </a:rPr>
              <a:t> &amp; Weekly Recap</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12</a:t>
            </a:r>
          </a:p>
        </p:txBody>
      </p:sp>
      <p:sp>
        <p:nvSpPr>
          <p:cNvPr id="8" name="Rectangle 7"/>
          <p:cNvSpPr/>
          <p:nvPr/>
        </p:nvSpPr>
        <p:spPr>
          <a:xfrm>
            <a:off x="502920" y="1371600"/>
            <a:ext cx="5486400" cy="42062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371600"/>
            <a:ext cx="5486400" cy="82296"/>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600200"/>
            <a:ext cx="4937760" cy="548640"/>
          </a:xfrm>
          <a:prstGeom prst="rect">
            <a:avLst/>
          </a:prstGeom>
          <a:noFill/>
        </p:spPr>
        <p:txBody>
          <a:bodyPr wrap="square" lIns="0" tIns="0" rIns="0" bIns="0" anchor="t">
            <a:spAutoFit/>
          </a:bodyPr>
          <a:lstStyle/>
          <a:p>
            <a:pPr algn="l">
              <a:lnSpc>
                <a:spcPct val="100000"/>
              </a:lnSpc>
              <a:spcBef>
                <a:spcPts val="0"/>
              </a:spcBef>
              <a:spcAft>
                <a:spcPts val="600"/>
              </a:spcAft>
            </a:pPr>
            <a:r>
              <a:rPr sz="1900" b="1" i="0" dirty="0">
                <a:solidFill>
                  <a:srgbClr val="1F2937"/>
                </a:solidFill>
                <a:latin typeface="Calibri"/>
              </a:rPr>
              <a:t>Live Dashboard</a:t>
            </a:r>
          </a:p>
        </p:txBody>
      </p:sp>
      <p:sp>
        <p:nvSpPr>
          <p:cNvPr id="11" name="TextBox 10"/>
          <p:cNvSpPr txBox="1"/>
          <p:nvPr/>
        </p:nvSpPr>
        <p:spPr>
          <a:xfrm>
            <a:off x="777240" y="2240280"/>
            <a:ext cx="4937760" cy="3108960"/>
          </a:xfrm>
          <a:prstGeom prst="rect">
            <a:avLst/>
          </a:prstGeom>
          <a:noFill/>
        </p:spPr>
        <p:txBody>
          <a:bodyPr wrap="square" lIns="0" tIns="0" rIns="0" bIns="0" anchor="t">
            <a:spAutoFit/>
          </a:bodyPr>
          <a:lstStyle/>
          <a:p>
            <a:pPr algn="l">
              <a:lnSpc>
                <a:spcPct val="100000"/>
              </a:lnSpc>
              <a:spcBef>
                <a:spcPts val="0"/>
              </a:spcBef>
              <a:spcAft>
                <a:spcPts val="600"/>
              </a:spcAft>
            </a:pPr>
            <a:r>
              <a:rPr sz="1400" b="1" i="0">
                <a:solidFill>
                  <a:srgbClr val="1F2937"/>
                </a:solidFill>
                <a:latin typeface="Calibri"/>
              </a:rPr>
              <a:t>•  Bar, pie and line charts (Vico on Android, Recharts on Web).</a:t>
            </a:r>
          </a:p>
          <a:p>
            <a:pPr algn="l">
              <a:lnSpc>
                <a:spcPct val="100000"/>
              </a:lnSpc>
              <a:spcBef>
                <a:spcPts val="0"/>
              </a:spcBef>
              <a:spcAft>
                <a:spcPts val="600"/>
              </a:spcAft>
            </a:pPr>
            <a:r>
              <a:rPr sz="1400" b="1" i="0">
                <a:solidFill>
                  <a:srgbClr val="1F2937"/>
                </a:solidFill>
                <a:latin typeface="Calibri"/>
              </a:rPr>
              <a:t>•  Meal/drink frequency, cuisine mix, spending, ratings, repetition, recommendation outcomes.</a:t>
            </a:r>
          </a:p>
          <a:p>
            <a:pPr algn="l">
              <a:lnSpc>
                <a:spcPct val="100000"/>
              </a:lnSpc>
              <a:spcBef>
                <a:spcPts val="0"/>
              </a:spcBef>
              <a:spcAft>
                <a:spcPts val="600"/>
              </a:spcAft>
            </a:pPr>
            <a:r>
              <a:rPr sz="1400" b="1" i="0">
                <a:solidFill>
                  <a:srgbClr val="1F2937"/>
                </a:solidFill>
                <a:latin typeface="Calibri"/>
              </a:rPr>
              <a:t>•  Computed from source records — not a competing system of record.</a:t>
            </a:r>
          </a:p>
        </p:txBody>
      </p:sp>
      <p:sp>
        <p:nvSpPr>
          <p:cNvPr id="12" name="Rectangle 11"/>
          <p:cNvSpPr/>
          <p:nvPr/>
        </p:nvSpPr>
        <p:spPr>
          <a:xfrm>
            <a:off x="6263640" y="1371600"/>
            <a:ext cx="5486400" cy="42062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371600"/>
            <a:ext cx="5486400" cy="82296"/>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1600200"/>
            <a:ext cx="4937760" cy="548640"/>
          </a:xfrm>
          <a:prstGeom prst="rect">
            <a:avLst/>
          </a:prstGeom>
          <a:noFill/>
        </p:spPr>
        <p:txBody>
          <a:bodyPr wrap="square" lIns="0" tIns="0" rIns="0" bIns="0" anchor="t">
            <a:spAutoFit/>
          </a:bodyPr>
          <a:lstStyle/>
          <a:p>
            <a:pPr algn="l">
              <a:lnSpc>
                <a:spcPct val="100000"/>
              </a:lnSpc>
              <a:spcBef>
                <a:spcPts val="0"/>
              </a:spcBef>
              <a:spcAft>
                <a:spcPts val="600"/>
              </a:spcAft>
            </a:pPr>
            <a:r>
              <a:rPr sz="1900" b="1" i="0" dirty="0">
                <a:solidFill>
                  <a:srgbClr val="1F2937"/>
                </a:solidFill>
                <a:latin typeface="Calibri"/>
              </a:rPr>
              <a:t>Weekly Recap</a:t>
            </a:r>
          </a:p>
        </p:txBody>
      </p:sp>
      <p:sp>
        <p:nvSpPr>
          <p:cNvPr id="15" name="TextBox 14"/>
          <p:cNvSpPr txBox="1"/>
          <p:nvPr/>
        </p:nvSpPr>
        <p:spPr>
          <a:xfrm>
            <a:off x="6537960" y="2240280"/>
            <a:ext cx="4937760" cy="3108960"/>
          </a:xfrm>
          <a:prstGeom prst="rect">
            <a:avLst/>
          </a:prstGeom>
          <a:noFill/>
        </p:spPr>
        <p:txBody>
          <a:bodyPr wrap="square" lIns="0" tIns="0" rIns="0" bIns="0" anchor="t">
            <a:spAutoFit/>
          </a:bodyPr>
          <a:lstStyle/>
          <a:p>
            <a:pPr algn="l">
              <a:lnSpc>
                <a:spcPct val="100000"/>
              </a:lnSpc>
              <a:spcBef>
                <a:spcPts val="0"/>
              </a:spcBef>
              <a:spcAft>
                <a:spcPts val="600"/>
              </a:spcAft>
            </a:pPr>
            <a:r>
              <a:rPr sz="1400" b="1" i="0">
                <a:solidFill>
                  <a:srgbClr val="1F2937"/>
                </a:solidFill>
                <a:latin typeface="Calibri"/>
              </a:rPr>
              <a:t>•  A separate, concise periodic report — not a live dashboard.</a:t>
            </a:r>
          </a:p>
          <a:p>
            <a:pPr algn="l">
              <a:lnSpc>
                <a:spcPct val="100000"/>
              </a:lnSpc>
              <a:spcBef>
                <a:spcPts val="0"/>
              </a:spcBef>
              <a:spcAft>
                <a:spcPts val="600"/>
              </a:spcAft>
            </a:pPr>
            <a:r>
              <a:rPr sz="1400" b="1" i="0">
                <a:solidFill>
                  <a:srgbClr val="1F2937"/>
                </a:solidFill>
                <a:latin typeface="Calibri"/>
              </a:rPr>
              <a:t>•  Summarises the week's eating and spending at a glance.</a:t>
            </a:r>
          </a:p>
          <a:p>
            <a:pPr algn="l">
              <a:lnSpc>
                <a:spcPct val="100000"/>
              </a:lnSpc>
              <a:spcBef>
                <a:spcPts val="0"/>
              </a:spcBef>
              <a:spcAft>
                <a:spcPts val="600"/>
              </a:spcAft>
            </a:pPr>
            <a:r>
              <a:rPr sz="1400" b="1" i="0">
                <a:solidFill>
                  <a:srgbClr val="1F2937"/>
                </a:solidFill>
                <a:latin typeface="Calibri"/>
              </a:rPr>
              <a:t>•  Both clients consume identical backend metric definitions.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973D1-8D85-1CFE-D13E-5FFF35D24D5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1DF8B92-790F-965A-E032-33EA105612A9}"/>
              </a:ext>
            </a:extLst>
          </p:cNvPr>
          <p:cNvSpPr txBox="1"/>
          <p:nvPr/>
        </p:nvSpPr>
        <p:spPr>
          <a:xfrm>
            <a:off x="4266589" y="2921168"/>
            <a:ext cx="3658822" cy="1015663"/>
          </a:xfrm>
          <a:prstGeom prst="rect">
            <a:avLst/>
          </a:prstGeom>
          <a:noFill/>
        </p:spPr>
        <p:txBody>
          <a:bodyPr wrap="none" rtlCol="0">
            <a:spAutoFit/>
          </a:bodyPr>
          <a:lstStyle/>
          <a:p>
            <a:r>
              <a:rPr lang="en-SG" altLang="zh-CN" sz="6000" dirty="0" err="1"/>
              <a:t>DevSecOps</a:t>
            </a:r>
            <a:endParaRPr lang="zh-CN" altLang="en-US" sz="6000" dirty="0"/>
          </a:p>
        </p:txBody>
      </p:sp>
    </p:spTree>
    <p:extLst>
      <p:ext uri="{BB962C8B-B14F-4D97-AF65-F5344CB8AC3E}">
        <p14:creationId xmlns:p14="http://schemas.microsoft.com/office/powerpoint/2010/main" val="3320352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dirty="0" err="1">
                <a:solidFill>
                  <a:srgbClr val="1F2937"/>
                </a:solidFill>
                <a:latin typeface="Calibri"/>
              </a:rPr>
              <a:t>DevSecOps</a:t>
            </a:r>
            <a:r>
              <a:rPr sz="2700" b="1" i="0" dirty="0">
                <a:solidFill>
                  <a:srgbClr val="1F2937"/>
                </a:solidFill>
                <a:latin typeface="Calibri"/>
              </a:rPr>
              <a:t> — CI/CD Pipeline</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13</a:t>
            </a:r>
          </a:p>
        </p:txBody>
      </p:sp>
      <p:pic>
        <p:nvPicPr>
          <p:cNvPr id="8" name="Picture 7" descr="cicd.png"/>
          <p:cNvPicPr>
            <a:picLocks noChangeAspect="1"/>
          </p:cNvPicPr>
          <p:nvPr/>
        </p:nvPicPr>
        <p:blipFill>
          <a:blip r:embed="rId2"/>
          <a:stretch>
            <a:fillRect/>
          </a:stretch>
        </p:blipFill>
        <p:spPr>
          <a:xfrm>
            <a:off x="4143221" y="1234440"/>
            <a:ext cx="3875078" cy="3108960"/>
          </a:xfrm>
          <a:prstGeom prst="rect">
            <a:avLst/>
          </a:prstGeom>
        </p:spPr>
      </p:pic>
      <p:sp>
        <p:nvSpPr>
          <p:cNvPr id="9" name="TextBox 8"/>
          <p:cNvSpPr txBox="1"/>
          <p:nvPr/>
        </p:nvSpPr>
        <p:spPr>
          <a:xfrm>
            <a:off x="822960" y="4526280"/>
            <a:ext cx="10515600" cy="182880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1F2937"/>
                </a:solidFill>
                <a:latin typeface="Calibri"/>
              </a:rPr>
              <a:t>•  Backend: mvnw test + committed OpenAPI validation (Testcontainers-backed).</a:t>
            </a:r>
          </a:p>
          <a:p>
            <a:pPr algn="l">
              <a:lnSpc>
                <a:spcPct val="100000"/>
              </a:lnSpc>
              <a:spcBef>
                <a:spcPts val="0"/>
              </a:spcBef>
              <a:spcAft>
                <a:spcPts val="600"/>
              </a:spcAft>
            </a:pPr>
            <a:r>
              <a:rPr sz="1300" b="1" i="0">
                <a:solidFill>
                  <a:srgbClr val="1F2937"/>
                </a:solidFill>
                <a:latin typeface="Calibri"/>
              </a:rPr>
              <a:t>•  Web: lint, typecheck, coverage, production build, security audit, Playwright E2E.</a:t>
            </a:r>
          </a:p>
          <a:p>
            <a:pPr algn="l">
              <a:lnSpc>
                <a:spcPct val="100000"/>
              </a:lnSpc>
              <a:spcBef>
                <a:spcPts val="0"/>
              </a:spcBef>
              <a:spcAft>
                <a:spcPts val="600"/>
              </a:spcAft>
            </a:pPr>
            <a:r>
              <a:rPr sz="1300" b="1" i="0">
                <a:solidFill>
                  <a:srgbClr val="1F2937"/>
                </a:solidFill>
                <a:latin typeface="Calibri"/>
              </a:rPr>
              <a:t>•  Intelligence: five parallel gates — lint/test, contract/security, dependency audit, Gitleaks, Trivy image scan + SBOM.</a:t>
            </a:r>
          </a:p>
          <a:p>
            <a:pPr algn="l">
              <a:lnSpc>
                <a:spcPct val="100000"/>
              </a:lnSpc>
              <a:spcBef>
                <a:spcPts val="0"/>
              </a:spcBef>
              <a:spcAft>
                <a:spcPts val="600"/>
              </a:spcAft>
            </a:pPr>
            <a:r>
              <a:rPr sz="1300" b="1" i="0">
                <a:solidFill>
                  <a:srgbClr val="1F2937"/>
                </a:solidFill>
                <a:latin typeface="Calibri"/>
              </a:rPr>
              <a:t>•  Infra: Compose config validation and full-stack smoke with Backend readiness.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Security Testing Report</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14</a:t>
            </a:r>
          </a:p>
        </p:txBody>
      </p:sp>
      <p:sp>
        <p:nvSpPr>
          <p:cNvPr id="8" name="TextBox 7"/>
          <p:cNvSpPr txBox="1"/>
          <p:nvPr/>
        </p:nvSpPr>
        <p:spPr>
          <a:xfrm>
            <a:off x="822960" y="1371600"/>
            <a:ext cx="10515600" cy="3931920"/>
          </a:xfrm>
          <a:prstGeom prst="rect">
            <a:avLst/>
          </a:prstGeom>
          <a:noFill/>
        </p:spPr>
        <p:txBody>
          <a:bodyPr wrap="square" lIns="0" tIns="0" rIns="0" bIns="0" anchor="t">
            <a:spAutoFit/>
          </a:bodyPr>
          <a:lstStyle/>
          <a:p>
            <a:pPr algn="l">
              <a:lnSpc>
                <a:spcPct val="100000"/>
              </a:lnSpc>
              <a:spcBef>
                <a:spcPts val="0"/>
              </a:spcBef>
              <a:spcAft>
                <a:spcPts val="600"/>
              </a:spcAft>
            </a:pPr>
            <a:r>
              <a:rPr sz="1400" b="1" i="0" dirty="0">
                <a:solidFill>
                  <a:srgbClr val="1F2937"/>
                </a:solidFill>
                <a:latin typeface="Calibri"/>
              </a:rPr>
              <a:t>•  HMAC-SHA256 JWT with refresh-token rotation and theft detection (reuse revokes the token family).</a:t>
            </a:r>
          </a:p>
          <a:p>
            <a:pPr algn="l">
              <a:lnSpc>
                <a:spcPct val="100000"/>
              </a:lnSpc>
              <a:spcBef>
                <a:spcPts val="0"/>
              </a:spcBef>
              <a:spcAft>
                <a:spcPts val="600"/>
              </a:spcAft>
            </a:pPr>
            <a:r>
              <a:rPr sz="1400" b="1" i="0" dirty="0">
                <a:solidFill>
                  <a:srgbClr val="1F2937"/>
                </a:solidFill>
                <a:latin typeface="Calibri"/>
              </a:rPr>
              <a:t>•  </a:t>
            </a:r>
            <a:r>
              <a:rPr sz="1400" b="1" i="0" dirty="0" err="1">
                <a:solidFill>
                  <a:srgbClr val="1F2937"/>
                </a:solidFill>
                <a:latin typeface="Calibri"/>
              </a:rPr>
              <a:t>BCrypt</a:t>
            </a:r>
            <a:r>
              <a:rPr sz="1400" b="1" i="0" dirty="0">
                <a:solidFill>
                  <a:srgbClr val="1F2937"/>
                </a:solidFill>
                <a:latin typeface="Calibri"/>
              </a:rPr>
              <a:t> password hashing; </a:t>
            </a:r>
            <a:r>
              <a:rPr sz="1400" b="1" i="0" dirty="0" err="1">
                <a:solidFill>
                  <a:srgbClr val="1F2937"/>
                </a:solidFill>
                <a:latin typeface="Calibri"/>
              </a:rPr>
              <a:t>HttpOnly</a:t>
            </a:r>
            <a:r>
              <a:rPr sz="1400" b="1" i="0" dirty="0">
                <a:solidFill>
                  <a:srgbClr val="1F2937"/>
                </a:solidFill>
                <a:latin typeface="Calibri"/>
              </a:rPr>
              <a:t>/Secure/</a:t>
            </a:r>
            <a:r>
              <a:rPr sz="1400" b="1" i="0" dirty="0" err="1">
                <a:solidFill>
                  <a:srgbClr val="1F2937"/>
                </a:solidFill>
                <a:latin typeface="Calibri"/>
              </a:rPr>
              <a:t>SameSite</a:t>
            </a:r>
            <a:r>
              <a:rPr sz="1400" b="1" i="0" dirty="0">
                <a:solidFill>
                  <a:srgbClr val="1F2937"/>
                </a:solidFill>
                <a:latin typeface="Calibri"/>
              </a:rPr>
              <a:t> cookies and CSRF token for the Web client.</a:t>
            </a:r>
          </a:p>
          <a:p>
            <a:pPr algn="l">
              <a:lnSpc>
                <a:spcPct val="100000"/>
              </a:lnSpc>
              <a:spcBef>
                <a:spcPts val="0"/>
              </a:spcBef>
              <a:spcAft>
                <a:spcPts val="600"/>
              </a:spcAft>
            </a:pPr>
            <a:r>
              <a:rPr sz="1400" b="1" i="0" dirty="0">
                <a:solidFill>
                  <a:srgbClr val="1F2937"/>
                </a:solidFill>
                <a:latin typeface="Calibri"/>
              </a:rPr>
              <a:t>•  Internal service token for </a:t>
            </a:r>
            <a:r>
              <a:rPr sz="1400" b="1" i="0" dirty="0" err="1">
                <a:solidFill>
                  <a:srgbClr val="1F2937"/>
                </a:solidFill>
                <a:latin typeface="Calibri"/>
              </a:rPr>
              <a:t>FastAPI</a:t>
            </a:r>
            <a:r>
              <a:rPr sz="1400" b="1" i="0" dirty="0">
                <a:solidFill>
                  <a:srgbClr val="1F2937"/>
                </a:solidFill>
                <a:latin typeface="Calibri"/>
              </a:rPr>
              <a:t> agents; scoped delegation tokens for chatbot tools.</a:t>
            </a:r>
          </a:p>
          <a:p>
            <a:pPr algn="l">
              <a:lnSpc>
                <a:spcPct val="100000"/>
              </a:lnSpc>
              <a:spcBef>
                <a:spcPts val="0"/>
              </a:spcBef>
              <a:spcAft>
                <a:spcPts val="600"/>
              </a:spcAft>
            </a:pPr>
            <a:r>
              <a:rPr sz="1400" b="1" i="0" dirty="0">
                <a:solidFill>
                  <a:srgbClr val="1F2937"/>
                </a:solidFill>
                <a:latin typeface="Calibri"/>
              </a:rPr>
              <a:t>•  Database guard triggers and permission-scoped SQL search functions enforce invariants at the data layer.</a:t>
            </a:r>
          </a:p>
          <a:p>
            <a:pPr algn="l">
              <a:lnSpc>
                <a:spcPct val="100000"/>
              </a:lnSpc>
              <a:spcBef>
                <a:spcPts val="0"/>
              </a:spcBef>
              <a:spcAft>
                <a:spcPts val="600"/>
              </a:spcAft>
            </a:pPr>
            <a:r>
              <a:rPr sz="1400" b="1" i="0" dirty="0">
                <a:solidFill>
                  <a:srgbClr val="1F2937"/>
                </a:solidFill>
                <a:latin typeface="Calibri"/>
              </a:rPr>
              <a:t>•  Container image scanning (</a:t>
            </a:r>
            <a:r>
              <a:rPr sz="1400" b="1" i="0" dirty="0" err="1">
                <a:solidFill>
                  <a:srgbClr val="1F2937"/>
                </a:solidFill>
                <a:latin typeface="Calibri"/>
              </a:rPr>
              <a:t>Trivy</a:t>
            </a:r>
            <a:r>
              <a:rPr sz="1400" b="1" i="0" dirty="0">
                <a:solidFill>
                  <a:srgbClr val="1F2937"/>
                </a:solidFill>
                <a:latin typeface="Calibri"/>
              </a:rPr>
              <a:t>), dependency audit, </a:t>
            </a:r>
            <a:r>
              <a:rPr sz="1400" b="1" i="0" dirty="0" err="1">
                <a:solidFill>
                  <a:srgbClr val="1F2937"/>
                </a:solidFill>
                <a:latin typeface="Calibri"/>
              </a:rPr>
              <a:t>licence</a:t>
            </a:r>
            <a:r>
              <a:rPr sz="1400" b="1" i="0" dirty="0">
                <a:solidFill>
                  <a:srgbClr val="1F2937"/>
                </a:solidFill>
                <a:latin typeface="Calibri"/>
              </a:rPr>
              <a:t> inventory and secret scanning (</a:t>
            </a:r>
            <a:r>
              <a:rPr sz="1400" b="1" i="0" dirty="0" err="1">
                <a:solidFill>
                  <a:srgbClr val="1F2937"/>
                </a:solidFill>
                <a:latin typeface="Calibri"/>
              </a:rPr>
              <a:t>Gitleaks</a:t>
            </a:r>
            <a:r>
              <a:rPr sz="1400" b="1" i="0" dirty="0">
                <a:solidFill>
                  <a:srgbClr val="1F2937"/>
                </a:solidFill>
                <a:latin typeface="Calibri"/>
              </a:rPr>
              <a:t>) in CI.</a:t>
            </a:r>
          </a:p>
          <a:p>
            <a:pPr algn="l">
              <a:lnSpc>
                <a:spcPct val="100000"/>
              </a:lnSpc>
              <a:spcBef>
                <a:spcPts val="0"/>
              </a:spcBef>
              <a:spcAft>
                <a:spcPts val="600"/>
              </a:spcAft>
            </a:pPr>
            <a:r>
              <a:rPr sz="1400" b="1" i="0" dirty="0">
                <a:solidFill>
                  <a:srgbClr val="1F2937"/>
                </a:solidFill>
                <a:latin typeface="Calibri"/>
              </a:rPr>
              <a:t>•  Input validation, audit logging and a correlation/trace ID on every response.</a:t>
            </a:r>
          </a:p>
        </p:txBody>
      </p:sp>
      <p:sp>
        <p:nvSpPr>
          <p:cNvPr id="9" name="TextBox 8"/>
          <p:cNvSpPr txBox="1"/>
          <p:nvPr/>
        </p:nvSpPr>
        <p:spPr>
          <a:xfrm>
            <a:off x="822960" y="5486400"/>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1400" b="1" i="0">
                <a:solidFill>
                  <a:srgbClr val="C44607"/>
                </a:solidFill>
                <a:latin typeface="Calibri"/>
              </a:rPr>
              <a:t>Pending evidence:  </a:t>
            </a:r>
            <a:r>
              <a:rPr sz="1400" b="0" i="0">
                <a:solidFill>
                  <a:srgbClr val="1F2937"/>
                </a:solidFill>
                <a:latin typeface="Calibri"/>
              </a:rPr>
              <a:t>OWASP ZAP baseline scan and dedicated authorisation/grounding test reports are to be captured and attached.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Technical Highlights</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15</a:t>
            </a:r>
          </a:p>
        </p:txBody>
      </p:sp>
      <p:sp>
        <p:nvSpPr>
          <p:cNvPr id="8" name="TextBox 7"/>
          <p:cNvSpPr txBox="1"/>
          <p:nvPr/>
        </p:nvSpPr>
        <p:spPr>
          <a:xfrm>
            <a:off x="822960" y="1371600"/>
            <a:ext cx="640080" cy="640080"/>
          </a:xfrm>
          <a:prstGeom prst="rect">
            <a:avLst/>
          </a:prstGeom>
          <a:noFill/>
        </p:spPr>
        <p:txBody>
          <a:bodyPr wrap="square" lIns="0" tIns="0" rIns="0" bIns="0" anchor="t">
            <a:spAutoFit/>
          </a:bodyPr>
          <a:lstStyle/>
          <a:p>
            <a:pPr algn="l">
              <a:lnSpc>
                <a:spcPct val="100000"/>
              </a:lnSpc>
              <a:spcBef>
                <a:spcPts val="0"/>
              </a:spcBef>
              <a:spcAft>
                <a:spcPts val="600"/>
              </a:spcAft>
            </a:pPr>
            <a:r>
              <a:rPr sz="2600" b="1" i="0">
                <a:solidFill>
                  <a:srgbClr val="E8590C"/>
                </a:solidFill>
                <a:latin typeface="Calibri"/>
              </a:rPr>
              <a:t>1</a:t>
            </a:r>
          </a:p>
        </p:txBody>
      </p:sp>
      <p:sp>
        <p:nvSpPr>
          <p:cNvPr id="9" name="TextBox 8"/>
          <p:cNvSpPr txBox="1"/>
          <p:nvPr/>
        </p:nvSpPr>
        <p:spPr>
          <a:xfrm>
            <a:off x="1600200" y="1371600"/>
            <a:ext cx="9784080" cy="548640"/>
          </a:xfrm>
          <a:prstGeom prst="rect">
            <a:avLst/>
          </a:prstGeom>
          <a:noFill/>
        </p:spPr>
        <p:txBody>
          <a:bodyPr wrap="square" lIns="0" tIns="0" rIns="0" bIns="0" anchor="t">
            <a:spAutoFit/>
          </a:bodyPr>
          <a:lstStyle/>
          <a:p>
            <a:pPr algn="l">
              <a:lnSpc>
                <a:spcPct val="100000"/>
              </a:lnSpc>
              <a:spcBef>
                <a:spcPts val="0"/>
              </a:spcBef>
              <a:spcAft>
                <a:spcPts val="600"/>
              </a:spcAft>
            </a:pPr>
            <a:r>
              <a:rPr sz="1800" b="1" i="0">
                <a:solidFill>
                  <a:srgbClr val="1F2937"/>
                </a:solidFill>
                <a:latin typeface="Calibri"/>
              </a:rPr>
              <a:t>Refresh-token rotation &amp; theft detection</a:t>
            </a:r>
          </a:p>
        </p:txBody>
      </p:sp>
      <p:sp>
        <p:nvSpPr>
          <p:cNvPr id="10" name="TextBox 9"/>
          <p:cNvSpPr txBox="1"/>
          <p:nvPr/>
        </p:nvSpPr>
        <p:spPr>
          <a:xfrm>
            <a:off x="1600200" y="1874520"/>
            <a:ext cx="9784080" cy="1005840"/>
          </a:xfrm>
          <a:prstGeom prst="rect">
            <a:avLst/>
          </a:prstGeom>
          <a:noFill/>
        </p:spPr>
        <p:txBody>
          <a:bodyPr wrap="square" lIns="0" tIns="0" rIns="0" bIns="0" anchor="t">
            <a:spAutoFit/>
          </a:bodyPr>
          <a:lstStyle/>
          <a:p>
            <a:pPr algn="l">
              <a:lnSpc>
                <a:spcPct val="100000"/>
              </a:lnSpc>
              <a:spcBef>
                <a:spcPts val="0"/>
              </a:spcBef>
              <a:spcAft>
                <a:spcPts val="600"/>
              </a:spcAft>
            </a:pPr>
            <a:r>
              <a:rPr sz="1400" b="0" i="0">
                <a:solidFill>
                  <a:srgbClr val="5B6472"/>
                </a:solidFill>
                <a:latin typeface="Calibri"/>
              </a:rPr>
              <a:t>Each login creates a token family; a reused or revoked refresh token revokes the whole family, detected at the database level with SELECT FOR UPDATE.</a:t>
            </a:r>
          </a:p>
        </p:txBody>
      </p:sp>
      <p:sp>
        <p:nvSpPr>
          <p:cNvPr id="11" name="TextBox 10"/>
          <p:cNvSpPr txBox="1"/>
          <p:nvPr/>
        </p:nvSpPr>
        <p:spPr>
          <a:xfrm>
            <a:off x="822960" y="3063240"/>
            <a:ext cx="640080" cy="640080"/>
          </a:xfrm>
          <a:prstGeom prst="rect">
            <a:avLst/>
          </a:prstGeom>
          <a:noFill/>
        </p:spPr>
        <p:txBody>
          <a:bodyPr wrap="square" lIns="0" tIns="0" rIns="0" bIns="0" anchor="t">
            <a:spAutoFit/>
          </a:bodyPr>
          <a:lstStyle/>
          <a:p>
            <a:pPr algn="l">
              <a:lnSpc>
                <a:spcPct val="100000"/>
              </a:lnSpc>
              <a:spcBef>
                <a:spcPts val="0"/>
              </a:spcBef>
              <a:spcAft>
                <a:spcPts val="600"/>
              </a:spcAft>
            </a:pPr>
            <a:r>
              <a:rPr sz="2600" b="1" i="0">
                <a:solidFill>
                  <a:srgbClr val="E8590C"/>
                </a:solidFill>
                <a:latin typeface="Calibri"/>
              </a:rPr>
              <a:t>2</a:t>
            </a:r>
          </a:p>
        </p:txBody>
      </p:sp>
      <p:sp>
        <p:nvSpPr>
          <p:cNvPr id="12" name="TextBox 11"/>
          <p:cNvSpPr txBox="1"/>
          <p:nvPr/>
        </p:nvSpPr>
        <p:spPr>
          <a:xfrm>
            <a:off x="1600200" y="3063240"/>
            <a:ext cx="9784080" cy="548640"/>
          </a:xfrm>
          <a:prstGeom prst="rect">
            <a:avLst/>
          </a:prstGeom>
          <a:noFill/>
        </p:spPr>
        <p:txBody>
          <a:bodyPr wrap="square" lIns="0" tIns="0" rIns="0" bIns="0" anchor="t">
            <a:spAutoFit/>
          </a:bodyPr>
          <a:lstStyle/>
          <a:p>
            <a:pPr algn="l">
              <a:lnSpc>
                <a:spcPct val="100000"/>
              </a:lnSpc>
              <a:spcBef>
                <a:spcPts val="0"/>
              </a:spcBef>
              <a:spcAft>
                <a:spcPts val="600"/>
              </a:spcAft>
            </a:pPr>
            <a:r>
              <a:rPr sz="1800" b="1" i="0">
                <a:solidFill>
                  <a:srgbClr val="1F2937"/>
                </a:solidFill>
                <a:latin typeface="Calibri"/>
              </a:rPr>
              <a:t>Permission-aware full-text search</a:t>
            </a:r>
          </a:p>
        </p:txBody>
      </p:sp>
      <p:sp>
        <p:nvSpPr>
          <p:cNvPr id="13" name="TextBox 12"/>
          <p:cNvSpPr txBox="1"/>
          <p:nvPr/>
        </p:nvSpPr>
        <p:spPr>
          <a:xfrm>
            <a:off x="1600200" y="3566160"/>
            <a:ext cx="9784080" cy="1005840"/>
          </a:xfrm>
          <a:prstGeom prst="rect">
            <a:avLst/>
          </a:prstGeom>
          <a:noFill/>
        </p:spPr>
        <p:txBody>
          <a:bodyPr wrap="square" lIns="0" tIns="0" rIns="0" bIns="0" anchor="t">
            <a:spAutoFit/>
          </a:bodyPr>
          <a:lstStyle/>
          <a:p>
            <a:pPr algn="l">
              <a:lnSpc>
                <a:spcPct val="100000"/>
              </a:lnSpc>
              <a:spcBef>
                <a:spcPts val="0"/>
              </a:spcBef>
              <a:spcAft>
                <a:spcPts val="600"/>
              </a:spcAft>
            </a:pPr>
            <a:r>
              <a:rPr sz="1400" b="0" i="0">
                <a:solidFill>
                  <a:srgbClr val="5B6472"/>
                </a:solidFill>
                <a:latin typeface="Calibri"/>
              </a:rPr>
              <a:t>Authorisation is embedded in PostgreSQL tsvector/trigram search functions, so search and Explore only return records the user owns or may see in an active group.</a:t>
            </a:r>
          </a:p>
        </p:txBody>
      </p:sp>
      <p:sp>
        <p:nvSpPr>
          <p:cNvPr id="14" name="TextBox 13"/>
          <p:cNvSpPr txBox="1"/>
          <p:nvPr/>
        </p:nvSpPr>
        <p:spPr>
          <a:xfrm>
            <a:off x="822960" y="4754880"/>
            <a:ext cx="640080" cy="640080"/>
          </a:xfrm>
          <a:prstGeom prst="rect">
            <a:avLst/>
          </a:prstGeom>
          <a:noFill/>
        </p:spPr>
        <p:txBody>
          <a:bodyPr wrap="square" lIns="0" tIns="0" rIns="0" bIns="0" anchor="t">
            <a:spAutoFit/>
          </a:bodyPr>
          <a:lstStyle/>
          <a:p>
            <a:pPr algn="l">
              <a:lnSpc>
                <a:spcPct val="100000"/>
              </a:lnSpc>
              <a:spcBef>
                <a:spcPts val="0"/>
              </a:spcBef>
              <a:spcAft>
                <a:spcPts val="600"/>
              </a:spcAft>
            </a:pPr>
            <a:r>
              <a:rPr sz="2600" b="1" i="0">
                <a:solidFill>
                  <a:srgbClr val="E8590C"/>
                </a:solidFill>
                <a:latin typeface="Calibri"/>
              </a:rPr>
              <a:t>3</a:t>
            </a:r>
          </a:p>
        </p:txBody>
      </p:sp>
      <p:sp>
        <p:nvSpPr>
          <p:cNvPr id="15" name="TextBox 14"/>
          <p:cNvSpPr txBox="1"/>
          <p:nvPr/>
        </p:nvSpPr>
        <p:spPr>
          <a:xfrm>
            <a:off x="1600200" y="4754880"/>
            <a:ext cx="9784080" cy="548640"/>
          </a:xfrm>
          <a:prstGeom prst="rect">
            <a:avLst/>
          </a:prstGeom>
          <a:noFill/>
        </p:spPr>
        <p:txBody>
          <a:bodyPr wrap="square" lIns="0" tIns="0" rIns="0" bIns="0" anchor="t">
            <a:spAutoFit/>
          </a:bodyPr>
          <a:lstStyle/>
          <a:p>
            <a:pPr algn="l">
              <a:lnSpc>
                <a:spcPct val="100000"/>
              </a:lnSpc>
              <a:spcBef>
                <a:spcPts val="0"/>
              </a:spcBef>
              <a:spcAft>
                <a:spcPts val="600"/>
              </a:spcAft>
            </a:pPr>
            <a:r>
              <a:rPr sz="1800" b="1" i="0">
                <a:solidFill>
                  <a:srgbClr val="1F2937"/>
                </a:solidFill>
                <a:latin typeface="Calibri"/>
              </a:rPr>
              <a:t>Contract-validated agents with deterministic fallback</a:t>
            </a:r>
          </a:p>
        </p:txBody>
      </p:sp>
      <p:sp>
        <p:nvSpPr>
          <p:cNvPr id="16" name="TextBox 15"/>
          <p:cNvSpPr txBox="1"/>
          <p:nvPr/>
        </p:nvSpPr>
        <p:spPr>
          <a:xfrm>
            <a:off x="1600200" y="5257800"/>
            <a:ext cx="9784080" cy="1005840"/>
          </a:xfrm>
          <a:prstGeom prst="rect">
            <a:avLst/>
          </a:prstGeom>
          <a:noFill/>
        </p:spPr>
        <p:txBody>
          <a:bodyPr wrap="square" lIns="0" tIns="0" rIns="0" bIns="0" anchor="t">
            <a:spAutoFit/>
          </a:bodyPr>
          <a:lstStyle/>
          <a:p>
            <a:pPr algn="l">
              <a:lnSpc>
                <a:spcPct val="100000"/>
              </a:lnSpc>
              <a:spcBef>
                <a:spcPts val="0"/>
              </a:spcBef>
              <a:spcAft>
                <a:spcPts val="600"/>
              </a:spcAft>
            </a:pPr>
            <a:r>
              <a:rPr sz="1400" b="0" i="0">
                <a:solidFill>
                  <a:srgbClr val="5B6472"/>
                </a:solidFill>
                <a:latin typeface="Calibri"/>
              </a:rPr>
              <a:t>A 13-policy hard-filter pipeline removes invalid meals; agent responses are schema-validated and fall back to a deterministic ranking on any internal failure.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415498"/>
          </a:xfrm>
          <a:prstGeom prst="rect">
            <a:avLst/>
          </a:prstGeom>
          <a:noFill/>
        </p:spPr>
        <p:txBody>
          <a:bodyPr wrap="square" lIns="0" tIns="0" rIns="0" bIns="0" anchor="t">
            <a:spAutoFit/>
          </a:bodyPr>
          <a:lstStyle/>
          <a:p>
            <a:pPr algn="l">
              <a:lnSpc>
                <a:spcPct val="100000"/>
              </a:lnSpc>
              <a:spcBef>
                <a:spcPts val="0"/>
              </a:spcBef>
              <a:spcAft>
                <a:spcPts val="600"/>
              </a:spcAft>
            </a:pPr>
            <a:r>
              <a:rPr sz="2700" b="1" i="0" dirty="0">
                <a:solidFill>
                  <a:srgbClr val="1F2937"/>
                </a:solidFill>
                <a:highlight>
                  <a:srgbClr val="FFFF00"/>
                </a:highlight>
                <a:latin typeface="Calibri"/>
              </a:rPr>
              <a:t>Cloud Deployment</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16</a:t>
            </a:r>
          </a:p>
        </p:txBody>
      </p:sp>
      <p:sp>
        <p:nvSpPr>
          <p:cNvPr id="8" name="Rectangle 7"/>
          <p:cNvSpPr/>
          <p:nvPr/>
        </p:nvSpPr>
        <p:spPr>
          <a:xfrm>
            <a:off x="822960" y="1463040"/>
            <a:ext cx="2377440" cy="9144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463040"/>
            <a:ext cx="2377440"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C44607"/>
                </a:solidFill>
                <a:latin typeface="Calibri"/>
              </a:rPr>
              <a:t>Web</a:t>
            </a:r>
          </a:p>
        </p:txBody>
      </p:sp>
      <p:sp>
        <p:nvSpPr>
          <p:cNvPr id="10" name="TextBox 9"/>
          <p:cNvSpPr txBox="1"/>
          <p:nvPr/>
        </p:nvSpPr>
        <p:spPr>
          <a:xfrm>
            <a:off x="3429000" y="1804824"/>
            <a:ext cx="8229600" cy="230832"/>
          </a:xfrm>
          <a:prstGeom prst="rect">
            <a:avLst/>
          </a:prstGeom>
          <a:noFill/>
        </p:spPr>
        <p:txBody>
          <a:bodyPr wrap="square" lIns="0" tIns="0" rIns="0" bIns="0" anchor="ctr">
            <a:spAutoFit/>
          </a:bodyPr>
          <a:lstStyle/>
          <a:p>
            <a:pPr algn="l">
              <a:lnSpc>
                <a:spcPct val="100000"/>
              </a:lnSpc>
              <a:spcBef>
                <a:spcPts val="0"/>
              </a:spcBef>
              <a:spcAft>
                <a:spcPts val="600"/>
              </a:spcAft>
            </a:pPr>
            <a:r>
              <a:rPr lang="en-US" sz="1500" b="0" i="0" dirty="0">
                <a:solidFill>
                  <a:srgbClr val="FF0000"/>
                </a:solidFill>
                <a:latin typeface="Calibri"/>
              </a:rPr>
              <a:t>AWS</a:t>
            </a:r>
            <a:endParaRPr sz="1500" b="0" i="0" dirty="0">
              <a:solidFill>
                <a:srgbClr val="FF0000"/>
              </a:solidFill>
              <a:latin typeface="Calibri"/>
            </a:endParaRPr>
          </a:p>
        </p:txBody>
      </p:sp>
      <p:sp>
        <p:nvSpPr>
          <p:cNvPr id="11" name="Rectangle 10"/>
          <p:cNvSpPr/>
          <p:nvPr/>
        </p:nvSpPr>
        <p:spPr>
          <a:xfrm>
            <a:off x="822960" y="2606040"/>
            <a:ext cx="2377440" cy="9144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606040"/>
            <a:ext cx="2377440"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C44607"/>
                </a:solidFill>
                <a:latin typeface="Calibri"/>
              </a:rPr>
              <a:t>Backend &amp; Agents</a:t>
            </a:r>
          </a:p>
        </p:txBody>
      </p:sp>
      <p:sp>
        <p:nvSpPr>
          <p:cNvPr id="13" name="TextBox 12"/>
          <p:cNvSpPr txBox="1"/>
          <p:nvPr/>
        </p:nvSpPr>
        <p:spPr>
          <a:xfrm>
            <a:off x="3429000" y="2947824"/>
            <a:ext cx="8229600" cy="230832"/>
          </a:xfrm>
          <a:prstGeom prst="rect">
            <a:avLst/>
          </a:prstGeom>
          <a:noFill/>
        </p:spPr>
        <p:txBody>
          <a:bodyPr wrap="square" lIns="0" tIns="0" rIns="0" bIns="0" anchor="ctr">
            <a:spAutoFit/>
          </a:bodyPr>
          <a:lstStyle/>
          <a:p>
            <a:pPr algn="l">
              <a:lnSpc>
                <a:spcPct val="100000"/>
              </a:lnSpc>
              <a:spcBef>
                <a:spcPts val="0"/>
              </a:spcBef>
              <a:spcAft>
                <a:spcPts val="600"/>
              </a:spcAft>
            </a:pPr>
            <a:r>
              <a:rPr lang="en-US" sz="1500" b="0" i="0" dirty="0">
                <a:solidFill>
                  <a:srgbClr val="1F2937"/>
                </a:solidFill>
                <a:latin typeface="Calibri"/>
              </a:rPr>
              <a:t>AWS</a:t>
            </a:r>
            <a:endParaRPr sz="1500" b="0" i="0" dirty="0">
              <a:solidFill>
                <a:srgbClr val="1F2937"/>
              </a:solidFill>
              <a:latin typeface="Calibri"/>
            </a:endParaRPr>
          </a:p>
        </p:txBody>
      </p:sp>
      <p:sp>
        <p:nvSpPr>
          <p:cNvPr id="14" name="Rectangle 13"/>
          <p:cNvSpPr/>
          <p:nvPr/>
        </p:nvSpPr>
        <p:spPr>
          <a:xfrm>
            <a:off x="822960" y="3749040"/>
            <a:ext cx="2377440" cy="9144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749040"/>
            <a:ext cx="2377440"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a:solidFill>
                  <a:srgbClr val="C44607"/>
                </a:solidFill>
                <a:latin typeface="Calibri"/>
              </a:rPr>
              <a:t>Database</a:t>
            </a:r>
          </a:p>
        </p:txBody>
      </p:sp>
      <p:sp>
        <p:nvSpPr>
          <p:cNvPr id="16" name="TextBox 15"/>
          <p:cNvSpPr txBox="1"/>
          <p:nvPr/>
        </p:nvSpPr>
        <p:spPr>
          <a:xfrm>
            <a:off x="3429000" y="4090824"/>
            <a:ext cx="8229600" cy="230832"/>
          </a:xfrm>
          <a:prstGeom prst="rect">
            <a:avLst/>
          </a:prstGeom>
          <a:noFill/>
        </p:spPr>
        <p:txBody>
          <a:bodyPr wrap="square" lIns="0" tIns="0" rIns="0" bIns="0" anchor="ctr">
            <a:spAutoFit/>
          </a:bodyPr>
          <a:lstStyle/>
          <a:p>
            <a:pPr algn="l">
              <a:lnSpc>
                <a:spcPct val="100000"/>
              </a:lnSpc>
              <a:spcBef>
                <a:spcPts val="0"/>
              </a:spcBef>
              <a:spcAft>
                <a:spcPts val="600"/>
              </a:spcAft>
            </a:pPr>
            <a:r>
              <a:rPr lang="en-US" sz="1500" b="0" i="0" dirty="0">
                <a:solidFill>
                  <a:srgbClr val="1F2937"/>
                </a:solidFill>
                <a:latin typeface="Calibri"/>
              </a:rPr>
              <a:t>AWS</a:t>
            </a:r>
            <a:endParaRPr sz="1500" b="0" i="0" dirty="0">
              <a:solidFill>
                <a:srgbClr val="1F2937"/>
              </a:solidFill>
              <a:latin typeface="Calibri"/>
            </a:endParaRPr>
          </a:p>
        </p:txBody>
      </p:sp>
      <p:sp>
        <p:nvSpPr>
          <p:cNvPr id="17" name="Rectangle 16"/>
          <p:cNvSpPr/>
          <p:nvPr/>
        </p:nvSpPr>
        <p:spPr>
          <a:xfrm>
            <a:off x="822960" y="4892040"/>
            <a:ext cx="2377440" cy="9144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892040"/>
            <a:ext cx="2377440" cy="914400"/>
          </a:xfrm>
          <a:prstGeom prst="rect">
            <a:avLst/>
          </a:prstGeom>
          <a:noFill/>
        </p:spPr>
        <p:txBody>
          <a:bodyPr wrap="square" lIns="0" tIns="0" rIns="0" bIns="0" anchor="ctr">
            <a:spAutoFit/>
          </a:bodyPr>
          <a:lstStyle/>
          <a:p>
            <a:pPr algn="ctr">
              <a:lnSpc>
                <a:spcPct val="100000"/>
              </a:lnSpc>
              <a:spcBef>
                <a:spcPts val="0"/>
              </a:spcBef>
              <a:spcAft>
                <a:spcPts val="600"/>
              </a:spcAft>
            </a:pPr>
            <a:r>
              <a:rPr sz="1600" b="1" i="0" dirty="0">
                <a:solidFill>
                  <a:srgbClr val="C44607"/>
                </a:solidFill>
                <a:latin typeface="Calibri"/>
              </a:rPr>
              <a:t>Android</a:t>
            </a:r>
          </a:p>
        </p:txBody>
      </p:sp>
      <p:sp>
        <p:nvSpPr>
          <p:cNvPr id="19" name="TextBox 18"/>
          <p:cNvSpPr txBox="1"/>
          <p:nvPr/>
        </p:nvSpPr>
        <p:spPr>
          <a:xfrm>
            <a:off x="3429000" y="5233824"/>
            <a:ext cx="8229600" cy="230832"/>
          </a:xfrm>
          <a:prstGeom prst="rect">
            <a:avLst/>
          </a:prstGeom>
          <a:noFill/>
        </p:spPr>
        <p:txBody>
          <a:bodyPr wrap="square" lIns="0" tIns="0" rIns="0" bIns="0" anchor="ctr">
            <a:spAutoFit/>
          </a:bodyPr>
          <a:lstStyle/>
          <a:p>
            <a:pPr algn="l">
              <a:lnSpc>
                <a:spcPct val="100000"/>
              </a:lnSpc>
              <a:spcBef>
                <a:spcPts val="0"/>
              </a:spcBef>
              <a:spcAft>
                <a:spcPts val="600"/>
              </a:spcAft>
            </a:pPr>
            <a:r>
              <a:rPr lang="en-US" sz="1500" dirty="0">
                <a:solidFill>
                  <a:srgbClr val="1F2937"/>
                </a:solidFill>
                <a:latin typeface="Calibri"/>
              </a:rPr>
              <a:t>Install on Android Phone</a:t>
            </a:r>
            <a:endParaRPr sz="1500" b="0" i="0" dirty="0">
              <a:solidFill>
                <a:srgbClr val="1F2937"/>
              </a:solidFill>
              <a:latin typeface="Calibri"/>
            </a:endParaRPr>
          </a:p>
        </p:txBody>
      </p:sp>
      <p:sp>
        <p:nvSpPr>
          <p:cNvPr id="20" name="TextBox 19"/>
          <p:cNvSpPr txBox="1"/>
          <p:nvPr/>
        </p:nvSpPr>
        <p:spPr>
          <a:xfrm>
            <a:off x="822960" y="6126480"/>
            <a:ext cx="10515600" cy="457200"/>
          </a:xfrm>
          <a:prstGeom prst="rect">
            <a:avLst/>
          </a:prstGeom>
          <a:noFill/>
        </p:spPr>
        <p:txBody>
          <a:bodyPr wrap="square" lIns="0" tIns="0" rIns="0" bIns="0" anchor="t">
            <a:spAutoFit/>
          </a:bodyPr>
          <a:lstStyle/>
          <a:p>
            <a:pPr algn="l">
              <a:lnSpc>
                <a:spcPct val="100000"/>
              </a:lnSpc>
              <a:spcBef>
                <a:spcPts val="0"/>
              </a:spcBef>
              <a:spcAft>
                <a:spcPts val="600"/>
              </a:spcAft>
            </a:pPr>
            <a:r>
              <a:rPr sz="1300" b="0" i="1">
                <a:solidFill>
                  <a:srgbClr val="5B6472"/>
                </a:solidFill>
                <a:latin typeface="Calibri"/>
              </a:rPr>
              <a:t>Cloud HTTPS deployment is part of the delivery plan; one or more complete features run through the public HTTPS endpoint.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64592"/>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47472"/>
            <a:ext cx="10515600" cy="822960"/>
          </a:xfrm>
          <a:prstGeom prst="rect">
            <a:avLst/>
          </a:prstGeom>
          <a:noFill/>
        </p:spPr>
        <p:txBody>
          <a:bodyPr wrap="square" lIns="0" tIns="0" rIns="0" bIns="0" anchor="t">
            <a:spAutoFit/>
          </a:bodyPr>
          <a:lstStyle/>
          <a:p>
            <a:pPr algn="l">
              <a:lnSpc>
                <a:spcPct val="100000"/>
              </a:lnSpc>
              <a:spcBef>
                <a:spcPts val="0"/>
              </a:spcBef>
              <a:spcAft>
                <a:spcPts val="600"/>
              </a:spcAft>
            </a:pPr>
            <a:r>
              <a:rPr sz="2700" b="1" i="0">
                <a:solidFill>
                  <a:srgbClr val="1F2937"/>
                </a:solidFill>
                <a:latin typeface="Calibri"/>
              </a:rPr>
              <a:t>Summary</a:t>
            </a:r>
          </a:p>
        </p:txBody>
      </p:sp>
      <p:sp>
        <p:nvSpPr>
          <p:cNvPr id="5" name="Rectangle 4"/>
          <p:cNvSpPr/>
          <p:nvPr/>
        </p:nvSpPr>
        <p:spPr>
          <a:xfrm>
            <a:off x="530352" y="1024128"/>
            <a:ext cx="1280160" cy="45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7315200" cy="274320"/>
          </a:xfrm>
          <a:prstGeom prst="rect">
            <a:avLst/>
          </a:prstGeom>
          <a:noFill/>
        </p:spPr>
        <p:txBody>
          <a:bodyPr wrap="square" lIns="0" tIns="0" rIns="0" bIns="0" anchor="t">
            <a:spAutoFit/>
          </a:bodyPr>
          <a:lstStyle/>
          <a:p>
            <a:pPr algn="l">
              <a:lnSpc>
                <a:spcPct val="100000"/>
              </a:lnSpc>
              <a:spcBef>
                <a:spcPts val="0"/>
              </a:spcBef>
              <a:spcAft>
                <a:spcPts val="600"/>
              </a:spcAft>
            </a:pPr>
            <a:r>
              <a:rPr sz="1000" b="0" i="0">
                <a:solidFill>
                  <a:srgbClr val="5B6472"/>
                </a:solidFill>
                <a:latin typeface="Calibri"/>
              </a:rPr>
              <a:t>FoodMind · Team 5</a:t>
            </a:r>
          </a:p>
        </p:txBody>
      </p:sp>
      <p:sp>
        <p:nvSpPr>
          <p:cNvPr id="7" name="TextBox 6"/>
          <p:cNvSpPr txBox="1"/>
          <p:nvPr/>
        </p:nvSpPr>
        <p:spPr>
          <a:xfrm>
            <a:off x="11247120" y="6473952"/>
            <a:ext cx="731520" cy="274320"/>
          </a:xfrm>
          <a:prstGeom prst="rect">
            <a:avLst/>
          </a:prstGeom>
          <a:noFill/>
        </p:spPr>
        <p:txBody>
          <a:bodyPr wrap="square" lIns="0" tIns="0" rIns="0" bIns="0" anchor="t">
            <a:spAutoFit/>
          </a:bodyPr>
          <a:lstStyle/>
          <a:p>
            <a:pPr algn="r">
              <a:lnSpc>
                <a:spcPct val="100000"/>
              </a:lnSpc>
              <a:spcBef>
                <a:spcPts val="0"/>
              </a:spcBef>
              <a:spcAft>
                <a:spcPts val="600"/>
              </a:spcAft>
            </a:pPr>
            <a:r>
              <a:rPr sz="1000" b="0" i="0">
                <a:solidFill>
                  <a:srgbClr val="5B6472"/>
                </a:solidFill>
                <a:latin typeface="Calibri"/>
              </a:rPr>
              <a:t>17</a:t>
            </a:r>
          </a:p>
        </p:txBody>
      </p:sp>
      <p:graphicFrame>
        <p:nvGraphicFramePr>
          <p:cNvPr id="8" name="Table 7"/>
          <p:cNvGraphicFramePr>
            <a:graphicFrameLocks noGrp="1"/>
          </p:cNvGraphicFramePr>
          <p:nvPr/>
        </p:nvGraphicFramePr>
        <p:xfrm>
          <a:off x="502920" y="1325880"/>
          <a:ext cx="11155680" cy="3840480"/>
        </p:xfrm>
        <a:graphic>
          <a:graphicData uri="http://schemas.openxmlformats.org/drawingml/2006/table">
            <a:tbl>
              <a:tblPr bandRow="1">
                <a:tableStyleId>{5C22544A-7EE6-4342-B048-85BDC9FD1C3A}</a:tableStyleId>
              </a:tblPr>
              <a:tblGrid>
                <a:gridCol w="2560320">
                  <a:extLst>
                    <a:ext uri="{9D8B030D-6E8A-4147-A177-3AD203B41FA5}">
                      <a16:colId xmlns:a16="http://schemas.microsoft.com/office/drawing/2014/main" val="20000"/>
                    </a:ext>
                  </a:extLst>
                </a:gridCol>
                <a:gridCol w="8595360">
                  <a:extLst>
                    <a:ext uri="{9D8B030D-6E8A-4147-A177-3AD203B41FA5}">
                      <a16:colId xmlns:a16="http://schemas.microsoft.com/office/drawing/2014/main" val="20001"/>
                    </a:ext>
                  </a:extLst>
                </a:gridCol>
              </a:tblGrid>
              <a:tr h="548640">
                <a:tc>
                  <a:txBody>
                    <a:bodyPr/>
                    <a:lstStyle/>
                    <a:p>
                      <a:r>
                        <a:rPr sz="1300" b="1">
                          <a:solidFill>
                            <a:srgbClr val="FFFFFF"/>
                          </a:solidFill>
                          <a:latin typeface="Calibri"/>
                        </a:rPr>
                        <a:t>Layer</a:t>
                      </a:r>
                    </a:p>
                  </a:txBody>
                  <a:tcPr marT="38100" marB="38100">
                    <a:solidFill>
                      <a:srgbClr val="E8590C"/>
                    </a:solidFill>
                  </a:tcPr>
                </a:tc>
                <a:tc>
                  <a:txBody>
                    <a:bodyPr/>
                    <a:lstStyle/>
                    <a:p>
                      <a:r>
                        <a:rPr sz="1300" b="1">
                          <a:solidFill>
                            <a:srgbClr val="FFFFFF"/>
                          </a:solidFill>
                          <a:latin typeface="Calibri"/>
                        </a:rPr>
                        <a:t>Implemented technologies</a:t>
                      </a:r>
                    </a:p>
                  </a:txBody>
                  <a:tcPr marT="38100" marB="38100">
                    <a:solidFill>
                      <a:srgbClr val="E8590C"/>
                    </a:solidFill>
                  </a:tcPr>
                </a:tc>
                <a:extLst>
                  <a:ext uri="{0D108BD9-81ED-4DB2-BD59-A6C34878D82A}">
                    <a16:rowId xmlns:a16="http://schemas.microsoft.com/office/drawing/2014/main" val="10000"/>
                  </a:ext>
                </a:extLst>
              </a:tr>
              <a:tr h="548640">
                <a:tc>
                  <a:txBody>
                    <a:bodyPr/>
                    <a:lstStyle/>
                    <a:p>
                      <a:r>
                        <a:rPr sz="1300">
                          <a:solidFill>
                            <a:srgbClr val="1F2937"/>
                          </a:solidFill>
                          <a:latin typeface="Calibri"/>
                        </a:rPr>
                        <a:t>Clients</a:t>
                      </a:r>
                    </a:p>
                  </a:txBody>
                  <a:tcPr marT="25400" marB="25400">
                    <a:solidFill>
                      <a:srgbClr val="FFFFFF"/>
                    </a:solidFill>
                  </a:tcPr>
                </a:tc>
                <a:tc>
                  <a:txBody>
                    <a:bodyPr/>
                    <a:lstStyle/>
                    <a:p>
                      <a:r>
                        <a:rPr sz="1300">
                          <a:solidFill>
                            <a:srgbClr val="1F2937"/>
                          </a:solidFill>
                          <a:latin typeface="Calibri"/>
                        </a:rPr>
                        <a:t>Android (Kotlin/Compose) and Web (React/TypeScript)</a:t>
                      </a:r>
                    </a:p>
                  </a:txBody>
                  <a:tcPr marT="25400" marB="25400">
                    <a:solidFill>
                      <a:srgbClr val="FFFFFF"/>
                    </a:solidFill>
                  </a:tcPr>
                </a:tc>
                <a:extLst>
                  <a:ext uri="{0D108BD9-81ED-4DB2-BD59-A6C34878D82A}">
                    <a16:rowId xmlns:a16="http://schemas.microsoft.com/office/drawing/2014/main" val="10001"/>
                  </a:ext>
                </a:extLst>
              </a:tr>
              <a:tr h="548640">
                <a:tc>
                  <a:txBody>
                    <a:bodyPr/>
                    <a:lstStyle/>
                    <a:p>
                      <a:r>
                        <a:rPr sz="1300">
                          <a:solidFill>
                            <a:srgbClr val="1F2937"/>
                          </a:solidFill>
                          <a:latin typeface="Calibri"/>
                        </a:rPr>
                        <a:t>Common backend</a:t>
                      </a:r>
                    </a:p>
                  </a:txBody>
                  <a:tcPr marT="25400" marB="25400">
                    <a:solidFill>
                      <a:srgbClr val="F3F4F6"/>
                    </a:solidFill>
                  </a:tcPr>
                </a:tc>
                <a:tc>
                  <a:txBody>
                    <a:bodyPr/>
                    <a:lstStyle/>
                    <a:p>
                      <a:r>
                        <a:rPr sz="1300">
                          <a:solidFill>
                            <a:srgbClr val="1F2937"/>
                          </a:solidFill>
                          <a:latin typeface="Calibri"/>
                        </a:rPr>
                        <a:t>Spring Boot, JWT, PostgreSQL, Flyway, OpenAPI</a:t>
                      </a:r>
                    </a:p>
                  </a:txBody>
                  <a:tcPr marT="25400" marB="25400">
                    <a:solidFill>
                      <a:srgbClr val="F3F4F6"/>
                    </a:solidFill>
                  </a:tcPr>
                </a:tc>
                <a:extLst>
                  <a:ext uri="{0D108BD9-81ED-4DB2-BD59-A6C34878D82A}">
                    <a16:rowId xmlns:a16="http://schemas.microsoft.com/office/drawing/2014/main" val="10002"/>
                  </a:ext>
                </a:extLst>
              </a:tr>
              <a:tr h="548640">
                <a:tc>
                  <a:txBody>
                    <a:bodyPr/>
                    <a:lstStyle/>
                    <a:p>
                      <a:r>
                        <a:rPr sz="1300">
                          <a:solidFill>
                            <a:srgbClr val="1F2937"/>
                          </a:solidFill>
                          <a:latin typeface="Calibri"/>
                        </a:rPr>
                        <a:t>Agentic AI</a:t>
                      </a:r>
                    </a:p>
                  </a:txBody>
                  <a:tcPr marT="25400" marB="25400">
                    <a:solidFill>
                      <a:srgbClr val="FFFFFF"/>
                    </a:solidFill>
                  </a:tcPr>
                </a:tc>
                <a:tc>
                  <a:txBody>
                    <a:bodyPr/>
                    <a:lstStyle/>
                    <a:p>
                      <a:r>
                        <a:rPr sz="1300">
                          <a:solidFill>
                            <a:srgbClr val="1F2937"/>
                          </a:solidFill>
                          <a:latin typeface="Calibri"/>
                        </a:rPr>
                        <a:t>Five LangGraph agents (recommendation, cooking, chatbot)</a:t>
                      </a:r>
                    </a:p>
                  </a:txBody>
                  <a:tcPr marT="25400" marB="25400">
                    <a:solidFill>
                      <a:srgbClr val="FFFFFF"/>
                    </a:solidFill>
                  </a:tcPr>
                </a:tc>
                <a:extLst>
                  <a:ext uri="{0D108BD9-81ED-4DB2-BD59-A6C34878D82A}">
                    <a16:rowId xmlns:a16="http://schemas.microsoft.com/office/drawing/2014/main" val="10003"/>
                  </a:ext>
                </a:extLst>
              </a:tr>
              <a:tr h="548640">
                <a:tc>
                  <a:txBody>
                    <a:bodyPr/>
                    <a:lstStyle/>
                    <a:p>
                      <a:r>
                        <a:rPr sz="1300">
                          <a:solidFill>
                            <a:srgbClr val="1F2937"/>
                          </a:solidFill>
                          <a:latin typeface="Calibri"/>
                        </a:rPr>
                        <a:t>Machine learning</a:t>
                      </a:r>
                    </a:p>
                  </a:txBody>
                  <a:tcPr marT="25400" marB="25400">
                    <a:solidFill>
                      <a:srgbClr val="F3F4F6"/>
                    </a:solidFill>
                  </a:tcPr>
                </a:tc>
                <a:tc>
                  <a:txBody>
                    <a:bodyPr/>
                    <a:lstStyle/>
                    <a:p>
                      <a:r>
                        <a:rPr sz="1300">
                          <a:solidFill>
                            <a:srgbClr val="1F2937"/>
                          </a:solidFill>
                          <a:latin typeface="Calibri"/>
                        </a:rPr>
                        <a:t>UserCF + ItemCF + Logistic Regression (hybrid)</a:t>
                      </a:r>
                    </a:p>
                  </a:txBody>
                  <a:tcPr marT="25400" marB="25400">
                    <a:solidFill>
                      <a:srgbClr val="F3F4F6"/>
                    </a:solidFill>
                  </a:tcPr>
                </a:tc>
                <a:extLst>
                  <a:ext uri="{0D108BD9-81ED-4DB2-BD59-A6C34878D82A}">
                    <a16:rowId xmlns:a16="http://schemas.microsoft.com/office/drawing/2014/main" val="10004"/>
                  </a:ext>
                </a:extLst>
              </a:tr>
              <a:tr h="548640">
                <a:tc>
                  <a:txBody>
                    <a:bodyPr/>
                    <a:lstStyle/>
                    <a:p>
                      <a:r>
                        <a:rPr sz="1300">
                          <a:solidFill>
                            <a:srgbClr val="1F2937"/>
                          </a:solidFill>
                          <a:latin typeface="Calibri"/>
                        </a:rPr>
                        <a:t>Data &amp; search</a:t>
                      </a:r>
                    </a:p>
                  </a:txBody>
                  <a:tcPr marT="25400" marB="25400">
                    <a:solidFill>
                      <a:srgbClr val="FFFFFF"/>
                    </a:solidFill>
                  </a:tcPr>
                </a:tc>
                <a:tc>
                  <a:txBody>
                    <a:bodyPr/>
                    <a:lstStyle/>
                    <a:p>
                      <a:r>
                        <a:rPr sz="1300">
                          <a:solidFill>
                            <a:srgbClr val="1F2937"/>
                          </a:solidFill>
                          <a:latin typeface="Calibri"/>
                        </a:rPr>
                        <a:t>PostgreSQL full-text/trigram, permission-scoped</a:t>
                      </a:r>
                    </a:p>
                  </a:txBody>
                  <a:tcPr marT="25400" marB="25400">
                    <a:solidFill>
                      <a:srgbClr val="FFFFFF"/>
                    </a:solidFill>
                  </a:tcPr>
                </a:tc>
                <a:extLst>
                  <a:ext uri="{0D108BD9-81ED-4DB2-BD59-A6C34878D82A}">
                    <a16:rowId xmlns:a16="http://schemas.microsoft.com/office/drawing/2014/main" val="10005"/>
                  </a:ext>
                </a:extLst>
              </a:tr>
              <a:tr h="548640">
                <a:tc>
                  <a:txBody>
                    <a:bodyPr/>
                    <a:lstStyle/>
                    <a:p>
                      <a:r>
                        <a:rPr sz="1300">
                          <a:solidFill>
                            <a:srgbClr val="1F2937"/>
                          </a:solidFill>
                          <a:latin typeface="Calibri"/>
                        </a:rPr>
                        <a:t>DevSecOps</a:t>
                      </a:r>
                    </a:p>
                  </a:txBody>
                  <a:tcPr marT="25400" marB="25400">
                    <a:solidFill>
                      <a:srgbClr val="F3F4F6"/>
                    </a:solidFill>
                  </a:tcPr>
                </a:tc>
                <a:tc>
                  <a:txBody>
                    <a:bodyPr/>
                    <a:lstStyle/>
                    <a:p>
                      <a:r>
                        <a:rPr sz="1300">
                          <a:solidFill>
                            <a:srgbClr val="1F2937"/>
                          </a:solidFill>
                          <a:latin typeface="Calibri"/>
                        </a:rPr>
                        <a:t>GitHub Actions CI/CD, Trivy, secret/dependency scans</a:t>
                      </a:r>
                    </a:p>
                  </a:txBody>
                  <a:tcPr marT="25400" marB="25400">
                    <a:solidFill>
                      <a:srgbClr val="F3F4F6"/>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502920" y="5486400"/>
            <a:ext cx="11155680" cy="822960"/>
          </a:xfrm>
          <a:prstGeom prst="rect">
            <a:avLst/>
          </a:prstGeom>
          <a:noFill/>
        </p:spPr>
        <p:txBody>
          <a:bodyPr wrap="square" lIns="0" tIns="0" rIns="0" bIns="0" anchor="t">
            <a:spAutoFit/>
          </a:bodyPr>
          <a:lstStyle/>
          <a:p>
            <a:pPr algn="ctr">
              <a:lnSpc>
                <a:spcPct val="100000"/>
              </a:lnSpc>
              <a:spcBef>
                <a:spcPts val="0"/>
              </a:spcBef>
              <a:spcAft>
                <a:spcPts val="600"/>
              </a:spcAft>
            </a:pPr>
            <a:r>
              <a:rPr sz="2600" b="1" i="0">
                <a:solidFill>
                  <a:srgbClr val="C44607"/>
                </a:solidFill>
                <a:latin typeface="Calibri"/>
              </a:rPr>
              <a:t>Thank you — questions welcome.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E31F69841E3B37B6BE636E6A4452A5835AFC73761EDEC7E2D588D5B005FE9470" val="[{&quot;GradientColorId&quot;:&quot;&quot;,&quot;IsFree&quot;:true,&quot;IsGradient&quot;:false,&quot;ImagePath&quot;:&quot;&quot;,&quot;GradientColor&quot;:null,&quot;SimpleColor&quot;:&quot;#FFFFFF&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2051</Words>
  <Application>Microsoft Office PowerPoint</Application>
  <PresentationFormat>宽屏</PresentationFormat>
  <Paragraphs>325</Paragraphs>
  <Slides>27</Slides>
  <Notes>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等线</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Chen Terrence Yaqi</cp:lastModifiedBy>
  <cp:revision>3</cp:revision>
  <dcterms:created xsi:type="dcterms:W3CDTF">2013-01-27T09:14:16Z</dcterms:created>
  <dcterms:modified xsi:type="dcterms:W3CDTF">2026-08-15T17:55:00Z</dcterms:modified>
  <cp:category/>
</cp:coreProperties>
</file>