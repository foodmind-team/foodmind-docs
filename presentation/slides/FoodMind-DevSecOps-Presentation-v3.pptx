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dc529b8abe414e" /><Relationship Type="http://schemas.openxmlformats.org/officeDocument/2006/relationships/extended-properties" Target="/docProps/app.xml" Id="Ra8d243e2c11248d8" /><Relationship Type="http://schemas.openxmlformats.org/officeDocument/2006/relationships/officeDocument" Target="/ppt/presentation.xml" Id="R25033724dcf54aae" /></Relationships>
</file>

<file path=ppt/presentation.xml><?xml version="1.0" encoding="utf-8"?>
<p:presentation xmlns:p="http://schemas.openxmlformats.org/presentationml/2006/main">
  <p:sldMasterIdLst>
    <p:sldMasterId xmlns:r="http://schemas.openxmlformats.org/officeDocument/2006/relationships" id="2147483648" r:id="R3be766347ad948d6"/>
  </p:sldMasterIdLst>
  <p:notesMasterIdLst>
    <p:notesMasterId xmlns:r="http://schemas.openxmlformats.org/officeDocument/2006/relationships" r:id="Rb1ece69de31745ef"/>
  </p:notesMasterIdLst>
  <p:sldIdLst>
    <p:sldId xmlns:r="http://schemas.openxmlformats.org/officeDocument/2006/relationships" id="256" r:id="R4f540792a501427b"/>
    <p:sldId xmlns:r="http://schemas.openxmlformats.org/officeDocument/2006/relationships" id="257" r:id="R743b36b93b504059"/>
    <p:sldId xmlns:r="http://schemas.openxmlformats.org/officeDocument/2006/relationships" id="258" r:id="R45aa824f35e14552"/>
    <p:sldId xmlns:r="http://schemas.openxmlformats.org/officeDocument/2006/relationships" id="259" r:id="Rc0adbfec11334aac"/>
    <p:sldId xmlns:r="http://schemas.openxmlformats.org/officeDocument/2006/relationships" id="260" r:id="Rd24bab6fa66c4aa4"/>
    <p:sldId xmlns:r="http://schemas.openxmlformats.org/officeDocument/2006/relationships" id="261" r:id="Rb94e07e1db5e4f10"/>
    <p:sldId xmlns:r="http://schemas.openxmlformats.org/officeDocument/2006/relationships" id="262" r:id="R177ce539eefe47e2"/>
    <p:sldId xmlns:r="http://schemas.openxmlformats.org/officeDocument/2006/relationships" id="263" r:id="Rd9906efafbb248af"/>
    <p:sldId xmlns:r="http://schemas.openxmlformats.org/officeDocument/2006/relationships" id="264" r:id="R37aeec86f21543e7"/>
    <p:sldId xmlns:r="http://schemas.openxmlformats.org/officeDocument/2006/relationships" id="265" r:id="R5eb56011fa214991"/>
    <p:sldId xmlns:r="http://schemas.openxmlformats.org/officeDocument/2006/relationships" id="266" r:id="Rf84dcc69db5c4238"/>
    <p:sldId xmlns:r="http://schemas.openxmlformats.org/officeDocument/2006/relationships" id="267" r:id="R6e6f0fac946f45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0c9adc543741c7" /><Relationship Type="http://schemas.openxmlformats.org/officeDocument/2006/relationships/slideMaster" Target="/ppt/slideMasters/slideMaster1.xml" Id="R3be766347ad948d6" /><Relationship Type="http://schemas.openxmlformats.org/officeDocument/2006/relationships/notesMaster" Target="/ppt/notesMasters/notesMaster1.xml" Id="Rb1ece69de31745ef" /><Relationship Type="http://schemas.openxmlformats.org/officeDocument/2006/relationships/presProps" Target="/ppt/presProps.xml" Id="R972c25d6823a4206" /><Relationship Type="http://schemas.openxmlformats.org/officeDocument/2006/relationships/tableStyles" Target="/ppt/tableStyles.xml" Id="R03ed97df269042a5" /><Relationship Type="http://schemas.openxmlformats.org/officeDocument/2006/relationships/slide" Target="/ppt/slides/slide1.xml" Id="R4f540792a501427b" /><Relationship Type="http://schemas.openxmlformats.org/officeDocument/2006/relationships/slide" Target="/ppt/slides/slide2.xml" Id="R743b36b93b504059" /><Relationship Type="http://schemas.openxmlformats.org/officeDocument/2006/relationships/slide" Target="/ppt/slides/slide3.xml" Id="R45aa824f35e14552" /><Relationship Type="http://schemas.openxmlformats.org/officeDocument/2006/relationships/slide" Target="/ppt/slides/slide4.xml" Id="Rc0adbfec11334aac" /><Relationship Type="http://schemas.openxmlformats.org/officeDocument/2006/relationships/slide" Target="/ppt/slides/slide5.xml" Id="Rd24bab6fa66c4aa4" /><Relationship Type="http://schemas.openxmlformats.org/officeDocument/2006/relationships/slide" Target="/ppt/slides/slide6.xml" Id="Rb94e07e1db5e4f10" /><Relationship Type="http://schemas.openxmlformats.org/officeDocument/2006/relationships/slide" Target="/ppt/slides/slide7.xml" Id="R177ce539eefe47e2" /><Relationship Type="http://schemas.openxmlformats.org/officeDocument/2006/relationships/slide" Target="/ppt/slides/slide8.xml" Id="Rd9906efafbb248af" /><Relationship Type="http://schemas.openxmlformats.org/officeDocument/2006/relationships/slide" Target="/ppt/slides/slide9.xml" Id="R37aeec86f21543e7" /><Relationship Type="http://schemas.openxmlformats.org/officeDocument/2006/relationships/slide" Target="/ppt/slides/slide10.xml" Id="R5eb56011fa214991" /><Relationship Type="http://schemas.openxmlformats.org/officeDocument/2006/relationships/slide" Target="/ppt/slides/slide11.xml" Id="Rf84dcc69db5c4238" /><Relationship Type="http://schemas.openxmlformats.org/officeDocument/2006/relationships/slide" Target="/ppt/slides/slide12.xml" Id="R6e6f0fac946f45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03940c080e44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b98c6645754dd9" /><Relationship Type="http://schemas.openxmlformats.org/officeDocument/2006/relationships/notesMaster" Target="/ppt/notesMasters/notesMaster1.xml" Id="R7f40c1219ed143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9737c36d6f4b00" /><Relationship Type="http://schemas.openxmlformats.org/officeDocument/2006/relationships/notesMaster" Target="/ppt/notesMasters/notesMaster1.xml" Id="Re9ffdec2a04242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4d67128a534a48" /><Relationship Type="http://schemas.openxmlformats.org/officeDocument/2006/relationships/notesMaster" Target="/ppt/notesMasters/notesMaster1.xml" Id="R6608b0c0d47a4f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9c28af654e4720" /><Relationship Type="http://schemas.openxmlformats.org/officeDocument/2006/relationships/notesMaster" Target="/ppt/notesMasters/notesMaster1.xml" Id="R6cc37d758d6846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631407675e41ca" /><Relationship Type="http://schemas.openxmlformats.org/officeDocument/2006/relationships/notesMaster" Target="/ppt/notesMasters/notesMaster1.xml" Id="Readee510b1c14a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e092f59c2447df" /><Relationship Type="http://schemas.openxmlformats.org/officeDocument/2006/relationships/notesMaster" Target="/ppt/notesMasters/notesMaster1.xml" Id="R6199e448f1aa4e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6f42f240334126" /><Relationship Type="http://schemas.openxmlformats.org/officeDocument/2006/relationships/notesMaster" Target="/ppt/notesMasters/notesMaster1.xml" Id="R7788805568a642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a7d1446eb94ece" /><Relationship Type="http://schemas.openxmlformats.org/officeDocument/2006/relationships/notesMaster" Target="/ppt/notesMasters/notesMaster1.xml" Id="R877e1025d0cf4b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c50dabdf344532" /><Relationship Type="http://schemas.openxmlformats.org/officeDocument/2006/relationships/notesMaster" Target="/ppt/notesMasters/notesMaster1.xml" Id="R79a72c7a3b8142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a10d16d6514389" /><Relationship Type="http://schemas.openxmlformats.org/officeDocument/2006/relationships/notesMaster" Target="/ppt/notesMasters/notesMaster1.xml" Id="Re3390144614e45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38416589b94566" /><Relationship Type="http://schemas.openxmlformats.org/officeDocument/2006/relationships/notesMaster" Target="/ppt/notesMasters/notesMaster1.xml" Id="R70df33c8003948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92ce473c024584" /><Relationship Type="http://schemas.openxmlformats.org/officeDocument/2006/relationships/notesMaster" Target="/ppt/notesMasters/notesMaster1.xml" Id="R8c8204a57d584a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FoodMind uses a running DevSecOps pipeline on GitHub and AWS. The key message is not a list of tools; it is a verifiable chain from commit to security analysis, tested images, immutable deployment, post-deployment checks, and rollback. Today I will show the architecture, the current evidence chain, and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course mapping (35 seconds): fast feedback stays close to the pull request, while integration, image scanning, DAST, performance, and monitoring run at the stage where they have enough context. The loop repeats because production and staging evidence becomes the next backlog input.</a:t>
            </a:r>
          </a:p>
          <a:p xmlns:a="http://schemas.openxmlformats.org/drawingml/2006/main">
            <a:r>
              <a:t/>
            </a:r>
          </a:p>
          <a:p xmlns:a="http://schemas.openxmlformats.org/drawingml/2006/main">
            <a:r>
              <a:t>[Sources]</a:t>
            </a:r>
          </a:p>
          <a:p xmlns:a="http://schemas.openxmlformats.org/drawingml/2006/main">
            <a:r>
              <a:t>- /Users/huangqijun/Documents/新国立课件/敏捷开发课件/02 - DevSecOps Engg and Automation - Introduction.pdf</a:t>
            </a:r>
          </a:p>
          <a:p xmlns:a="http://schemas.openxmlformats.org/drawingml/2006/main">
            <a:r>
              <a:t>- /Users/huangqijun/Documents/新国立课件/敏捷开发课件/05 - Continuous Integration v1.0.pdf</a:t>
            </a:r>
          </a:p>
          <a:p xmlns:a="http://schemas.openxmlformats.org/drawingml/2006/main">
            <a:r>
              <a:t>- /Users/huangqijun/Documents/新国立课件/敏捷开发课件/06 - Continuous Delivery v 1.0.pdf</a:t>
            </a:r>
          </a:p>
          <a:p xmlns:a="http://schemas.openxmlformats.org/drawingml/2006/main">
            <a:r>
              <a:t>- /Users/huangqijun/Documents/新国立课件/敏捷开发课件/07 - Secure CI-CD Pipeline v 1.0.pdf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(45 seconds): application repositories own fast service-level checks. The Infrastructure repository is the integration and release control plane. It validates pinned source revisions, builds and scans seven images, publishes immutable digests to ECR, deploys through OIDC and Systems Manager, then runs ZAP, JMeter, header checks, and operational feedback. The architecture image was generated with GPT Image and retained from the approved v2 deck.</a:t>
            </a:r>
          </a:p>
          <a:p xmlns:a="http://schemas.openxmlformats.org/drawingml/2006/main">
            <a:r>
              <a:t/>
            </a:r>
          </a:p>
          <a:p xmlns:a="http://schemas.openxmlformats.org/drawingml/2006/main">
            <a:r>
              <a:t>[Sources]</a:t>
            </a:r>
          </a:p>
          <a:p xmlns:a="http://schemas.openxmlformats.org/drawingml/2006/main">
            <a:r>
              <a:t>- /Users/huangqijun/Documents/ADProject/output/devsecops/FoodMind-DevSecOps-Architecture.png</a:t>
            </a:r>
          </a:p>
          <a:p xmlns:a="http://schemas.openxmlformats.org/drawingml/2006/main">
            <a:r>
              <a:t>- /Users/huangqijun/Documents/ADProject/foodmind-infra/.github/workflows/compose.yml</a:t>
            </a:r>
          </a:p>
          <a:p xmlns:a="http://schemas.openxmlformats.org/drawingml/2006/main">
            <a:r>
              <a:t>- /Users/huangqijun/Documents/ADProject/foodmind-infra/.github/workflows/publish-staging.yml</a:t>
            </a:r>
          </a:p>
          <a:p xmlns:a="http://schemas.openxmlformats.org/drawingml/2006/main">
            <a:r>
              <a:t>- /Users/huangqijun/Documents/ADProject/foodmind-infra/.github/workflows/deploy-staging.yml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Pull-request CI (40 seconds): linting, type checks, unit and contract tests establish correctness. CodeQL provides SAST and Dependency Review provides SCA. Medium-or-higher security evidence blocks. A separate human reviewer is not required for the ML repository; the strict ML gate remains required, administrators are included, force-push is disabled, and conversations must be resolved.</a:t>
            </a:r>
          </a:p>
          <a:p xmlns:a="http://schemas.openxmlformats.org/drawingml/2006/main">
            <a:r>
              <a:t/>
            </a:r>
          </a:p>
          <a:p xmlns:a="http://schemas.openxmlformats.org/drawingml/2006/main">
            <a:r>
              <a:t>[Sources]</a:t>
            </a:r>
          </a:p>
          <a:p xmlns:a="http://schemas.openxmlformats.org/drawingml/2006/main">
            <a:r>
              <a:t>- https://github.com/foodmind-team/foodmind-ml/pull/9</a:t>
            </a:r>
          </a:p>
          <a:p xmlns:a="http://schemas.openxmlformats.org/drawingml/2006/main">
            <a:r>
              <a:t>- /Users/huangqijun/Documents/ADProject/foodmind-ml/.github/workflows/ml-ci.yml</a:t>
            </a:r>
          </a:p>
          <a:p xmlns:a="http://schemas.openxmlformats.org/drawingml/2006/main">
            <a:r>
              <a:t>- https://docs.github.com/en/code-security/concepts/code-scanning/codeql/codeql-for-compiled-languages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Secure supply chain (45 seconds): the publish workflow builds seven candidates. Each gets a CycloneDX SBOM and a pinned Trivy scan. A fixable Medium, High, or Critical finding stops the workflow before docker push. Passing candidates are stored and deployed using ECR SHA-256 digests, so the deployed bytes are the scanned bytes.</a:t>
            </a:r>
          </a:p>
          <a:p xmlns:a="http://schemas.openxmlformats.org/drawingml/2006/main">
            <a:r>
              <a:t/>
            </a:r>
          </a:p>
          <a:p xmlns:a="http://schemas.openxmlformats.org/drawingml/2006/main">
            <a:r>
              <a:t>[Sources]</a:t>
            </a:r>
          </a:p>
          <a:p xmlns:a="http://schemas.openxmlformats.org/drawingml/2006/main">
            <a:r>
              <a:t>- /Users/huangqijun/Documents/ADProject/foodmind-infra/scripts/cd/publish-staging-images.sh</a:t>
            </a:r>
          </a:p>
          <a:p xmlns:a="http://schemas.openxmlformats.org/drawingml/2006/main">
            <a:r>
              <a:t>- /Users/huangqijun/Documents/ADProject/foodmind-infra/.github/workflows/publish-staging.yml</a:t>
            </a:r>
          </a:p>
          <a:p xmlns:a="http://schemas.openxmlformats.org/drawingml/2006/main">
            <a:r>
              <a:t>- /Users/huangqijun/Documents/ADProject/output/devsecops/evidence/release-manifest-staging-3496a39b3375.json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delivery (45 seconds): GitHub OIDC obtains short-lived AWS credentials. Systems Manager performs the controlled deployment to EC2 without opening an inbound administration port. Compose receives immutable image digests. Readiness decides success; if it fails, the deploy script restores the previous release automatically.</a:t>
            </a:r>
          </a:p>
          <a:p xmlns:a="http://schemas.openxmlformats.org/drawingml/2006/main">
            <a:r>
              <a:t/>
            </a:r>
          </a:p>
          <a:p xmlns:a="http://schemas.openxmlformats.org/drawingml/2006/main">
            <a:r>
              <a:t>[Sources]</a:t>
            </a:r>
          </a:p>
          <a:p xmlns:a="http://schemas.openxmlformats.org/drawingml/2006/main">
            <a:r>
              <a:t>- /Users/huangqijun/Documents/ADProject/foodmind-infra/.github/workflows/deploy-staging.yml</a:t>
            </a:r>
          </a:p>
          <a:p xmlns:a="http://schemas.openxmlformats.org/drawingml/2006/main">
            <a:r>
              <a:t>- /Users/huangqijun/Documents/ADProject/foodmind-infra/scripts/cd/deploy-staging.sh</a:t>
            </a:r>
          </a:p>
          <a:p xmlns:a="http://schemas.openxmlformats.org/drawingml/2006/main">
            <a:r>
              <a:t>- https://docs.aws.amazon.com/IAM/latest/UserGuide/id_roles_providers_oidc.html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chain (50 seconds): start with passing application PR checks, then show the four current Infrastructure runs in sequence. Compose run 31949676557 validates the pinned revisions and integration. Publish run 31949803280 creates SBOMs, runs Trivy, pushes seven digest-addressed images, and creates release staging-3496a39b3375-31949803280-1. Deploy run 31950088472 performs OIDC, SSM, readiness, and rollback preparation. DAST run 31950196914 and JMeter run 31964380538 close the loop.</a:t>
            </a:r>
          </a:p>
          <a:p xmlns:a="http://schemas.openxmlformats.org/drawingml/2006/main">
            <a:r>
              <a:t/>
            </a:r>
          </a:p>
          <a:p xmlns:a="http://schemas.openxmlformats.org/drawingml/2006/main">
            <a:r>
              <a:t>[Sources]</a:t>
            </a:r>
          </a:p>
          <a:p xmlns:a="http://schemas.openxmlformats.org/drawingml/2006/main">
            <a:r>
              <a:t>- https://github.com/foodmind-team/foodmind-infra/actions/runs/31949676557</a:t>
            </a:r>
          </a:p>
          <a:p xmlns:a="http://schemas.openxmlformats.org/drawingml/2006/main">
            <a:r>
              <a:t>- https://github.com/foodmind-team/foodmind-infra/actions/runs/31949803280</a:t>
            </a:r>
          </a:p>
          <a:p xmlns:a="http://schemas.openxmlformats.org/drawingml/2006/main">
            <a:r>
              <a:t>- https://github.com/foodmind-team/foodmind-infra/actions/runs/31950088472</a:t>
            </a:r>
          </a:p>
          <a:p xmlns:a="http://schemas.openxmlformats.org/drawingml/2006/main">
            <a:r>
              <a:t>- https://github.com/foodmind-team/foodmind-infra/actions/runs/31950196914</a:t>
            </a:r>
          </a:p>
          <a:p xmlns:a="http://schemas.openxmlformats.org/drawingml/2006/main">
            <a:r>
              <a:t>- https://github.com/foodmind-team/foodmind-infra/actions/runs/31964380538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report (50 seconds): the initial baseline across six existing images found 142 fixable Medium-or-higher findings: 117 Medium and 25 High. Remediation upgraded OS packages, pinned fixed dependencies, made Python builds deterministic, and removed unnecessary runtime tooling. The final scan covers seven release images and reports zero fixable Medium, High, or Critical findings. This is a scanner result at a declared threshold, not a claim of zero risk.</a:t>
            </a:r>
          </a:p>
          <a:p xmlns:a="http://schemas.openxmlformats.org/drawingml/2006/main">
            <a:r>
              <a:t/>
            </a:r>
          </a:p>
          <a:p xmlns:a="http://schemas.openxmlformats.org/drawingml/2006/main">
            <a:r>
              <a:t>[Sources]</a:t>
            </a:r>
          </a:p>
          <a:p xmlns:a="http://schemas.openxmlformats.org/drawingml/2006/main">
            <a:r>
              <a:t>- /Users/huangqijun/Documents/ADProject/output/devsecops/evidence/README.md</a:t>
            </a:r>
          </a:p>
          <a:p xmlns:a="http://schemas.openxmlformats.org/drawingml/2006/main">
            <a:r>
              <a:t>- /Users/huangqijun/Documents/ADProject/output/devsecops/evidence/baseline-backend.json</a:t>
            </a:r>
          </a:p>
          <a:p xmlns:a="http://schemas.openxmlformats.org/drawingml/2006/main">
            <a:r>
              <a:t>- /Users/huangqijun/Documents/ADProject/output/devsecops/evidence/backend.json</a:t>
            </a:r>
          </a:p>
          <a:p xmlns:a="http://schemas.openxmlformats.org/drawingml/2006/main">
            <a:r>
              <a:t>- /Users/huangqijun/Documents/ADProject/output/devsecops/evidence/model-package.json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assurance (45 seconds): JMeter run 31964380538 tested the live staging endpoint with 20 samples. It recorded zero failures, a 0 percent error rate, 396.95 milliseconds average latency, and 781 milliseconds p95. The policy is zero errors and p95 no more than 2,000 milliseconds, so only 39.05 percent of the latency budget was used. Passive ZAP and the live security-header gate also passed.</a:t>
            </a:r>
          </a:p>
          <a:p xmlns:a="http://schemas.openxmlformats.org/drawingml/2006/main">
            <a:r>
              <a:t/>
            </a:r>
          </a:p>
          <a:p xmlns:a="http://schemas.openxmlformats.org/drawingml/2006/main">
            <a:r>
              <a:t>[Sources]</a:t>
            </a:r>
          </a:p>
          <a:p xmlns:a="http://schemas.openxmlformats.org/drawingml/2006/main">
            <a:r>
              <a:t>- https://github.com/foodmind-team/foodmind-infra/actions/runs/31964380538</a:t>
            </a:r>
          </a:p>
          <a:p xmlns:a="http://schemas.openxmlformats.org/drawingml/2006/main">
            <a:r>
              <a:t>- https://github.com/foodmind-team/foodmind-infra/actions/runs/31950196914</a:t>
            </a:r>
          </a:p>
          <a:p xmlns:a="http://schemas.openxmlformats.org/drawingml/2006/main">
            <a:r>
              <a:t>- /Users/huangqijun/Documents/ADProject/output/devsecops/evidence/jmeter-live-summary-2026-08-17.json</a:t>
            </a:r>
          </a:p>
          <a:p xmlns:a="http://schemas.openxmlformats.org/drawingml/2006/main">
            <a:r>
              <a:t>- https://13.229.2.154.sslip.io/healthz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(5 to 7 minutes): 1) open an application pull request and show the Checks tab; 2) open Compose run 31949676557 and identify pinned revision validation; 3) open Publish run 31949803280 and show SBOM, Trivy, and the release artifact; 4) open Deploy run 31950088472 and show OIDC, SSM, readiness, and rollback preparation; 5) open the live /healthz endpoint, then the DAST and JMeter runs. Keep every page open before presenting so the demonstration is a sequence of tabs rather than live searching.</a:t>
            </a:r>
          </a:p>
          <a:p xmlns:a="http://schemas.openxmlformats.org/drawingml/2006/main">
            <a:r>
              <a:t/>
            </a:r>
          </a:p>
          <a:p xmlns:a="http://schemas.openxmlformats.org/drawingml/2006/main">
            <a:r>
              <a:t>[Sources]</a:t>
            </a:r>
          </a:p>
          <a:p xmlns:a="http://schemas.openxmlformats.org/drawingml/2006/main">
            <a:r>
              <a:t>- https://github.com/foodmind-team/foodmind-ml/pull/9</a:t>
            </a:r>
          </a:p>
          <a:p xmlns:a="http://schemas.openxmlformats.org/drawingml/2006/main">
            <a:r>
              <a:t>- https://github.com/foodmind-team/foodmind-infra/actions/runs/31949676557</a:t>
            </a:r>
          </a:p>
          <a:p xmlns:a="http://schemas.openxmlformats.org/drawingml/2006/main">
            <a:r>
              <a:t>- https://github.com/foodmind-team/foodmind-infra/actions/runs/31949803280</a:t>
            </a:r>
          </a:p>
          <a:p xmlns:a="http://schemas.openxmlformats.org/drawingml/2006/main">
            <a:r>
              <a:t>- https://github.com/foodmind-team/foodmind-infra/actions/runs/31950088472</a:t>
            </a:r>
          </a:p>
          <a:p xmlns:a="http://schemas.openxmlformats.org/drawingml/2006/main">
            <a:r>
              <a:t>- https://github.com/foodmind-team/foodmind-infra/actions/runs/31950196914</a:t>
            </a:r>
          </a:p>
          <a:p xmlns:a="http://schemas.openxmlformats.org/drawingml/2006/main">
            <a:r>
              <a:t>- https://github.com/foodmind-team/foodmind-infra/actions/runs/31964380538</a:t>
            </a:r>
          </a:p>
          <a:p xmlns:a="http://schemas.openxmlformats.org/drawingml/2006/main">
            <a:r>
              <a:t>- https://13.229.2.154.sslip.io/healthz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backup (60 seconds): open /Users/huangqijun/Documents/ADProject/foodmind-infra in VS Code. Use releases/staging-source.json to explain exact source pins, .github/workflows/publish-staging.yml for SBOM and Trivy orchestration, scripts/cd/deploy-staging.sh for readiness and rollback, and scripts/verify-aws-demo.sh for the classroom verification path. Safe commands are documented in the separate live-demo guide. Do not print environment files, tokens, AWS credentials, repository secrets, or SSM parameter values.</a:t>
            </a:r>
          </a:p>
          <a:p xmlns:a="http://schemas.openxmlformats.org/drawingml/2006/main">
            <a:r>
              <a:t/>
            </a:r>
          </a:p>
          <a:p xmlns:a="http://schemas.openxmlformats.org/drawingml/2006/main">
            <a:r>
              <a:t>[Sources]</a:t>
            </a:r>
          </a:p>
          <a:p xmlns:a="http://schemas.openxmlformats.org/drawingml/2006/main">
            <a:r>
              <a:t>- /Users/huangqijun/Documents/ADProject/foodmind-infra/releases/staging-source.json</a:t>
            </a:r>
          </a:p>
          <a:p xmlns:a="http://schemas.openxmlformats.org/drawingml/2006/main">
            <a:r>
              <a:t>- /Users/huangqijun/Documents/ADProject/foodmind-infra/.github/workflows/publish-staging.yml</a:t>
            </a:r>
          </a:p>
          <a:p xmlns:a="http://schemas.openxmlformats.org/drawingml/2006/main">
            <a:r>
              <a:t>- /Users/huangqijun/Documents/ADProject/foodmind-infra/scripts/cd/deploy-staging.sh</a:t>
            </a:r>
          </a:p>
          <a:p xmlns:a="http://schemas.openxmlformats.org/drawingml/2006/main">
            <a:r>
              <a:t>- /Users/huangqijun/Documents/ADProject/foodmind-infra/scripts/verify-aws-demo.sh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(30 seconds): the requested controls are operating now. Application security gates are merged, seven images are scanned before ECR, the release is deployed using immutable digests, readiness and automatic rollback are active, and ZAP, security headers, and JMeter pass. The current release is staging-3496a39b3375-31949803280-1, based on Infra revision 3496a39b. The evidence is retained in GitHub Actions artifacts and the release manifest.</a:t>
            </a:r>
          </a:p>
          <a:p xmlns:a="http://schemas.openxmlformats.org/drawingml/2006/main">
            <a:r>
              <a:t/>
            </a:r>
          </a:p>
          <a:p xmlns:a="http://schemas.openxmlformats.org/drawingml/2006/main">
            <a:r>
              <a:t>[Sources]</a:t>
            </a:r>
          </a:p>
          <a:p xmlns:a="http://schemas.openxmlformats.org/drawingml/2006/main">
            <a:r>
              <a:t>- /Users/huangqijun/Documents/ADProject/output/devsecops/evidence/release-manifest-staging-3496a39b3375.json</a:t>
            </a:r>
          </a:p>
          <a:p xmlns:a="http://schemas.openxmlformats.org/drawingml/2006/main">
            <a:r>
              <a:t>- https://github.com/foodmind-team/foodmind-infra/actions/runs/31949803280</a:t>
            </a:r>
          </a:p>
          <a:p xmlns:a="http://schemas.openxmlformats.org/drawingml/2006/main">
            <a:r>
              <a:t>- https://github.com/foodmind-team/foodmind-infra/actions/runs/31950088472</a:t>
            </a:r>
          </a:p>
          <a:p xmlns:a="http://schemas.openxmlformats.org/drawingml/2006/main">
            <a:r>
              <a:t>- https://github.com/foodmind-team/foodmind-infra/actions/runs/31950196914</a:t>
            </a:r>
          </a:p>
          <a:p xmlns:a="http://schemas.openxmlformats.org/drawingml/2006/main">
            <a:r>
              <a:t>- https://github.com/foodmind-team/foodmind-infra/actions/runs/31964380538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ee3b7620d44c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21f261bf3447a9" /><Relationship Type="http://schemas.openxmlformats.org/officeDocument/2006/relationships/slideLayout" Target="/ppt/slideLayouts/slideLayout1.xml" Id="Rf36cc39c429244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6cc39c429244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98475c98f74f41" /><Relationship Type="http://schemas.openxmlformats.org/officeDocument/2006/relationships/notesSlide" Target="/ppt/notesSlides/notesSlide1.xml" Id="Rf39e855e766248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8edaa82d0b48a0" /><Relationship Type="http://schemas.openxmlformats.org/officeDocument/2006/relationships/notesSlide" Target="/ppt/notesSlides/notesSlide2.xml" Id="R2559e4dc69fb4d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c3cef34d2b4a4c" /><Relationship Type="http://schemas.openxmlformats.org/officeDocument/2006/relationships/image" Target="/ppt/media/image.png" Id="Rdd9f9d4551dd451f" /><Relationship Type="http://schemas.openxmlformats.org/officeDocument/2006/relationships/notesSlide" Target="/ppt/notesSlides/notesSlide3.xml" Id="Ra3d449f6e64f48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4951899eed42cc" /><Relationship Type="http://schemas.openxmlformats.org/officeDocument/2006/relationships/notesSlide" Target="/ppt/notesSlides/notesSlide4.xml" Id="R16fac52b25624d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370f76d87a49f5" /><Relationship Type="http://schemas.openxmlformats.org/officeDocument/2006/relationships/notesSlide" Target="/ppt/notesSlides/notesSlide5.xml" Id="R88f257e20dfb43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7e63f6977941c2" /><Relationship Type="http://schemas.openxmlformats.org/officeDocument/2006/relationships/notesSlide" Target="/ppt/notesSlides/notesSlide6.xml" Id="R072895600d6342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53db0f7ccf47e8" /><Relationship Type="http://schemas.openxmlformats.org/officeDocument/2006/relationships/notesSlide" Target="/ppt/notesSlides/notesSlide7.xml" Id="R48f94269ce6c4d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6142526de04993" /><Relationship Type="http://schemas.openxmlformats.org/officeDocument/2006/relationships/notesSlide" Target="/ppt/notesSlides/notesSlide8.xml" Id="Rd8890713b32843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a77446c71e401b" /><Relationship Type="http://schemas.openxmlformats.org/officeDocument/2006/relationships/notesSlide" Target="/ppt/notesSlides/notesSlide9.xml" Id="R64b8a0806ea145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2cc54187a243af" /><Relationship Type="http://schemas.openxmlformats.org/officeDocument/2006/relationships/notesSlide" Target="/ppt/notesSlides/notesSlide10.xml" Id="R555bacd96e0f4f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5b6012b7804698" /><Relationship Type="http://schemas.openxmlformats.org/officeDocument/2006/relationships/notesSlide" Target="/ppt/notesSlides/notesSlide11.xml" Id="Rf1d419c4592545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7f40689f984090" /><Relationship Type="http://schemas.openxmlformats.org/officeDocument/2006/relationships/notesSlide" Target="/ppt/notesSlides/notesSlide12.xml" Id="R9567baf1f5e640ab" /></Relationships>
</file>

<file path=ppt/slides/slide1.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6FF552C-9828-422A-9F7A-0155F39F4DF2}"/>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1185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C5E36E-B7F2-4E1C-B0C4-192CF01AED17}"/>
              </a:ext>
            </a:extLst>
          </p:cNvPr>
          <p:cNvSpPr>
            <a:spLocks xmlns:a="http://schemas.openxmlformats.org/drawingml/2006/main" noGrp="1"/>
          </p:cNvSpPr>
          <p:nvPr/>
        </p:nvSpPr>
        <p:spPr>
          <a:xfrm xmlns:a="http://schemas.openxmlformats.org/drawingml/2006/main">
            <a:off x="685800" y="5524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11854F"/>
                </a:solidFill>
                <a:latin typeface="Aptos"/>
                <a:ea typeface="Aptos"/>
                <a:cs typeface="Aptos"/>
              </a:defRPr>
            </a:pPr>
            <a:r>
              <a:rPr sz="1350" b="1">
                <a:solidFill>
                  <a:srgbClr val="11854F"/>
                </a:solidFill>
                <a:latin typeface="Aptos"/>
                <a:ea typeface="Aptos"/>
                <a:cs typeface="Aptos"/>
              </a:rPr>
              <a:t>FoodMind</a:t>
            </a:r>
          </a:p>
        </p:txBody>
      </p:sp>
      <p:sp>
        <p:nvSpPr>
          <p:cNvPr id="3" name="">
            <a:extLst xmlns:a="http://schemas.openxmlformats.org/drawingml/2006/main">
              <a:ext uri="{FF2B5EF4-FFF2-40B4-BE49-F238E27FC236}">
                <a16:creationId xmlns:a16="http://schemas.microsoft.com/office/drawing/2014/main" id="{E47FDBD3-01A4-4B31-8052-103C8A594FD8}"/>
              </a:ext>
            </a:extLst>
          </p:cNvPr>
          <p:cNvSpPr>
            <a:spLocks xmlns:a="http://schemas.openxmlformats.org/drawingml/2006/main" noGrp="1"/>
          </p:cNvSpPr>
          <p:nvPr/>
        </p:nvSpPr>
        <p:spPr>
          <a:xfrm xmlns:a="http://schemas.openxmlformats.org/drawingml/2006/main">
            <a:off x="685800" y="16192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4350" b="1">
                <a:solidFill>
                  <a:srgbClr val="0B2545"/>
                </a:solidFill>
                <a:latin typeface="Aptos"/>
                <a:ea typeface="Aptos"/>
                <a:cs typeface="Aptos"/>
              </a:defRPr>
            </a:pPr>
            <a:r>
              <a:rPr sz="4350" b="1">
                <a:solidFill>
                  <a:srgbClr val="0B2545"/>
                </a:solidFill>
                <a:latin typeface="Aptos"/>
                <a:ea typeface="Aptos"/>
                <a:cs typeface="Aptos"/>
              </a:rPr>
              <a:t>DevSecOps CI/CD</a:t>
            </a:r>
          </a:p>
        </p:txBody>
      </p:sp>
      <p:sp>
        <p:nvSpPr>
          <p:cNvPr id="4" name="">
            <a:extLst xmlns:a="http://schemas.openxmlformats.org/drawingml/2006/main">
              <a:ext uri="{FF2B5EF4-FFF2-40B4-BE49-F238E27FC236}">
                <a16:creationId xmlns:a16="http://schemas.microsoft.com/office/drawing/2014/main" id="{600A7A0C-294B-481C-AAD5-8C4FE86B7F5D}"/>
              </a:ext>
            </a:extLst>
          </p:cNvPr>
          <p:cNvSpPr>
            <a:spLocks xmlns:a="http://schemas.openxmlformats.org/drawingml/2006/main" noGrp="1"/>
          </p:cNvSpPr>
          <p:nvPr/>
        </p:nvSpPr>
        <p:spPr>
          <a:xfrm xmlns:a="http://schemas.openxmlformats.org/drawingml/2006/main">
            <a:off x="685800" y="24003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F8B8D"/>
                </a:solidFill>
                <a:latin typeface="Aptos"/>
                <a:ea typeface="Aptos"/>
                <a:cs typeface="Aptos"/>
              </a:defRPr>
            </a:pPr>
            <a:r>
              <a:rPr sz="2250" b="1">
                <a:solidFill>
                  <a:srgbClr val="0F8B8D"/>
                </a:solidFill>
                <a:latin typeface="Aptos"/>
                <a:ea typeface="Aptos"/>
                <a:cs typeface="Aptos"/>
              </a:rPr>
              <a:t>Secure. Observable. Reversible.</a:t>
            </a:r>
          </a:p>
        </p:txBody>
      </p:sp>
      <p:sp>
        <p:nvSpPr>
          <p:cNvPr id="5" name="">
            <a:extLst xmlns:a="http://schemas.openxmlformats.org/drawingml/2006/main">
              <a:ext uri="{FF2B5EF4-FFF2-40B4-BE49-F238E27FC236}">
                <a16:creationId xmlns:a16="http://schemas.microsoft.com/office/drawing/2014/main" id="{35231116-FCF9-452A-A6A7-4FA22FEB7281}"/>
              </a:ext>
            </a:extLst>
          </p:cNvPr>
          <p:cNvSpPr>
            <a:spLocks xmlns:a="http://schemas.openxmlformats.org/drawingml/2006/main" noGrp="1"/>
          </p:cNvSpPr>
          <p:nvPr/>
        </p:nvSpPr>
        <p:spPr>
          <a:xfrm xmlns:a="http://schemas.openxmlformats.org/drawingml/2006/main">
            <a:off x="685800" y="3162300"/>
            <a:ext cx="657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725" b="0">
                <a:solidFill>
                  <a:srgbClr val="5A6571"/>
                </a:solidFill>
                <a:latin typeface="Aptos"/>
                <a:ea typeface="Aptos"/>
                <a:cs typeface="Aptos"/>
              </a:defRPr>
            </a:pPr>
            <a:r>
              <a:rPr sz="1725" b="0">
                <a:solidFill>
                  <a:srgbClr val="5A6571"/>
                </a:solidFill>
                <a:latin typeface="Aptos"/>
                <a:ea typeface="Aptos"/>
                <a:cs typeface="Aptos"/>
              </a:rPr>
              <a:t>A running AWS pipeline that turns every release into verifiable evidence.</a:t>
            </a:r>
          </a:p>
        </p:txBody>
      </p:sp>
      <p:sp>
        <p:nvSpPr>
          <p:cNvPr id="6" name="">
            <a:extLst xmlns:a="http://schemas.openxmlformats.org/drawingml/2006/main">
              <a:ext uri="{FF2B5EF4-FFF2-40B4-BE49-F238E27FC236}">
                <a16:creationId xmlns:a16="http://schemas.microsoft.com/office/drawing/2014/main" id="{8F9321A3-6269-4FAE-881B-DA415DFB9518}"/>
              </a:ext>
            </a:extLst>
          </p:cNvPr>
          <p:cNvSpPr>
            <a:spLocks xmlns:a="http://schemas.openxmlformats.org/drawingml/2006/main" noGrp="1"/>
          </p:cNvSpPr>
          <p:nvPr/>
        </p:nvSpPr>
        <p:spPr>
          <a:xfrm xmlns:a="http://schemas.openxmlformats.org/drawingml/2006/main">
            <a:off x="7410450" y="1581150"/>
            <a:ext cx="1123950" cy="876300"/>
          </a:xfrm>
          <a:prstGeom xmlns:a="http://schemas.openxmlformats.org/drawingml/2006/main" prst="roundRect">
            <a:avLst>
              <a:gd name="adj" fmla="val 8696"/>
            </a:avLst>
          </a:prstGeom>
          <a:solidFill xmlns:a="http://schemas.openxmlformats.org/drawingml/2006/main">
            <a:srgbClr val="E9F6EF"/>
          </a:solidFill>
          <a:ln xmlns:a="http://schemas.openxmlformats.org/drawingml/2006/main" w="9525">
            <a:solidFill>
              <a:srgbClr val="D9E3DE"/>
            </a:solidFill>
            <a:prstDash val="solid"/>
          </a:ln>
        </p:spPr>
      </p:sp>
      <p:sp>
        <p:nvSpPr>
          <p:cNvPr id="7" name="">
            <a:extLst xmlns:a="http://schemas.openxmlformats.org/drawingml/2006/main">
              <a:ext uri="{FF2B5EF4-FFF2-40B4-BE49-F238E27FC236}">
                <a16:creationId xmlns:a16="http://schemas.microsoft.com/office/drawing/2014/main" id="{F5CB363F-6F68-4AFF-B061-E7CDF95F3312}"/>
              </a:ext>
            </a:extLst>
          </p:cNvPr>
          <p:cNvSpPr>
            <a:spLocks xmlns:a="http://schemas.openxmlformats.org/drawingml/2006/main" noGrp="1"/>
          </p:cNvSpPr>
          <p:nvPr/>
        </p:nvSpPr>
        <p:spPr>
          <a:xfrm xmlns:a="http://schemas.openxmlformats.org/drawingml/2006/main">
            <a:off x="7524750" y="1676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65BD0F89-C5E5-4145-8046-AD1BFC568E44}"/>
              </a:ext>
            </a:extLst>
          </p:cNvPr>
          <p:cNvSpPr>
            <a:spLocks xmlns:a="http://schemas.openxmlformats.org/drawingml/2006/main" noGrp="1"/>
          </p:cNvSpPr>
          <p:nvPr/>
        </p:nvSpPr>
        <p:spPr>
          <a:xfrm xmlns:a="http://schemas.openxmlformats.org/drawingml/2006/main">
            <a:off x="7524750" y="198120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0B2545"/>
                </a:solidFill>
                <a:latin typeface="Aptos"/>
                <a:ea typeface="Aptos"/>
                <a:cs typeface="Aptos"/>
              </a:defRPr>
            </a:pPr>
            <a:r>
              <a:rPr sz="1350" b="1">
                <a:solidFill>
                  <a:srgbClr val="0B2545"/>
                </a:solidFill>
                <a:latin typeface="Aptos"/>
                <a:ea typeface="Aptos"/>
                <a:cs typeface="Aptos"/>
              </a:rPr>
              <a:t>Commit</a:t>
            </a:r>
          </a:p>
        </p:txBody>
      </p:sp>
      <p:sp>
        <p:nvSpPr>
          <p:cNvPr id="9" name="">
            <a:extLst xmlns:a="http://schemas.openxmlformats.org/drawingml/2006/main">
              <a:ext uri="{FF2B5EF4-FFF2-40B4-BE49-F238E27FC236}">
                <a16:creationId xmlns:a16="http://schemas.microsoft.com/office/drawing/2014/main" id="{3FE10176-1BA3-46E0-9F0A-71BA4B0E62FB}"/>
              </a:ext>
            </a:extLst>
          </p:cNvPr>
          <p:cNvSpPr>
            <a:spLocks xmlns:a="http://schemas.openxmlformats.org/drawingml/2006/main" noGrp="1"/>
          </p:cNvSpPr>
          <p:nvPr/>
        </p:nvSpPr>
        <p:spPr>
          <a:xfrm xmlns:a="http://schemas.openxmlformats.org/drawingml/2006/main">
            <a:off x="8763000" y="1581150"/>
            <a:ext cx="1123950" cy="876300"/>
          </a:xfrm>
          <a:prstGeom xmlns:a="http://schemas.openxmlformats.org/drawingml/2006/main" prst="roundRect">
            <a:avLst>
              <a:gd name="adj" fmla="val 8696"/>
            </a:avLst>
          </a:prstGeom>
          <a:solidFill xmlns:a="http://schemas.openxmlformats.org/drawingml/2006/main">
            <a:srgbClr val="E9F6EF"/>
          </a:solidFill>
          <a:ln xmlns:a="http://schemas.openxmlformats.org/drawingml/2006/main" w="9525">
            <a:solidFill>
              <a:srgbClr val="D9E3DE"/>
            </a:solidFill>
            <a:prstDash val="solid"/>
          </a:ln>
        </p:spPr>
      </p:sp>
      <p:sp>
        <p:nvSpPr>
          <p:cNvPr id="10" name="">
            <a:extLst xmlns:a="http://schemas.openxmlformats.org/drawingml/2006/main">
              <a:ext uri="{FF2B5EF4-FFF2-40B4-BE49-F238E27FC236}">
                <a16:creationId xmlns:a16="http://schemas.microsoft.com/office/drawing/2014/main" id="{47C9A36C-A79A-4DC9-8CDA-5EC3FB348EE9}"/>
              </a:ext>
            </a:extLst>
          </p:cNvPr>
          <p:cNvSpPr>
            <a:spLocks xmlns:a="http://schemas.openxmlformats.org/drawingml/2006/main" noGrp="1"/>
          </p:cNvSpPr>
          <p:nvPr/>
        </p:nvSpPr>
        <p:spPr>
          <a:xfrm xmlns:a="http://schemas.openxmlformats.org/drawingml/2006/main">
            <a:off x="8877300" y="1676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DDAC2328-E17E-433F-A64D-90EF729AD97E}"/>
              </a:ext>
            </a:extLst>
          </p:cNvPr>
          <p:cNvSpPr>
            <a:spLocks xmlns:a="http://schemas.openxmlformats.org/drawingml/2006/main" noGrp="1"/>
          </p:cNvSpPr>
          <p:nvPr/>
        </p:nvSpPr>
        <p:spPr>
          <a:xfrm xmlns:a="http://schemas.openxmlformats.org/drawingml/2006/main">
            <a:off x="8877300" y="198120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0B2545"/>
                </a:solidFill>
                <a:latin typeface="Aptos"/>
                <a:ea typeface="Aptos"/>
                <a:cs typeface="Aptos"/>
              </a:defRPr>
            </a:pPr>
            <a:r>
              <a:rPr sz="1350" b="1">
                <a:solidFill>
                  <a:srgbClr val="0B2545"/>
                </a:solidFill>
                <a:latin typeface="Aptos"/>
                <a:ea typeface="Aptos"/>
                <a:cs typeface="Aptos"/>
              </a:rPr>
              <a:t>Analyze</a:t>
            </a:r>
          </a:p>
        </p:txBody>
      </p:sp>
      <p:sp>
        <p:nvSpPr>
          <p:cNvPr id="12" name="">
            <a:extLst xmlns:a="http://schemas.openxmlformats.org/drawingml/2006/main">
              <a:ext uri="{FF2B5EF4-FFF2-40B4-BE49-F238E27FC236}">
                <a16:creationId xmlns:a16="http://schemas.microsoft.com/office/drawing/2014/main" id="{5E480D62-4FC4-443E-ABAA-80548A7B12D2}"/>
              </a:ext>
            </a:extLst>
          </p:cNvPr>
          <p:cNvSpPr>
            <a:spLocks xmlns:a="http://schemas.openxmlformats.org/drawingml/2006/main" noGrp="1"/>
          </p:cNvSpPr>
          <p:nvPr/>
        </p:nvSpPr>
        <p:spPr>
          <a:xfrm xmlns:a="http://schemas.openxmlformats.org/drawingml/2006/main">
            <a:off x="10115550" y="1581150"/>
            <a:ext cx="1123950" cy="876300"/>
          </a:xfrm>
          <a:prstGeom xmlns:a="http://schemas.openxmlformats.org/drawingml/2006/main" prst="roundRect">
            <a:avLst>
              <a:gd name="adj" fmla="val 8696"/>
            </a:avLst>
          </a:prstGeom>
          <a:solidFill xmlns:a="http://schemas.openxmlformats.org/drawingml/2006/main">
            <a:srgbClr val="E9F6EF"/>
          </a:solidFill>
          <a:ln xmlns:a="http://schemas.openxmlformats.org/drawingml/2006/main" w="9525">
            <a:solidFill>
              <a:srgbClr val="D9E3DE"/>
            </a:solidFill>
            <a:prstDash val="solid"/>
          </a:ln>
        </p:spPr>
      </p:sp>
      <p:sp>
        <p:nvSpPr>
          <p:cNvPr id="13" name="">
            <a:extLst xmlns:a="http://schemas.openxmlformats.org/drawingml/2006/main">
              <a:ext uri="{FF2B5EF4-FFF2-40B4-BE49-F238E27FC236}">
                <a16:creationId xmlns:a16="http://schemas.microsoft.com/office/drawing/2014/main" id="{891539B4-FD4A-461A-A26B-5BE4514F3649}"/>
              </a:ext>
            </a:extLst>
          </p:cNvPr>
          <p:cNvSpPr>
            <a:spLocks xmlns:a="http://schemas.openxmlformats.org/drawingml/2006/main" noGrp="1"/>
          </p:cNvSpPr>
          <p:nvPr/>
        </p:nvSpPr>
        <p:spPr>
          <a:xfrm xmlns:a="http://schemas.openxmlformats.org/drawingml/2006/main">
            <a:off x="10229850" y="1676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B843AE7E-E4AD-456B-8804-2C33529C6FE0}"/>
              </a:ext>
            </a:extLst>
          </p:cNvPr>
          <p:cNvSpPr>
            <a:spLocks xmlns:a="http://schemas.openxmlformats.org/drawingml/2006/main" noGrp="1"/>
          </p:cNvSpPr>
          <p:nvPr/>
        </p:nvSpPr>
        <p:spPr>
          <a:xfrm xmlns:a="http://schemas.openxmlformats.org/drawingml/2006/main">
            <a:off x="10229850" y="198120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0B2545"/>
                </a:solidFill>
                <a:latin typeface="Aptos"/>
                <a:ea typeface="Aptos"/>
                <a:cs typeface="Aptos"/>
              </a:defRPr>
            </a:pPr>
            <a:r>
              <a:rPr sz="1350" b="1">
                <a:solidFill>
                  <a:srgbClr val="0B2545"/>
                </a:solidFill>
                <a:latin typeface="Aptos"/>
                <a:ea typeface="Aptos"/>
                <a:cs typeface="Aptos"/>
              </a:rPr>
              <a:t>Test</a:t>
            </a:r>
          </a:p>
        </p:txBody>
      </p:sp>
      <p:sp>
        <p:nvSpPr>
          <p:cNvPr id="15" name="">
            <a:extLst xmlns:a="http://schemas.openxmlformats.org/drawingml/2006/main">
              <a:ext uri="{FF2B5EF4-FFF2-40B4-BE49-F238E27FC236}">
                <a16:creationId xmlns:a16="http://schemas.microsoft.com/office/drawing/2014/main" id="{AE546389-8D9F-4A55-96D5-5120C5BD1BBD}"/>
              </a:ext>
            </a:extLst>
          </p:cNvPr>
          <p:cNvSpPr>
            <a:spLocks xmlns:a="http://schemas.openxmlformats.org/drawingml/2006/main" noGrp="1"/>
          </p:cNvSpPr>
          <p:nvPr/>
        </p:nvSpPr>
        <p:spPr>
          <a:xfrm xmlns:a="http://schemas.openxmlformats.org/drawingml/2006/main">
            <a:off x="7410450" y="3009900"/>
            <a:ext cx="1123950" cy="876300"/>
          </a:xfrm>
          <a:prstGeom xmlns:a="http://schemas.openxmlformats.org/drawingml/2006/main" prst="roundRect">
            <a:avLst>
              <a:gd name="adj" fmla="val 8696"/>
            </a:avLst>
          </a:prstGeom>
          <a:solidFill xmlns:a="http://schemas.openxmlformats.org/drawingml/2006/main">
            <a:srgbClr val="EAF2FA"/>
          </a:solidFill>
          <a:ln xmlns:a="http://schemas.openxmlformats.org/drawingml/2006/main" w="9525">
            <a:solidFill>
              <a:srgbClr val="D9E3DE"/>
            </a:solidFill>
            <a:prstDash val="solid"/>
          </a:ln>
        </p:spPr>
      </p:sp>
      <p:sp>
        <p:nvSpPr>
          <p:cNvPr id="16" name="">
            <a:extLst xmlns:a="http://schemas.openxmlformats.org/drawingml/2006/main">
              <a:ext uri="{FF2B5EF4-FFF2-40B4-BE49-F238E27FC236}">
                <a16:creationId xmlns:a16="http://schemas.microsoft.com/office/drawing/2014/main" id="{FB456F7E-BA1F-4FB0-B0A7-E7567691D440}"/>
              </a:ext>
            </a:extLst>
          </p:cNvPr>
          <p:cNvSpPr>
            <a:spLocks xmlns:a="http://schemas.openxmlformats.org/drawingml/2006/main" noGrp="1"/>
          </p:cNvSpPr>
          <p:nvPr/>
        </p:nvSpPr>
        <p:spPr>
          <a:xfrm xmlns:a="http://schemas.openxmlformats.org/drawingml/2006/main">
            <a:off x="7524750" y="3105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2E74B5"/>
                </a:solidFill>
                <a:latin typeface="Aptos"/>
                <a:ea typeface="Aptos"/>
                <a:cs typeface="Aptos"/>
              </a:defRPr>
            </a:pPr>
            <a:r>
              <a:rPr sz="975" b="1">
                <a:solidFill>
                  <a:srgbClr val="2E74B5"/>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AB97DE7F-DF98-4097-9266-2358B34556CA}"/>
              </a:ext>
            </a:extLst>
          </p:cNvPr>
          <p:cNvSpPr>
            <a:spLocks xmlns:a="http://schemas.openxmlformats.org/drawingml/2006/main" noGrp="1"/>
          </p:cNvSpPr>
          <p:nvPr/>
        </p:nvSpPr>
        <p:spPr>
          <a:xfrm xmlns:a="http://schemas.openxmlformats.org/drawingml/2006/main">
            <a:off x="7524750" y="340995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0B2545"/>
                </a:solidFill>
                <a:latin typeface="Aptos"/>
                <a:ea typeface="Aptos"/>
                <a:cs typeface="Aptos"/>
              </a:defRPr>
            </a:pPr>
            <a:r>
              <a:rPr sz="1350" b="1">
                <a:solidFill>
                  <a:srgbClr val="0B2545"/>
                </a:solidFill>
                <a:latin typeface="Aptos"/>
                <a:ea typeface="Aptos"/>
                <a:cs typeface="Aptos"/>
              </a:rPr>
              <a:t>Package</a:t>
            </a:r>
          </a:p>
        </p:txBody>
      </p:sp>
      <p:sp>
        <p:nvSpPr>
          <p:cNvPr id="18" name="">
            <a:extLst xmlns:a="http://schemas.openxmlformats.org/drawingml/2006/main">
              <a:ext uri="{FF2B5EF4-FFF2-40B4-BE49-F238E27FC236}">
                <a16:creationId xmlns:a16="http://schemas.microsoft.com/office/drawing/2014/main" id="{21EA13A4-D528-439C-9A17-ADC7BB00B544}"/>
              </a:ext>
            </a:extLst>
          </p:cNvPr>
          <p:cNvSpPr>
            <a:spLocks xmlns:a="http://schemas.openxmlformats.org/drawingml/2006/main" noGrp="1"/>
          </p:cNvSpPr>
          <p:nvPr/>
        </p:nvSpPr>
        <p:spPr>
          <a:xfrm xmlns:a="http://schemas.openxmlformats.org/drawingml/2006/main">
            <a:off x="8763000" y="3009900"/>
            <a:ext cx="1123950" cy="876300"/>
          </a:xfrm>
          <a:prstGeom xmlns:a="http://schemas.openxmlformats.org/drawingml/2006/main" prst="roundRect">
            <a:avLst>
              <a:gd name="adj" fmla="val 8696"/>
            </a:avLst>
          </a:prstGeom>
          <a:solidFill xmlns:a="http://schemas.openxmlformats.org/drawingml/2006/main">
            <a:srgbClr val="EAF2FA"/>
          </a:solidFill>
          <a:ln xmlns:a="http://schemas.openxmlformats.org/drawingml/2006/main" w="9525">
            <a:solidFill>
              <a:srgbClr val="D9E3DE"/>
            </a:solidFill>
            <a:prstDash val="solid"/>
          </a:ln>
        </p:spPr>
      </p:sp>
      <p:sp>
        <p:nvSpPr>
          <p:cNvPr id="19" name="">
            <a:extLst xmlns:a="http://schemas.openxmlformats.org/drawingml/2006/main">
              <a:ext uri="{FF2B5EF4-FFF2-40B4-BE49-F238E27FC236}">
                <a16:creationId xmlns:a16="http://schemas.microsoft.com/office/drawing/2014/main" id="{0E460D98-1CB5-465D-99BF-559AEED7C65C}"/>
              </a:ext>
            </a:extLst>
          </p:cNvPr>
          <p:cNvSpPr>
            <a:spLocks xmlns:a="http://schemas.openxmlformats.org/drawingml/2006/main" noGrp="1"/>
          </p:cNvSpPr>
          <p:nvPr/>
        </p:nvSpPr>
        <p:spPr>
          <a:xfrm xmlns:a="http://schemas.openxmlformats.org/drawingml/2006/main">
            <a:off x="8877300" y="3105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2E74B5"/>
                </a:solidFill>
                <a:latin typeface="Aptos"/>
                <a:ea typeface="Aptos"/>
                <a:cs typeface="Aptos"/>
              </a:defRPr>
            </a:pPr>
            <a:r>
              <a:rPr sz="975" b="1">
                <a:solidFill>
                  <a:srgbClr val="2E74B5"/>
                </a:solidFill>
                <a:latin typeface="Aptos"/>
                <a:ea typeface="Aptos"/>
                <a:cs typeface="Aptos"/>
              </a:rPr>
              <a:t>5</a:t>
            </a:r>
          </a:p>
        </p:txBody>
      </p:sp>
      <p:sp>
        <p:nvSpPr>
          <p:cNvPr id="20" name="">
            <a:extLst xmlns:a="http://schemas.openxmlformats.org/drawingml/2006/main">
              <a:ext uri="{FF2B5EF4-FFF2-40B4-BE49-F238E27FC236}">
                <a16:creationId xmlns:a16="http://schemas.microsoft.com/office/drawing/2014/main" id="{4DC1F086-2BDD-4A0C-AD8B-E9C5EE7F3BA9}"/>
              </a:ext>
            </a:extLst>
          </p:cNvPr>
          <p:cNvSpPr>
            <a:spLocks xmlns:a="http://schemas.openxmlformats.org/drawingml/2006/main" noGrp="1"/>
          </p:cNvSpPr>
          <p:nvPr/>
        </p:nvSpPr>
        <p:spPr>
          <a:xfrm xmlns:a="http://schemas.openxmlformats.org/drawingml/2006/main">
            <a:off x="8877300" y="340995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0B2545"/>
                </a:solidFill>
                <a:latin typeface="Aptos"/>
                <a:ea typeface="Aptos"/>
                <a:cs typeface="Aptos"/>
              </a:defRPr>
            </a:pPr>
            <a:r>
              <a:rPr sz="1350" b="1">
                <a:solidFill>
                  <a:srgbClr val="0B2545"/>
                </a:solidFill>
                <a:latin typeface="Aptos"/>
                <a:ea typeface="Aptos"/>
                <a:cs typeface="Aptos"/>
              </a:rPr>
              <a:t>Deploy</a:t>
            </a:r>
          </a:p>
        </p:txBody>
      </p:sp>
      <p:sp>
        <p:nvSpPr>
          <p:cNvPr id="21" name="">
            <a:extLst xmlns:a="http://schemas.openxmlformats.org/drawingml/2006/main">
              <a:ext uri="{FF2B5EF4-FFF2-40B4-BE49-F238E27FC236}">
                <a16:creationId xmlns:a16="http://schemas.microsoft.com/office/drawing/2014/main" id="{BB5FCD93-F671-41EC-A2F8-D14397817469}"/>
              </a:ext>
            </a:extLst>
          </p:cNvPr>
          <p:cNvSpPr>
            <a:spLocks xmlns:a="http://schemas.openxmlformats.org/drawingml/2006/main" noGrp="1"/>
          </p:cNvSpPr>
          <p:nvPr/>
        </p:nvSpPr>
        <p:spPr>
          <a:xfrm xmlns:a="http://schemas.openxmlformats.org/drawingml/2006/main">
            <a:off x="10115550" y="3009900"/>
            <a:ext cx="1123950" cy="876300"/>
          </a:xfrm>
          <a:prstGeom xmlns:a="http://schemas.openxmlformats.org/drawingml/2006/main" prst="roundRect">
            <a:avLst>
              <a:gd name="adj" fmla="val 8696"/>
            </a:avLst>
          </a:prstGeom>
          <a:solidFill xmlns:a="http://schemas.openxmlformats.org/drawingml/2006/main">
            <a:srgbClr val="EAF2FA"/>
          </a:solidFill>
          <a:ln xmlns:a="http://schemas.openxmlformats.org/drawingml/2006/main" w="9525">
            <a:solidFill>
              <a:srgbClr val="D9E3DE"/>
            </a:solidFill>
            <a:prstDash val="solid"/>
          </a:ln>
        </p:spPr>
      </p:sp>
      <p:sp>
        <p:nvSpPr>
          <p:cNvPr id="22" name="">
            <a:extLst xmlns:a="http://schemas.openxmlformats.org/drawingml/2006/main">
              <a:ext uri="{FF2B5EF4-FFF2-40B4-BE49-F238E27FC236}">
                <a16:creationId xmlns:a16="http://schemas.microsoft.com/office/drawing/2014/main" id="{CC0E0448-C230-42D0-A85C-9B32A4BAFA3D}"/>
              </a:ext>
            </a:extLst>
          </p:cNvPr>
          <p:cNvSpPr>
            <a:spLocks xmlns:a="http://schemas.openxmlformats.org/drawingml/2006/main" noGrp="1"/>
          </p:cNvSpPr>
          <p:nvPr/>
        </p:nvSpPr>
        <p:spPr>
          <a:xfrm xmlns:a="http://schemas.openxmlformats.org/drawingml/2006/main">
            <a:off x="10229850" y="3105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2E74B5"/>
                </a:solidFill>
                <a:latin typeface="Aptos"/>
                <a:ea typeface="Aptos"/>
                <a:cs typeface="Aptos"/>
              </a:defRPr>
            </a:pPr>
            <a:r>
              <a:rPr sz="975" b="1">
                <a:solidFill>
                  <a:srgbClr val="2E74B5"/>
                </a:solidFill>
                <a:latin typeface="Aptos"/>
                <a:ea typeface="Aptos"/>
                <a:cs typeface="Aptos"/>
              </a:rPr>
              <a:t>6</a:t>
            </a:r>
          </a:p>
        </p:txBody>
      </p:sp>
      <p:sp>
        <p:nvSpPr>
          <p:cNvPr id="23" name="">
            <a:extLst xmlns:a="http://schemas.openxmlformats.org/drawingml/2006/main">
              <a:ext uri="{FF2B5EF4-FFF2-40B4-BE49-F238E27FC236}">
                <a16:creationId xmlns:a16="http://schemas.microsoft.com/office/drawing/2014/main" id="{E482FC18-1650-49CF-AAA4-C0A04862295F}"/>
              </a:ext>
            </a:extLst>
          </p:cNvPr>
          <p:cNvSpPr>
            <a:spLocks xmlns:a="http://schemas.openxmlformats.org/drawingml/2006/main" noGrp="1"/>
          </p:cNvSpPr>
          <p:nvPr/>
        </p:nvSpPr>
        <p:spPr>
          <a:xfrm xmlns:a="http://schemas.openxmlformats.org/drawingml/2006/main">
            <a:off x="10229850" y="340995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0B2545"/>
                </a:solidFill>
                <a:latin typeface="Aptos"/>
                <a:ea typeface="Aptos"/>
                <a:cs typeface="Aptos"/>
              </a:defRPr>
            </a:pPr>
            <a:r>
              <a:rPr sz="1350" b="1">
                <a:solidFill>
                  <a:srgbClr val="0B2545"/>
                </a:solidFill>
                <a:latin typeface="Aptos"/>
                <a:ea typeface="Aptos"/>
                <a:cs typeface="Aptos"/>
              </a:rPr>
              <a:t>Monitor</a:t>
            </a:r>
          </a:p>
        </p:txBody>
      </p:sp>
      <p:sp>
        <p:nvSpPr>
          <p:cNvPr id="24" name="">
            <a:extLst xmlns:a="http://schemas.openxmlformats.org/drawingml/2006/main">
              <a:ext uri="{FF2B5EF4-FFF2-40B4-BE49-F238E27FC236}">
                <a16:creationId xmlns:a16="http://schemas.microsoft.com/office/drawing/2014/main" id="{BF15F017-FA02-4F9C-819C-911769DC2197}"/>
              </a:ext>
            </a:extLst>
          </p:cNvPr>
          <p:cNvSpPr>
            <a:spLocks xmlns:a="http://schemas.openxmlformats.org/drawingml/2006/main" noGrp="1"/>
          </p:cNvSpPr>
          <p:nvPr/>
        </p:nvSpPr>
        <p:spPr>
          <a:xfrm xmlns:a="http://schemas.openxmlformats.org/drawingml/2006/main">
            <a:off x="685800" y="58102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1">
                <a:solidFill>
                  <a:srgbClr val="5A6571"/>
                </a:solidFill>
                <a:latin typeface="Aptos"/>
                <a:ea typeface="Aptos"/>
                <a:cs typeface="Aptos"/>
              </a:defRPr>
            </a:pPr>
            <a:r>
              <a:rPr sz="1050" b="1">
                <a:solidFill>
                  <a:srgbClr val="5A6571"/>
                </a:solidFill>
                <a:latin typeface="Aptos"/>
                <a:ea typeface="Aptos"/>
                <a:cs typeface="Aptos"/>
              </a:rPr>
              <a:t>19 AUGUST 2026</a:t>
            </a:r>
          </a:p>
        </p:txBody>
      </p:sp>
      <p:sp>
        <p:nvSpPr>
          <p:cNvPr id="25" name="">
            <a:extLst xmlns:a="http://schemas.openxmlformats.org/drawingml/2006/main">
              <a:ext uri="{FF2B5EF4-FFF2-40B4-BE49-F238E27FC236}">
                <a16:creationId xmlns:a16="http://schemas.microsoft.com/office/drawing/2014/main" id="{86311DFF-AB8B-48A4-8BBA-C0EDCCEFF045}"/>
              </a:ext>
            </a:extLst>
          </p:cNvPr>
          <p:cNvSpPr>
            <a:spLocks xmlns:a="http://schemas.openxmlformats.org/drawingml/2006/main" noGrp="1"/>
          </p:cNvSpPr>
          <p:nvPr/>
        </p:nvSpPr>
        <p:spPr>
          <a:xfrm xmlns:a="http://schemas.openxmlformats.org/drawingml/2006/main">
            <a:off x="685800" y="6115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5A6571"/>
                </a:solidFill>
                <a:latin typeface="Aptos"/>
                <a:ea typeface="Aptos"/>
                <a:cs typeface="Aptos"/>
              </a:defRPr>
            </a:pPr>
            <a:r>
              <a:rPr sz="975" b="0">
                <a:solidFill>
                  <a:srgbClr val="5A6571"/>
                </a:solidFill>
                <a:latin typeface="Aptos"/>
                <a:ea typeface="Aptos"/>
                <a:cs typeface="Aptos"/>
              </a:rPr>
              <a:t>SA4106 • AD Project</a:t>
            </a:r>
          </a:p>
        </p:txBody>
      </p:sp>
    </p:spTree>
    <p:extLst>
      <p:ext uri="{BB962C8B-B14F-4D97-AF65-F5344CB8AC3E}">
        <p14:creationId xmlns:p14="http://schemas.microsoft.com/office/powerpoint/2010/main" val="1878011474"/>
      </p:ext>
    </p:extLst>
  </p:cSld>
</p:sld>
</file>

<file path=ppt/slides/slide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D981C70-7452-498C-9698-69ED5A94DD70}"/>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DESIGN PRINCIPLE</a:t>
            </a:r>
          </a:p>
        </p:txBody>
      </p:sp>
      <p:sp>
        <p:nvSpPr>
          <p:cNvPr id="2" name="">
            <a:extLst xmlns:a="http://schemas.openxmlformats.org/drawingml/2006/main">
              <a:ext uri="{FF2B5EF4-FFF2-40B4-BE49-F238E27FC236}">
                <a16:creationId xmlns:a16="http://schemas.microsoft.com/office/drawing/2014/main" id="{1F2CA48D-B5BE-424E-AED5-C67AC024BC7E}"/>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The course model becomes an operating loop</a:t>
            </a:r>
          </a:p>
        </p:txBody>
      </p:sp>
      <p:sp>
        <p:nvSpPr>
          <p:cNvPr id="3" name="">
            <a:extLst xmlns:a="http://schemas.openxmlformats.org/drawingml/2006/main">
              <a:ext uri="{FF2B5EF4-FFF2-40B4-BE49-F238E27FC236}">
                <a16:creationId xmlns:a16="http://schemas.microsoft.com/office/drawing/2014/main" id="{0018CF2F-9E5F-4F7E-8E96-E3D7BF6DE10A}"/>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2B78F1-ED3B-46E3-A03C-BBE030804851}"/>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8CC722EF-1C05-4358-B3FC-3528BB5A50E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DB45B74F-8912-4F70-A041-7156A9D78B97}"/>
              </a:ext>
            </a:extLst>
          </p:cNvPr>
          <p:cNvSpPr>
            <a:spLocks xmlns:a="http://schemas.openxmlformats.org/drawingml/2006/main" noGrp="1"/>
          </p:cNvSpPr>
          <p:nvPr/>
        </p:nvSpPr>
        <p:spPr>
          <a:xfrm xmlns:a="http://schemas.openxmlformats.org/drawingml/2006/main">
            <a:off x="628650" y="2190750"/>
            <a:ext cx="1257300" cy="571500"/>
          </a:xfrm>
          <a:prstGeom xmlns:a="http://schemas.openxmlformats.org/drawingml/2006/main" prst="roundRect">
            <a:avLst>
              <a:gd name="adj" fmla="val 13333"/>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1854F"/>
                </a:solidFill>
                <a:latin typeface="Aptos"/>
                <a:ea typeface="Aptos"/>
                <a:cs typeface="Aptos"/>
              </a:defRPr>
            </a:pPr>
            <a:r>
              <a:rPr sz="1425" b="1">
                <a:solidFill>
                  <a:srgbClr val="11854F"/>
                </a:solidFill>
                <a:latin typeface="Aptos"/>
                <a:ea typeface="Aptos"/>
                <a:cs typeface="Aptos"/>
              </a:rPr>
              <a:t>Commit</a:t>
            </a:r>
          </a:p>
        </p:txBody>
      </p:sp>
      <p:sp>
        <p:nvSpPr>
          <p:cNvPr id="7" name="">
            <a:extLst xmlns:a="http://schemas.openxmlformats.org/drawingml/2006/main">
              <a:ext uri="{FF2B5EF4-FFF2-40B4-BE49-F238E27FC236}">
                <a16:creationId xmlns:a16="http://schemas.microsoft.com/office/drawing/2014/main" id="{CABBCB73-14A8-45F0-8F2F-0CFC7F43D1DE}"/>
              </a:ext>
            </a:extLst>
          </p:cNvPr>
          <p:cNvSpPr>
            <a:spLocks xmlns:a="http://schemas.openxmlformats.org/drawingml/2006/main" noGrp="1"/>
          </p:cNvSpPr>
          <p:nvPr/>
        </p:nvSpPr>
        <p:spPr>
          <a:xfrm xmlns:a="http://schemas.openxmlformats.org/drawingml/2006/main">
            <a:off x="57150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Reviewable change</a:t>
            </a:r>
          </a:p>
        </p:txBody>
      </p:sp>
      <p:sp>
        <p:nvSpPr>
          <p:cNvPr id="8" name="">
            <a:extLst xmlns:a="http://schemas.openxmlformats.org/drawingml/2006/main">
              <a:ext uri="{FF2B5EF4-FFF2-40B4-BE49-F238E27FC236}">
                <a16:creationId xmlns:a16="http://schemas.microsoft.com/office/drawing/2014/main" id="{1C2949BD-A0F4-4BFD-AA40-472372191E2D}"/>
              </a:ext>
            </a:extLst>
          </p:cNvPr>
          <p:cNvSpPr>
            <a:spLocks xmlns:a="http://schemas.openxmlformats.org/drawingml/2006/main" noGrp="1"/>
          </p:cNvSpPr>
          <p:nvPr/>
        </p:nvSpPr>
        <p:spPr>
          <a:xfrm xmlns:a="http://schemas.openxmlformats.org/drawingml/2006/main">
            <a:off x="1924050" y="2438400"/>
            <a:ext cx="152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FDE7041-8D30-4525-BDDB-75ED67413177}"/>
              </a:ext>
            </a:extLst>
          </p:cNvPr>
          <p:cNvSpPr>
            <a:spLocks xmlns:a="http://schemas.openxmlformats.org/drawingml/2006/main" noGrp="1"/>
          </p:cNvSpPr>
          <p:nvPr/>
        </p:nvSpPr>
        <p:spPr>
          <a:xfrm xmlns:a="http://schemas.openxmlformats.org/drawingml/2006/main">
            <a:off x="2000250" y="22860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B97F7D03-E4C5-47C0-9AA0-2D0E0F2FE0B3}"/>
              </a:ext>
            </a:extLst>
          </p:cNvPr>
          <p:cNvSpPr>
            <a:spLocks xmlns:a="http://schemas.openxmlformats.org/drawingml/2006/main" noGrp="1"/>
          </p:cNvSpPr>
          <p:nvPr/>
        </p:nvSpPr>
        <p:spPr>
          <a:xfrm xmlns:a="http://schemas.openxmlformats.org/drawingml/2006/main">
            <a:off x="2209800" y="2190750"/>
            <a:ext cx="1257300" cy="571500"/>
          </a:xfrm>
          <a:prstGeom xmlns:a="http://schemas.openxmlformats.org/drawingml/2006/main" prst="roundRect">
            <a:avLst>
              <a:gd name="adj" fmla="val 13333"/>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1854F"/>
                </a:solidFill>
                <a:latin typeface="Aptos"/>
                <a:ea typeface="Aptos"/>
                <a:cs typeface="Aptos"/>
              </a:defRPr>
            </a:pPr>
            <a:r>
              <a:rPr sz="1425" b="1">
                <a:solidFill>
                  <a:srgbClr val="11854F"/>
                </a:solidFill>
                <a:latin typeface="Aptos"/>
                <a:ea typeface="Aptos"/>
                <a:cs typeface="Aptos"/>
              </a:rPr>
              <a:t>Analyze</a:t>
            </a:r>
          </a:p>
        </p:txBody>
      </p:sp>
      <p:sp>
        <p:nvSpPr>
          <p:cNvPr id="11" name="">
            <a:extLst xmlns:a="http://schemas.openxmlformats.org/drawingml/2006/main">
              <a:ext uri="{FF2B5EF4-FFF2-40B4-BE49-F238E27FC236}">
                <a16:creationId xmlns:a16="http://schemas.microsoft.com/office/drawing/2014/main" id="{70D7AC8E-2CB5-443F-A1D3-E6392C4186FA}"/>
              </a:ext>
            </a:extLst>
          </p:cNvPr>
          <p:cNvSpPr>
            <a:spLocks xmlns:a="http://schemas.openxmlformats.org/drawingml/2006/main" noGrp="1"/>
          </p:cNvSpPr>
          <p:nvPr/>
        </p:nvSpPr>
        <p:spPr>
          <a:xfrm xmlns:a="http://schemas.openxmlformats.org/drawingml/2006/main">
            <a:off x="215265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SAST • SCA • secrets</a:t>
            </a:r>
          </a:p>
        </p:txBody>
      </p:sp>
      <p:sp>
        <p:nvSpPr>
          <p:cNvPr id="12" name="">
            <a:extLst xmlns:a="http://schemas.openxmlformats.org/drawingml/2006/main">
              <a:ext uri="{FF2B5EF4-FFF2-40B4-BE49-F238E27FC236}">
                <a16:creationId xmlns:a16="http://schemas.microsoft.com/office/drawing/2014/main" id="{37D4126B-C4C4-4611-8491-217519C5FF6C}"/>
              </a:ext>
            </a:extLst>
          </p:cNvPr>
          <p:cNvSpPr>
            <a:spLocks xmlns:a="http://schemas.openxmlformats.org/drawingml/2006/main" noGrp="1"/>
          </p:cNvSpPr>
          <p:nvPr/>
        </p:nvSpPr>
        <p:spPr>
          <a:xfrm xmlns:a="http://schemas.openxmlformats.org/drawingml/2006/main">
            <a:off x="3505200" y="2438400"/>
            <a:ext cx="152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FCA20F-D62C-48FA-8B7B-F9E8CA9BB0EC}"/>
              </a:ext>
            </a:extLst>
          </p:cNvPr>
          <p:cNvSpPr>
            <a:spLocks xmlns:a="http://schemas.openxmlformats.org/drawingml/2006/main" noGrp="1"/>
          </p:cNvSpPr>
          <p:nvPr/>
        </p:nvSpPr>
        <p:spPr>
          <a:xfrm xmlns:a="http://schemas.openxmlformats.org/drawingml/2006/main">
            <a:off x="3581400" y="22860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99D0A2DC-28D8-44A4-A547-47D9BA5B2E84}"/>
              </a:ext>
            </a:extLst>
          </p:cNvPr>
          <p:cNvSpPr>
            <a:spLocks xmlns:a="http://schemas.openxmlformats.org/drawingml/2006/main" noGrp="1"/>
          </p:cNvSpPr>
          <p:nvPr/>
        </p:nvSpPr>
        <p:spPr>
          <a:xfrm xmlns:a="http://schemas.openxmlformats.org/drawingml/2006/main">
            <a:off x="3790950" y="2190750"/>
            <a:ext cx="1257300" cy="571500"/>
          </a:xfrm>
          <a:prstGeom xmlns:a="http://schemas.openxmlformats.org/drawingml/2006/main" prst="roundRect">
            <a:avLst>
              <a:gd name="adj" fmla="val 13333"/>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1854F"/>
                </a:solidFill>
                <a:latin typeface="Aptos"/>
                <a:ea typeface="Aptos"/>
                <a:cs typeface="Aptos"/>
              </a:defRPr>
            </a:pPr>
            <a:r>
              <a:rPr sz="1425" b="1">
                <a:solidFill>
                  <a:srgbClr val="11854F"/>
                </a:solidFill>
                <a:latin typeface="Aptos"/>
                <a:ea typeface="Aptos"/>
                <a:cs typeface="Aptos"/>
              </a:rPr>
              <a:t>Set up</a:t>
            </a:r>
          </a:p>
        </p:txBody>
      </p:sp>
      <p:sp>
        <p:nvSpPr>
          <p:cNvPr id="15" name="">
            <a:extLst xmlns:a="http://schemas.openxmlformats.org/drawingml/2006/main">
              <a:ext uri="{FF2B5EF4-FFF2-40B4-BE49-F238E27FC236}">
                <a16:creationId xmlns:a16="http://schemas.microsoft.com/office/drawing/2014/main" id="{10DB9D1A-E83C-400D-9339-DE2236C1932E}"/>
              </a:ext>
            </a:extLst>
          </p:cNvPr>
          <p:cNvSpPr>
            <a:spLocks xmlns:a="http://schemas.openxmlformats.org/drawingml/2006/main" noGrp="1"/>
          </p:cNvSpPr>
          <p:nvPr/>
        </p:nvSpPr>
        <p:spPr>
          <a:xfrm xmlns:a="http://schemas.openxmlformats.org/drawingml/2006/main">
            <a:off x="373380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Compose • IaC</a:t>
            </a:r>
          </a:p>
        </p:txBody>
      </p:sp>
      <p:sp>
        <p:nvSpPr>
          <p:cNvPr id="16" name="">
            <a:extLst xmlns:a="http://schemas.openxmlformats.org/drawingml/2006/main">
              <a:ext uri="{FF2B5EF4-FFF2-40B4-BE49-F238E27FC236}">
                <a16:creationId xmlns:a16="http://schemas.microsoft.com/office/drawing/2014/main" id="{50496B48-7797-4FF0-8373-04E3A0124ACB}"/>
              </a:ext>
            </a:extLst>
          </p:cNvPr>
          <p:cNvSpPr>
            <a:spLocks xmlns:a="http://schemas.openxmlformats.org/drawingml/2006/main" noGrp="1"/>
          </p:cNvSpPr>
          <p:nvPr/>
        </p:nvSpPr>
        <p:spPr>
          <a:xfrm xmlns:a="http://schemas.openxmlformats.org/drawingml/2006/main">
            <a:off x="5086350" y="2438400"/>
            <a:ext cx="152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AC52C1D-84BA-4A44-B020-D4BA5E65641F}"/>
              </a:ext>
            </a:extLst>
          </p:cNvPr>
          <p:cNvSpPr>
            <a:spLocks xmlns:a="http://schemas.openxmlformats.org/drawingml/2006/main" noGrp="1"/>
          </p:cNvSpPr>
          <p:nvPr/>
        </p:nvSpPr>
        <p:spPr>
          <a:xfrm xmlns:a="http://schemas.openxmlformats.org/drawingml/2006/main">
            <a:off x="5162550" y="22860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9B56371E-3F9D-474A-8E46-DA30282BAD69}"/>
              </a:ext>
            </a:extLst>
          </p:cNvPr>
          <p:cNvSpPr>
            <a:spLocks xmlns:a="http://schemas.openxmlformats.org/drawingml/2006/main" noGrp="1"/>
          </p:cNvSpPr>
          <p:nvPr/>
        </p:nvSpPr>
        <p:spPr>
          <a:xfrm xmlns:a="http://schemas.openxmlformats.org/drawingml/2006/main">
            <a:off x="5372100" y="2190750"/>
            <a:ext cx="1257300" cy="571500"/>
          </a:xfrm>
          <a:prstGeom xmlns:a="http://schemas.openxmlformats.org/drawingml/2006/main" prst="roundRect">
            <a:avLst>
              <a:gd name="adj" fmla="val 13333"/>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1854F"/>
                </a:solidFill>
                <a:latin typeface="Aptos"/>
                <a:ea typeface="Aptos"/>
                <a:cs typeface="Aptos"/>
              </a:defRPr>
            </a:pPr>
            <a:r>
              <a:rPr sz="1425" b="1">
                <a:solidFill>
                  <a:srgbClr val="11854F"/>
                </a:solidFill>
                <a:latin typeface="Aptos"/>
                <a:ea typeface="Aptos"/>
                <a:cs typeface="Aptos"/>
              </a:rPr>
              <a:t>Test</a:t>
            </a:r>
          </a:p>
        </p:txBody>
      </p:sp>
      <p:sp>
        <p:nvSpPr>
          <p:cNvPr id="19" name="">
            <a:extLst xmlns:a="http://schemas.openxmlformats.org/drawingml/2006/main">
              <a:ext uri="{FF2B5EF4-FFF2-40B4-BE49-F238E27FC236}">
                <a16:creationId xmlns:a16="http://schemas.microsoft.com/office/drawing/2014/main" id="{81AE4ED8-181C-4549-B545-7476D52007F2}"/>
              </a:ext>
            </a:extLst>
          </p:cNvPr>
          <p:cNvSpPr>
            <a:spLocks xmlns:a="http://schemas.openxmlformats.org/drawingml/2006/main" noGrp="1"/>
          </p:cNvSpPr>
          <p:nvPr/>
        </p:nvSpPr>
        <p:spPr>
          <a:xfrm xmlns:a="http://schemas.openxmlformats.org/drawingml/2006/main">
            <a:off x="531495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Unit • integration</a:t>
            </a:r>
          </a:p>
        </p:txBody>
      </p:sp>
      <p:sp>
        <p:nvSpPr>
          <p:cNvPr id="20" name="">
            <a:extLst xmlns:a="http://schemas.openxmlformats.org/drawingml/2006/main">
              <a:ext uri="{FF2B5EF4-FFF2-40B4-BE49-F238E27FC236}">
                <a16:creationId xmlns:a16="http://schemas.microsoft.com/office/drawing/2014/main" id="{B7CDD2A3-B073-47CC-A3B0-678187699838}"/>
              </a:ext>
            </a:extLst>
          </p:cNvPr>
          <p:cNvSpPr>
            <a:spLocks xmlns:a="http://schemas.openxmlformats.org/drawingml/2006/main" noGrp="1"/>
          </p:cNvSpPr>
          <p:nvPr/>
        </p:nvSpPr>
        <p:spPr>
          <a:xfrm xmlns:a="http://schemas.openxmlformats.org/drawingml/2006/main">
            <a:off x="6667500" y="2438400"/>
            <a:ext cx="152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1A600B0-E2F3-4630-983F-C54CF72BCB6C}"/>
              </a:ext>
            </a:extLst>
          </p:cNvPr>
          <p:cNvSpPr>
            <a:spLocks xmlns:a="http://schemas.openxmlformats.org/drawingml/2006/main" noGrp="1"/>
          </p:cNvSpPr>
          <p:nvPr/>
        </p:nvSpPr>
        <p:spPr>
          <a:xfrm xmlns:a="http://schemas.openxmlformats.org/drawingml/2006/main">
            <a:off x="6743700" y="22860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4974B04D-36C3-44AA-8624-376FCA72B675}"/>
              </a:ext>
            </a:extLst>
          </p:cNvPr>
          <p:cNvSpPr>
            <a:spLocks xmlns:a="http://schemas.openxmlformats.org/drawingml/2006/main" noGrp="1"/>
          </p:cNvSpPr>
          <p:nvPr/>
        </p:nvSpPr>
        <p:spPr>
          <a:xfrm xmlns:a="http://schemas.openxmlformats.org/drawingml/2006/main">
            <a:off x="6953250" y="2190750"/>
            <a:ext cx="1257300" cy="571500"/>
          </a:xfrm>
          <a:prstGeom xmlns:a="http://schemas.openxmlformats.org/drawingml/2006/main" prst="roundRect">
            <a:avLst>
              <a:gd name="adj" fmla="val 13333"/>
            </a:avLst>
          </a:prstGeom>
          <a:solidFill xmlns:a="http://schemas.openxmlformats.org/drawingml/2006/main">
            <a:srgbClr val="EAF2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2E74B5"/>
                </a:solidFill>
                <a:latin typeface="Aptos"/>
                <a:ea typeface="Aptos"/>
                <a:cs typeface="Aptos"/>
              </a:defRPr>
            </a:pPr>
            <a:r>
              <a:rPr sz="1425" b="1">
                <a:solidFill>
                  <a:srgbClr val="2E74B5"/>
                </a:solidFill>
                <a:latin typeface="Aptos"/>
                <a:ea typeface="Aptos"/>
                <a:cs typeface="Aptos"/>
              </a:rPr>
              <a:t>Deploy</a:t>
            </a:r>
          </a:p>
        </p:txBody>
      </p:sp>
      <p:sp>
        <p:nvSpPr>
          <p:cNvPr id="23" name="">
            <a:extLst xmlns:a="http://schemas.openxmlformats.org/drawingml/2006/main">
              <a:ext uri="{FF2B5EF4-FFF2-40B4-BE49-F238E27FC236}">
                <a16:creationId xmlns:a16="http://schemas.microsoft.com/office/drawing/2014/main" id="{A5E895FA-2E27-4A2A-A601-8EDE6E9604F2}"/>
              </a:ext>
            </a:extLst>
          </p:cNvPr>
          <p:cNvSpPr>
            <a:spLocks xmlns:a="http://schemas.openxmlformats.org/drawingml/2006/main" noGrp="1"/>
          </p:cNvSpPr>
          <p:nvPr/>
        </p:nvSpPr>
        <p:spPr>
          <a:xfrm xmlns:a="http://schemas.openxmlformats.org/drawingml/2006/main">
            <a:off x="689610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Digest • OIDC • SSM</a:t>
            </a:r>
          </a:p>
        </p:txBody>
      </p:sp>
      <p:sp>
        <p:nvSpPr>
          <p:cNvPr id="24" name="">
            <a:extLst xmlns:a="http://schemas.openxmlformats.org/drawingml/2006/main">
              <a:ext uri="{FF2B5EF4-FFF2-40B4-BE49-F238E27FC236}">
                <a16:creationId xmlns:a16="http://schemas.microsoft.com/office/drawing/2014/main" id="{55A88592-16C0-48D5-8855-B7EF945A7215}"/>
              </a:ext>
            </a:extLst>
          </p:cNvPr>
          <p:cNvSpPr>
            <a:spLocks xmlns:a="http://schemas.openxmlformats.org/drawingml/2006/main" noGrp="1"/>
          </p:cNvSpPr>
          <p:nvPr/>
        </p:nvSpPr>
        <p:spPr>
          <a:xfrm xmlns:a="http://schemas.openxmlformats.org/drawingml/2006/main">
            <a:off x="8248650" y="2438400"/>
            <a:ext cx="152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7B316B9-C5DD-442C-8FE2-14F5273689BA}"/>
              </a:ext>
            </a:extLst>
          </p:cNvPr>
          <p:cNvSpPr>
            <a:spLocks xmlns:a="http://schemas.openxmlformats.org/drawingml/2006/main" noGrp="1"/>
          </p:cNvSpPr>
          <p:nvPr/>
        </p:nvSpPr>
        <p:spPr>
          <a:xfrm xmlns:a="http://schemas.openxmlformats.org/drawingml/2006/main">
            <a:off x="8324850" y="22860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36E11035-03CE-43DF-8E5E-ECC1273D65D2}"/>
              </a:ext>
            </a:extLst>
          </p:cNvPr>
          <p:cNvSpPr>
            <a:spLocks xmlns:a="http://schemas.openxmlformats.org/drawingml/2006/main" noGrp="1"/>
          </p:cNvSpPr>
          <p:nvPr/>
        </p:nvSpPr>
        <p:spPr>
          <a:xfrm xmlns:a="http://schemas.openxmlformats.org/drawingml/2006/main">
            <a:off x="8534400" y="2190750"/>
            <a:ext cx="1257300" cy="571500"/>
          </a:xfrm>
          <a:prstGeom xmlns:a="http://schemas.openxmlformats.org/drawingml/2006/main" prst="roundRect">
            <a:avLst>
              <a:gd name="adj" fmla="val 13333"/>
            </a:avLst>
          </a:prstGeom>
          <a:solidFill xmlns:a="http://schemas.openxmlformats.org/drawingml/2006/main">
            <a:srgbClr val="EAF2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2E74B5"/>
                </a:solidFill>
                <a:latin typeface="Aptos"/>
                <a:ea typeface="Aptos"/>
                <a:cs typeface="Aptos"/>
              </a:defRPr>
            </a:pPr>
            <a:r>
              <a:rPr sz="1425" b="1">
                <a:solidFill>
                  <a:srgbClr val="2E74B5"/>
                </a:solidFill>
                <a:latin typeface="Aptos"/>
                <a:ea typeface="Aptos"/>
                <a:cs typeface="Aptos"/>
              </a:rPr>
              <a:t>Monitor</a:t>
            </a:r>
          </a:p>
        </p:txBody>
      </p:sp>
      <p:sp>
        <p:nvSpPr>
          <p:cNvPr id="27" name="">
            <a:extLst xmlns:a="http://schemas.openxmlformats.org/drawingml/2006/main">
              <a:ext uri="{FF2B5EF4-FFF2-40B4-BE49-F238E27FC236}">
                <a16:creationId xmlns:a16="http://schemas.microsoft.com/office/drawing/2014/main" id="{A4E45F1C-F9C9-48DF-8D8A-EFD024107F5C}"/>
              </a:ext>
            </a:extLst>
          </p:cNvPr>
          <p:cNvSpPr>
            <a:spLocks xmlns:a="http://schemas.openxmlformats.org/drawingml/2006/main" noGrp="1"/>
          </p:cNvSpPr>
          <p:nvPr/>
        </p:nvSpPr>
        <p:spPr>
          <a:xfrm xmlns:a="http://schemas.openxmlformats.org/drawingml/2006/main">
            <a:off x="847725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ZAP • JMeter • logs</a:t>
            </a:r>
          </a:p>
        </p:txBody>
      </p:sp>
      <p:sp>
        <p:nvSpPr>
          <p:cNvPr id="28" name="">
            <a:extLst xmlns:a="http://schemas.openxmlformats.org/drawingml/2006/main">
              <a:ext uri="{FF2B5EF4-FFF2-40B4-BE49-F238E27FC236}">
                <a16:creationId xmlns:a16="http://schemas.microsoft.com/office/drawing/2014/main" id="{2C3BC2FB-625D-4277-B60D-BA2104C1041C}"/>
              </a:ext>
            </a:extLst>
          </p:cNvPr>
          <p:cNvSpPr>
            <a:spLocks xmlns:a="http://schemas.openxmlformats.org/drawingml/2006/main" noGrp="1"/>
          </p:cNvSpPr>
          <p:nvPr/>
        </p:nvSpPr>
        <p:spPr>
          <a:xfrm xmlns:a="http://schemas.openxmlformats.org/drawingml/2006/main">
            <a:off x="9829800" y="2438400"/>
            <a:ext cx="152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D3BD889-0C4A-47B9-A022-3238704E08FC}"/>
              </a:ext>
            </a:extLst>
          </p:cNvPr>
          <p:cNvSpPr>
            <a:spLocks xmlns:a="http://schemas.openxmlformats.org/drawingml/2006/main" noGrp="1"/>
          </p:cNvSpPr>
          <p:nvPr/>
        </p:nvSpPr>
        <p:spPr>
          <a:xfrm xmlns:a="http://schemas.openxmlformats.org/drawingml/2006/main">
            <a:off x="9906000" y="22860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30" name="">
            <a:extLst xmlns:a="http://schemas.openxmlformats.org/drawingml/2006/main">
              <a:ext uri="{FF2B5EF4-FFF2-40B4-BE49-F238E27FC236}">
                <a16:creationId xmlns:a16="http://schemas.microsoft.com/office/drawing/2014/main" id="{DC1B600B-508E-49FD-958A-BC28CD4B8AB2}"/>
              </a:ext>
            </a:extLst>
          </p:cNvPr>
          <p:cNvSpPr>
            <a:spLocks xmlns:a="http://schemas.openxmlformats.org/drawingml/2006/main" noGrp="1"/>
          </p:cNvSpPr>
          <p:nvPr/>
        </p:nvSpPr>
        <p:spPr>
          <a:xfrm xmlns:a="http://schemas.openxmlformats.org/drawingml/2006/main">
            <a:off x="10115550" y="2190750"/>
            <a:ext cx="1257300" cy="571500"/>
          </a:xfrm>
          <a:prstGeom xmlns:a="http://schemas.openxmlformats.org/drawingml/2006/main" prst="roundRect">
            <a:avLst>
              <a:gd name="adj" fmla="val 13333"/>
            </a:avLst>
          </a:prstGeom>
          <a:solidFill xmlns:a="http://schemas.openxmlformats.org/drawingml/2006/main">
            <a:srgbClr val="EAF2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2E74B5"/>
                </a:solidFill>
                <a:latin typeface="Aptos"/>
                <a:ea typeface="Aptos"/>
                <a:cs typeface="Aptos"/>
              </a:defRPr>
            </a:pPr>
            <a:r>
              <a:rPr sz="1425" b="1">
                <a:solidFill>
                  <a:srgbClr val="2E74B5"/>
                </a:solidFill>
                <a:latin typeface="Aptos"/>
                <a:ea typeface="Aptos"/>
                <a:cs typeface="Aptos"/>
              </a:rPr>
              <a:t>Repeat</a:t>
            </a:r>
          </a:p>
        </p:txBody>
      </p:sp>
      <p:sp>
        <p:nvSpPr>
          <p:cNvPr id="31" name="">
            <a:extLst xmlns:a="http://schemas.openxmlformats.org/drawingml/2006/main">
              <a:ext uri="{FF2B5EF4-FFF2-40B4-BE49-F238E27FC236}">
                <a16:creationId xmlns:a16="http://schemas.microsoft.com/office/drawing/2014/main" id="{F0207C7B-3DBE-4DBD-A01F-FBA5A9F3BD95}"/>
              </a:ext>
            </a:extLst>
          </p:cNvPr>
          <p:cNvSpPr>
            <a:spLocks xmlns:a="http://schemas.openxmlformats.org/drawingml/2006/main" noGrp="1"/>
          </p:cNvSpPr>
          <p:nvPr/>
        </p:nvSpPr>
        <p:spPr>
          <a:xfrm xmlns:a="http://schemas.openxmlformats.org/drawingml/2006/main">
            <a:off x="10058400" y="2933700"/>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0">
                <a:solidFill>
                  <a:srgbClr val="5A6571"/>
                </a:solidFill>
                <a:latin typeface="Aptos"/>
                <a:ea typeface="Aptos"/>
                <a:cs typeface="Aptos"/>
              </a:defRPr>
            </a:pPr>
            <a:r>
              <a:rPr sz="1125" b="0">
                <a:solidFill>
                  <a:srgbClr val="5A6571"/>
                </a:solidFill>
                <a:latin typeface="Aptos"/>
                <a:ea typeface="Aptos"/>
                <a:cs typeface="Aptos"/>
              </a:rPr>
              <a:t>Evidence → backlog</a:t>
            </a:r>
          </a:p>
        </p:txBody>
      </p:sp>
      <p:sp>
        <p:nvSpPr>
          <p:cNvPr id="32" name="">
            <a:extLst xmlns:a="http://schemas.openxmlformats.org/drawingml/2006/main">
              <a:ext uri="{FF2B5EF4-FFF2-40B4-BE49-F238E27FC236}">
                <a16:creationId xmlns:a16="http://schemas.microsoft.com/office/drawing/2014/main" id="{C6711801-69D1-433A-A5D8-0E30BBDE16B5}"/>
              </a:ext>
            </a:extLst>
          </p:cNvPr>
          <p:cNvSpPr>
            <a:spLocks xmlns:a="http://schemas.openxmlformats.org/drawingml/2006/main" noGrp="1"/>
          </p:cNvSpPr>
          <p:nvPr/>
        </p:nvSpPr>
        <p:spPr>
          <a:xfrm xmlns:a="http://schemas.openxmlformats.org/drawingml/2006/main">
            <a:off x="781050" y="4238625"/>
            <a:ext cx="106299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8674F69-5CAD-4424-8989-8A5CA19F3482}"/>
              </a:ext>
            </a:extLst>
          </p:cNvPr>
          <p:cNvSpPr>
            <a:spLocks xmlns:a="http://schemas.openxmlformats.org/drawingml/2006/main" noGrp="1"/>
          </p:cNvSpPr>
          <p:nvPr/>
        </p:nvSpPr>
        <p:spPr>
          <a:xfrm xmlns:a="http://schemas.openxmlformats.org/drawingml/2006/main">
            <a:off x="914400" y="45529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11854F"/>
                </a:solidFill>
                <a:latin typeface="Aptos"/>
                <a:ea typeface="Aptos"/>
                <a:cs typeface="Aptos"/>
              </a:defRPr>
            </a:pPr>
            <a:r>
              <a:rPr sz="1800" b="1">
                <a:solidFill>
                  <a:srgbClr val="11854F"/>
                </a:solidFill>
                <a:latin typeface="Aptos"/>
                <a:ea typeface="Aptos"/>
                <a:cs typeface="Aptos"/>
              </a:rPr>
              <a:t>Fast feedback</a:t>
            </a:r>
          </a:p>
        </p:txBody>
      </p:sp>
      <p:sp>
        <p:nvSpPr>
          <p:cNvPr id="34" name="">
            <a:extLst xmlns:a="http://schemas.openxmlformats.org/drawingml/2006/main">
              <a:ext uri="{FF2B5EF4-FFF2-40B4-BE49-F238E27FC236}">
                <a16:creationId xmlns:a16="http://schemas.microsoft.com/office/drawing/2014/main" id="{2C2FE9F5-9F47-4466-AE47-C9D6FE4B6F4B}"/>
              </a:ext>
            </a:extLst>
          </p:cNvPr>
          <p:cNvSpPr>
            <a:spLocks xmlns:a="http://schemas.openxmlformats.org/drawingml/2006/main" noGrp="1"/>
          </p:cNvSpPr>
          <p:nvPr/>
        </p:nvSpPr>
        <p:spPr>
          <a:xfrm xmlns:a="http://schemas.openxmlformats.org/drawingml/2006/main">
            <a:off x="914400" y="491490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0">
                <a:solidFill>
                  <a:srgbClr val="5A6571"/>
                </a:solidFill>
                <a:latin typeface="Aptos"/>
                <a:ea typeface="Aptos"/>
                <a:cs typeface="Aptos"/>
              </a:defRPr>
            </a:pPr>
            <a:r>
              <a:rPr sz="1350" b="0">
                <a:solidFill>
                  <a:srgbClr val="5A6571"/>
                </a:solidFill>
                <a:latin typeface="Aptos"/>
                <a:ea typeface="Aptos"/>
                <a:cs typeface="Aptos"/>
              </a:rPr>
              <a:t>PR checks finish early and close to the developer.</a:t>
            </a:r>
          </a:p>
        </p:txBody>
      </p:sp>
      <p:sp>
        <p:nvSpPr>
          <p:cNvPr id="35" name="">
            <a:extLst xmlns:a="http://schemas.openxmlformats.org/drawingml/2006/main">
              <a:ext uri="{FF2B5EF4-FFF2-40B4-BE49-F238E27FC236}">
                <a16:creationId xmlns:a16="http://schemas.microsoft.com/office/drawing/2014/main" id="{EC42D460-5367-4C17-8B99-B3719DC16FC8}"/>
              </a:ext>
            </a:extLst>
          </p:cNvPr>
          <p:cNvSpPr>
            <a:spLocks xmlns:a="http://schemas.openxmlformats.org/drawingml/2006/main" noGrp="1"/>
          </p:cNvSpPr>
          <p:nvPr/>
        </p:nvSpPr>
        <p:spPr>
          <a:xfrm xmlns:a="http://schemas.openxmlformats.org/drawingml/2006/main">
            <a:off x="6400800" y="4552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2E74B5"/>
                </a:solidFill>
                <a:latin typeface="Aptos"/>
                <a:ea typeface="Aptos"/>
                <a:cs typeface="Aptos"/>
              </a:defRPr>
            </a:pPr>
            <a:r>
              <a:rPr sz="1800" b="1">
                <a:solidFill>
                  <a:srgbClr val="2E74B5"/>
                </a:solidFill>
                <a:latin typeface="Aptos"/>
                <a:ea typeface="Aptos"/>
                <a:cs typeface="Aptos"/>
              </a:rPr>
              <a:t>Release assurance</a:t>
            </a:r>
          </a:p>
        </p:txBody>
      </p:sp>
      <p:sp>
        <p:nvSpPr>
          <p:cNvPr id="36" name="">
            <a:extLst xmlns:a="http://schemas.openxmlformats.org/drawingml/2006/main">
              <a:ext uri="{FF2B5EF4-FFF2-40B4-BE49-F238E27FC236}">
                <a16:creationId xmlns:a16="http://schemas.microsoft.com/office/drawing/2014/main" id="{E19819EC-D6E0-4F7D-B72A-20BD9BB0A9DA}"/>
              </a:ext>
            </a:extLst>
          </p:cNvPr>
          <p:cNvSpPr>
            <a:spLocks xmlns:a="http://schemas.openxmlformats.org/drawingml/2006/main" noGrp="1"/>
          </p:cNvSpPr>
          <p:nvPr/>
        </p:nvSpPr>
        <p:spPr>
          <a:xfrm xmlns:a="http://schemas.openxmlformats.org/drawingml/2006/main">
            <a:off x="6400800" y="49149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0">
                <a:solidFill>
                  <a:srgbClr val="5A6571"/>
                </a:solidFill>
                <a:latin typeface="Aptos"/>
                <a:ea typeface="Aptos"/>
                <a:cs typeface="Aptos"/>
              </a:defRPr>
            </a:pPr>
            <a:r>
              <a:rPr sz="1350" b="0">
                <a:solidFill>
                  <a:srgbClr val="5A6571"/>
                </a:solidFill>
                <a:latin typeface="Aptos"/>
                <a:ea typeface="Aptos"/>
                <a:cs typeface="Aptos"/>
              </a:rPr>
              <a:t>Integration, DAST and performance run at the correct later stage.</a:t>
            </a:r>
          </a:p>
        </p:txBody>
      </p:sp>
    </p:spTree>
    <p:extLst>
      <p:ext uri="{BB962C8B-B14F-4D97-AF65-F5344CB8AC3E}">
        <p14:creationId xmlns:p14="http://schemas.microsoft.com/office/powerpoint/2010/main" val="21412279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d9f9d4551dd451f"/>
          <a:stretch xmlns:a="http://schemas.openxmlformats.org/drawingml/2006/main"/>
        </p:blipFill>
        <p:spPr>
          <a:xfrm xmlns:a="http://schemas.openxmlformats.org/drawingml/2006/main">
            <a:off x="952500" y="0"/>
            <a:ext cx="10287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3AC69B-E774-4124-B57C-BD9B63C4C5F2}"/>
              </a:ext>
            </a:extLst>
          </p:cNvPr>
          <p:cNvSpPr>
            <a:spLocks xmlns:a="http://schemas.openxmlformats.org/drawingml/2006/main" noGrp="1"/>
          </p:cNvSpPr>
          <p:nvPr/>
        </p:nvSpPr>
        <p:spPr>
          <a:xfrm xmlns:a="http://schemas.openxmlformats.org/drawingml/2006/main">
            <a:off x="11334750" y="653415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750" b="1">
                <a:solidFill>
                  <a:srgbClr val="5A6571"/>
                </a:solidFill>
                <a:latin typeface="Aptos"/>
                <a:ea typeface="Aptos"/>
                <a:cs typeface="Aptos"/>
              </a:defRPr>
            </a:pPr>
            <a:r>
              <a:rPr sz="750" b="1">
                <a:solidFill>
                  <a:srgbClr val="5A6571"/>
                </a:solidFill>
                <a:latin typeface="Aptos"/>
                <a:ea typeface="Aptos"/>
                <a:cs typeface="Aptos"/>
              </a:rPr>
              <a:t>03</a:t>
            </a:r>
          </a:p>
        </p:txBody>
      </p:sp>
    </p:spTree>
    <p:extLst>
      <p:ext uri="{BB962C8B-B14F-4D97-AF65-F5344CB8AC3E}">
        <p14:creationId xmlns:p14="http://schemas.microsoft.com/office/powerpoint/2010/main" val="18450210"/>
      </p:ext>
    </p:extLst>
  </p:cSld>
</p:sld>
</file>

<file path=ppt/slides/slide4.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A109682-D597-4337-8C11-6E915889C6A2}"/>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CONTINUOUS INTEGRATION</a:t>
            </a:r>
          </a:p>
        </p:txBody>
      </p:sp>
      <p:sp>
        <p:nvSpPr>
          <p:cNvPr id="2" name="">
            <a:extLst xmlns:a="http://schemas.openxmlformats.org/drawingml/2006/main">
              <a:ext uri="{FF2B5EF4-FFF2-40B4-BE49-F238E27FC236}">
                <a16:creationId xmlns:a16="http://schemas.microsoft.com/office/drawing/2014/main" id="{CBDDB1C6-9E99-4956-8521-20CD1051BF64}"/>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Pull requests stop defects before integration</a:t>
            </a:r>
          </a:p>
        </p:txBody>
      </p:sp>
      <p:sp>
        <p:nvSpPr>
          <p:cNvPr id="3" name="">
            <a:extLst xmlns:a="http://schemas.openxmlformats.org/drawingml/2006/main">
              <a:ext uri="{FF2B5EF4-FFF2-40B4-BE49-F238E27FC236}">
                <a16:creationId xmlns:a16="http://schemas.microsoft.com/office/drawing/2014/main" id="{CF0B01C4-4A59-48F1-9F39-D30614DFF915}"/>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393FA1-05EB-4EA1-96F3-46BC048AF36D}"/>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C7455733-FB6B-40DD-AD84-A1B57437D536}"/>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FE606EEB-3105-472F-BB9C-60E0B8E4D0F8}"/>
              </a:ext>
            </a:extLst>
          </p:cNvPr>
          <p:cNvSpPr>
            <a:spLocks xmlns:a="http://schemas.openxmlformats.org/drawingml/2006/main" noGrp="1"/>
          </p:cNvSpPr>
          <p:nvPr/>
        </p:nvSpPr>
        <p:spPr>
          <a:xfrm xmlns:a="http://schemas.openxmlformats.org/drawingml/2006/main">
            <a:off x="762000" y="1790700"/>
            <a:ext cx="2476500" cy="590550"/>
          </a:xfrm>
          <a:prstGeom xmlns:a="http://schemas.openxmlformats.org/drawingml/2006/main" prst="roundRect">
            <a:avLst>
              <a:gd name="adj" fmla="val 12903"/>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1854F"/>
                </a:solidFill>
                <a:latin typeface="Aptos"/>
                <a:ea typeface="Aptos"/>
                <a:cs typeface="Aptos"/>
              </a:defRPr>
            </a:pPr>
            <a:r>
              <a:rPr sz="1425" b="1">
                <a:solidFill>
                  <a:srgbClr val="11854F"/>
                </a:solidFill>
                <a:latin typeface="Aptos"/>
                <a:ea typeface="Aptos"/>
                <a:cs typeface="Aptos"/>
              </a:rPr>
              <a:t>Correctness</a:t>
            </a:r>
          </a:p>
        </p:txBody>
      </p:sp>
      <p:sp>
        <p:nvSpPr>
          <p:cNvPr id="7" name="">
            <a:extLst xmlns:a="http://schemas.openxmlformats.org/drawingml/2006/main">
              <a:ext uri="{FF2B5EF4-FFF2-40B4-BE49-F238E27FC236}">
                <a16:creationId xmlns:a16="http://schemas.microsoft.com/office/drawing/2014/main" id="{C130DE89-D24F-4DE6-B150-49CC4BD8CC4F}"/>
              </a:ext>
            </a:extLst>
          </p:cNvPr>
          <p:cNvSpPr>
            <a:spLocks xmlns:a="http://schemas.openxmlformats.org/drawingml/2006/main" noGrp="1"/>
          </p:cNvSpPr>
          <p:nvPr/>
        </p:nvSpPr>
        <p:spPr>
          <a:xfrm xmlns:a="http://schemas.openxmlformats.org/drawingml/2006/main">
            <a:off x="3505200" y="204787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1258EAE-2EAB-41F0-A711-521E0B642439}"/>
              </a:ext>
            </a:extLst>
          </p:cNvPr>
          <p:cNvSpPr>
            <a:spLocks xmlns:a="http://schemas.openxmlformats.org/drawingml/2006/main" noGrp="1"/>
          </p:cNvSpPr>
          <p:nvPr/>
        </p:nvSpPr>
        <p:spPr>
          <a:xfrm xmlns:a="http://schemas.openxmlformats.org/drawingml/2006/main">
            <a:off x="3790950" y="189547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D7DB380F-8F04-4018-88E4-C9A8A289E434}"/>
              </a:ext>
            </a:extLst>
          </p:cNvPr>
          <p:cNvSpPr>
            <a:spLocks xmlns:a="http://schemas.openxmlformats.org/drawingml/2006/main" noGrp="1"/>
          </p:cNvSpPr>
          <p:nvPr/>
        </p:nvSpPr>
        <p:spPr>
          <a:xfrm xmlns:a="http://schemas.openxmlformats.org/drawingml/2006/main">
            <a:off x="4267200" y="182880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Lint • type • unit • contract</a:t>
            </a:r>
          </a:p>
        </p:txBody>
      </p:sp>
      <p:sp>
        <p:nvSpPr>
          <p:cNvPr id="10" name="">
            <a:extLst xmlns:a="http://schemas.openxmlformats.org/drawingml/2006/main">
              <a:ext uri="{FF2B5EF4-FFF2-40B4-BE49-F238E27FC236}">
                <a16:creationId xmlns:a16="http://schemas.microsoft.com/office/drawing/2014/main" id="{33B7AA34-352B-4310-9888-5882AE6EB130}"/>
              </a:ext>
            </a:extLst>
          </p:cNvPr>
          <p:cNvSpPr>
            <a:spLocks xmlns:a="http://schemas.openxmlformats.org/drawingml/2006/main" noGrp="1"/>
          </p:cNvSpPr>
          <p:nvPr/>
        </p:nvSpPr>
        <p:spPr>
          <a:xfrm xmlns:a="http://schemas.openxmlformats.org/drawingml/2006/main">
            <a:off x="762000" y="2647950"/>
            <a:ext cx="2476500" cy="590550"/>
          </a:xfrm>
          <a:prstGeom xmlns:a="http://schemas.openxmlformats.org/drawingml/2006/main" prst="roundRect">
            <a:avLst>
              <a:gd name="adj" fmla="val 12903"/>
            </a:avLst>
          </a:prstGeom>
          <a:solidFill xmlns:a="http://schemas.openxmlformats.org/drawingml/2006/main">
            <a:srgbClr val="EAF2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2E74B5"/>
                </a:solidFill>
                <a:latin typeface="Aptos"/>
                <a:ea typeface="Aptos"/>
                <a:cs typeface="Aptos"/>
              </a:defRPr>
            </a:pPr>
            <a:r>
              <a:rPr sz="1425" b="1">
                <a:solidFill>
                  <a:srgbClr val="2E74B5"/>
                </a:solidFill>
                <a:latin typeface="Aptos"/>
                <a:ea typeface="Aptos"/>
                <a:cs typeface="Aptos"/>
              </a:rPr>
              <a:t>CodeQL SAST</a:t>
            </a:r>
          </a:p>
        </p:txBody>
      </p:sp>
      <p:sp>
        <p:nvSpPr>
          <p:cNvPr id="11" name="">
            <a:extLst xmlns:a="http://schemas.openxmlformats.org/drawingml/2006/main">
              <a:ext uri="{FF2B5EF4-FFF2-40B4-BE49-F238E27FC236}">
                <a16:creationId xmlns:a16="http://schemas.microsoft.com/office/drawing/2014/main" id="{4A22BBD1-7A4F-40C9-8974-5DF7055CCB65}"/>
              </a:ext>
            </a:extLst>
          </p:cNvPr>
          <p:cNvSpPr>
            <a:spLocks xmlns:a="http://schemas.openxmlformats.org/drawingml/2006/main" noGrp="1"/>
          </p:cNvSpPr>
          <p:nvPr/>
        </p:nvSpPr>
        <p:spPr>
          <a:xfrm xmlns:a="http://schemas.openxmlformats.org/drawingml/2006/main">
            <a:off x="3505200" y="290512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E4D9BD-3B51-4EFC-B723-50B6F61A0A0A}"/>
              </a:ext>
            </a:extLst>
          </p:cNvPr>
          <p:cNvSpPr>
            <a:spLocks xmlns:a="http://schemas.openxmlformats.org/drawingml/2006/main" noGrp="1"/>
          </p:cNvSpPr>
          <p:nvPr/>
        </p:nvSpPr>
        <p:spPr>
          <a:xfrm xmlns:a="http://schemas.openxmlformats.org/drawingml/2006/main">
            <a:off x="3790950" y="27527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B55C21DE-A141-40A8-B080-5FC5CEBFBB9A}"/>
              </a:ext>
            </a:extLst>
          </p:cNvPr>
          <p:cNvSpPr>
            <a:spLocks xmlns:a="http://schemas.openxmlformats.org/drawingml/2006/main" noGrp="1"/>
          </p:cNvSpPr>
          <p:nvPr/>
        </p:nvSpPr>
        <p:spPr>
          <a:xfrm xmlns:a="http://schemas.openxmlformats.org/drawingml/2006/main">
            <a:off x="4267200" y="268605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security-extended queries</a:t>
            </a:r>
          </a:p>
        </p:txBody>
      </p:sp>
      <p:sp>
        <p:nvSpPr>
          <p:cNvPr id="14" name="">
            <a:extLst xmlns:a="http://schemas.openxmlformats.org/drawingml/2006/main">
              <a:ext uri="{FF2B5EF4-FFF2-40B4-BE49-F238E27FC236}">
                <a16:creationId xmlns:a16="http://schemas.microsoft.com/office/drawing/2014/main" id="{9368433D-F6D0-4508-901F-C39DF9803426}"/>
              </a:ext>
            </a:extLst>
          </p:cNvPr>
          <p:cNvSpPr>
            <a:spLocks xmlns:a="http://schemas.openxmlformats.org/drawingml/2006/main" noGrp="1"/>
          </p:cNvSpPr>
          <p:nvPr/>
        </p:nvSpPr>
        <p:spPr>
          <a:xfrm xmlns:a="http://schemas.openxmlformats.org/drawingml/2006/main">
            <a:off x="762000" y="3505200"/>
            <a:ext cx="2476500" cy="590550"/>
          </a:xfrm>
          <a:prstGeom xmlns:a="http://schemas.openxmlformats.org/drawingml/2006/main" prst="roundRect">
            <a:avLst>
              <a:gd name="adj" fmla="val 12903"/>
            </a:avLst>
          </a:prstGeom>
          <a:solidFill xmlns:a="http://schemas.openxmlformats.org/drawingml/2006/main">
            <a:srgbClr val="F3EE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6B46A1"/>
                </a:solidFill>
                <a:latin typeface="Aptos"/>
                <a:ea typeface="Aptos"/>
                <a:cs typeface="Aptos"/>
              </a:defRPr>
            </a:pPr>
            <a:r>
              <a:rPr sz="1425" b="1">
                <a:solidFill>
                  <a:srgbClr val="6B46A1"/>
                </a:solidFill>
                <a:latin typeface="Aptos"/>
                <a:ea typeface="Aptos"/>
                <a:cs typeface="Aptos"/>
              </a:rPr>
              <a:t>Dependency Review</a:t>
            </a:r>
          </a:p>
        </p:txBody>
      </p:sp>
      <p:sp>
        <p:nvSpPr>
          <p:cNvPr id="15" name="">
            <a:extLst xmlns:a="http://schemas.openxmlformats.org/drawingml/2006/main">
              <a:ext uri="{FF2B5EF4-FFF2-40B4-BE49-F238E27FC236}">
                <a16:creationId xmlns:a16="http://schemas.microsoft.com/office/drawing/2014/main" id="{FE080F5E-D6F3-42A8-AAC3-3273DDD889EF}"/>
              </a:ext>
            </a:extLst>
          </p:cNvPr>
          <p:cNvSpPr>
            <a:spLocks xmlns:a="http://schemas.openxmlformats.org/drawingml/2006/main" noGrp="1"/>
          </p:cNvSpPr>
          <p:nvPr/>
        </p:nvSpPr>
        <p:spPr>
          <a:xfrm xmlns:a="http://schemas.openxmlformats.org/drawingml/2006/main">
            <a:off x="3505200" y="376237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7AE6524-35CB-48D9-8267-B1F9790E0ECB}"/>
              </a:ext>
            </a:extLst>
          </p:cNvPr>
          <p:cNvSpPr>
            <a:spLocks xmlns:a="http://schemas.openxmlformats.org/drawingml/2006/main" noGrp="1"/>
          </p:cNvSpPr>
          <p:nvPr/>
        </p:nvSpPr>
        <p:spPr>
          <a:xfrm xmlns:a="http://schemas.openxmlformats.org/drawingml/2006/main">
            <a:off x="3790950" y="360997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F17022BF-36C2-4DB0-8A93-9BDAC4CCD5ED}"/>
              </a:ext>
            </a:extLst>
          </p:cNvPr>
          <p:cNvSpPr>
            <a:spLocks xmlns:a="http://schemas.openxmlformats.org/drawingml/2006/main" noGrp="1"/>
          </p:cNvSpPr>
          <p:nvPr/>
        </p:nvSpPr>
        <p:spPr>
          <a:xfrm xmlns:a="http://schemas.openxmlformats.org/drawingml/2006/main">
            <a:off x="4267200" y="354330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0B2545"/>
                </a:solidFill>
                <a:latin typeface="Aptos"/>
                <a:ea typeface="Aptos"/>
                <a:cs typeface="Aptos"/>
              </a:defRPr>
            </a:pPr>
            <a:r>
              <a:rPr sz="1575" b="1">
                <a:solidFill>
                  <a:srgbClr val="0B2545"/>
                </a:solidFill>
                <a:latin typeface="Aptos"/>
                <a:ea typeface="Aptos"/>
                <a:cs typeface="Aptos"/>
              </a:rPr>
              <a:t>Moderate+ blocks</a:t>
            </a:r>
          </a:p>
        </p:txBody>
      </p:sp>
      <p:sp>
        <p:nvSpPr>
          <p:cNvPr id="18" name="">
            <a:extLst xmlns:a="http://schemas.openxmlformats.org/drawingml/2006/main">
              <a:ext uri="{FF2B5EF4-FFF2-40B4-BE49-F238E27FC236}">
                <a16:creationId xmlns:a16="http://schemas.microsoft.com/office/drawing/2014/main" id="{2099C21D-DFF2-4B71-9573-C7601743C699}"/>
              </a:ext>
            </a:extLst>
          </p:cNvPr>
          <p:cNvSpPr>
            <a:spLocks xmlns:a="http://schemas.openxmlformats.org/drawingml/2006/main" noGrp="1"/>
          </p:cNvSpPr>
          <p:nvPr/>
        </p:nvSpPr>
        <p:spPr>
          <a:xfrm xmlns:a="http://schemas.openxmlformats.org/drawingml/2006/main">
            <a:off x="762000" y="4362450"/>
            <a:ext cx="2476500" cy="590550"/>
          </a:xfrm>
          <a:prstGeom xmlns:a="http://schemas.openxmlformats.org/drawingml/2006/main" prst="roundRect">
            <a:avLst>
              <a:gd name="adj" fmla="val 12903"/>
            </a:avLst>
          </a:prstGeom>
          <a:solidFill xmlns:a="http://schemas.openxmlformats.org/drawingml/2006/main">
            <a:srgbClr val="F2F4F7"/>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5A6571"/>
                </a:solidFill>
                <a:latin typeface="Aptos"/>
                <a:ea typeface="Aptos"/>
                <a:cs typeface="Aptos"/>
              </a:defRPr>
            </a:pPr>
            <a:r>
              <a:rPr sz="1425" b="1">
                <a:solidFill>
                  <a:srgbClr val="5A6571"/>
                </a:solidFill>
                <a:latin typeface="Aptos"/>
                <a:ea typeface="Aptos"/>
                <a:cs typeface="Aptos"/>
              </a:rPr>
              <a:t>Evidence</a:t>
            </a:r>
          </a:p>
        </p:txBody>
      </p:sp>
      <p:sp>
        <p:nvSpPr>
          <p:cNvPr id="19" name="">
            <a:extLst xmlns:a="http://schemas.openxmlformats.org/drawingml/2006/main">
              <a:ext uri="{FF2B5EF4-FFF2-40B4-BE49-F238E27FC236}">
                <a16:creationId xmlns:a16="http://schemas.microsoft.com/office/drawing/2014/main" id="{9A031E3C-0A63-402B-AEDC-D733FC4A284B}"/>
              </a:ext>
            </a:extLst>
          </p:cNvPr>
          <p:cNvSpPr>
            <a:spLocks xmlns:a="http://schemas.openxmlformats.org/drawingml/2006/main" noGrp="1"/>
          </p:cNvSpPr>
          <p:nvPr/>
        </p:nvSpPr>
        <p:spPr>
          <a:xfrm xmlns:a="http://schemas.openxmlformats.org/drawingml/2006/main">
            <a:off x="3505200" y="461962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033D0F1-B78D-482D-B830-83BAF732AEF4}"/>
              </a:ext>
            </a:extLst>
          </p:cNvPr>
          <p:cNvSpPr>
            <a:spLocks xmlns:a="http://schemas.openxmlformats.org/drawingml/2006/main" noGrp="1"/>
          </p:cNvSpPr>
          <p:nvPr/>
        </p:nvSpPr>
        <p:spPr>
          <a:xfrm xmlns:a="http://schemas.openxmlformats.org/drawingml/2006/main">
            <a:off x="3790950" y="44672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660272BB-8DB7-48BC-9EAF-AC24AA3E426B}"/>
              </a:ext>
            </a:extLst>
          </p:cNvPr>
          <p:cNvSpPr>
            <a:spLocks xmlns:a="http://schemas.openxmlformats.org/drawingml/2006/main" noGrp="1"/>
          </p:cNvSpPr>
          <p:nvPr/>
        </p:nvSpPr>
        <p:spPr>
          <a:xfrm xmlns:a="http://schemas.openxmlformats.org/drawingml/2006/main">
            <a:off x="4267200" y="440055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SARIF • tests • artifacts</a:t>
            </a:r>
          </a:p>
        </p:txBody>
      </p:sp>
      <p:sp>
        <p:nvSpPr>
          <p:cNvPr id="22" name="">
            <a:extLst xmlns:a="http://schemas.openxmlformats.org/drawingml/2006/main">
              <a:ext uri="{FF2B5EF4-FFF2-40B4-BE49-F238E27FC236}">
                <a16:creationId xmlns:a16="http://schemas.microsoft.com/office/drawing/2014/main" id="{266684DE-9878-45CF-B795-F997064F5189}"/>
              </a:ext>
            </a:extLst>
          </p:cNvPr>
          <p:cNvSpPr>
            <a:spLocks xmlns:a="http://schemas.openxmlformats.org/drawingml/2006/main" noGrp="1"/>
          </p:cNvSpPr>
          <p:nvPr/>
        </p:nvSpPr>
        <p:spPr>
          <a:xfrm xmlns:a="http://schemas.openxmlformats.org/drawingml/2006/main">
            <a:off x="8991600" y="1809750"/>
            <a:ext cx="2381250" cy="3028950"/>
          </a:xfrm>
          <a:prstGeom xmlns:a="http://schemas.openxmlformats.org/drawingml/2006/main" prst="roundRect">
            <a:avLst>
              <a:gd name="adj" fmla="val 3200"/>
            </a:avLst>
          </a:prstGeom>
          <a:solidFill xmlns:a="http://schemas.openxmlformats.org/drawingml/2006/main">
            <a:srgbClr val="FDECEC"/>
          </a:solidFill>
          <a:ln xmlns:a="http://schemas.openxmlformats.org/drawingml/2006/main" w="9525">
            <a:solidFill>
              <a:srgbClr val="E6B8B5"/>
            </a:solidFill>
            <a:prstDash val="solid"/>
          </a:ln>
        </p:spPr>
      </p:sp>
      <p:sp>
        <p:nvSpPr>
          <p:cNvPr id="23" name="">
            <a:extLst xmlns:a="http://schemas.openxmlformats.org/drawingml/2006/main">
              <a:ext uri="{FF2B5EF4-FFF2-40B4-BE49-F238E27FC236}">
                <a16:creationId xmlns:a16="http://schemas.microsoft.com/office/drawing/2014/main" id="{E1A90099-5B8B-440F-B1EC-EE34348048A6}"/>
              </a:ext>
            </a:extLst>
          </p:cNvPr>
          <p:cNvSpPr>
            <a:spLocks xmlns:a="http://schemas.openxmlformats.org/drawingml/2006/main" noGrp="1"/>
          </p:cNvSpPr>
          <p:nvPr/>
        </p:nvSpPr>
        <p:spPr>
          <a:xfrm xmlns:a="http://schemas.openxmlformats.org/drawingml/2006/main">
            <a:off x="9334500" y="2133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B3261E"/>
                </a:solidFill>
                <a:latin typeface="Aptos"/>
                <a:ea typeface="Aptos"/>
                <a:cs typeface="Aptos"/>
              </a:defRPr>
            </a:pPr>
            <a:r>
              <a:rPr sz="1350" b="1">
                <a:solidFill>
                  <a:srgbClr val="B3261E"/>
                </a:solidFill>
                <a:latin typeface="Aptos"/>
                <a:ea typeface="Aptos"/>
                <a:cs typeface="Aptos"/>
              </a:rPr>
              <a:t>BLOCK</a:t>
            </a:r>
          </a:p>
        </p:txBody>
      </p:sp>
      <p:sp>
        <p:nvSpPr>
          <p:cNvPr id="24" name="">
            <a:extLst xmlns:a="http://schemas.openxmlformats.org/drawingml/2006/main">
              <a:ext uri="{FF2B5EF4-FFF2-40B4-BE49-F238E27FC236}">
                <a16:creationId xmlns:a16="http://schemas.microsoft.com/office/drawing/2014/main" id="{4EF72AAC-DA9D-4EBA-8867-45B874144A48}"/>
              </a:ext>
            </a:extLst>
          </p:cNvPr>
          <p:cNvSpPr>
            <a:spLocks xmlns:a="http://schemas.openxmlformats.org/drawingml/2006/main" noGrp="1"/>
          </p:cNvSpPr>
          <p:nvPr/>
        </p:nvSpPr>
        <p:spPr>
          <a:xfrm xmlns:a="http://schemas.openxmlformats.org/drawingml/2006/main">
            <a:off x="9220200" y="2724150"/>
            <a:ext cx="1924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700" b="1">
                <a:solidFill>
                  <a:srgbClr val="B3261E"/>
                </a:solidFill>
                <a:latin typeface="Aptos"/>
                <a:ea typeface="Aptos"/>
                <a:cs typeface="Aptos"/>
              </a:defRPr>
            </a:pPr>
            <a:r>
              <a:rPr sz="2700" b="1">
                <a:solidFill>
                  <a:srgbClr val="B3261E"/>
                </a:solidFill>
                <a:latin typeface="Aptos"/>
                <a:ea typeface="Aptos"/>
                <a:cs typeface="Aptos"/>
              </a:rPr>
              <a:t>Medium+</a:t>
            </a:r>
          </a:p>
        </p:txBody>
      </p:sp>
      <p:sp>
        <p:nvSpPr>
          <p:cNvPr id="25" name="">
            <a:extLst xmlns:a="http://schemas.openxmlformats.org/drawingml/2006/main">
              <a:ext uri="{FF2B5EF4-FFF2-40B4-BE49-F238E27FC236}">
                <a16:creationId xmlns:a16="http://schemas.microsoft.com/office/drawing/2014/main" id="{54FCC699-29E5-4046-A3FA-C34562A0FCE4}"/>
              </a:ext>
            </a:extLst>
          </p:cNvPr>
          <p:cNvSpPr>
            <a:spLocks xmlns:a="http://schemas.openxmlformats.org/drawingml/2006/main" noGrp="1"/>
          </p:cNvSpPr>
          <p:nvPr/>
        </p:nvSpPr>
        <p:spPr>
          <a:xfrm xmlns:a="http://schemas.openxmlformats.org/drawingml/2006/main">
            <a:off x="9353550" y="33909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B3261E"/>
                </a:solidFill>
                <a:latin typeface="Aptos"/>
                <a:ea typeface="Aptos"/>
                <a:cs typeface="Aptos"/>
              </a:defRPr>
            </a:pPr>
            <a:r>
              <a:rPr sz="1350" b="1">
                <a:solidFill>
                  <a:srgbClr val="B3261E"/>
                </a:solidFill>
                <a:latin typeface="Aptos"/>
                <a:ea typeface="Aptos"/>
                <a:cs typeface="Aptos"/>
              </a:rPr>
              <a:t>CVSS 4.0</a:t>
            </a:r>
          </a:p>
        </p:txBody>
      </p:sp>
      <p:sp>
        <p:nvSpPr>
          <p:cNvPr id="26" name="">
            <a:extLst xmlns:a="http://schemas.openxmlformats.org/drawingml/2006/main">
              <a:ext uri="{FF2B5EF4-FFF2-40B4-BE49-F238E27FC236}">
                <a16:creationId xmlns:a16="http://schemas.microsoft.com/office/drawing/2014/main" id="{1AF18408-1556-4552-B906-1660F6744CC8}"/>
              </a:ext>
            </a:extLst>
          </p:cNvPr>
          <p:cNvSpPr>
            <a:spLocks xmlns:a="http://schemas.openxmlformats.org/drawingml/2006/main" noGrp="1"/>
          </p:cNvSpPr>
          <p:nvPr/>
        </p:nvSpPr>
        <p:spPr>
          <a:xfrm xmlns:a="http://schemas.openxmlformats.org/drawingml/2006/main">
            <a:off x="9277350" y="390525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0">
                <a:solidFill>
                  <a:srgbClr val="5A6571"/>
                </a:solidFill>
                <a:latin typeface="Aptos"/>
                <a:ea typeface="Aptos"/>
                <a:cs typeface="Aptos"/>
              </a:defRPr>
            </a:pPr>
            <a:r>
              <a:rPr sz="1275" b="0">
                <a:solidFill>
                  <a:srgbClr val="5A6571"/>
                </a:solidFill>
                <a:latin typeface="Aptos"/>
                <a:ea typeface="Aptos"/>
                <a:cs typeface="Aptos"/>
              </a:rPr>
              <a:t>Fail closed when evidence is missing or incomplete.</a:t>
            </a:r>
          </a:p>
        </p:txBody>
      </p:sp>
      <p:sp>
        <p:nvSpPr>
          <p:cNvPr id="27" name="">
            <a:extLst xmlns:a="http://schemas.openxmlformats.org/drawingml/2006/main">
              <a:ext uri="{FF2B5EF4-FFF2-40B4-BE49-F238E27FC236}">
                <a16:creationId xmlns:a16="http://schemas.microsoft.com/office/drawing/2014/main" id="{07E41E2D-201E-4A00-9E85-B18143AC2439}"/>
              </a:ext>
            </a:extLst>
          </p:cNvPr>
          <p:cNvSpPr>
            <a:spLocks xmlns:a="http://schemas.openxmlformats.org/drawingml/2006/main" noGrp="1"/>
          </p:cNvSpPr>
          <p:nvPr/>
        </p:nvSpPr>
        <p:spPr>
          <a:xfrm xmlns:a="http://schemas.openxmlformats.org/drawingml/2006/main">
            <a:off x="781050" y="557212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0">
                <a:solidFill>
                  <a:srgbClr val="5A6571"/>
                </a:solidFill>
                <a:latin typeface="Aptos"/>
                <a:ea typeface="Aptos"/>
                <a:cs typeface="Aptos"/>
              </a:defRPr>
            </a:pPr>
            <a:r>
              <a:rPr sz="1350" b="0">
                <a:solidFill>
                  <a:srgbClr val="5A6571"/>
                </a:solidFill>
                <a:latin typeface="Aptos"/>
                <a:ea typeface="Aptos"/>
                <a:cs typeface="Aptos"/>
              </a:rPr>
              <a:t>Android compiles for Kotlin CodeQL extraction; the other repositories use the supported analysis mode for their language.</a:t>
            </a:r>
          </a:p>
        </p:txBody>
      </p:sp>
    </p:spTree>
    <p:extLst>
      <p:ext uri="{BB962C8B-B14F-4D97-AF65-F5344CB8AC3E}">
        <p14:creationId xmlns:p14="http://schemas.microsoft.com/office/powerpoint/2010/main" val="160865774"/>
      </p:ext>
    </p:extLst>
  </p:cSld>
</p:sld>
</file>

<file path=ppt/slides/slide5.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669B5C2-35E3-4BB6-88BB-B9FFCEC8B338}"/>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SECURE SUPPLY CHAIN</a:t>
            </a:r>
          </a:p>
        </p:txBody>
      </p:sp>
      <p:sp>
        <p:nvSpPr>
          <p:cNvPr id="2" name="">
            <a:extLst xmlns:a="http://schemas.openxmlformats.org/drawingml/2006/main">
              <a:ext uri="{FF2B5EF4-FFF2-40B4-BE49-F238E27FC236}">
                <a16:creationId xmlns:a16="http://schemas.microsoft.com/office/drawing/2014/main" id="{B9F3FC49-80FF-4C86-81B8-79D21F96D054}"/>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The release is scanned before it reaches the registry</a:t>
            </a:r>
          </a:p>
        </p:txBody>
      </p:sp>
      <p:sp>
        <p:nvSpPr>
          <p:cNvPr id="3" name="">
            <a:extLst xmlns:a="http://schemas.openxmlformats.org/drawingml/2006/main">
              <a:ext uri="{FF2B5EF4-FFF2-40B4-BE49-F238E27FC236}">
                <a16:creationId xmlns:a16="http://schemas.microsoft.com/office/drawing/2014/main" id="{150D76E0-A4BE-4D3A-A50B-DDF4452CDE66}"/>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A62456-385A-4753-BB76-5F5AFCD7E68D}"/>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62B4A1F5-9C0F-4DE3-B9D0-77513672D792}"/>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BAF71E09-BD77-45EF-8DB7-4091961D993A}"/>
              </a:ext>
            </a:extLst>
          </p:cNvPr>
          <p:cNvSpPr>
            <a:spLocks xmlns:a="http://schemas.openxmlformats.org/drawingml/2006/main" noGrp="1"/>
          </p:cNvSpPr>
          <p:nvPr/>
        </p:nvSpPr>
        <p:spPr>
          <a:xfrm xmlns:a="http://schemas.openxmlformats.org/drawingml/2006/main">
            <a:off x="762000" y="2038350"/>
            <a:ext cx="2095500" cy="762000"/>
          </a:xfrm>
          <a:prstGeom xmlns:a="http://schemas.openxmlformats.org/drawingml/2006/main" prst="roundRect">
            <a:avLst>
              <a:gd name="adj" fmla="val 10000"/>
            </a:avLst>
          </a:prstGeom>
          <a:solidFill xmlns:a="http://schemas.openxmlformats.org/drawingml/2006/main">
            <a:srgbClr val="EAF2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00" b="1">
                <a:solidFill>
                  <a:srgbClr val="2E74B5"/>
                </a:solidFill>
                <a:latin typeface="Aptos"/>
                <a:ea typeface="Aptos"/>
                <a:cs typeface="Aptos"/>
              </a:defRPr>
            </a:pPr>
            <a:r>
              <a:rPr sz="1800" b="1">
                <a:solidFill>
                  <a:srgbClr val="2E74B5"/>
                </a:solidFill>
                <a:latin typeface="Aptos"/>
                <a:ea typeface="Aptos"/>
                <a:cs typeface="Aptos"/>
              </a:rPr>
              <a:t>BUILD</a:t>
            </a:r>
          </a:p>
        </p:txBody>
      </p:sp>
      <p:sp>
        <p:nvSpPr>
          <p:cNvPr id="7" name="">
            <a:extLst xmlns:a="http://schemas.openxmlformats.org/drawingml/2006/main">
              <a:ext uri="{FF2B5EF4-FFF2-40B4-BE49-F238E27FC236}">
                <a16:creationId xmlns:a16="http://schemas.microsoft.com/office/drawing/2014/main" id="{1758E224-8871-4F8B-BFC7-FBDE7D01F3A3}"/>
              </a:ext>
            </a:extLst>
          </p:cNvPr>
          <p:cNvSpPr>
            <a:spLocks xmlns:a="http://schemas.openxmlformats.org/drawingml/2006/main" noGrp="1"/>
          </p:cNvSpPr>
          <p:nvPr/>
        </p:nvSpPr>
        <p:spPr>
          <a:xfrm xmlns:a="http://schemas.openxmlformats.org/drawingml/2006/main">
            <a:off x="762000" y="2990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7 images</a:t>
            </a:r>
          </a:p>
        </p:txBody>
      </p:sp>
      <p:sp>
        <p:nvSpPr>
          <p:cNvPr id="8" name="">
            <a:extLst xmlns:a="http://schemas.openxmlformats.org/drawingml/2006/main">
              <a:ext uri="{FF2B5EF4-FFF2-40B4-BE49-F238E27FC236}">
                <a16:creationId xmlns:a16="http://schemas.microsoft.com/office/drawing/2014/main" id="{D0860998-D2DF-486F-9A19-A103692096A1}"/>
              </a:ext>
            </a:extLst>
          </p:cNvPr>
          <p:cNvSpPr>
            <a:spLocks xmlns:a="http://schemas.openxmlformats.org/drawingml/2006/main" noGrp="1"/>
          </p:cNvSpPr>
          <p:nvPr/>
        </p:nvSpPr>
        <p:spPr>
          <a:xfrm xmlns:a="http://schemas.openxmlformats.org/drawingml/2006/main">
            <a:off x="2952750" y="237172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BDDC75E-363B-46B8-9AB9-DAC4D8C159AB}"/>
              </a:ext>
            </a:extLst>
          </p:cNvPr>
          <p:cNvSpPr>
            <a:spLocks xmlns:a="http://schemas.openxmlformats.org/drawingml/2006/main" noGrp="1"/>
          </p:cNvSpPr>
          <p:nvPr/>
        </p:nvSpPr>
        <p:spPr>
          <a:xfrm xmlns:a="http://schemas.openxmlformats.org/drawingml/2006/main">
            <a:off x="3238500" y="22193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E14EFE06-F148-4386-A23B-22C0DEC178D2}"/>
              </a:ext>
            </a:extLst>
          </p:cNvPr>
          <p:cNvSpPr>
            <a:spLocks xmlns:a="http://schemas.openxmlformats.org/drawingml/2006/main" noGrp="1"/>
          </p:cNvSpPr>
          <p:nvPr/>
        </p:nvSpPr>
        <p:spPr>
          <a:xfrm xmlns:a="http://schemas.openxmlformats.org/drawingml/2006/main">
            <a:off x="3562350" y="2038350"/>
            <a:ext cx="2095500" cy="762000"/>
          </a:xfrm>
          <a:prstGeom xmlns:a="http://schemas.openxmlformats.org/drawingml/2006/main" prst="roundRect">
            <a:avLst>
              <a:gd name="adj" fmla="val 10000"/>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00" b="1">
                <a:solidFill>
                  <a:srgbClr val="11854F"/>
                </a:solidFill>
                <a:latin typeface="Aptos"/>
                <a:ea typeface="Aptos"/>
                <a:cs typeface="Aptos"/>
              </a:defRPr>
            </a:pPr>
            <a:r>
              <a:rPr sz="1800" b="1">
                <a:solidFill>
                  <a:srgbClr val="11854F"/>
                </a:solidFill>
                <a:latin typeface="Aptos"/>
                <a:ea typeface="Aptos"/>
                <a:cs typeface="Aptos"/>
              </a:rPr>
              <a:t>SBOM</a:t>
            </a:r>
          </a:p>
        </p:txBody>
      </p:sp>
      <p:sp>
        <p:nvSpPr>
          <p:cNvPr id="11" name="">
            <a:extLst xmlns:a="http://schemas.openxmlformats.org/drawingml/2006/main">
              <a:ext uri="{FF2B5EF4-FFF2-40B4-BE49-F238E27FC236}">
                <a16:creationId xmlns:a16="http://schemas.microsoft.com/office/drawing/2014/main" id="{9DD0EA22-6BB4-4F10-AAF3-9A17F8634694}"/>
              </a:ext>
            </a:extLst>
          </p:cNvPr>
          <p:cNvSpPr>
            <a:spLocks xmlns:a="http://schemas.openxmlformats.org/drawingml/2006/main" noGrp="1"/>
          </p:cNvSpPr>
          <p:nvPr/>
        </p:nvSpPr>
        <p:spPr>
          <a:xfrm xmlns:a="http://schemas.openxmlformats.org/drawingml/2006/main">
            <a:off x="3562350" y="2990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CycloneDX</a:t>
            </a:r>
          </a:p>
        </p:txBody>
      </p:sp>
      <p:sp>
        <p:nvSpPr>
          <p:cNvPr id="12" name="">
            <a:extLst xmlns:a="http://schemas.openxmlformats.org/drawingml/2006/main">
              <a:ext uri="{FF2B5EF4-FFF2-40B4-BE49-F238E27FC236}">
                <a16:creationId xmlns:a16="http://schemas.microsoft.com/office/drawing/2014/main" id="{A37D0166-8198-403E-B284-8A73E0247252}"/>
              </a:ext>
            </a:extLst>
          </p:cNvPr>
          <p:cNvSpPr>
            <a:spLocks xmlns:a="http://schemas.openxmlformats.org/drawingml/2006/main" noGrp="1"/>
          </p:cNvSpPr>
          <p:nvPr/>
        </p:nvSpPr>
        <p:spPr>
          <a:xfrm xmlns:a="http://schemas.openxmlformats.org/drawingml/2006/main">
            <a:off x="5753100" y="237172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2F844B-1376-4657-8CF2-20974998FA8F}"/>
              </a:ext>
            </a:extLst>
          </p:cNvPr>
          <p:cNvSpPr>
            <a:spLocks xmlns:a="http://schemas.openxmlformats.org/drawingml/2006/main" noGrp="1"/>
          </p:cNvSpPr>
          <p:nvPr/>
        </p:nvSpPr>
        <p:spPr>
          <a:xfrm xmlns:a="http://schemas.openxmlformats.org/drawingml/2006/main">
            <a:off x="6038850" y="22193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EF6138BB-7874-4201-9308-1873E94B7060}"/>
              </a:ext>
            </a:extLst>
          </p:cNvPr>
          <p:cNvSpPr>
            <a:spLocks xmlns:a="http://schemas.openxmlformats.org/drawingml/2006/main" noGrp="1"/>
          </p:cNvSpPr>
          <p:nvPr/>
        </p:nvSpPr>
        <p:spPr>
          <a:xfrm xmlns:a="http://schemas.openxmlformats.org/drawingml/2006/main">
            <a:off x="6362700" y="2038350"/>
            <a:ext cx="2095500" cy="762000"/>
          </a:xfrm>
          <a:prstGeom xmlns:a="http://schemas.openxmlformats.org/drawingml/2006/main" prst="roundRect">
            <a:avLst>
              <a:gd name="adj" fmla="val 10000"/>
            </a:avLst>
          </a:prstGeom>
          <a:solidFill xmlns:a="http://schemas.openxmlformats.org/drawingml/2006/main">
            <a:srgbClr val="FDECEC"/>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00" b="1">
                <a:solidFill>
                  <a:srgbClr val="B3261E"/>
                </a:solidFill>
                <a:latin typeface="Aptos"/>
                <a:ea typeface="Aptos"/>
                <a:cs typeface="Aptos"/>
              </a:defRPr>
            </a:pPr>
            <a:r>
              <a:rPr sz="1800" b="1">
                <a:solidFill>
                  <a:srgbClr val="B3261E"/>
                </a:solidFill>
                <a:latin typeface="Aptos"/>
                <a:ea typeface="Aptos"/>
                <a:cs typeface="Aptos"/>
              </a:rPr>
              <a:t>TRIVY</a:t>
            </a:r>
          </a:p>
        </p:txBody>
      </p:sp>
      <p:sp>
        <p:nvSpPr>
          <p:cNvPr id="15" name="">
            <a:extLst xmlns:a="http://schemas.openxmlformats.org/drawingml/2006/main">
              <a:ext uri="{FF2B5EF4-FFF2-40B4-BE49-F238E27FC236}">
                <a16:creationId xmlns:a16="http://schemas.microsoft.com/office/drawing/2014/main" id="{FB4078BF-3EEA-49D1-851B-CE61F898E41F}"/>
              </a:ext>
            </a:extLst>
          </p:cNvPr>
          <p:cNvSpPr>
            <a:spLocks xmlns:a="http://schemas.openxmlformats.org/drawingml/2006/main" noGrp="1"/>
          </p:cNvSpPr>
          <p:nvPr/>
        </p:nvSpPr>
        <p:spPr>
          <a:xfrm xmlns:a="http://schemas.openxmlformats.org/drawingml/2006/main">
            <a:off x="6362700" y="2990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Medium+ gate</a:t>
            </a:r>
          </a:p>
        </p:txBody>
      </p:sp>
      <p:sp>
        <p:nvSpPr>
          <p:cNvPr id="16" name="">
            <a:extLst xmlns:a="http://schemas.openxmlformats.org/drawingml/2006/main">
              <a:ext uri="{FF2B5EF4-FFF2-40B4-BE49-F238E27FC236}">
                <a16:creationId xmlns:a16="http://schemas.microsoft.com/office/drawing/2014/main" id="{9A0EB156-D47E-4314-9642-5F56886D5B35}"/>
              </a:ext>
            </a:extLst>
          </p:cNvPr>
          <p:cNvSpPr>
            <a:spLocks xmlns:a="http://schemas.openxmlformats.org/drawingml/2006/main" noGrp="1"/>
          </p:cNvSpPr>
          <p:nvPr/>
        </p:nvSpPr>
        <p:spPr>
          <a:xfrm xmlns:a="http://schemas.openxmlformats.org/drawingml/2006/main">
            <a:off x="8553450" y="2371725"/>
            <a:ext cx="3619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50AD274-2048-4524-8CB5-97EF564B97DF}"/>
              </a:ext>
            </a:extLst>
          </p:cNvPr>
          <p:cNvSpPr>
            <a:spLocks xmlns:a="http://schemas.openxmlformats.org/drawingml/2006/main" noGrp="1"/>
          </p:cNvSpPr>
          <p:nvPr/>
        </p:nvSpPr>
        <p:spPr>
          <a:xfrm xmlns:a="http://schemas.openxmlformats.org/drawingml/2006/main">
            <a:off x="8839200" y="22193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93B0107C-B977-4E84-8D50-A7B5532199CF}"/>
              </a:ext>
            </a:extLst>
          </p:cNvPr>
          <p:cNvSpPr>
            <a:spLocks xmlns:a="http://schemas.openxmlformats.org/drawingml/2006/main" noGrp="1"/>
          </p:cNvSpPr>
          <p:nvPr/>
        </p:nvSpPr>
        <p:spPr>
          <a:xfrm xmlns:a="http://schemas.openxmlformats.org/drawingml/2006/main">
            <a:off x="9163050" y="2038350"/>
            <a:ext cx="2095500" cy="762000"/>
          </a:xfrm>
          <a:prstGeom xmlns:a="http://schemas.openxmlformats.org/drawingml/2006/main" prst="roundRect">
            <a:avLst>
              <a:gd name="adj" fmla="val 10000"/>
            </a:avLst>
          </a:prstGeom>
          <a:solidFill xmlns:a="http://schemas.openxmlformats.org/drawingml/2006/main">
            <a:srgbClr val="EEF3E8"/>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00" b="1">
                <a:solidFill>
                  <a:srgbClr val="527A2C"/>
                </a:solidFill>
                <a:latin typeface="Aptos"/>
                <a:ea typeface="Aptos"/>
                <a:cs typeface="Aptos"/>
              </a:defRPr>
            </a:pPr>
            <a:r>
              <a:rPr sz="1800" b="1">
                <a:solidFill>
                  <a:srgbClr val="527A2C"/>
                </a:solidFill>
                <a:latin typeface="Aptos"/>
                <a:ea typeface="Aptos"/>
                <a:cs typeface="Aptos"/>
              </a:rPr>
              <a:t>ECR</a:t>
            </a:r>
          </a:p>
        </p:txBody>
      </p:sp>
      <p:sp>
        <p:nvSpPr>
          <p:cNvPr id="19" name="">
            <a:extLst xmlns:a="http://schemas.openxmlformats.org/drawingml/2006/main">
              <a:ext uri="{FF2B5EF4-FFF2-40B4-BE49-F238E27FC236}">
                <a16:creationId xmlns:a16="http://schemas.microsoft.com/office/drawing/2014/main" id="{36EF3874-9532-4B48-91BC-1854269140FD}"/>
              </a:ext>
            </a:extLst>
          </p:cNvPr>
          <p:cNvSpPr>
            <a:spLocks xmlns:a="http://schemas.openxmlformats.org/drawingml/2006/main" noGrp="1"/>
          </p:cNvSpPr>
          <p:nvPr/>
        </p:nvSpPr>
        <p:spPr>
          <a:xfrm xmlns:a="http://schemas.openxmlformats.org/drawingml/2006/main">
            <a:off x="9163050" y="2990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SHA-256 digest</a:t>
            </a:r>
          </a:p>
        </p:txBody>
      </p:sp>
      <p:sp>
        <p:nvSpPr>
          <p:cNvPr id="20" name="">
            <a:extLst xmlns:a="http://schemas.openxmlformats.org/drawingml/2006/main">
              <a:ext uri="{FF2B5EF4-FFF2-40B4-BE49-F238E27FC236}">
                <a16:creationId xmlns:a16="http://schemas.microsoft.com/office/drawing/2014/main" id="{E9B8D751-4B6F-49A3-B737-D48352DBD7C1}"/>
              </a:ext>
            </a:extLst>
          </p:cNvPr>
          <p:cNvSpPr>
            <a:spLocks xmlns:a="http://schemas.openxmlformats.org/drawingml/2006/main" noGrp="1"/>
          </p:cNvSpPr>
          <p:nvPr/>
        </p:nvSpPr>
        <p:spPr>
          <a:xfrm xmlns:a="http://schemas.openxmlformats.org/drawingml/2006/main">
            <a:off x="76200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1</a:t>
            </a:r>
          </a:p>
        </p:txBody>
      </p:sp>
      <p:sp>
        <p:nvSpPr>
          <p:cNvPr id="21" name="">
            <a:extLst xmlns:a="http://schemas.openxmlformats.org/drawingml/2006/main">
              <a:ext uri="{FF2B5EF4-FFF2-40B4-BE49-F238E27FC236}">
                <a16:creationId xmlns:a16="http://schemas.microsoft.com/office/drawing/2014/main" id="{8E3FEBD9-F0C7-47A6-9DA8-352225F37EDA}"/>
              </a:ext>
            </a:extLst>
          </p:cNvPr>
          <p:cNvSpPr>
            <a:spLocks xmlns:a="http://schemas.openxmlformats.org/drawingml/2006/main" noGrp="1"/>
          </p:cNvSpPr>
          <p:nvPr/>
        </p:nvSpPr>
        <p:spPr>
          <a:xfrm xmlns:a="http://schemas.openxmlformats.org/drawingml/2006/main">
            <a:off x="99060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Backend</a:t>
            </a:r>
          </a:p>
        </p:txBody>
      </p:sp>
      <p:sp>
        <p:nvSpPr>
          <p:cNvPr id="22" name="">
            <a:extLst xmlns:a="http://schemas.openxmlformats.org/drawingml/2006/main">
              <a:ext uri="{FF2B5EF4-FFF2-40B4-BE49-F238E27FC236}">
                <a16:creationId xmlns:a16="http://schemas.microsoft.com/office/drawing/2014/main" id="{88502191-8553-4B9A-BBCE-FE81630D1A26}"/>
              </a:ext>
            </a:extLst>
          </p:cNvPr>
          <p:cNvSpPr>
            <a:spLocks xmlns:a="http://schemas.openxmlformats.org/drawingml/2006/main" noGrp="1"/>
          </p:cNvSpPr>
          <p:nvPr/>
        </p:nvSpPr>
        <p:spPr>
          <a:xfrm xmlns:a="http://schemas.openxmlformats.org/drawingml/2006/main">
            <a:off x="230505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AD44A59E-9184-458D-9311-A0C0EA2708BC}"/>
              </a:ext>
            </a:extLst>
          </p:cNvPr>
          <p:cNvSpPr>
            <a:spLocks xmlns:a="http://schemas.openxmlformats.org/drawingml/2006/main" noGrp="1"/>
          </p:cNvSpPr>
          <p:nvPr/>
        </p:nvSpPr>
        <p:spPr>
          <a:xfrm xmlns:a="http://schemas.openxmlformats.org/drawingml/2006/main">
            <a:off x="253365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Web</a:t>
            </a:r>
          </a:p>
        </p:txBody>
      </p:sp>
      <p:sp>
        <p:nvSpPr>
          <p:cNvPr id="24" name="">
            <a:extLst xmlns:a="http://schemas.openxmlformats.org/drawingml/2006/main">
              <a:ext uri="{FF2B5EF4-FFF2-40B4-BE49-F238E27FC236}">
                <a16:creationId xmlns:a16="http://schemas.microsoft.com/office/drawing/2014/main" id="{B1FCF490-4F9A-4F67-A37C-56D12AB6244D}"/>
              </a:ext>
            </a:extLst>
          </p:cNvPr>
          <p:cNvSpPr>
            <a:spLocks xmlns:a="http://schemas.openxmlformats.org/drawingml/2006/main" noGrp="1"/>
          </p:cNvSpPr>
          <p:nvPr/>
        </p:nvSpPr>
        <p:spPr>
          <a:xfrm xmlns:a="http://schemas.openxmlformats.org/drawingml/2006/main">
            <a:off x="384810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08E641CF-A17C-4309-80E4-B2BCABE03591}"/>
              </a:ext>
            </a:extLst>
          </p:cNvPr>
          <p:cNvSpPr>
            <a:spLocks xmlns:a="http://schemas.openxmlformats.org/drawingml/2006/main" noGrp="1"/>
          </p:cNvSpPr>
          <p:nvPr/>
        </p:nvSpPr>
        <p:spPr>
          <a:xfrm xmlns:a="http://schemas.openxmlformats.org/drawingml/2006/main">
            <a:off x="407670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Inference</a:t>
            </a:r>
          </a:p>
        </p:txBody>
      </p:sp>
      <p:sp>
        <p:nvSpPr>
          <p:cNvPr id="26" name="">
            <a:extLst xmlns:a="http://schemas.openxmlformats.org/drawingml/2006/main">
              <a:ext uri="{FF2B5EF4-FFF2-40B4-BE49-F238E27FC236}">
                <a16:creationId xmlns:a16="http://schemas.microsoft.com/office/drawing/2014/main" id="{507D3402-2215-4E1B-8CBD-8E357DB21B91}"/>
              </a:ext>
            </a:extLst>
          </p:cNvPr>
          <p:cNvSpPr>
            <a:spLocks xmlns:a="http://schemas.openxmlformats.org/drawingml/2006/main" noGrp="1"/>
          </p:cNvSpPr>
          <p:nvPr/>
        </p:nvSpPr>
        <p:spPr>
          <a:xfrm xmlns:a="http://schemas.openxmlformats.org/drawingml/2006/main">
            <a:off x="539115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C841C305-ACDF-4E18-B688-74DB67A655F1}"/>
              </a:ext>
            </a:extLst>
          </p:cNvPr>
          <p:cNvSpPr>
            <a:spLocks xmlns:a="http://schemas.openxmlformats.org/drawingml/2006/main" noGrp="1"/>
          </p:cNvSpPr>
          <p:nvPr/>
        </p:nvSpPr>
        <p:spPr>
          <a:xfrm xmlns:a="http://schemas.openxmlformats.org/drawingml/2006/main">
            <a:off x="561975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Recommendation</a:t>
            </a:r>
          </a:p>
        </p:txBody>
      </p:sp>
      <p:sp>
        <p:nvSpPr>
          <p:cNvPr id="28" name="">
            <a:extLst xmlns:a="http://schemas.openxmlformats.org/drawingml/2006/main">
              <a:ext uri="{FF2B5EF4-FFF2-40B4-BE49-F238E27FC236}">
                <a16:creationId xmlns:a16="http://schemas.microsoft.com/office/drawing/2014/main" id="{D4BDB13E-5D7C-404E-B7B1-D74AB6316711}"/>
              </a:ext>
            </a:extLst>
          </p:cNvPr>
          <p:cNvSpPr>
            <a:spLocks xmlns:a="http://schemas.openxmlformats.org/drawingml/2006/main" noGrp="1"/>
          </p:cNvSpPr>
          <p:nvPr/>
        </p:nvSpPr>
        <p:spPr>
          <a:xfrm xmlns:a="http://schemas.openxmlformats.org/drawingml/2006/main">
            <a:off x="693420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40C2A43A-C355-4575-8923-3DA950F594F9}"/>
              </a:ext>
            </a:extLst>
          </p:cNvPr>
          <p:cNvSpPr>
            <a:spLocks xmlns:a="http://schemas.openxmlformats.org/drawingml/2006/main" noGrp="1"/>
          </p:cNvSpPr>
          <p:nvPr/>
        </p:nvSpPr>
        <p:spPr>
          <a:xfrm xmlns:a="http://schemas.openxmlformats.org/drawingml/2006/main">
            <a:off x="716280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Cooking</a:t>
            </a:r>
          </a:p>
        </p:txBody>
      </p:sp>
      <p:sp>
        <p:nvSpPr>
          <p:cNvPr id="30" name="">
            <a:extLst xmlns:a="http://schemas.openxmlformats.org/drawingml/2006/main">
              <a:ext uri="{FF2B5EF4-FFF2-40B4-BE49-F238E27FC236}">
                <a16:creationId xmlns:a16="http://schemas.microsoft.com/office/drawing/2014/main" id="{2D0C80CA-0D2D-4093-BC28-343035C0F4F0}"/>
              </a:ext>
            </a:extLst>
          </p:cNvPr>
          <p:cNvSpPr>
            <a:spLocks xmlns:a="http://schemas.openxmlformats.org/drawingml/2006/main" noGrp="1"/>
          </p:cNvSpPr>
          <p:nvPr/>
        </p:nvSpPr>
        <p:spPr>
          <a:xfrm xmlns:a="http://schemas.openxmlformats.org/drawingml/2006/main">
            <a:off x="847725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6</a:t>
            </a:r>
          </a:p>
        </p:txBody>
      </p:sp>
      <p:sp>
        <p:nvSpPr>
          <p:cNvPr id="31" name="">
            <a:extLst xmlns:a="http://schemas.openxmlformats.org/drawingml/2006/main">
              <a:ext uri="{FF2B5EF4-FFF2-40B4-BE49-F238E27FC236}">
                <a16:creationId xmlns:a16="http://schemas.microsoft.com/office/drawing/2014/main" id="{28800B4A-3E82-418A-B866-51E54CD930D8}"/>
              </a:ext>
            </a:extLst>
          </p:cNvPr>
          <p:cNvSpPr>
            <a:spLocks xmlns:a="http://schemas.openxmlformats.org/drawingml/2006/main" noGrp="1"/>
          </p:cNvSpPr>
          <p:nvPr/>
        </p:nvSpPr>
        <p:spPr>
          <a:xfrm xmlns:a="http://schemas.openxmlformats.org/drawingml/2006/main">
            <a:off x="870585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Chatbot</a:t>
            </a:r>
          </a:p>
        </p:txBody>
      </p:sp>
      <p:sp>
        <p:nvSpPr>
          <p:cNvPr id="32" name="">
            <a:extLst xmlns:a="http://schemas.openxmlformats.org/drawingml/2006/main">
              <a:ext uri="{FF2B5EF4-FFF2-40B4-BE49-F238E27FC236}">
                <a16:creationId xmlns:a16="http://schemas.microsoft.com/office/drawing/2014/main" id="{76B09A47-352E-4EC5-95EE-FBAA17ECCEFC}"/>
              </a:ext>
            </a:extLst>
          </p:cNvPr>
          <p:cNvSpPr>
            <a:spLocks xmlns:a="http://schemas.openxmlformats.org/drawingml/2006/main" noGrp="1"/>
          </p:cNvSpPr>
          <p:nvPr/>
        </p:nvSpPr>
        <p:spPr>
          <a:xfrm xmlns:a="http://schemas.openxmlformats.org/drawingml/2006/main">
            <a:off x="10020300" y="4191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1854F"/>
                </a:solidFill>
                <a:latin typeface="Aptos"/>
                <a:ea typeface="Aptos"/>
                <a:cs typeface="Aptos"/>
              </a:defRPr>
            </a:pPr>
            <a:r>
              <a:rPr sz="900" b="1">
                <a:solidFill>
                  <a:srgbClr val="11854F"/>
                </a:solidFill>
                <a:latin typeface="Aptos"/>
                <a:ea typeface="Aptos"/>
                <a:cs typeface="Aptos"/>
              </a:rPr>
              <a:t>7</a:t>
            </a:r>
          </a:p>
        </p:txBody>
      </p:sp>
      <p:sp>
        <p:nvSpPr>
          <p:cNvPr id="33" name="">
            <a:extLst xmlns:a="http://schemas.openxmlformats.org/drawingml/2006/main">
              <a:ext uri="{FF2B5EF4-FFF2-40B4-BE49-F238E27FC236}">
                <a16:creationId xmlns:a16="http://schemas.microsoft.com/office/drawing/2014/main" id="{98405C32-3FFB-48F1-B1A1-A55BE3F8FF41}"/>
              </a:ext>
            </a:extLst>
          </p:cNvPr>
          <p:cNvSpPr>
            <a:spLocks xmlns:a="http://schemas.openxmlformats.org/drawingml/2006/main" noGrp="1"/>
          </p:cNvSpPr>
          <p:nvPr/>
        </p:nvSpPr>
        <p:spPr>
          <a:xfrm xmlns:a="http://schemas.openxmlformats.org/drawingml/2006/main">
            <a:off x="10248900" y="4143375"/>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0B2545"/>
                </a:solidFill>
                <a:latin typeface="Aptos"/>
                <a:ea typeface="Aptos"/>
                <a:cs typeface="Aptos"/>
              </a:defRPr>
            </a:pPr>
            <a:r>
              <a:rPr sz="1125" b="1">
                <a:solidFill>
                  <a:srgbClr val="0B2545"/>
                </a:solidFill>
                <a:latin typeface="Aptos"/>
                <a:ea typeface="Aptos"/>
                <a:cs typeface="Aptos"/>
              </a:rPr>
              <a:t>Model Package</a:t>
            </a:r>
          </a:p>
        </p:txBody>
      </p:sp>
      <p:sp>
        <p:nvSpPr>
          <p:cNvPr id="34" name="">
            <a:extLst xmlns:a="http://schemas.openxmlformats.org/drawingml/2006/main">
              <a:ext uri="{FF2B5EF4-FFF2-40B4-BE49-F238E27FC236}">
                <a16:creationId xmlns:a16="http://schemas.microsoft.com/office/drawing/2014/main" id="{A31C8529-1BFB-433C-BFB0-EC04669A198E}"/>
              </a:ext>
            </a:extLst>
          </p:cNvPr>
          <p:cNvSpPr>
            <a:spLocks xmlns:a="http://schemas.openxmlformats.org/drawingml/2006/main" noGrp="1"/>
          </p:cNvSpPr>
          <p:nvPr/>
        </p:nvSpPr>
        <p:spPr>
          <a:xfrm xmlns:a="http://schemas.openxmlformats.org/drawingml/2006/main">
            <a:off x="781050" y="4972050"/>
            <a:ext cx="1057275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1050CF5-BCAA-4CAC-98FB-418EDE669F8F}"/>
              </a:ext>
            </a:extLst>
          </p:cNvPr>
          <p:cNvSpPr>
            <a:spLocks xmlns:a="http://schemas.openxmlformats.org/drawingml/2006/main" noGrp="1"/>
          </p:cNvSpPr>
          <p:nvPr/>
        </p:nvSpPr>
        <p:spPr>
          <a:xfrm xmlns:a="http://schemas.openxmlformats.org/drawingml/2006/main">
            <a:off x="781050" y="5219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Ordering guarantee</a:t>
            </a:r>
          </a:p>
        </p:txBody>
      </p:sp>
      <p:sp>
        <p:nvSpPr>
          <p:cNvPr id="36" name="">
            <a:extLst xmlns:a="http://schemas.openxmlformats.org/drawingml/2006/main">
              <a:ext uri="{FF2B5EF4-FFF2-40B4-BE49-F238E27FC236}">
                <a16:creationId xmlns:a16="http://schemas.microsoft.com/office/drawing/2014/main" id="{8603651B-7EC4-4425-BA44-08E10B2E9324}"/>
              </a:ext>
            </a:extLst>
          </p:cNvPr>
          <p:cNvSpPr>
            <a:spLocks xmlns:a="http://schemas.openxmlformats.org/drawingml/2006/main" noGrp="1"/>
          </p:cNvSpPr>
          <p:nvPr/>
        </p:nvSpPr>
        <p:spPr>
          <a:xfrm xmlns:a="http://schemas.openxmlformats.org/drawingml/2006/main">
            <a:off x="3143250" y="5181600"/>
            <a:ext cx="7953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342"/>
          </a:bodyPr>
          <a:lstStyle xmlns:a="http://schemas.openxmlformats.org/drawingml/2006/main"/>
          <a:p xmlns:a="http://schemas.openxmlformats.org/drawingml/2006/main">
            <a:pPr algn="l">
              <a:buNone/>
              <a:defRPr sz="1500" b="0">
                <a:solidFill>
                  <a:srgbClr val="5A6571"/>
                </a:solidFill>
                <a:latin typeface="Aptos"/>
                <a:ea typeface="Aptos"/>
                <a:cs typeface="Aptos"/>
              </a:defRPr>
            </a:pPr>
            <a:r>
              <a:rPr sz="1500" b="0">
                <a:solidFill>
                  <a:srgbClr val="5A6571"/>
                </a:solidFill>
                <a:latin typeface="Aptos"/>
                <a:ea typeface="Aptos"/>
                <a:cs typeface="Aptos"/>
              </a:rPr>
              <a:t>A failing candidate stops before docker push; SBOM and Trivy JSON remain available for audit.</a:t>
            </a:r>
          </a:p>
        </p:txBody>
      </p:sp>
    </p:spTree>
    <p:extLst>
      <p:ext uri="{BB962C8B-B14F-4D97-AF65-F5344CB8AC3E}">
        <p14:creationId xmlns:p14="http://schemas.microsoft.com/office/powerpoint/2010/main" val="1563126698"/>
      </p:ext>
    </p:extLst>
  </p:cSld>
</p:sld>
</file>

<file path=ppt/slides/slide6.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CF778EA-18BE-486A-A315-47B4A44369D5}"/>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CONTINUOUS DELIVERY</a:t>
            </a:r>
          </a:p>
        </p:txBody>
      </p:sp>
      <p:sp>
        <p:nvSpPr>
          <p:cNvPr id="2" name="">
            <a:extLst xmlns:a="http://schemas.openxmlformats.org/drawingml/2006/main">
              <a:ext uri="{FF2B5EF4-FFF2-40B4-BE49-F238E27FC236}">
                <a16:creationId xmlns:a16="http://schemas.microsoft.com/office/drawing/2014/main" id="{2DD6B154-2071-492A-8A50-5BB8AC366B51}"/>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AWS credentials are temporary and rollback is automatic</a:t>
            </a:r>
          </a:p>
        </p:txBody>
      </p:sp>
      <p:sp>
        <p:nvSpPr>
          <p:cNvPr id="3" name="">
            <a:extLst xmlns:a="http://schemas.openxmlformats.org/drawingml/2006/main">
              <a:ext uri="{FF2B5EF4-FFF2-40B4-BE49-F238E27FC236}">
                <a16:creationId xmlns:a16="http://schemas.microsoft.com/office/drawing/2014/main" id="{BC6FDA1D-1901-40F1-AC76-23107728BCCD}"/>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7307AC-7EB0-4850-B6E3-653C4BBA8952}"/>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0E37F077-2116-4A54-A8DC-77E4C5D18C6B}"/>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863074AA-9FC4-4836-A90E-5815FA8B4BB0}"/>
              </a:ext>
            </a:extLst>
          </p:cNvPr>
          <p:cNvSpPr>
            <a:spLocks xmlns:a="http://schemas.openxmlformats.org/drawingml/2006/main" noGrp="1"/>
          </p:cNvSpPr>
          <p:nvPr/>
        </p:nvSpPr>
        <p:spPr>
          <a:xfrm xmlns:a="http://schemas.openxmlformats.org/drawingml/2006/main">
            <a:off x="704850" y="1962150"/>
            <a:ext cx="2152650" cy="723900"/>
          </a:xfrm>
          <a:prstGeom xmlns:a="http://schemas.openxmlformats.org/drawingml/2006/main" prst="roundRect">
            <a:avLst>
              <a:gd name="adj" fmla="val 10526"/>
            </a:avLst>
          </a:prstGeom>
          <a:solidFill xmlns:a="http://schemas.openxmlformats.org/drawingml/2006/main">
            <a:srgbClr val="E9F6EF"/>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B2545"/>
                </a:solidFill>
                <a:latin typeface="Aptos"/>
                <a:ea typeface="Aptos"/>
                <a:cs typeface="Aptos"/>
              </a:defRPr>
            </a:pPr>
            <a:r>
              <a:rPr sz="1500" b="1">
                <a:solidFill>
                  <a:srgbClr val="0B2545"/>
                </a:solidFill>
                <a:latin typeface="Aptos"/>
                <a:ea typeface="Aptos"/>
                <a:cs typeface="Aptos"/>
              </a:rPr>
              <a:t>GitHub OIDC</a:t>
            </a:r>
          </a:p>
        </p:txBody>
      </p:sp>
      <p:sp>
        <p:nvSpPr>
          <p:cNvPr id="7" name="">
            <a:extLst xmlns:a="http://schemas.openxmlformats.org/drawingml/2006/main">
              <a:ext uri="{FF2B5EF4-FFF2-40B4-BE49-F238E27FC236}">
                <a16:creationId xmlns:a16="http://schemas.microsoft.com/office/drawing/2014/main" id="{8A1ED302-C332-48B3-AD6B-C27968437F37}"/>
              </a:ext>
            </a:extLst>
          </p:cNvPr>
          <p:cNvSpPr>
            <a:spLocks xmlns:a="http://schemas.openxmlformats.org/drawingml/2006/main" noGrp="1"/>
          </p:cNvSpPr>
          <p:nvPr/>
        </p:nvSpPr>
        <p:spPr>
          <a:xfrm xmlns:a="http://schemas.openxmlformats.org/drawingml/2006/main">
            <a:off x="704850" y="28575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5A6571"/>
                </a:solidFill>
                <a:latin typeface="Aptos"/>
                <a:ea typeface="Aptos"/>
                <a:cs typeface="Aptos"/>
              </a:defRPr>
            </a:pPr>
            <a:r>
              <a:rPr sz="1200" b="1">
                <a:solidFill>
                  <a:srgbClr val="5A6571"/>
                </a:solidFill>
                <a:latin typeface="Aptos"/>
                <a:ea typeface="Aptos"/>
                <a:cs typeface="Aptos"/>
              </a:rPr>
              <a:t>Identity</a:t>
            </a:r>
          </a:p>
        </p:txBody>
      </p:sp>
      <p:sp>
        <p:nvSpPr>
          <p:cNvPr id="8" name="">
            <a:extLst xmlns:a="http://schemas.openxmlformats.org/drawingml/2006/main">
              <a:ext uri="{FF2B5EF4-FFF2-40B4-BE49-F238E27FC236}">
                <a16:creationId xmlns:a16="http://schemas.microsoft.com/office/drawing/2014/main" id="{22EB2CE7-7EEA-4972-8B2D-D94B48C87BFD}"/>
              </a:ext>
            </a:extLst>
          </p:cNvPr>
          <p:cNvSpPr>
            <a:spLocks xmlns:a="http://schemas.openxmlformats.org/drawingml/2006/main" noGrp="1"/>
          </p:cNvSpPr>
          <p:nvPr/>
        </p:nvSpPr>
        <p:spPr>
          <a:xfrm xmlns:a="http://schemas.openxmlformats.org/drawingml/2006/main">
            <a:off x="2933700" y="2286000"/>
            <a:ext cx="3238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F81DAC-2175-4AE3-BAB0-5E1526057942}"/>
              </a:ext>
            </a:extLst>
          </p:cNvPr>
          <p:cNvSpPr>
            <a:spLocks xmlns:a="http://schemas.openxmlformats.org/drawingml/2006/main" noGrp="1"/>
          </p:cNvSpPr>
          <p:nvPr/>
        </p:nvSpPr>
        <p:spPr>
          <a:xfrm xmlns:a="http://schemas.openxmlformats.org/drawingml/2006/main">
            <a:off x="3181350" y="21336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9ED69DEE-4E3C-4B6E-AF4C-F1D06FA3AE76}"/>
              </a:ext>
            </a:extLst>
          </p:cNvPr>
          <p:cNvSpPr>
            <a:spLocks xmlns:a="http://schemas.openxmlformats.org/drawingml/2006/main" noGrp="1"/>
          </p:cNvSpPr>
          <p:nvPr/>
        </p:nvSpPr>
        <p:spPr>
          <a:xfrm xmlns:a="http://schemas.openxmlformats.org/drawingml/2006/main">
            <a:off x="3486150" y="1962150"/>
            <a:ext cx="2152650" cy="723900"/>
          </a:xfrm>
          <a:prstGeom xmlns:a="http://schemas.openxmlformats.org/drawingml/2006/main" prst="roundRect">
            <a:avLst>
              <a:gd name="adj" fmla="val 10526"/>
            </a:avLst>
          </a:prstGeom>
          <a:solidFill xmlns:a="http://schemas.openxmlformats.org/drawingml/2006/main">
            <a:srgbClr val="EAF2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B2545"/>
                </a:solidFill>
                <a:latin typeface="Aptos"/>
                <a:ea typeface="Aptos"/>
                <a:cs typeface="Aptos"/>
              </a:defRPr>
            </a:pPr>
            <a:r>
              <a:rPr sz="1500" b="1">
                <a:solidFill>
                  <a:srgbClr val="0B2545"/>
                </a:solidFill>
                <a:latin typeface="Aptos"/>
                <a:ea typeface="Aptos"/>
                <a:cs typeface="Aptos"/>
              </a:rPr>
              <a:t>AWS IAM</a:t>
            </a:r>
          </a:p>
        </p:txBody>
      </p:sp>
      <p:sp>
        <p:nvSpPr>
          <p:cNvPr id="11" name="">
            <a:extLst xmlns:a="http://schemas.openxmlformats.org/drawingml/2006/main">
              <a:ext uri="{FF2B5EF4-FFF2-40B4-BE49-F238E27FC236}">
                <a16:creationId xmlns:a16="http://schemas.microsoft.com/office/drawing/2014/main" id="{21753A37-74FF-4590-AFF0-1403EBA773FC}"/>
              </a:ext>
            </a:extLst>
          </p:cNvPr>
          <p:cNvSpPr>
            <a:spLocks xmlns:a="http://schemas.openxmlformats.org/drawingml/2006/main" noGrp="1"/>
          </p:cNvSpPr>
          <p:nvPr/>
        </p:nvSpPr>
        <p:spPr>
          <a:xfrm xmlns:a="http://schemas.openxmlformats.org/drawingml/2006/main">
            <a:off x="3486150" y="28575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5A6571"/>
                </a:solidFill>
                <a:latin typeface="Aptos"/>
                <a:ea typeface="Aptos"/>
                <a:cs typeface="Aptos"/>
              </a:defRPr>
            </a:pPr>
            <a:r>
              <a:rPr sz="1200" b="1">
                <a:solidFill>
                  <a:srgbClr val="5A6571"/>
                </a:solidFill>
                <a:latin typeface="Aptos"/>
                <a:ea typeface="Aptos"/>
                <a:cs typeface="Aptos"/>
              </a:rPr>
              <a:t>Short-lived role</a:t>
            </a:r>
          </a:p>
        </p:txBody>
      </p:sp>
      <p:sp>
        <p:nvSpPr>
          <p:cNvPr id="12" name="">
            <a:extLst xmlns:a="http://schemas.openxmlformats.org/drawingml/2006/main">
              <a:ext uri="{FF2B5EF4-FFF2-40B4-BE49-F238E27FC236}">
                <a16:creationId xmlns:a16="http://schemas.microsoft.com/office/drawing/2014/main" id="{880AA7DB-3C4D-4571-991E-808F83E88576}"/>
              </a:ext>
            </a:extLst>
          </p:cNvPr>
          <p:cNvSpPr>
            <a:spLocks xmlns:a="http://schemas.openxmlformats.org/drawingml/2006/main" noGrp="1"/>
          </p:cNvSpPr>
          <p:nvPr/>
        </p:nvSpPr>
        <p:spPr>
          <a:xfrm xmlns:a="http://schemas.openxmlformats.org/drawingml/2006/main">
            <a:off x="5715000" y="2286000"/>
            <a:ext cx="3238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14A443-C34E-471E-83CB-EFF4F3FA7A7F}"/>
              </a:ext>
            </a:extLst>
          </p:cNvPr>
          <p:cNvSpPr>
            <a:spLocks xmlns:a="http://schemas.openxmlformats.org/drawingml/2006/main" noGrp="1"/>
          </p:cNvSpPr>
          <p:nvPr/>
        </p:nvSpPr>
        <p:spPr>
          <a:xfrm xmlns:a="http://schemas.openxmlformats.org/drawingml/2006/main">
            <a:off x="5962650" y="21336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71F5B419-EBED-4847-B318-DF75DEC0B1C3}"/>
              </a:ext>
            </a:extLst>
          </p:cNvPr>
          <p:cNvSpPr>
            <a:spLocks xmlns:a="http://schemas.openxmlformats.org/drawingml/2006/main" noGrp="1"/>
          </p:cNvSpPr>
          <p:nvPr/>
        </p:nvSpPr>
        <p:spPr>
          <a:xfrm xmlns:a="http://schemas.openxmlformats.org/drawingml/2006/main">
            <a:off x="6267450" y="1962150"/>
            <a:ext cx="2152650" cy="723900"/>
          </a:xfrm>
          <a:prstGeom xmlns:a="http://schemas.openxmlformats.org/drawingml/2006/main" prst="roundRect">
            <a:avLst>
              <a:gd name="adj" fmla="val 10526"/>
            </a:avLst>
          </a:prstGeom>
          <a:solidFill xmlns:a="http://schemas.openxmlformats.org/drawingml/2006/main">
            <a:srgbClr val="F3EEFA"/>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B2545"/>
                </a:solidFill>
                <a:latin typeface="Aptos"/>
                <a:ea typeface="Aptos"/>
                <a:cs typeface="Aptos"/>
              </a:defRPr>
            </a:pPr>
            <a:r>
              <a:rPr sz="1500" b="1">
                <a:solidFill>
                  <a:srgbClr val="0B2545"/>
                </a:solidFill>
                <a:latin typeface="Aptos"/>
                <a:ea typeface="Aptos"/>
                <a:cs typeface="Aptos"/>
              </a:rPr>
              <a:t>Systems Manager</a:t>
            </a:r>
          </a:p>
        </p:txBody>
      </p:sp>
      <p:sp>
        <p:nvSpPr>
          <p:cNvPr id="15" name="">
            <a:extLst xmlns:a="http://schemas.openxmlformats.org/drawingml/2006/main">
              <a:ext uri="{FF2B5EF4-FFF2-40B4-BE49-F238E27FC236}">
                <a16:creationId xmlns:a16="http://schemas.microsoft.com/office/drawing/2014/main" id="{7317F658-46D3-4F66-B7E6-AB5B171AEF49}"/>
              </a:ext>
            </a:extLst>
          </p:cNvPr>
          <p:cNvSpPr>
            <a:spLocks xmlns:a="http://schemas.openxmlformats.org/drawingml/2006/main" noGrp="1"/>
          </p:cNvSpPr>
          <p:nvPr/>
        </p:nvSpPr>
        <p:spPr>
          <a:xfrm xmlns:a="http://schemas.openxmlformats.org/drawingml/2006/main">
            <a:off x="6267450" y="28575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5A6571"/>
                </a:solidFill>
                <a:latin typeface="Aptos"/>
                <a:ea typeface="Aptos"/>
                <a:cs typeface="Aptos"/>
              </a:defRPr>
            </a:pPr>
            <a:r>
              <a:rPr sz="1200" b="1">
                <a:solidFill>
                  <a:srgbClr val="5A6571"/>
                </a:solidFill>
                <a:latin typeface="Aptos"/>
                <a:ea typeface="Aptos"/>
                <a:cs typeface="Aptos"/>
              </a:rPr>
              <a:t>Controlled deploy</a:t>
            </a:r>
          </a:p>
        </p:txBody>
      </p:sp>
      <p:sp>
        <p:nvSpPr>
          <p:cNvPr id="16" name="">
            <a:extLst xmlns:a="http://schemas.openxmlformats.org/drawingml/2006/main">
              <a:ext uri="{FF2B5EF4-FFF2-40B4-BE49-F238E27FC236}">
                <a16:creationId xmlns:a16="http://schemas.microsoft.com/office/drawing/2014/main" id="{88449D38-AE7E-4F59-A414-884830810091}"/>
              </a:ext>
            </a:extLst>
          </p:cNvPr>
          <p:cNvSpPr>
            <a:spLocks xmlns:a="http://schemas.openxmlformats.org/drawingml/2006/main" noGrp="1"/>
          </p:cNvSpPr>
          <p:nvPr/>
        </p:nvSpPr>
        <p:spPr>
          <a:xfrm xmlns:a="http://schemas.openxmlformats.org/drawingml/2006/main">
            <a:off x="8496300" y="2286000"/>
            <a:ext cx="32385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07B493D-9ED2-4159-B5DF-62D9B94E317D}"/>
              </a:ext>
            </a:extLst>
          </p:cNvPr>
          <p:cNvSpPr>
            <a:spLocks xmlns:a="http://schemas.openxmlformats.org/drawingml/2006/main" noGrp="1"/>
          </p:cNvSpPr>
          <p:nvPr/>
        </p:nvSpPr>
        <p:spPr>
          <a:xfrm xmlns:a="http://schemas.openxmlformats.org/drawingml/2006/main">
            <a:off x="8743950" y="21336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9AB8991E-8011-4F36-8182-B5FAC51FA855}"/>
              </a:ext>
            </a:extLst>
          </p:cNvPr>
          <p:cNvSpPr>
            <a:spLocks xmlns:a="http://schemas.openxmlformats.org/drawingml/2006/main" noGrp="1"/>
          </p:cNvSpPr>
          <p:nvPr/>
        </p:nvSpPr>
        <p:spPr>
          <a:xfrm xmlns:a="http://schemas.openxmlformats.org/drawingml/2006/main">
            <a:off x="9048750" y="1962150"/>
            <a:ext cx="2152650" cy="723900"/>
          </a:xfrm>
          <a:prstGeom xmlns:a="http://schemas.openxmlformats.org/drawingml/2006/main" prst="roundRect">
            <a:avLst>
              <a:gd name="adj" fmla="val 10526"/>
            </a:avLst>
          </a:prstGeom>
          <a:solidFill xmlns:a="http://schemas.openxmlformats.org/drawingml/2006/main">
            <a:srgbClr val="EEF3E8"/>
          </a:solidFill>
          <a:ln xmlns:a="http://schemas.openxmlformats.org/drawingml/2006/main" w="9525">
            <a:solidFill>
              <a:srgbClr val="D9E3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B2545"/>
                </a:solidFill>
                <a:latin typeface="Aptos"/>
                <a:ea typeface="Aptos"/>
                <a:cs typeface="Aptos"/>
              </a:defRPr>
            </a:pPr>
            <a:r>
              <a:rPr sz="1500" b="1">
                <a:solidFill>
                  <a:srgbClr val="0B2545"/>
                </a:solidFill>
                <a:latin typeface="Aptos"/>
                <a:ea typeface="Aptos"/>
                <a:cs typeface="Aptos"/>
              </a:rPr>
              <a:t>EC2 Compose</a:t>
            </a:r>
          </a:p>
        </p:txBody>
      </p:sp>
      <p:sp>
        <p:nvSpPr>
          <p:cNvPr id="19" name="">
            <a:extLst xmlns:a="http://schemas.openxmlformats.org/drawingml/2006/main">
              <a:ext uri="{FF2B5EF4-FFF2-40B4-BE49-F238E27FC236}">
                <a16:creationId xmlns:a16="http://schemas.microsoft.com/office/drawing/2014/main" id="{C68D7178-D2B2-46C4-8448-1473A248FBF0}"/>
              </a:ext>
            </a:extLst>
          </p:cNvPr>
          <p:cNvSpPr>
            <a:spLocks xmlns:a="http://schemas.openxmlformats.org/drawingml/2006/main" noGrp="1"/>
          </p:cNvSpPr>
          <p:nvPr/>
        </p:nvSpPr>
        <p:spPr>
          <a:xfrm xmlns:a="http://schemas.openxmlformats.org/drawingml/2006/main">
            <a:off x="9048750" y="28575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5A6571"/>
                </a:solidFill>
                <a:latin typeface="Aptos"/>
                <a:ea typeface="Aptos"/>
                <a:cs typeface="Aptos"/>
              </a:defRPr>
            </a:pPr>
            <a:r>
              <a:rPr sz="1200" b="1">
                <a:solidFill>
                  <a:srgbClr val="5A6571"/>
                </a:solidFill>
                <a:latin typeface="Aptos"/>
                <a:ea typeface="Aptos"/>
                <a:cs typeface="Aptos"/>
              </a:rPr>
              <a:t>Digest-pinned</a:t>
            </a:r>
          </a:p>
        </p:txBody>
      </p:sp>
      <p:sp>
        <p:nvSpPr>
          <p:cNvPr id="20" name="">
            <a:extLst xmlns:a="http://schemas.openxmlformats.org/drawingml/2006/main">
              <a:ext uri="{FF2B5EF4-FFF2-40B4-BE49-F238E27FC236}">
                <a16:creationId xmlns:a16="http://schemas.microsoft.com/office/drawing/2014/main" id="{487088EB-3FC4-4A9A-8B91-EB1F3CE93FF3}"/>
              </a:ext>
            </a:extLst>
          </p:cNvPr>
          <p:cNvSpPr>
            <a:spLocks xmlns:a="http://schemas.openxmlformats.org/drawingml/2006/main" noGrp="1"/>
          </p:cNvSpPr>
          <p:nvPr/>
        </p:nvSpPr>
        <p:spPr>
          <a:xfrm xmlns:a="http://schemas.openxmlformats.org/drawingml/2006/main">
            <a:off x="742950" y="3886200"/>
            <a:ext cx="4591050" cy="1028700"/>
          </a:xfrm>
          <a:prstGeom xmlns:a="http://schemas.openxmlformats.org/drawingml/2006/main" prst="roundRect">
            <a:avLst>
              <a:gd name="adj" fmla="val 7407"/>
            </a:avLst>
          </a:prstGeom>
          <a:solidFill xmlns:a="http://schemas.openxmlformats.org/drawingml/2006/main">
            <a:srgbClr val="E9F6EF"/>
          </a:solidFill>
          <a:ln xmlns:a="http://schemas.openxmlformats.org/drawingml/2006/main" w="9525">
            <a:solidFill>
              <a:srgbClr val="D9E3DE"/>
            </a:solidFill>
            <a:prstDash val="solid"/>
          </a:ln>
        </p:spPr>
      </p:sp>
      <p:sp>
        <p:nvSpPr>
          <p:cNvPr id="21" name="">
            <a:extLst xmlns:a="http://schemas.openxmlformats.org/drawingml/2006/main">
              <a:ext uri="{FF2B5EF4-FFF2-40B4-BE49-F238E27FC236}">
                <a16:creationId xmlns:a16="http://schemas.microsoft.com/office/drawing/2014/main" id="{FD25DD0A-7F8D-454D-A0AF-819FA4190228}"/>
              </a:ext>
            </a:extLst>
          </p:cNvPr>
          <p:cNvSpPr>
            <a:spLocks xmlns:a="http://schemas.openxmlformats.org/drawingml/2006/main" noGrp="1"/>
          </p:cNvSpPr>
          <p:nvPr/>
        </p:nvSpPr>
        <p:spPr>
          <a:xfrm xmlns:a="http://schemas.openxmlformats.org/drawingml/2006/main">
            <a:off x="990600" y="40957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11854F"/>
                </a:solidFill>
                <a:latin typeface="Aptos"/>
                <a:ea typeface="Aptos"/>
                <a:cs typeface="Aptos"/>
              </a:defRPr>
            </a:pPr>
            <a:r>
              <a:rPr sz="1650" b="1">
                <a:solidFill>
                  <a:srgbClr val="11854F"/>
                </a:solidFill>
                <a:latin typeface="Aptos"/>
                <a:ea typeface="Aptos"/>
                <a:cs typeface="Aptos"/>
              </a:rPr>
              <a:t>Readiness passes</a:t>
            </a:r>
          </a:p>
        </p:txBody>
      </p:sp>
      <p:sp>
        <p:nvSpPr>
          <p:cNvPr id="22" name="">
            <a:extLst xmlns:a="http://schemas.openxmlformats.org/drawingml/2006/main">
              <a:ext uri="{FF2B5EF4-FFF2-40B4-BE49-F238E27FC236}">
                <a16:creationId xmlns:a16="http://schemas.microsoft.com/office/drawing/2014/main" id="{A30386AB-8836-4015-A77D-A692F99DB479}"/>
              </a:ext>
            </a:extLst>
          </p:cNvPr>
          <p:cNvSpPr>
            <a:spLocks xmlns:a="http://schemas.openxmlformats.org/drawingml/2006/main" noGrp="1"/>
          </p:cNvSpPr>
          <p:nvPr/>
        </p:nvSpPr>
        <p:spPr>
          <a:xfrm xmlns:a="http://schemas.openxmlformats.org/drawingml/2006/main">
            <a:off x="990600" y="4476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0">
                <a:solidFill>
                  <a:srgbClr val="5A6571"/>
                </a:solidFill>
                <a:latin typeface="Aptos"/>
                <a:ea typeface="Aptos"/>
                <a:cs typeface="Aptos"/>
              </a:defRPr>
            </a:pPr>
            <a:r>
              <a:rPr sz="1350" b="0">
                <a:solidFill>
                  <a:srgbClr val="5A6571"/>
                </a:solidFill>
                <a:latin typeface="Aptos"/>
                <a:ea typeface="Aptos"/>
                <a:cs typeface="Aptos"/>
              </a:rPr>
              <a:t>Release remains active</a:t>
            </a:r>
          </a:p>
        </p:txBody>
      </p:sp>
      <p:sp>
        <p:nvSpPr>
          <p:cNvPr id="23" name="">
            <a:extLst xmlns:a="http://schemas.openxmlformats.org/drawingml/2006/main">
              <a:ext uri="{FF2B5EF4-FFF2-40B4-BE49-F238E27FC236}">
                <a16:creationId xmlns:a16="http://schemas.microsoft.com/office/drawing/2014/main" id="{8F8C8D4B-5033-406B-8727-FC83779B3E36}"/>
              </a:ext>
            </a:extLst>
          </p:cNvPr>
          <p:cNvSpPr>
            <a:spLocks xmlns:a="http://schemas.openxmlformats.org/drawingml/2006/main" noGrp="1"/>
          </p:cNvSpPr>
          <p:nvPr/>
        </p:nvSpPr>
        <p:spPr>
          <a:xfrm xmlns:a="http://schemas.openxmlformats.org/drawingml/2006/main">
            <a:off x="6134100" y="3886200"/>
            <a:ext cx="4591050" cy="1028700"/>
          </a:xfrm>
          <a:prstGeom xmlns:a="http://schemas.openxmlformats.org/drawingml/2006/main" prst="roundRect">
            <a:avLst>
              <a:gd name="adj" fmla="val 7407"/>
            </a:avLst>
          </a:prstGeom>
          <a:solidFill xmlns:a="http://schemas.openxmlformats.org/drawingml/2006/main">
            <a:srgbClr val="FDECEC"/>
          </a:solidFill>
          <a:ln xmlns:a="http://schemas.openxmlformats.org/drawingml/2006/main" w="9525">
            <a:solidFill>
              <a:srgbClr val="E6B8B5"/>
            </a:solidFill>
            <a:prstDash val="solid"/>
          </a:ln>
        </p:spPr>
      </p:sp>
      <p:sp>
        <p:nvSpPr>
          <p:cNvPr id="24" name="">
            <a:extLst xmlns:a="http://schemas.openxmlformats.org/drawingml/2006/main">
              <a:ext uri="{FF2B5EF4-FFF2-40B4-BE49-F238E27FC236}">
                <a16:creationId xmlns:a16="http://schemas.microsoft.com/office/drawing/2014/main" id="{0906BF29-3BC3-40E0-8F55-8A9E44DCAB4A}"/>
              </a:ext>
            </a:extLst>
          </p:cNvPr>
          <p:cNvSpPr>
            <a:spLocks xmlns:a="http://schemas.openxmlformats.org/drawingml/2006/main" noGrp="1"/>
          </p:cNvSpPr>
          <p:nvPr/>
        </p:nvSpPr>
        <p:spPr>
          <a:xfrm xmlns:a="http://schemas.openxmlformats.org/drawingml/2006/main">
            <a:off x="6381750" y="40957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B3261E"/>
                </a:solidFill>
                <a:latin typeface="Aptos"/>
                <a:ea typeface="Aptos"/>
                <a:cs typeface="Aptos"/>
              </a:defRPr>
            </a:pPr>
            <a:r>
              <a:rPr sz="1650" b="1">
                <a:solidFill>
                  <a:srgbClr val="B3261E"/>
                </a:solidFill>
                <a:latin typeface="Aptos"/>
                <a:ea typeface="Aptos"/>
                <a:cs typeface="Aptos"/>
              </a:rPr>
              <a:t>Readiness fails</a:t>
            </a:r>
          </a:p>
        </p:txBody>
      </p:sp>
      <p:sp>
        <p:nvSpPr>
          <p:cNvPr id="25" name="">
            <a:extLst xmlns:a="http://schemas.openxmlformats.org/drawingml/2006/main">
              <a:ext uri="{FF2B5EF4-FFF2-40B4-BE49-F238E27FC236}">
                <a16:creationId xmlns:a16="http://schemas.microsoft.com/office/drawing/2014/main" id="{E360A728-3AD5-4A65-A46A-1F9C8363E93B}"/>
              </a:ext>
            </a:extLst>
          </p:cNvPr>
          <p:cNvSpPr>
            <a:spLocks xmlns:a="http://schemas.openxmlformats.org/drawingml/2006/main" noGrp="1"/>
          </p:cNvSpPr>
          <p:nvPr/>
        </p:nvSpPr>
        <p:spPr>
          <a:xfrm xmlns:a="http://schemas.openxmlformats.org/drawingml/2006/main">
            <a:off x="6381750" y="4476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0">
                <a:solidFill>
                  <a:srgbClr val="5A6571"/>
                </a:solidFill>
                <a:latin typeface="Aptos"/>
                <a:ea typeface="Aptos"/>
                <a:cs typeface="Aptos"/>
              </a:defRPr>
            </a:pPr>
            <a:r>
              <a:rPr sz="1350" b="0">
                <a:solidFill>
                  <a:srgbClr val="5A6571"/>
                </a:solidFill>
                <a:latin typeface="Aptos"/>
                <a:ea typeface="Aptos"/>
                <a:cs typeface="Aptos"/>
              </a:rPr>
              <a:t>Restore previous release</a:t>
            </a:r>
          </a:p>
        </p:txBody>
      </p:sp>
      <p:sp>
        <p:nvSpPr>
          <p:cNvPr id="26" name="">
            <a:extLst xmlns:a="http://schemas.openxmlformats.org/drawingml/2006/main">
              <a:ext uri="{FF2B5EF4-FFF2-40B4-BE49-F238E27FC236}">
                <a16:creationId xmlns:a16="http://schemas.microsoft.com/office/drawing/2014/main" id="{94198C69-5A4D-4437-AC27-DCD9F0204FA5}"/>
              </a:ext>
            </a:extLst>
          </p:cNvPr>
          <p:cNvSpPr>
            <a:spLocks xmlns:a="http://schemas.openxmlformats.org/drawingml/2006/main" noGrp="1"/>
          </p:cNvSpPr>
          <p:nvPr/>
        </p:nvSpPr>
        <p:spPr>
          <a:xfrm xmlns:a="http://schemas.openxmlformats.org/drawingml/2006/main">
            <a:off x="838200" y="55721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a:solidFill>
                  <a:srgbClr val="5A6571"/>
                </a:solidFill>
                <a:latin typeface="Aptos"/>
                <a:ea typeface="Aptos"/>
                <a:cs typeface="Aptos"/>
              </a:defRPr>
            </a:pPr>
            <a:r>
              <a:rPr sz="1275" b="1">
                <a:solidFill>
                  <a:srgbClr val="5A6571"/>
                </a:solidFill>
                <a:latin typeface="Aptos"/>
                <a:ea typeface="Aptos"/>
                <a:cs typeface="Aptos"/>
              </a:rPr>
              <a:t>RDS + S3 managed dependencies</a:t>
            </a:r>
          </a:p>
        </p:txBody>
      </p:sp>
      <p:sp>
        <p:nvSpPr>
          <p:cNvPr id="27" name="">
            <a:extLst xmlns:a="http://schemas.openxmlformats.org/drawingml/2006/main">
              <a:ext uri="{FF2B5EF4-FFF2-40B4-BE49-F238E27FC236}">
                <a16:creationId xmlns:a16="http://schemas.microsoft.com/office/drawing/2014/main" id="{C52B7B5A-9D0E-4E21-92D2-8F236B32DEC7}"/>
              </a:ext>
            </a:extLst>
          </p:cNvPr>
          <p:cNvSpPr>
            <a:spLocks xmlns:a="http://schemas.openxmlformats.org/drawingml/2006/main" noGrp="1"/>
          </p:cNvSpPr>
          <p:nvPr/>
        </p:nvSpPr>
        <p:spPr>
          <a:xfrm xmlns:a="http://schemas.openxmlformats.org/drawingml/2006/main">
            <a:off x="6858000" y="55721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275" b="1">
                <a:solidFill>
                  <a:srgbClr val="5A6571"/>
                </a:solidFill>
                <a:latin typeface="Aptos"/>
                <a:ea typeface="Aptos"/>
                <a:cs typeface="Aptos"/>
              </a:defRPr>
            </a:pPr>
            <a:r>
              <a:rPr sz="1275" b="1">
                <a:solidFill>
                  <a:srgbClr val="5A6571"/>
                </a:solidFill>
                <a:latin typeface="Aptos"/>
                <a:ea typeface="Aptos"/>
                <a:cs typeface="Aptos"/>
              </a:rPr>
              <a:t>CloudWatch logs + alarms → next backlog</a:t>
            </a:r>
          </a:p>
        </p:txBody>
      </p:sp>
    </p:spTree>
    <p:extLst>
      <p:ext uri="{BB962C8B-B14F-4D97-AF65-F5344CB8AC3E}">
        <p14:creationId xmlns:p14="http://schemas.microsoft.com/office/powerpoint/2010/main" val="1127860526"/>
      </p:ext>
    </p:extLst>
  </p:cSld>
</p:sld>
</file>

<file path=ppt/slides/slide7.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7397532-A19B-4016-BC3F-1F148D121D79}"/>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PIPELINE DEMONSTRATION</a:t>
            </a:r>
          </a:p>
        </p:txBody>
      </p:sp>
      <p:sp>
        <p:nvSpPr>
          <p:cNvPr id="2" name="">
            <a:extLst xmlns:a="http://schemas.openxmlformats.org/drawingml/2006/main">
              <a:ext uri="{FF2B5EF4-FFF2-40B4-BE49-F238E27FC236}">
                <a16:creationId xmlns:a16="http://schemas.microsoft.com/office/drawing/2014/main" id="{205E29CF-B46E-4092-A4AD-F3D51E0E7190}"/>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The live release has a complete evidence chain</a:t>
            </a:r>
          </a:p>
        </p:txBody>
      </p:sp>
      <p:sp>
        <p:nvSpPr>
          <p:cNvPr id="3" name="">
            <a:extLst xmlns:a="http://schemas.openxmlformats.org/drawingml/2006/main">
              <a:ext uri="{FF2B5EF4-FFF2-40B4-BE49-F238E27FC236}">
                <a16:creationId xmlns:a16="http://schemas.microsoft.com/office/drawing/2014/main" id="{2AE7B507-E15C-4C6C-8696-DBEAF016B2F0}"/>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9A867E-6981-4EB8-809E-F8E6D8DD934D}"/>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62DC0EEE-A6F1-4F4B-B13A-E2FF6FB5C5F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C29C1943-F4E6-4BAA-8190-17384AB02C9E}"/>
              </a:ext>
            </a:extLst>
          </p:cNvPr>
          <p:cNvSpPr>
            <a:spLocks xmlns:a="http://schemas.openxmlformats.org/drawingml/2006/main" noGrp="1"/>
          </p:cNvSpPr>
          <p:nvPr/>
        </p:nvSpPr>
        <p:spPr>
          <a:xfrm xmlns:a="http://schemas.openxmlformats.org/drawingml/2006/main">
            <a:off x="781050" y="1733550"/>
            <a:ext cx="476250" cy="4762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D30DF6-D0EA-48F3-B120-2776E5F19064}"/>
              </a:ext>
            </a:extLst>
          </p:cNvPr>
          <p:cNvSpPr>
            <a:spLocks xmlns:a="http://schemas.openxmlformats.org/drawingml/2006/main" noGrp="1"/>
          </p:cNvSpPr>
          <p:nvPr/>
        </p:nvSpPr>
        <p:spPr>
          <a:xfrm xmlns:a="http://schemas.openxmlformats.org/drawingml/2006/main">
            <a:off x="781050" y="17335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9F4CDD8-14B6-4727-844B-F90E03371014}"/>
              </a:ext>
            </a:extLst>
          </p:cNvPr>
          <p:cNvSpPr>
            <a:spLocks xmlns:a="http://schemas.openxmlformats.org/drawingml/2006/main" noGrp="1"/>
          </p:cNvSpPr>
          <p:nvPr/>
        </p:nvSpPr>
        <p:spPr>
          <a:xfrm xmlns:a="http://schemas.openxmlformats.org/drawingml/2006/main">
            <a:off x="1562100" y="17145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Application PRs</a:t>
            </a:r>
          </a:p>
        </p:txBody>
      </p:sp>
      <p:sp>
        <p:nvSpPr>
          <p:cNvPr id="9" name="">
            <a:extLst xmlns:a="http://schemas.openxmlformats.org/drawingml/2006/main">
              <a:ext uri="{FF2B5EF4-FFF2-40B4-BE49-F238E27FC236}">
                <a16:creationId xmlns:a16="http://schemas.microsoft.com/office/drawing/2014/main" id="{CAD43C3C-C39A-4935-86A8-2E1E11ADF741}"/>
              </a:ext>
            </a:extLst>
          </p:cNvPr>
          <p:cNvSpPr>
            <a:spLocks xmlns:a="http://schemas.openxmlformats.org/drawingml/2006/main" noGrp="1"/>
          </p:cNvSpPr>
          <p:nvPr/>
        </p:nvSpPr>
        <p:spPr>
          <a:xfrm xmlns:a="http://schemas.openxmlformats.org/drawingml/2006/main">
            <a:off x="4095750" y="17145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Tests • CodeQL • SCA</a:t>
            </a:r>
          </a:p>
        </p:txBody>
      </p:sp>
      <p:sp>
        <p:nvSpPr>
          <p:cNvPr id="10" name="">
            <a:extLst xmlns:a="http://schemas.openxmlformats.org/drawingml/2006/main">
              <a:ext uri="{FF2B5EF4-FFF2-40B4-BE49-F238E27FC236}">
                <a16:creationId xmlns:a16="http://schemas.microsoft.com/office/drawing/2014/main" id="{79276B02-DFFC-4F62-8A6B-BA8F0648051C}"/>
              </a:ext>
            </a:extLst>
          </p:cNvPr>
          <p:cNvSpPr>
            <a:spLocks xmlns:a="http://schemas.openxmlformats.org/drawingml/2006/main" noGrp="1"/>
          </p:cNvSpPr>
          <p:nvPr/>
        </p:nvSpPr>
        <p:spPr>
          <a:xfrm xmlns:a="http://schemas.openxmlformats.org/drawingml/2006/main">
            <a:off x="1000125" y="220980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C71849-2093-4C30-AFFA-8594D6221B11}"/>
              </a:ext>
            </a:extLst>
          </p:cNvPr>
          <p:cNvSpPr>
            <a:spLocks xmlns:a="http://schemas.openxmlformats.org/drawingml/2006/main" noGrp="1"/>
          </p:cNvSpPr>
          <p:nvPr/>
        </p:nvSpPr>
        <p:spPr>
          <a:xfrm xmlns:a="http://schemas.openxmlformats.org/drawingml/2006/main">
            <a:off x="781050" y="2552700"/>
            <a:ext cx="476250" cy="4762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C8DDA72-6394-40F9-8605-DE1F38269D85}"/>
              </a:ext>
            </a:extLst>
          </p:cNvPr>
          <p:cNvSpPr>
            <a:spLocks xmlns:a="http://schemas.openxmlformats.org/drawingml/2006/main" noGrp="1"/>
          </p:cNvSpPr>
          <p:nvPr/>
        </p:nvSpPr>
        <p:spPr>
          <a:xfrm xmlns:a="http://schemas.openxmlformats.org/drawingml/2006/main">
            <a:off x="781050" y="2552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E06AC928-1D3A-4DE9-A15C-886F59EBAB9A}"/>
              </a:ext>
            </a:extLst>
          </p:cNvPr>
          <p:cNvSpPr>
            <a:spLocks xmlns:a="http://schemas.openxmlformats.org/drawingml/2006/main" noGrp="1"/>
          </p:cNvSpPr>
          <p:nvPr/>
        </p:nvSpPr>
        <p:spPr>
          <a:xfrm xmlns:a="http://schemas.openxmlformats.org/drawingml/2006/main">
            <a:off x="1562100" y="2533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Compose gate</a:t>
            </a:r>
          </a:p>
        </p:txBody>
      </p:sp>
      <p:sp>
        <p:nvSpPr>
          <p:cNvPr id="14" name="">
            <a:extLst xmlns:a="http://schemas.openxmlformats.org/drawingml/2006/main">
              <a:ext uri="{FF2B5EF4-FFF2-40B4-BE49-F238E27FC236}">
                <a16:creationId xmlns:a16="http://schemas.microsoft.com/office/drawing/2014/main" id="{1CC5B044-07F7-49AF-A9D5-9B57DA8209BF}"/>
              </a:ext>
            </a:extLst>
          </p:cNvPr>
          <p:cNvSpPr>
            <a:spLocks xmlns:a="http://schemas.openxmlformats.org/drawingml/2006/main" noGrp="1"/>
          </p:cNvSpPr>
          <p:nvPr/>
        </p:nvSpPr>
        <p:spPr>
          <a:xfrm xmlns:a="http://schemas.openxmlformats.org/drawingml/2006/main">
            <a:off x="4095750" y="25336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Run 31949676557</a:t>
            </a:r>
          </a:p>
        </p:txBody>
      </p:sp>
      <p:sp>
        <p:nvSpPr>
          <p:cNvPr id="15" name="">
            <a:extLst xmlns:a="http://schemas.openxmlformats.org/drawingml/2006/main">
              <a:ext uri="{FF2B5EF4-FFF2-40B4-BE49-F238E27FC236}">
                <a16:creationId xmlns:a16="http://schemas.microsoft.com/office/drawing/2014/main" id="{BD0A1968-5754-4714-8BF1-1B9CEEAFE862}"/>
              </a:ext>
            </a:extLst>
          </p:cNvPr>
          <p:cNvSpPr>
            <a:spLocks xmlns:a="http://schemas.openxmlformats.org/drawingml/2006/main" noGrp="1"/>
          </p:cNvSpPr>
          <p:nvPr/>
        </p:nvSpPr>
        <p:spPr>
          <a:xfrm xmlns:a="http://schemas.openxmlformats.org/drawingml/2006/main">
            <a:off x="1000125" y="302895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AAE0810-276D-46B6-88D9-73EA1A298235}"/>
              </a:ext>
            </a:extLst>
          </p:cNvPr>
          <p:cNvSpPr>
            <a:spLocks xmlns:a="http://schemas.openxmlformats.org/drawingml/2006/main" noGrp="1"/>
          </p:cNvSpPr>
          <p:nvPr/>
        </p:nvSpPr>
        <p:spPr>
          <a:xfrm xmlns:a="http://schemas.openxmlformats.org/drawingml/2006/main">
            <a:off x="781050" y="3371850"/>
            <a:ext cx="476250" cy="4762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5909D93-3FFD-4DEE-B6C6-B5C977D9D1C1}"/>
              </a:ext>
            </a:extLst>
          </p:cNvPr>
          <p:cNvSpPr>
            <a:spLocks xmlns:a="http://schemas.openxmlformats.org/drawingml/2006/main" noGrp="1"/>
          </p:cNvSpPr>
          <p:nvPr/>
        </p:nvSpPr>
        <p:spPr>
          <a:xfrm xmlns:a="http://schemas.openxmlformats.org/drawingml/2006/main">
            <a:off x="781050" y="3371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5549ECCE-8BCD-4A44-9CEE-850AC855D629}"/>
              </a:ext>
            </a:extLst>
          </p:cNvPr>
          <p:cNvSpPr>
            <a:spLocks xmlns:a="http://schemas.openxmlformats.org/drawingml/2006/main" noGrp="1"/>
          </p:cNvSpPr>
          <p:nvPr/>
        </p:nvSpPr>
        <p:spPr>
          <a:xfrm xmlns:a="http://schemas.openxmlformats.org/drawingml/2006/main">
            <a:off x="1562100" y="33528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Secure publish</a:t>
            </a:r>
          </a:p>
        </p:txBody>
      </p:sp>
      <p:sp>
        <p:nvSpPr>
          <p:cNvPr id="19" name="">
            <a:extLst xmlns:a="http://schemas.openxmlformats.org/drawingml/2006/main">
              <a:ext uri="{FF2B5EF4-FFF2-40B4-BE49-F238E27FC236}">
                <a16:creationId xmlns:a16="http://schemas.microsoft.com/office/drawing/2014/main" id="{F5FD089F-7909-4C30-89F8-EAFB28A5A73C}"/>
              </a:ext>
            </a:extLst>
          </p:cNvPr>
          <p:cNvSpPr>
            <a:spLocks xmlns:a="http://schemas.openxmlformats.org/drawingml/2006/main" noGrp="1"/>
          </p:cNvSpPr>
          <p:nvPr/>
        </p:nvSpPr>
        <p:spPr>
          <a:xfrm xmlns:a="http://schemas.openxmlformats.org/drawingml/2006/main">
            <a:off x="4095750" y="3352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Run 31949803280</a:t>
            </a:r>
          </a:p>
        </p:txBody>
      </p:sp>
      <p:sp>
        <p:nvSpPr>
          <p:cNvPr id="20" name="">
            <a:extLst xmlns:a="http://schemas.openxmlformats.org/drawingml/2006/main">
              <a:ext uri="{FF2B5EF4-FFF2-40B4-BE49-F238E27FC236}">
                <a16:creationId xmlns:a16="http://schemas.microsoft.com/office/drawing/2014/main" id="{83057C72-EBE4-45D8-A945-048D937E78C4}"/>
              </a:ext>
            </a:extLst>
          </p:cNvPr>
          <p:cNvSpPr>
            <a:spLocks xmlns:a="http://schemas.openxmlformats.org/drawingml/2006/main" noGrp="1"/>
          </p:cNvSpPr>
          <p:nvPr/>
        </p:nvSpPr>
        <p:spPr>
          <a:xfrm xmlns:a="http://schemas.openxmlformats.org/drawingml/2006/main">
            <a:off x="1000125" y="384810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C8C514B-0726-4EE6-B47B-CC0502D9025B}"/>
              </a:ext>
            </a:extLst>
          </p:cNvPr>
          <p:cNvSpPr>
            <a:spLocks xmlns:a="http://schemas.openxmlformats.org/drawingml/2006/main" noGrp="1"/>
          </p:cNvSpPr>
          <p:nvPr/>
        </p:nvSpPr>
        <p:spPr>
          <a:xfrm xmlns:a="http://schemas.openxmlformats.org/drawingml/2006/main">
            <a:off x="781050" y="4191000"/>
            <a:ext cx="476250" cy="4762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A4CC4AF-761B-49A6-B612-22C52EBF9B43}"/>
              </a:ext>
            </a:extLst>
          </p:cNvPr>
          <p:cNvSpPr>
            <a:spLocks xmlns:a="http://schemas.openxmlformats.org/drawingml/2006/main" noGrp="1"/>
          </p:cNvSpPr>
          <p:nvPr/>
        </p:nvSpPr>
        <p:spPr>
          <a:xfrm xmlns:a="http://schemas.openxmlformats.org/drawingml/2006/main">
            <a:off x="781050" y="4191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6D33FDA0-F860-470A-8C2F-A247D4EB742A}"/>
              </a:ext>
            </a:extLst>
          </p:cNvPr>
          <p:cNvSpPr>
            <a:spLocks xmlns:a="http://schemas.openxmlformats.org/drawingml/2006/main" noGrp="1"/>
          </p:cNvSpPr>
          <p:nvPr/>
        </p:nvSpPr>
        <p:spPr>
          <a:xfrm xmlns:a="http://schemas.openxmlformats.org/drawingml/2006/main">
            <a:off x="1562100" y="4171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AWS deployment</a:t>
            </a:r>
          </a:p>
        </p:txBody>
      </p:sp>
      <p:sp>
        <p:nvSpPr>
          <p:cNvPr id="24" name="">
            <a:extLst xmlns:a="http://schemas.openxmlformats.org/drawingml/2006/main">
              <a:ext uri="{FF2B5EF4-FFF2-40B4-BE49-F238E27FC236}">
                <a16:creationId xmlns:a16="http://schemas.microsoft.com/office/drawing/2014/main" id="{1AD33F0D-B849-4BAA-A12E-2762E8133ECF}"/>
              </a:ext>
            </a:extLst>
          </p:cNvPr>
          <p:cNvSpPr>
            <a:spLocks xmlns:a="http://schemas.openxmlformats.org/drawingml/2006/main" noGrp="1"/>
          </p:cNvSpPr>
          <p:nvPr/>
        </p:nvSpPr>
        <p:spPr>
          <a:xfrm xmlns:a="http://schemas.openxmlformats.org/drawingml/2006/main">
            <a:off x="4095750" y="41719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Run 31950088472</a:t>
            </a:r>
          </a:p>
        </p:txBody>
      </p:sp>
      <p:sp>
        <p:nvSpPr>
          <p:cNvPr id="25" name="">
            <a:extLst xmlns:a="http://schemas.openxmlformats.org/drawingml/2006/main">
              <a:ext uri="{FF2B5EF4-FFF2-40B4-BE49-F238E27FC236}">
                <a16:creationId xmlns:a16="http://schemas.microsoft.com/office/drawing/2014/main" id="{F9548580-21EF-4228-A4D2-38FFDA54ACC0}"/>
              </a:ext>
            </a:extLst>
          </p:cNvPr>
          <p:cNvSpPr>
            <a:spLocks xmlns:a="http://schemas.openxmlformats.org/drawingml/2006/main" noGrp="1"/>
          </p:cNvSpPr>
          <p:nvPr/>
        </p:nvSpPr>
        <p:spPr>
          <a:xfrm xmlns:a="http://schemas.openxmlformats.org/drawingml/2006/main">
            <a:off x="1000125" y="466725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F755635-FBF1-4FC0-83AC-5E8138A4842A}"/>
              </a:ext>
            </a:extLst>
          </p:cNvPr>
          <p:cNvSpPr>
            <a:spLocks xmlns:a="http://schemas.openxmlformats.org/drawingml/2006/main" noGrp="1"/>
          </p:cNvSpPr>
          <p:nvPr/>
        </p:nvSpPr>
        <p:spPr>
          <a:xfrm xmlns:a="http://schemas.openxmlformats.org/drawingml/2006/main">
            <a:off x="781050" y="5010150"/>
            <a:ext cx="476250" cy="4762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B034D4A-782E-481A-A957-4B0DCD3E8121}"/>
              </a:ext>
            </a:extLst>
          </p:cNvPr>
          <p:cNvSpPr>
            <a:spLocks xmlns:a="http://schemas.openxmlformats.org/drawingml/2006/main" noGrp="1"/>
          </p:cNvSpPr>
          <p:nvPr/>
        </p:nvSpPr>
        <p:spPr>
          <a:xfrm xmlns:a="http://schemas.openxmlformats.org/drawingml/2006/main">
            <a:off x="781050" y="50101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F6F96C42-8F5B-4795-91A4-5FCC26CD622B}"/>
              </a:ext>
            </a:extLst>
          </p:cNvPr>
          <p:cNvSpPr>
            <a:spLocks xmlns:a="http://schemas.openxmlformats.org/drawingml/2006/main" noGrp="1"/>
          </p:cNvSpPr>
          <p:nvPr/>
        </p:nvSpPr>
        <p:spPr>
          <a:xfrm xmlns:a="http://schemas.openxmlformats.org/drawingml/2006/main">
            <a:off x="1562100" y="49911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Assurance</a:t>
            </a:r>
          </a:p>
        </p:txBody>
      </p:sp>
      <p:sp>
        <p:nvSpPr>
          <p:cNvPr id="29" name="">
            <a:extLst xmlns:a="http://schemas.openxmlformats.org/drawingml/2006/main">
              <a:ext uri="{FF2B5EF4-FFF2-40B4-BE49-F238E27FC236}">
                <a16:creationId xmlns:a16="http://schemas.microsoft.com/office/drawing/2014/main" id="{F6A0265A-D9F8-4471-A34C-78DCD8FAEEA4}"/>
              </a:ext>
            </a:extLst>
          </p:cNvPr>
          <p:cNvSpPr>
            <a:spLocks xmlns:a="http://schemas.openxmlformats.org/drawingml/2006/main" noGrp="1"/>
          </p:cNvSpPr>
          <p:nvPr/>
        </p:nvSpPr>
        <p:spPr>
          <a:xfrm xmlns:a="http://schemas.openxmlformats.org/drawingml/2006/main">
            <a:off x="4095750" y="49911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ZAP 31950196914 • JMeter 31964380538</a:t>
            </a:r>
          </a:p>
        </p:txBody>
      </p:sp>
      <p:sp>
        <p:nvSpPr>
          <p:cNvPr id="30" name="">
            <a:extLst xmlns:a="http://schemas.openxmlformats.org/drawingml/2006/main">
              <a:ext uri="{FF2B5EF4-FFF2-40B4-BE49-F238E27FC236}">
                <a16:creationId xmlns:a16="http://schemas.microsoft.com/office/drawing/2014/main" id="{A40BCA89-8C7E-43DB-AC77-EF03EE4F853F}"/>
              </a:ext>
            </a:extLst>
          </p:cNvPr>
          <p:cNvSpPr>
            <a:spLocks xmlns:a="http://schemas.openxmlformats.org/drawingml/2006/main" noGrp="1"/>
          </p:cNvSpPr>
          <p:nvPr/>
        </p:nvSpPr>
        <p:spPr>
          <a:xfrm xmlns:a="http://schemas.openxmlformats.org/drawingml/2006/main">
            <a:off x="9334500" y="1771650"/>
            <a:ext cx="2038350" cy="3371850"/>
          </a:xfrm>
          <a:prstGeom xmlns:a="http://schemas.openxmlformats.org/drawingml/2006/main" prst="roundRect">
            <a:avLst>
              <a:gd name="adj" fmla="val 3738"/>
            </a:avLst>
          </a:prstGeom>
          <a:solidFill xmlns:a="http://schemas.openxmlformats.org/drawingml/2006/main">
            <a:srgbClr val="EAF2FA"/>
          </a:solidFill>
          <a:ln xmlns:a="http://schemas.openxmlformats.org/drawingml/2006/main" w="9525">
            <a:solidFill>
              <a:srgbClr val="D9E3DE"/>
            </a:solidFill>
            <a:prstDash val="solid"/>
          </a:ln>
        </p:spPr>
      </p:sp>
      <p:sp>
        <p:nvSpPr>
          <p:cNvPr id="31" name="">
            <a:extLst xmlns:a="http://schemas.openxmlformats.org/drawingml/2006/main">
              <a:ext uri="{FF2B5EF4-FFF2-40B4-BE49-F238E27FC236}">
                <a16:creationId xmlns:a16="http://schemas.microsoft.com/office/drawing/2014/main" id="{B6409BA9-F167-4ADC-97DB-B0C481CF36D6}"/>
              </a:ext>
            </a:extLst>
          </p:cNvPr>
          <p:cNvSpPr>
            <a:spLocks xmlns:a="http://schemas.openxmlformats.org/drawingml/2006/main" noGrp="1"/>
          </p:cNvSpPr>
          <p:nvPr/>
        </p:nvSpPr>
        <p:spPr>
          <a:xfrm xmlns:a="http://schemas.openxmlformats.org/drawingml/2006/main">
            <a:off x="9544050" y="20764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2E74B5"/>
                </a:solidFill>
                <a:latin typeface="Aptos"/>
                <a:ea typeface="Aptos"/>
                <a:cs typeface="Aptos"/>
              </a:defRPr>
            </a:pPr>
            <a:r>
              <a:rPr sz="1125" b="1">
                <a:solidFill>
                  <a:srgbClr val="2E74B5"/>
                </a:solidFill>
                <a:latin typeface="Aptos"/>
                <a:ea typeface="Aptos"/>
                <a:cs typeface="Aptos"/>
              </a:rPr>
              <a:t>CURRENT RELEASE</a:t>
            </a:r>
          </a:p>
        </p:txBody>
      </p:sp>
      <p:sp>
        <p:nvSpPr>
          <p:cNvPr id="32" name="">
            <a:extLst xmlns:a="http://schemas.openxmlformats.org/drawingml/2006/main">
              <a:ext uri="{FF2B5EF4-FFF2-40B4-BE49-F238E27FC236}">
                <a16:creationId xmlns:a16="http://schemas.microsoft.com/office/drawing/2014/main" id="{79D8D5CE-DD29-4808-A8C4-E76CEF4C7E93}"/>
              </a:ext>
            </a:extLst>
          </p:cNvPr>
          <p:cNvSpPr>
            <a:spLocks xmlns:a="http://schemas.openxmlformats.org/drawingml/2006/main" noGrp="1"/>
          </p:cNvSpPr>
          <p:nvPr/>
        </p:nvSpPr>
        <p:spPr>
          <a:xfrm xmlns:a="http://schemas.openxmlformats.org/drawingml/2006/main">
            <a:off x="9563100" y="2724150"/>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One chain</a:t>
            </a:r>
          </a:p>
        </p:txBody>
      </p:sp>
      <p:sp>
        <p:nvSpPr>
          <p:cNvPr id="33" name="">
            <a:extLst xmlns:a="http://schemas.openxmlformats.org/drawingml/2006/main">
              <a:ext uri="{FF2B5EF4-FFF2-40B4-BE49-F238E27FC236}">
                <a16:creationId xmlns:a16="http://schemas.microsoft.com/office/drawing/2014/main" id="{C7DBF6AF-2F44-4AB7-999F-013EC4151B77}"/>
              </a:ext>
            </a:extLst>
          </p:cNvPr>
          <p:cNvSpPr>
            <a:spLocks xmlns:a="http://schemas.openxmlformats.org/drawingml/2006/main" noGrp="1"/>
          </p:cNvSpPr>
          <p:nvPr/>
        </p:nvSpPr>
        <p:spPr>
          <a:xfrm xmlns:a="http://schemas.openxmlformats.org/drawingml/2006/main">
            <a:off x="9639300" y="333375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0">
                <a:solidFill>
                  <a:srgbClr val="5A6571"/>
                </a:solidFill>
                <a:latin typeface="Aptos"/>
                <a:ea typeface="Aptos"/>
                <a:cs typeface="Aptos"/>
              </a:defRPr>
            </a:pPr>
            <a:r>
              <a:rPr sz="1275" b="0">
                <a:solidFill>
                  <a:srgbClr val="5A6571"/>
                </a:solidFill>
                <a:latin typeface="Aptos"/>
                <a:ea typeface="Aptos"/>
                <a:cs typeface="Aptos"/>
              </a:rPr>
              <a:t>Open the Actions runs, then finish on the live staging endpoint.</a:t>
            </a:r>
          </a:p>
        </p:txBody>
      </p:sp>
      <p:sp>
        <p:nvSpPr>
          <p:cNvPr id="34" name="">
            <a:extLst xmlns:a="http://schemas.openxmlformats.org/drawingml/2006/main">
              <a:ext uri="{FF2B5EF4-FFF2-40B4-BE49-F238E27FC236}">
                <a16:creationId xmlns:a16="http://schemas.microsoft.com/office/drawing/2014/main" id="{B007D3F3-4900-4961-A1B2-619756416A93}"/>
              </a:ext>
            </a:extLst>
          </p:cNvPr>
          <p:cNvSpPr>
            <a:spLocks xmlns:a="http://schemas.openxmlformats.org/drawingml/2006/main" noGrp="1"/>
          </p:cNvSpPr>
          <p:nvPr/>
        </p:nvSpPr>
        <p:spPr>
          <a:xfrm xmlns:a="http://schemas.openxmlformats.org/drawingml/2006/main">
            <a:off x="9639300" y="43624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B3261E"/>
                </a:solidFill>
                <a:latin typeface="Aptos"/>
                <a:ea typeface="Aptos"/>
                <a:cs typeface="Aptos"/>
              </a:defRPr>
            </a:pPr>
            <a:r>
              <a:rPr sz="1275" b="1">
                <a:solidFill>
                  <a:srgbClr val="B3261E"/>
                </a:solidFill>
                <a:latin typeface="Aptos"/>
                <a:ea typeface="Aptos"/>
                <a:cs typeface="Aptos"/>
              </a:rPr>
              <a:t>Never expose secrets or tokens.</a:t>
            </a:r>
          </a:p>
        </p:txBody>
      </p:sp>
    </p:spTree>
    <p:extLst>
      <p:ext uri="{BB962C8B-B14F-4D97-AF65-F5344CB8AC3E}">
        <p14:creationId xmlns:p14="http://schemas.microsoft.com/office/powerpoint/2010/main" val="2045490126"/>
      </p:ext>
    </p:extLst>
  </p:cSld>
</p:sld>
</file>

<file path=ppt/slides/slide8.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70A78F5-10A1-442E-AC3E-C12D966C1815}"/>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SECURITY TESTING REPORT</a:t>
            </a:r>
          </a:p>
        </p:txBody>
      </p:sp>
      <p:sp>
        <p:nvSpPr>
          <p:cNvPr id="2" name="">
            <a:extLst xmlns:a="http://schemas.openxmlformats.org/drawingml/2006/main">
              <a:ext uri="{FF2B5EF4-FFF2-40B4-BE49-F238E27FC236}">
                <a16:creationId xmlns:a16="http://schemas.microsoft.com/office/drawing/2014/main" id="{737A2CA9-ACEA-49A5-8C62-89B5D5710EA4}"/>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Security evidence proves detect, fix, and re-scan</a:t>
            </a:r>
          </a:p>
        </p:txBody>
      </p:sp>
      <p:sp>
        <p:nvSpPr>
          <p:cNvPr id="3" name="">
            <a:extLst xmlns:a="http://schemas.openxmlformats.org/drawingml/2006/main">
              <a:ext uri="{FF2B5EF4-FFF2-40B4-BE49-F238E27FC236}">
                <a16:creationId xmlns:a16="http://schemas.microsoft.com/office/drawing/2014/main" id="{9FA58E3E-3740-40E6-A525-367127FBC3A0}"/>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8A231C-915E-4D08-B7CC-9328B4D5D6E7}"/>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E421B092-1E64-4B54-A79B-31FE4B31738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653C325F-27CF-4D59-8A70-AB7D72BF7462}"/>
              </a:ext>
            </a:extLst>
          </p:cNvPr>
          <p:cNvSpPr>
            <a:spLocks xmlns:a="http://schemas.openxmlformats.org/drawingml/2006/main" noGrp="1"/>
          </p:cNvSpPr>
          <p:nvPr/>
        </p:nvSpPr>
        <p:spPr>
          <a:xfrm xmlns:a="http://schemas.openxmlformats.org/drawingml/2006/main">
            <a:off x="914400" y="17526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050" b="1">
                <a:solidFill>
                  <a:srgbClr val="B3261E"/>
                </a:solidFill>
                <a:latin typeface="Aptos"/>
                <a:ea typeface="Aptos"/>
                <a:cs typeface="Aptos"/>
              </a:defRPr>
            </a:pPr>
            <a:r>
              <a:rPr sz="1050" b="1">
                <a:solidFill>
                  <a:srgbClr val="B3261E"/>
                </a:solidFill>
                <a:latin typeface="Aptos"/>
                <a:ea typeface="Aptos"/>
                <a:cs typeface="Aptos"/>
              </a:rPr>
              <a:t>BEFORE</a:t>
            </a:r>
          </a:p>
        </p:txBody>
      </p:sp>
      <p:sp>
        <p:nvSpPr>
          <p:cNvPr id="7" name="">
            <a:extLst xmlns:a="http://schemas.openxmlformats.org/drawingml/2006/main">
              <a:ext uri="{FF2B5EF4-FFF2-40B4-BE49-F238E27FC236}">
                <a16:creationId xmlns:a16="http://schemas.microsoft.com/office/drawing/2014/main" id="{494C2F14-B2F0-447A-A95F-E8F79B64F756}"/>
              </a:ext>
            </a:extLst>
          </p:cNvPr>
          <p:cNvSpPr>
            <a:spLocks xmlns:a="http://schemas.openxmlformats.org/drawingml/2006/main" noGrp="1"/>
          </p:cNvSpPr>
          <p:nvPr/>
        </p:nvSpPr>
        <p:spPr>
          <a:xfrm xmlns:a="http://schemas.openxmlformats.org/drawingml/2006/main">
            <a:off x="1257300" y="2324100"/>
            <a:ext cx="1390650" cy="2552700"/>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737076-09BF-469E-AA15-7A0B1FB40069}"/>
              </a:ext>
            </a:extLst>
          </p:cNvPr>
          <p:cNvSpPr>
            <a:spLocks xmlns:a="http://schemas.openxmlformats.org/drawingml/2006/main" noGrp="1"/>
          </p:cNvSpPr>
          <p:nvPr/>
        </p:nvSpPr>
        <p:spPr>
          <a:xfrm xmlns:a="http://schemas.openxmlformats.org/drawingml/2006/main">
            <a:off x="1257300" y="29527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3900" b="1">
                <a:solidFill>
                  <a:srgbClr val="FFFFFF"/>
                </a:solidFill>
                <a:latin typeface="Aptos"/>
                <a:ea typeface="Aptos"/>
                <a:cs typeface="Aptos"/>
              </a:defRPr>
            </a:pPr>
            <a:r>
              <a:rPr sz="3900" b="1">
                <a:solidFill>
                  <a:srgbClr val="FFFFFF"/>
                </a:solidFill>
                <a:latin typeface="Aptos"/>
                <a:ea typeface="Aptos"/>
                <a:cs typeface="Aptos"/>
              </a:rPr>
              <a:t>142</a:t>
            </a:r>
          </a:p>
        </p:txBody>
      </p:sp>
      <p:sp>
        <p:nvSpPr>
          <p:cNvPr id="9" name="">
            <a:extLst xmlns:a="http://schemas.openxmlformats.org/drawingml/2006/main">
              <a:ext uri="{FF2B5EF4-FFF2-40B4-BE49-F238E27FC236}">
                <a16:creationId xmlns:a16="http://schemas.microsoft.com/office/drawing/2014/main" id="{99899E97-4CC6-4C0B-8027-9B47838C4AFA}"/>
              </a:ext>
            </a:extLst>
          </p:cNvPr>
          <p:cNvSpPr>
            <a:spLocks xmlns:a="http://schemas.openxmlformats.org/drawingml/2006/main" noGrp="1"/>
          </p:cNvSpPr>
          <p:nvPr/>
        </p:nvSpPr>
        <p:spPr>
          <a:xfrm xmlns:a="http://schemas.openxmlformats.org/drawingml/2006/main">
            <a:off x="1257300" y="3790950"/>
            <a:ext cx="1390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117 Medium</a:t>
            </a:r>
          </a:p>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25 High</a:t>
            </a:r>
          </a:p>
        </p:txBody>
      </p:sp>
      <p:sp>
        <p:nvSpPr>
          <p:cNvPr id="10" name="">
            <a:extLst xmlns:a="http://schemas.openxmlformats.org/drawingml/2006/main">
              <a:ext uri="{FF2B5EF4-FFF2-40B4-BE49-F238E27FC236}">
                <a16:creationId xmlns:a16="http://schemas.microsoft.com/office/drawing/2014/main" id="{98C71663-C7A8-4319-AC8F-481AA8B38612}"/>
              </a:ext>
            </a:extLst>
          </p:cNvPr>
          <p:cNvSpPr>
            <a:spLocks xmlns:a="http://schemas.openxmlformats.org/drawingml/2006/main" noGrp="1"/>
          </p:cNvSpPr>
          <p:nvPr/>
        </p:nvSpPr>
        <p:spPr>
          <a:xfrm xmlns:a="http://schemas.openxmlformats.org/drawingml/2006/main">
            <a:off x="5010150" y="17526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050" b="1">
                <a:solidFill>
                  <a:srgbClr val="2E74B5"/>
                </a:solidFill>
                <a:latin typeface="Aptos"/>
                <a:ea typeface="Aptos"/>
                <a:cs typeface="Aptos"/>
              </a:defRPr>
            </a:pPr>
            <a:r>
              <a:rPr sz="1050" b="1">
                <a:solidFill>
                  <a:srgbClr val="2E74B5"/>
                </a:solidFill>
                <a:latin typeface="Aptos"/>
                <a:ea typeface="Aptos"/>
                <a:cs typeface="Aptos"/>
              </a:rPr>
              <a:t>FIX</a:t>
            </a:r>
          </a:p>
        </p:txBody>
      </p:sp>
      <p:sp>
        <p:nvSpPr>
          <p:cNvPr id="11" name="">
            <a:extLst xmlns:a="http://schemas.openxmlformats.org/drawingml/2006/main">
              <a:ext uri="{FF2B5EF4-FFF2-40B4-BE49-F238E27FC236}">
                <a16:creationId xmlns:a16="http://schemas.microsoft.com/office/drawing/2014/main" id="{562F3116-0BDF-4EF8-A8FE-15E40A207EE2}"/>
              </a:ext>
            </a:extLst>
          </p:cNvPr>
          <p:cNvSpPr>
            <a:spLocks xmlns:a="http://schemas.openxmlformats.org/drawingml/2006/main" noGrp="1"/>
          </p:cNvSpPr>
          <p:nvPr/>
        </p:nvSpPr>
        <p:spPr>
          <a:xfrm xmlns:a="http://schemas.openxmlformats.org/drawingml/2006/main">
            <a:off x="4933950" y="238125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75" b="1">
                <a:solidFill>
                  <a:srgbClr val="0B2545"/>
                </a:solidFill>
                <a:latin typeface="Aptos"/>
                <a:ea typeface="Aptos"/>
                <a:cs typeface="Aptos"/>
              </a:defRPr>
            </a:pPr>
            <a:r>
              <a:rPr sz="1575" b="1">
                <a:solidFill>
                  <a:srgbClr val="0B2545"/>
                </a:solidFill>
                <a:latin typeface="Aptos"/>
                <a:ea typeface="Aptos"/>
                <a:cs typeface="Aptos"/>
              </a:rPr>
              <a:t>OS packages</a:t>
            </a:r>
          </a:p>
        </p:txBody>
      </p:sp>
      <p:sp>
        <p:nvSpPr>
          <p:cNvPr id="12" name="">
            <a:extLst xmlns:a="http://schemas.openxmlformats.org/drawingml/2006/main">
              <a:ext uri="{FF2B5EF4-FFF2-40B4-BE49-F238E27FC236}">
                <a16:creationId xmlns:a16="http://schemas.microsoft.com/office/drawing/2014/main" id="{2E0316A5-67CF-482B-8D75-2460E9E4BDE4}"/>
              </a:ext>
            </a:extLst>
          </p:cNvPr>
          <p:cNvSpPr>
            <a:spLocks xmlns:a="http://schemas.openxmlformats.org/drawingml/2006/main" noGrp="1"/>
          </p:cNvSpPr>
          <p:nvPr/>
        </p:nvSpPr>
        <p:spPr>
          <a:xfrm xmlns:a="http://schemas.openxmlformats.org/drawingml/2006/main">
            <a:off x="4933950" y="302895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75" b="1">
                <a:solidFill>
                  <a:srgbClr val="0B2545"/>
                </a:solidFill>
                <a:latin typeface="Aptos"/>
                <a:ea typeface="Aptos"/>
                <a:cs typeface="Aptos"/>
              </a:defRPr>
            </a:pPr>
            <a:r>
              <a:rPr sz="1575" b="1">
                <a:solidFill>
                  <a:srgbClr val="0B2545"/>
                </a:solidFill>
                <a:latin typeface="Aptos"/>
                <a:ea typeface="Aptos"/>
                <a:cs typeface="Aptos"/>
              </a:rPr>
              <a:t>Pinned dependencies</a:t>
            </a:r>
          </a:p>
        </p:txBody>
      </p:sp>
      <p:sp>
        <p:nvSpPr>
          <p:cNvPr id="13" name="">
            <a:extLst xmlns:a="http://schemas.openxmlformats.org/drawingml/2006/main">
              <a:ext uri="{FF2B5EF4-FFF2-40B4-BE49-F238E27FC236}">
                <a16:creationId xmlns:a16="http://schemas.microsoft.com/office/drawing/2014/main" id="{CD48E22D-6836-4C95-A2E3-CD37676A2C14}"/>
              </a:ext>
            </a:extLst>
          </p:cNvPr>
          <p:cNvSpPr>
            <a:spLocks xmlns:a="http://schemas.openxmlformats.org/drawingml/2006/main" noGrp="1"/>
          </p:cNvSpPr>
          <p:nvPr/>
        </p:nvSpPr>
        <p:spPr>
          <a:xfrm xmlns:a="http://schemas.openxmlformats.org/drawingml/2006/main">
            <a:off x="4933950" y="367665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75" b="1">
                <a:solidFill>
                  <a:srgbClr val="0B2545"/>
                </a:solidFill>
                <a:latin typeface="Aptos"/>
                <a:ea typeface="Aptos"/>
                <a:cs typeface="Aptos"/>
              </a:defRPr>
            </a:pPr>
            <a:r>
              <a:rPr sz="1575" b="1">
                <a:solidFill>
                  <a:srgbClr val="0B2545"/>
                </a:solidFill>
                <a:latin typeface="Aptos"/>
                <a:ea typeface="Aptos"/>
                <a:cs typeface="Aptos"/>
              </a:rPr>
              <a:t>Lean runtime tooling</a:t>
            </a:r>
          </a:p>
        </p:txBody>
      </p:sp>
      <p:sp>
        <p:nvSpPr>
          <p:cNvPr id="14" name="">
            <a:extLst xmlns:a="http://schemas.openxmlformats.org/drawingml/2006/main">
              <a:ext uri="{FF2B5EF4-FFF2-40B4-BE49-F238E27FC236}">
                <a16:creationId xmlns:a16="http://schemas.microsoft.com/office/drawing/2014/main" id="{06EA8937-2219-487E-AD57-8A7912C5AECF}"/>
              </a:ext>
            </a:extLst>
          </p:cNvPr>
          <p:cNvSpPr>
            <a:spLocks xmlns:a="http://schemas.openxmlformats.org/drawingml/2006/main" noGrp="1"/>
          </p:cNvSpPr>
          <p:nvPr/>
        </p:nvSpPr>
        <p:spPr>
          <a:xfrm xmlns:a="http://schemas.openxmlformats.org/drawingml/2006/main">
            <a:off x="3162300" y="3438525"/>
            <a:ext cx="914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456508-EDF4-4C8E-B75E-AC7D3BD239D8}"/>
              </a:ext>
            </a:extLst>
          </p:cNvPr>
          <p:cNvSpPr>
            <a:spLocks xmlns:a="http://schemas.openxmlformats.org/drawingml/2006/main" noGrp="1"/>
          </p:cNvSpPr>
          <p:nvPr/>
        </p:nvSpPr>
        <p:spPr>
          <a:xfrm xmlns:a="http://schemas.openxmlformats.org/drawingml/2006/main">
            <a:off x="4000500" y="32861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E66B5BFB-1177-4E56-9E20-D2EF316B8EF2}"/>
              </a:ext>
            </a:extLst>
          </p:cNvPr>
          <p:cNvSpPr>
            <a:spLocks xmlns:a="http://schemas.openxmlformats.org/drawingml/2006/main" noGrp="1"/>
          </p:cNvSpPr>
          <p:nvPr/>
        </p:nvSpPr>
        <p:spPr>
          <a:xfrm xmlns:a="http://schemas.openxmlformats.org/drawingml/2006/main">
            <a:off x="7524750" y="3438525"/>
            <a:ext cx="914400" cy="38100"/>
          </a:xfrm>
          <a:prstGeom xmlns:a="http://schemas.openxmlformats.org/drawingml/2006/main" prst="rect">
            <a:avLst/>
          </a:prstGeom>
          <a:solidFill xmlns:a="http://schemas.openxmlformats.org/drawingml/2006/main">
            <a:srgbClr val="0B25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9910525-8F56-4A91-A5FB-038174467943}"/>
              </a:ext>
            </a:extLst>
          </p:cNvPr>
          <p:cNvSpPr>
            <a:spLocks xmlns:a="http://schemas.openxmlformats.org/drawingml/2006/main" noGrp="1"/>
          </p:cNvSpPr>
          <p:nvPr/>
        </p:nvSpPr>
        <p:spPr>
          <a:xfrm xmlns:a="http://schemas.openxmlformats.org/drawingml/2006/main">
            <a:off x="8362950" y="3286125"/>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431"/>
          </a:bodyPr>
          <a:lstStyle xmlns:a="http://schemas.openxmlformats.org/drawingml/2006/main"/>
          <a:p xmlns:a="http://schemas.openxmlformats.org/drawingml/2006/main">
            <a:pPr algn="r">
              <a:buNone/>
              <a:defRPr sz="2550" b="1">
                <a:solidFill>
                  <a:srgbClr val="0B2545"/>
                </a:solidFill>
                <a:latin typeface="Aptos"/>
                <a:ea typeface="Aptos"/>
                <a:cs typeface="Aptos"/>
              </a:defRPr>
            </a:pPr>
            <a:r>
              <a:rPr sz="2550" b="1">
                <a:solidFill>
                  <a:srgbClr val="0B2545"/>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B793BA32-6390-4225-869D-B87CE4B5D929}"/>
              </a:ext>
            </a:extLst>
          </p:cNvPr>
          <p:cNvSpPr>
            <a:spLocks xmlns:a="http://schemas.openxmlformats.org/drawingml/2006/main" noGrp="1"/>
          </p:cNvSpPr>
          <p:nvPr/>
        </p:nvSpPr>
        <p:spPr>
          <a:xfrm xmlns:a="http://schemas.openxmlformats.org/drawingml/2006/main">
            <a:off x="9010650" y="17526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050" b="1">
                <a:solidFill>
                  <a:srgbClr val="11854F"/>
                </a:solidFill>
                <a:latin typeface="Aptos"/>
                <a:ea typeface="Aptos"/>
                <a:cs typeface="Aptos"/>
              </a:defRPr>
            </a:pPr>
            <a:r>
              <a:rPr sz="1050" b="1">
                <a:solidFill>
                  <a:srgbClr val="11854F"/>
                </a:solidFill>
                <a:latin typeface="Aptos"/>
                <a:ea typeface="Aptos"/>
                <a:cs typeface="Aptos"/>
              </a:rPr>
              <a:t>RE-SCAN</a:t>
            </a:r>
          </a:p>
        </p:txBody>
      </p:sp>
      <p:sp>
        <p:nvSpPr>
          <p:cNvPr id="19" name="">
            <a:extLst xmlns:a="http://schemas.openxmlformats.org/drawingml/2006/main">
              <a:ext uri="{FF2B5EF4-FFF2-40B4-BE49-F238E27FC236}">
                <a16:creationId xmlns:a16="http://schemas.microsoft.com/office/drawing/2014/main" id="{8387B0B3-05AF-4FB9-865C-A5989E6C066C}"/>
              </a:ext>
            </a:extLst>
          </p:cNvPr>
          <p:cNvSpPr>
            <a:spLocks xmlns:a="http://schemas.openxmlformats.org/drawingml/2006/main" noGrp="1"/>
          </p:cNvSpPr>
          <p:nvPr/>
        </p:nvSpPr>
        <p:spPr>
          <a:xfrm xmlns:a="http://schemas.openxmlformats.org/drawingml/2006/main">
            <a:off x="9353550" y="2324100"/>
            <a:ext cx="1390650" cy="2552700"/>
          </a:xfrm>
          <a:prstGeom xmlns:a="http://schemas.openxmlformats.org/drawingml/2006/main" prst="rect">
            <a:avLst/>
          </a:prstGeom>
          <a:solidFill xmlns:a="http://schemas.openxmlformats.org/drawingml/2006/main">
            <a:srgbClr val="11854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9B64E73-4DDF-43C3-A33C-8475A77E0224}"/>
              </a:ext>
            </a:extLst>
          </p:cNvPr>
          <p:cNvSpPr>
            <a:spLocks xmlns:a="http://schemas.openxmlformats.org/drawingml/2006/main" noGrp="1"/>
          </p:cNvSpPr>
          <p:nvPr/>
        </p:nvSpPr>
        <p:spPr>
          <a:xfrm xmlns:a="http://schemas.openxmlformats.org/drawingml/2006/main">
            <a:off x="9353550" y="29527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4350" b="1">
                <a:solidFill>
                  <a:srgbClr val="FFFFFF"/>
                </a:solidFill>
                <a:latin typeface="Aptos"/>
                <a:ea typeface="Aptos"/>
                <a:cs typeface="Aptos"/>
              </a:defRPr>
            </a:pPr>
            <a:r>
              <a:rPr sz="4350" b="1">
                <a:solidFill>
                  <a:srgbClr val="FFFFFF"/>
                </a:solidFill>
                <a:latin typeface="Aptos"/>
                <a:ea typeface="Aptos"/>
                <a:cs typeface="Aptos"/>
              </a:rPr>
              <a:t>0</a:t>
            </a:r>
          </a:p>
        </p:txBody>
      </p:sp>
      <p:sp>
        <p:nvSpPr>
          <p:cNvPr id="21" name="">
            <a:extLst xmlns:a="http://schemas.openxmlformats.org/drawingml/2006/main">
              <a:ext uri="{FF2B5EF4-FFF2-40B4-BE49-F238E27FC236}">
                <a16:creationId xmlns:a16="http://schemas.microsoft.com/office/drawing/2014/main" id="{2AF0A7CE-DCA3-4232-A2AE-603AA8644680}"/>
              </a:ext>
            </a:extLst>
          </p:cNvPr>
          <p:cNvSpPr>
            <a:spLocks xmlns:a="http://schemas.openxmlformats.org/drawingml/2006/main" noGrp="1"/>
          </p:cNvSpPr>
          <p:nvPr/>
        </p:nvSpPr>
        <p:spPr>
          <a:xfrm xmlns:a="http://schemas.openxmlformats.org/drawingml/2006/main">
            <a:off x="9353550" y="3790950"/>
            <a:ext cx="1390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Fixable</a:t>
            </a:r>
          </a:p>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Medium+</a:t>
            </a:r>
          </a:p>
        </p:txBody>
      </p:sp>
      <p:sp>
        <p:nvSpPr>
          <p:cNvPr id="22" name="">
            <a:extLst xmlns:a="http://schemas.openxmlformats.org/drawingml/2006/main">
              <a:ext uri="{FF2B5EF4-FFF2-40B4-BE49-F238E27FC236}">
                <a16:creationId xmlns:a16="http://schemas.microsoft.com/office/drawing/2014/main" id="{9304A2D9-0E19-4462-81EB-3362136EDCEF}"/>
              </a:ext>
            </a:extLst>
          </p:cNvPr>
          <p:cNvSpPr>
            <a:spLocks xmlns:a="http://schemas.openxmlformats.org/drawingml/2006/main" noGrp="1"/>
          </p:cNvSpPr>
          <p:nvPr/>
        </p:nvSpPr>
        <p:spPr>
          <a:xfrm xmlns:a="http://schemas.openxmlformats.org/drawingml/2006/main">
            <a:off x="914400" y="5105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5A6571"/>
                </a:solidFill>
                <a:latin typeface="Aptos"/>
                <a:ea typeface="Aptos"/>
                <a:cs typeface="Aptos"/>
              </a:defRPr>
            </a:pPr>
            <a:r>
              <a:rPr sz="1200" b="1">
                <a:solidFill>
                  <a:srgbClr val="5A6571"/>
                </a:solidFill>
                <a:latin typeface="Aptos"/>
                <a:ea typeface="Aptos"/>
                <a:cs typeface="Aptos"/>
              </a:rPr>
              <a:t>6 existing images</a:t>
            </a:r>
          </a:p>
        </p:txBody>
      </p:sp>
      <p:sp>
        <p:nvSpPr>
          <p:cNvPr id="23" name="">
            <a:extLst xmlns:a="http://schemas.openxmlformats.org/drawingml/2006/main">
              <a:ext uri="{FF2B5EF4-FFF2-40B4-BE49-F238E27FC236}">
                <a16:creationId xmlns:a16="http://schemas.microsoft.com/office/drawing/2014/main" id="{7EFED0DC-F13E-4FD9-8F87-C7FEFC494C34}"/>
              </a:ext>
            </a:extLst>
          </p:cNvPr>
          <p:cNvSpPr>
            <a:spLocks xmlns:a="http://schemas.openxmlformats.org/drawingml/2006/main" noGrp="1"/>
          </p:cNvSpPr>
          <p:nvPr/>
        </p:nvSpPr>
        <p:spPr>
          <a:xfrm xmlns:a="http://schemas.openxmlformats.org/drawingml/2006/main">
            <a:off x="9010650" y="5105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5A6571"/>
                </a:solidFill>
                <a:latin typeface="Aptos"/>
                <a:ea typeface="Aptos"/>
                <a:cs typeface="Aptos"/>
              </a:defRPr>
            </a:pPr>
            <a:r>
              <a:rPr sz="1200" b="1">
                <a:solidFill>
                  <a:srgbClr val="5A6571"/>
                </a:solidFill>
                <a:latin typeface="Aptos"/>
                <a:ea typeface="Aptos"/>
                <a:cs typeface="Aptos"/>
              </a:rPr>
              <a:t>7 release images</a:t>
            </a:r>
          </a:p>
        </p:txBody>
      </p:sp>
      <p:sp>
        <p:nvSpPr>
          <p:cNvPr id="24" name="">
            <a:extLst xmlns:a="http://schemas.openxmlformats.org/drawingml/2006/main">
              <a:ext uri="{FF2B5EF4-FFF2-40B4-BE49-F238E27FC236}">
                <a16:creationId xmlns:a16="http://schemas.microsoft.com/office/drawing/2014/main" id="{7FF5EDAA-9A70-4D76-B2CF-3BF9AC527356}"/>
              </a:ext>
            </a:extLst>
          </p:cNvPr>
          <p:cNvSpPr>
            <a:spLocks xmlns:a="http://schemas.openxmlformats.org/drawingml/2006/main" noGrp="1"/>
          </p:cNvSpPr>
          <p:nvPr/>
        </p:nvSpPr>
        <p:spPr>
          <a:xfrm xmlns:a="http://schemas.openxmlformats.org/drawingml/2006/main">
            <a:off x="2952750" y="58293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Zero is the declared scanner result — not a claim of zero risk.</a:t>
            </a:r>
          </a:p>
        </p:txBody>
      </p:sp>
    </p:spTree>
    <p:extLst>
      <p:ext uri="{BB962C8B-B14F-4D97-AF65-F5344CB8AC3E}">
        <p14:creationId xmlns:p14="http://schemas.microsoft.com/office/powerpoint/2010/main" val="56262515"/>
      </p:ext>
    </p:extLst>
  </p:cSld>
</p:sld>
</file>

<file path=ppt/slides/slide9.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4B7804D-153A-456E-86CC-68D1FA5F8E9D}"/>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DAST • PERFORMANCE • MONITORING</a:t>
            </a:r>
          </a:p>
        </p:txBody>
      </p:sp>
      <p:sp>
        <p:nvSpPr>
          <p:cNvPr id="2" name="">
            <a:extLst xmlns:a="http://schemas.openxmlformats.org/drawingml/2006/main">
              <a:ext uri="{FF2B5EF4-FFF2-40B4-BE49-F238E27FC236}">
                <a16:creationId xmlns:a16="http://schemas.microsoft.com/office/drawing/2014/main" id="{D607E071-7D56-4ED8-9E5B-DE45E23567E7}"/>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Current staging passes post-deployment assurance</a:t>
            </a:r>
          </a:p>
        </p:txBody>
      </p:sp>
      <p:sp>
        <p:nvSpPr>
          <p:cNvPr id="3" name="">
            <a:extLst xmlns:a="http://schemas.openxmlformats.org/drawingml/2006/main">
              <a:ext uri="{FF2B5EF4-FFF2-40B4-BE49-F238E27FC236}">
                <a16:creationId xmlns:a16="http://schemas.microsoft.com/office/drawing/2014/main" id="{79EFA743-9AC8-4406-B2FF-FE78046FFC1B}"/>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96EB86-5862-4211-A0A4-32A0F1419AD0}"/>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F9529D06-F72C-4325-B326-2A7227E411C1}"/>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AEAA51FA-ADF0-4021-B209-5216355924A6}"/>
              </a:ext>
            </a:extLst>
          </p:cNvPr>
          <p:cNvSpPr>
            <a:spLocks xmlns:a="http://schemas.openxmlformats.org/drawingml/2006/main" noGrp="1"/>
          </p:cNvSpPr>
          <p:nvPr/>
        </p:nvSpPr>
        <p:spPr>
          <a:xfrm xmlns:a="http://schemas.openxmlformats.org/drawingml/2006/main">
            <a:off x="800100" y="1885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3300" b="1">
                <a:solidFill>
                  <a:srgbClr val="0B2545"/>
                </a:solidFill>
                <a:latin typeface="Aptos"/>
                <a:ea typeface="Aptos"/>
                <a:cs typeface="Aptos"/>
              </a:defRPr>
            </a:pPr>
            <a:r>
              <a:rPr sz="3300" b="1">
                <a:solidFill>
                  <a:srgbClr val="0B2545"/>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F9C78B93-84CA-4411-A081-AA01E68714F6}"/>
              </a:ext>
            </a:extLst>
          </p:cNvPr>
          <p:cNvSpPr>
            <a:spLocks xmlns:a="http://schemas.openxmlformats.org/drawingml/2006/main" noGrp="1"/>
          </p:cNvSpPr>
          <p:nvPr/>
        </p:nvSpPr>
        <p:spPr>
          <a:xfrm xmlns:a="http://schemas.openxmlformats.org/drawingml/2006/main">
            <a:off x="8001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samples</a:t>
            </a:r>
          </a:p>
        </p:txBody>
      </p:sp>
      <p:sp>
        <p:nvSpPr>
          <p:cNvPr id="8" name="">
            <a:extLst xmlns:a="http://schemas.openxmlformats.org/drawingml/2006/main">
              <a:ext uri="{FF2B5EF4-FFF2-40B4-BE49-F238E27FC236}">
                <a16:creationId xmlns:a16="http://schemas.microsoft.com/office/drawing/2014/main" id="{81845653-2391-4289-B2F0-E59BE43CE64B}"/>
              </a:ext>
            </a:extLst>
          </p:cNvPr>
          <p:cNvSpPr>
            <a:spLocks xmlns:a="http://schemas.openxmlformats.org/drawingml/2006/main" noGrp="1"/>
          </p:cNvSpPr>
          <p:nvPr/>
        </p:nvSpPr>
        <p:spPr>
          <a:xfrm xmlns:a="http://schemas.openxmlformats.org/drawingml/2006/main">
            <a:off x="3448050" y="2019300"/>
            <a:ext cx="19050" cy="8191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4A8F85-48DA-4AE0-961B-D3FBD00E6645}"/>
              </a:ext>
            </a:extLst>
          </p:cNvPr>
          <p:cNvSpPr>
            <a:spLocks xmlns:a="http://schemas.openxmlformats.org/drawingml/2006/main" noGrp="1"/>
          </p:cNvSpPr>
          <p:nvPr/>
        </p:nvSpPr>
        <p:spPr>
          <a:xfrm xmlns:a="http://schemas.openxmlformats.org/drawingml/2006/main">
            <a:off x="3752850" y="1885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3300" b="1">
                <a:solidFill>
                  <a:srgbClr val="11854F"/>
                </a:solidFill>
                <a:latin typeface="Aptos"/>
                <a:ea typeface="Aptos"/>
                <a:cs typeface="Aptos"/>
              </a:defRPr>
            </a:pPr>
            <a:r>
              <a:rPr sz="3300" b="1">
                <a:solidFill>
                  <a:srgbClr val="11854F"/>
                </a:solidFill>
                <a:latin typeface="Aptos"/>
                <a:ea typeface="Aptos"/>
                <a:cs typeface="Aptos"/>
              </a:rPr>
              <a:t>0%</a:t>
            </a:r>
          </a:p>
        </p:txBody>
      </p:sp>
      <p:sp>
        <p:nvSpPr>
          <p:cNvPr id="10" name="">
            <a:extLst xmlns:a="http://schemas.openxmlformats.org/drawingml/2006/main">
              <a:ext uri="{FF2B5EF4-FFF2-40B4-BE49-F238E27FC236}">
                <a16:creationId xmlns:a16="http://schemas.microsoft.com/office/drawing/2014/main" id="{99BF4474-D16E-49EF-887F-A685BF788F67}"/>
              </a:ext>
            </a:extLst>
          </p:cNvPr>
          <p:cNvSpPr>
            <a:spLocks xmlns:a="http://schemas.openxmlformats.org/drawingml/2006/main" noGrp="1"/>
          </p:cNvSpPr>
          <p:nvPr/>
        </p:nvSpPr>
        <p:spPr>
          <a:xfrm xmlns:a="http://schemas.openxmlformats.org/drawingml/2006/main">
            <a:off x="375285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error rate</a:t>
            </a:r>
          </a:p>
        </p:txBody>
      </p:sp>
      <p:sp>
        <p:nvSpPr>
          <p:cNvPr id="11" name="">
            <a:extLst xmlns:a="http://schemas.openxmlformats.org/drawingml/2006/main">
              <a:ext uri="{FF2B5EF4-FFF2-40B4-BE49-F238E27FC236}">
                <a16:creationId xmlns:a16="http://schemas.microsoft.com/office/drawing/2014/main" id="{6087D1C3-DC1C-40DF-99E2-CF49F1EF85AB}"/>
              </a:ext>
            </a:extLst>
          </p:cNvPr>
          <p:cNvSpPr>
            <a:spLocks xmlns:a="http://schemas.openxmlformats.org/drawingml/2006/main" noGrp="1"/>
          </p:cNvSpPr>
          <p:nvPr/>
        </p:nvSpPr>
        <p:spPr>
          <a:xfrm xmlns:a="http://schemas.openxmlformats.org/drawingml/2006/main">
            <a:off x="6400800" y="2019300"/>
            <a:ext cx="19050" cy="8191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DDC882-BBD6-4633-808D-97F002059B0B}"/>
              </a:ext>
            </a:extLst>
          </p:cNvPr>
          <p:cNvSpPr>
            <a:spLocks xmlns:a="http://schemas.openxmlformats.org/drawingml/2006/main" noGrp="1"/>
          </p:cNvSpPr>
          <p:nvPr/>
        </p:nvSpPr>
        <p:spPr>
          <a:xfrm xmlns:a="http://schemas.openxmlformats.org/drawingml/2006/main">
            <a:off x="6705600" y="1885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3300" b="1">
                <a:solidFill>
                  <a:srgbClr val="0B2545"/>
                </a:solidFill>
                <a:latin typeface="Aptos"/>
                <a:ea typeface="Aptos"/>
                <a:cs typeface="Aptos"/>
              </a:defRPr>
            </a:pPr>
            <a:r>
              <a:rPr sz="3300" b="1">
                <a:solidFill>
                  <a:srgbClr val="0B2545"/>
                </a:solidFill>
                <a:latin typeface="Aptos"/>
                <a:ea typeface="Aptos"/>
                <a:cs typeface="Aptos"/>
              </a:rPr>
              <a:t>781 ms</a:t>
            </a:r>
          </a:p>
        </p:txBody>
      </p:sp>
      <p:sp>
        <p:nvSpPr>
          <p:cNvPr id="13" name="">
            <a:extLst xmlns:a="http://schemas.openxmlformats.org/drawingml/2006/main">
              <a:ext uri="{FF2B5EF4-FFF2-40B4-BE49-F238E27FC236}">
                <a16:creationId xmlns:a16="http://schemas.microsoft.com/office/drawing/2014/main" id="{02825B21-B06B-4A63-94D5-1C1227A51829}"/>
              </a:ext>
            </a:extLst>
          </p:cNvPr>
          <p:cNvSpPr>
            <a:spLocks xmlns:a="http://schemas.openxmlformats.org/drawingml/2006/main" noGrp="1"/>
          </p:cNvSpPr>
          <p:nvPr/>
        </p:nvSpPr>
        <p:spPr>
          <a:xfrm xmlns:a="http://schemas.openxmlformats.org/drawingml/2006/main">
            <a:off x="67056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5A6571"/>
                </a:solidFill>
                <a:latin typeface="Aptos"/>
                <a:ea typeface="Aptos"/>
                <a:cs typeface="Aptos"/>
              </a:defRPr>
            </a:pPr>
            <a:r>
              <a:rPr sz="1350" b="1">
                <a:solidFill>
                  <a:srgbClr val="5A6571"/>
                </a:solidFill>
                <a:latin typeface="Aptos"/>
                <a:ea typeface="Aptos"/>
                <a:cs typeface="Aptos"/>
              </a:rPr>
              <a:t>p95 latency</a:t>
            </a:r>
          </a:p>
        </p:txBody>
      </p:sp>
      <p:sp>
        <p:nvSpPr>
          <p:cNvPr id="14" name="">
            <a:extLst xmlns:a="http://schemas.openxmlformats.org/drawingml/2006/main">
              <a:ext uri="{FF2B5EF4-FFF2-40B4-BE49-F238E27FC236}">
                <a16:creationId xmlns:a16="http://schemas.microsoft.com/office/drawing/2014/main" id="{1B31C992-5E3E-41DE-B5BC-C4E2B3C7F556}"/>
              </a:ext>
            </a:extLst>
          </p:cNvPr>
          <p:cNvSpPr>
            <a:spLocks xmlns:a="http://schemas.openxmlformats.org/drawingml/2006/main" noGrp="1"/>
          </p:cNvSpPr>
          <p:nvPr/>
        </p:nvSpPr>
        <p:spPr>
          <a:xfrm xmlns:a="http://schemas.openxmlformats.org/drawingml/2006/main">
            <a:off x="9525000" y="1866900"/>
            <a:ext cx="1790700" cy="1066800"/>
          </a:xfrm>
          <a:prstGeom xmlns:a="http://schemas.openxmlformats.org/drawingml/2006/main" prst="roundRect">
            <a:avLst>
              <a:gd name="adj" fmla="val 7143"/>
            </a:avLst>
          </a:prstGeom>
          <a:solidFill xmlns:a="http://schemas.openxmlformats.org/drawingml/2006/main">
            <a:srgbClr val="E9F6EF"/>
          </a:solidFill>
          <a:ln xmlns:a="http://schemas.openxmlformats.org/drawingml/2006/main" w="9525">
            <a:solidFill>
              <a:srgbClr val="D9E3DE"/>
            </a:solidFill>
            <a:prstDash val="solid"/>
          </a:ln>
        </p:spPr>
      </p:sp>
      <p:sp>
        <p:nvSpPr>
          <p:cNvPr id="15" name="">
            <a:extLst xmlns:a="http://schemas.openxmlformats.org/drawingml/2006/main">
              <a:ext uri="{FF2B5EF4-FFF2-40B4-BE49-F238E27FC236}">
                <a16:creationId xmlns:a16="http://schemas.microsoft.com/office/drawing/2014/main" id="{A509A0EA-A165-43C2-A16F-CC38F822AB0D}"/>
              </a:ext>
            </a:extLst>
          </p:cNvPr>
          <p:cNvSpPr>
            <a:spLocks xmlns:a="http://schemas.openxmlformats.org/drawingml/2006/main" noGrp="1"/>
          </p:cNvSpPr>
          <p:nvPr/>
        </p:nvSpPr>
        <p:spPr>
          <a:xfrm xmlns:a="http://schemas.openxmlformats.org/drawingml/2006/main">
            <a:off x="9696450" y="207645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11854F"/>
                </a:solidFill>
                <a:latin typeface="Aptos"/>
                <a:ea typeface="Aptos"/>
                <a:cs typeface="Aptos"/>
              </a:defRPr>
            </a:pPr>
            <a:r>
              <a:rPr sz="1875" b="1">
                <a:solidFill>
                  <a:srgbClr val="11854F"/>
                </a:solidFill>
                <a:latin typeface="Aptos"/>
                <a:ea typeface="Aptos"/>
                <a:cs typeface="Aptos"/>
              </a:rPr>
              <a:t>PASS</a:t>
            </a:r>
          </a:p>
        </p:txBody>
      </p:sp>
      <p:sp>
        <p:nvSpPr>
          <p:cNvPr id="16" name="">
            <a:extLst xmlns:a="http://schemas.openxmlformats.org/drawingml/2006/main">
              <a:ext uri="{FF2B5EF4-FFF2-40B4-BE49-F238E27FC236}">
                <a16:creationId xmlns:a16="http://schemas.microsoft.com/office/drawing/2014/main" id="{C327C7CF-915E-48A5-A2C9-EB0B4CF07B19}"/>
              </a:ext>
            </a:extLst>
          </p:cNvPr>
          <p:cNvSpPr>
            <a:spLocks xmlns:a="http://schemas.openxmlformats.org/drawingml/2006/main" noGrp="1"/>
          </p:cNvSpPr>
          <p:nvPr/>
        </p:nvSpPr>
        <p:spPr>
          <a:xfrm xmlns:a="http://schemas.openxmlformats.org/drawingml/2006/main">
            <a:off x="9639300" y="247650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5A6571"/>
                </a:solidFill>
                <a:latin typeface="Aptos"/>
                <a:ea typeface="Aptos"/>
                <a:cs typeface="Aptos"/>
              </a:defRPr>
            </a:pPr>
            <a:r>
              <a:rPr sz="1125" b="1">
                <a:solidFill>
                  <a:srgbClr val="5A6571"/>
                </a:solidFill>
                <a:latin typeface="Aptos"/>
                <a:ea typeface="Aptos"/>
                <a:cs typeface="Aptos"/>
              </a:rPr>
              <a:t>p95 ≤ 2,000 ms</a:t>
            </a:r>
          </a:p>
        </p:txBody>
      </p:sp>
      <p:sp>
        <p:nvSpPr>
          <p:cNvPr id="17" name="">
            <a:extLst xmlns:a="http://schemas.openxmlformats.org/drawingml/2006/main">
              <a:ext uri="{FF2B5EF4-FFF2-40B4-BE49-F238E27FC236}">
                <a16:creationId xmlns:a16="http://schemas.microsoft.com/office/drawing/2014/main" id="{0F37D3B8-12DA-45F7-926C-AA1769932CCD}"/>
              </a:ext>
            </a:extLst>
          </p:cNvPr>
          <p:cNvSpPr>
            <a:spLocks xmlns:a="http://schemas.openxmlformats.org/drawingml/2006/main" noGrp="1"/>
          </p:cNvSpPr>
          <p:nvPr/>
        </p:nvSpPr>
        <p:spPr>
          <a:xfrm xmlns:a="http://schemas.openxmlformats.org/drawingml/2006/main">
            <a:off x="781050" y="3657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A6571"/>
                </a:solidFill>
                <a:latin typeface="Aptos"/>
                <a:ea typeface="Aptos"/>
                <a:cs typeface="Aptos"/>
              </a:defRPr>
            </a:pPr>
            <a:r>
              <a:rPr sz="1200" b="1">
                <a:solidFill>
                  <a:srgbClr val="5A6571"/>
                </a:solidFill>
                <a:latin typeface="Aptos"/>
                <a:ea typeface="Aptos"/>
                <a:cs typeface="Aptos"/>
              </a:rPr>
              <a:t>p95 budget used</a:t>
            </a:r>
          </a:p>
        </p:txBody>
      </p:sp>
      <p:sp>
        <p:nvSpPr>
          <p:cNvPr id="18" name="">
            <a:extLst xmlns:a="http://schemas.openxmlformats.org/drawingml/2006/main">
              <a:ext uri="{FF2B5EF4-FFF2-40B4-BE49-F238E27FC236}">
                <a16:creationId xmlns:a16="http://schemas.microsoft.com/office/drawing/2014/main" id="{13FE1C30-1130-42D8-811C-EF3BDC2CB78B}"/>
              </a:ext>
            </a:extLst>
          </p:cNvPr>
          <p:cNvSpPr>
            <a:spLocks xmlns:a="http://schemas.openxmlformats.org/drawingml/2006/main" noGrp="1"/>
          </p:cNvSpPr>
          <p:nvPr/>
        </p:nvSpPr>
        <p:spPr>
          <a:xfrm xmlns:a="http://schemas.openxmlformats.org/drawingml/2006/main">
            <a:off x="781050" y="4019550"/>
            <a:ext cx="10287000" cy="228600"/>
          </a:xfrm>
          <a:prstGeom xmlns:a="http://schemas.openxmlformats.org/drawingml/2006/main" prst="roundRect">
            <a:avLst>
              <a:gd name="adj" fmla="val 33333"/>
            </a:avLst>
          </a:prstGeom>
          <a:solidFill xmlns:a="http://schemas.openxmlformats.org/drawingml/2006/main">
            <a:srgbClr val="E5E9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A5AF52-635B-484C-A293-2E635B849A42}"/>
              </a:ext>
            </a:extLst>
          </p:cNvPr>
          <p:cNvSpPr>
            <a:spLocks xmlns:a="http://schemas.openxmlformats.org/drawingml/2006/main" noGrp="1"/>
          </p:cNvSpPr>
          <p:nvPr/>
        </p:nvSpPr>
        <p:spPr>
          <a:xfrm xmlns:a="http://schemas.openxmlformats.org/drawingml/2006/main">
            <a:off x="781050" y="4019550"/>
            <a:ext cx="4017074" cy="228600"/>
          </a:xfrm>
          <a:prstGeom xmlns:a="http://schemas.openxmlformats.org/drawingml/2006/main" prst="roundRect">
            <a:avLst>
              <a:gd name="adj" fmla="val 33333"/>
            </a:avLst>
          </a:prstGeom>
          <a:solidFill xmlns:a="http://schemas.openxmlformats.org/drawingml/2006/main">
            <a:srgbClr val="11854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C7DA6F9-EB4A-4D00-9379-DD350A32165D}"/>
              </a:ext>
            </a:extLst>
          </p:cNvPr>
          <p:cNvSpPr>
            <a:spLocks xmlns:a="http://schemas.openxmlformats.org/drawingml/2006/main" noGrp="1"/>
          </p:cNvSpPr>
          <p:nvPr/>
        </p:nvSpPr>
        <p:spPr>
          <a:xfrm xmlns:a="http://schemas.openxmlformats.org/drawingml/2006/main">
            <a:off x="781050" y="43338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1">
                <a:solidFill>
                  <a:srgbClr val="11854F"/>
                </a:solidFill>
                <a:latin typeface="Aptos"/>
                <a:ea typeface="Aptos"/>
                <a:cs typeface="Aptos"/>
              </a:defRPr>
            </a:pPr>
            <a:r>
              <a:rPr sz="1050" b="1">
                <a:solidFill>
                  <a:srgbClr val="11854F"/>
                </a:solidFill>
                <a:latin typeface="Aptos"/>
                <a:ea typeface="Aptos"/>
                <a:cs typeface="Aptos"/>
              </a:rPr>
              <a:t>781 ms</a:t>
            </a:r>
          </a:p>
        </p:txBody>
      </p:sp>
      <p:sp>
        <p:nvSpPr>
          <p:cNvPr id="21" name="">
            <a:extLst xmlns:a="http://schemas.openxmlformats.org/drawingml/2006/main">
              <a:ext uri="{FF2B5EF4-FFF2-40B4-BE49-F238E27FC236}">
                <a16:creationId xmlns:a16="http://schemas.microsoft.com/office/drawing/2014/main" id="{1D5C90DA-5FD6-486D-85C4-A1AF769FCC99}"/>
              </a:ext>
            </a:extLst>
          </p:cNvPr>
          <p:cNvSpPr>
            <a:spLocks xmlns:a="http://schemas.openxmlformats.org/drawingml/2006/main" noGrp="1"/>
          </p:cNvSpPr>
          <p:nvPr/>
        </p:nvSpPr>
        <p:spPr>
          <a:xfrm xmlns:a="http://schemas.openxmlformats.org/drawingml/2006/main">
            <a:off x="9810750" y="43338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050" b="1">
                <a:solidFill>
                  <a:srgbClr val="5A6571"/>
                </a:solidFill>
                <a:latin typeface="Aptos"/>
                <a:ea typeface="Aptos"/>
                <a:cs typeface="Aptos"/>
              </a:defRPr>
            </a:pPr>
            <a:r>
              <a:rPr sz="1050" b="1">
                <a:solidFill>
                  <a:srgbClr val="5A6571"/>
                </a:solidFill>
                <a:latin typeface="Aptos"/>
                <a:ea typeface="Aptos"/>
                <a:cs typeface="Aptos"/>
              </a:rPr>
              <a:t>2,000 ms gate</a:t>
            </a:r>
          </a:p>
        </p:txBody>
      </p:sp>
      <p:sp>
        <p:nvSpPr>
          <p:cNvPr id="22" name="">
            <a:extLst xmlns:a="http://schemas.openxmlformats.org/drawingml/2006/main">
              <a:ext uri="{FF2B5EF4-FFF2-40B4-BE49-F238E27FC236}">
                <a16:creationId xmlns:a16="http://schemas.microsoft.com/office/drawing/2014/main" id="{8E4DFCA1-CC46-4A41-A620-DFDEDF28273E}"/>
              </a:ext>
            </a:extLst>
          </p:cNvPr>
          <p:cNvSpPr>
            <a:spLocks xmlns:a="http://schemas.openxmlformats.org/drawingml/2006/main" noGrp="1"/>
          </p:cNvSpPr>
          <p:nvPr/>
        </p:nvSpPr>
        <p:spPr>
          <a:xfrm xmlns:a="http://schemas.openxmlformats.org/drawingml/2006/main">
            <a:off x="781050" y="5105400"/>
            <a:ext cx="3143250" cy="552450"/>
          </a:xfrm>
          <a:prstGeom xmlns:a="http://schemas.openxmlformats.org/drawingml/2006/main" prst="roundRect">
            <a:avLst>
              <a:gd name="adj" fmla="val 13793"/>
            </a:avLst>
          </a:prstGeom>
          <a:solidFill xmlns:a="http://schemas.openxmlformats.org/drawingml/2006/main">
            <a:srgbClr val="EAF2FA"/>
          </a:solidFill>
          <a:ln xmlns:a="http://schemas.openxmlformats.org/drawingml/2006/main" w="9525">
            <a:solidFill>
              <a:srgbClr val="D9E3DE"/>
            </a:solidFill>
            <a:prstDash val="solid"/>
          </a:ln>
        </p:spPr>
      </p:sp>
      <p:sp>
        <p:nvSpPr>
          <p:cNvPr id="23" name="">
            <a:extLst xmlns:a="http://schemas.openxmlformats.org/drawingml/2006/main">
              <a:ext uri="{FF2B5EF4-FFF2-40B4-BE49-F238E27FC236}">
                <a16:creationId xmlns:a16="http://schemas.microsoft.com/office/drawing/2014/main" id="{E2C51A72-9EFD-4B44-8831-818AD2462792}"/>
              </a:ext>
            </a:extLst>
          </p:cNvPr>
          <p:cNvSpPr>
            <a:spLocks xmlns:a="http://schemas.openxmlformats.org/drawingml/2006/main" noGrp="1"/>
          </p:cNvSpPr>
          <p:nvPr/>
        </p:nvSpPr>
        <p:spPr>
          <a:xfrm xmlns:a="http://schemas.openxmlformats.org/drawingml/2006/main">
            <a:off x="971550" y="52578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2E74B5"/>
                </a:solidFill>
                <a:latin typeface="Aptos"/>
                <a:ea typeface="Aptos"/>
                <a:cs typeface="Aptos"/>
              </a:defRPr>
            </a:pPr>
            <a:r>
              <a:rPr sz="1350" b="1">
                <a:solidFill>
                  <a:srgbClr val="2E74B5"/>
                </a:solidFill>
                <a:latin typeface="Aptos"/>
                <a:ea typeface="Aptos"/>
                <a:cs typeface="Aptos"/>
              </a:rPr>
              <a:t>OWASP ZAP passive DAST</a:t>
            </a:r>
          </a:p>
        </p:txBody>
      </p:sp>
      <p:sp>
        <p:nvSpPr>
          <p:cNvPr id="24" name="">
            <a:extLst xmlns:a="http://schemas.openxmlformats.org/drawingml/2006/main">
              <a:ext uri="{FF2B5EF4-FFF2-40B4-BE49-F238E27FC236}">
                <a16:creationId xmlns:a16="http://schemas.microsoft.com/office/drawing/2014/main" id="{380E7130-CD4A-419D-A95B-DDF1E3449C57}"/>
              </a:ext>
            </a:extLst>
          </p:cNvPr>
          <p:cNvSpPr>
            <a:spLocks xmlns:a="http://schemas.openxmlformats.org/drawingml/2006/main" noGrp="1"/>
          </p:cNvSpPr>
          <p:nvPr/>
        </p:nvSpPr>
        <p:spPr>
          <a:xfrm xmlns:a="http://schemas.openxmlformats.org/drawingml/2006/main">
            <a:off x="4495800" y="5105400"/>
            <a:ext cx="3143250" cy="552450"/>
          </a:xfrm>
          <a:prstGeom xmlns:a="http://schemas.openxmlformats.org/drawingml/2006/main" prst="roundRect">
            <a:avLst>
              <a:gd name="adj" fmla="val 13793"/>
            </a:avLst>
          </a:prstGeom>
          <a:solidFill xmlns:a="http://schemas.openxmlformats.org/drawingml/2006/main">
            <a:srgbClr val="E9F6EF"/>
          </a:solidFill>
          <a:ln xmlns:a="http://schemas.openxmlformats.org/drawingml/2006/main" w="9525">
            <a:solidFill>
              <a:srgbClr val="D9E3DE"/>
            </a:solidFill>
            <a:prstDash val="solid"/>
          </a:ln>
        </p:spPr>
      </p:sp>
      <p:sp>
        <p:nvSpPr>
          <p:cNvPr id="25" name="">
            <a:extLst xmlns:a="http://schemas.openxmlformats.org/drawingml/2006/main">
              <a:ext uri="{FF2B5EF4-FFF2-40B4-BE49-F238E27FC236}">
                <a16:creationId xmlns:a16="http://schemas.microsoft.com/office/drawing/2014/main" id="{C6AB8427-5B10-40CB-8E87-56D4C1D77500}"/>
              </a:ext>
            </a:extLst>
          </p:cNvPr>
          <p:cNvSpPr>
            <a:spLocks xmlns:a="http://schemas.openxmlformats.org/drawingml/2006/main" noGrp="1"/>
          </p:cNvSpPr>
          <p:nvPr/>
        </p:nvSpPr>
        <p:spPr>
          <a:xfrm xmlns:a="http://schemas.openxmlformats.org/drawingml/2006/main">
            <a:off x="4686300" y="52578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11854F"/>
                </a:solidFill>
                <a:latin typeface="Aptos"/>
                <a:ea typeface="Aptos"/>
                <a:cs typeface="Aptos"/>
              </a:defRPr>
            </a:pPr>
            <a:r>
              <a:rPr sz="1350" b="1">
                <a:solidFill>
                  <a:srgbClr val="11854F"/>
                </a:solidFill>
                <a:latin typeface="Aptos"/>
                <a:ea typeface="Aptos"/>
                <a:cs typeface="Aptos"/>
              </a:rPr>
              <a:t>Live security headers pass</a:t>
            </a:r>
          </a:p>
        </p:txBody>
      </p:sp>
      <p:sp>
        <p:nvSpPr>
          <p:cNvPr id="26" name="">
            <a:extLst xmlns:a="http://schemas.openxmlformats.org/drawingml/2006/main">
              <a:ext uri="{FF2B5EF4-FFF2-40B4-BE49-F238E27FC236}">
                <a16:creationId xmlns:a16="http://schemas.microsoft.com/office/drawing/2014/main" id="{B28F9680-2856-411E-9A55-54FA0EEFA86D}"/>
              </a:ext>
            </a:extLst>
          </p:cNvPr>
          <p:cNvSpPr>
            <a:spLocks xmlns:a="http://schemas.openxmlformats.org/drawingml/2006/main" noGrp="1"/>
          </p:cNvSpPr>
          <p:nvPr/>
        </p:nvSpPr>
        <p:spPr>
          <a:xfrm xmlns:a="http://schemas.openxmlformats.org/drawingml/2006/main">
            <a:off x="8210550" y="5105400"/>
            <a:ext cx="2857500" cy="552450"/>
          </a:xfrm>
          <a:prstGeom xmlns:a="http://schemas.openxmlformats.org/drawingml/2006/main" prst="roundRect">
            <a:avLst>
              <a:gd name="adj" fmla="val 13793"/>
            </a:avLst>
          </a:prstGeom>
          <a:solidFill xmlns:a="http://schemas.openxmlformats.org/drawingml/2006/main">
            <a:srgbClr val="F2F4F7"/>
          </a:solidFill>
          <a:ln xmlns:a="http://schemas.openxmlformats.org/drawingml/2006/main" w="9525">
            <a:solidFill>
              <a:srgbClr val="D9E3DE"/>
            </a:solidFill>
            <a:prstDash val="solid"/>
          </a:ln>
        </p:spPr>
      </p:sp>
      <p:sp>
        <p:nvSpPr>
          <p:cNvPr id="27" name="">
            <a:extLst xmlns:a="http://schemas.openxmlformats.org/drawingml/2006/main">
              <a:ext uri="{FF2B5EF4-FFF2-40B4-BE49-F238E27FC236}">
                <a16:creationId xmlns:a16="http://schemas.microsoft.com/office/drawing/2014/main" id="{B5C0CC37-DF8D-4279-9E4E-C6F6139B032E}"/>
              </a:ext>
            </a:extLst>
          </p:cNvPr>
          <p:cNvSpPr>
            <a:spLocks xmlns:a="http://schemas.openxmlformats.org/drawingml/2006/main" noGrp="1"/>
          </p:cNvSpPr>
          <p:nvPr/>
        </p:nvSpPr>
        <p:spPr>
          <a:xfrm xmlns:a="http://schemas.openxmlformats.org/drawingml/2006/main">
            <a:off x="8401050" y="52578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B2545"/>
                </a:solidFill>
                <a:latin typeface="Aptos"/>
                <a:ea typeface="Aptos"/>
                <a:cs typeface="Aptos"/>
              </a:defRPr>
            </a:pPr>
            <a:r>
              <a:rPr sz="1350" b="1">
                <a:solidFill>
                  <a:srgbClr val="0B2545"/>
                </a:solidFill>
                <a:latin typeface="Aptos"/>
                <a:ea typeface="Aptos"/>
                <a:cs typeface="Aptos"/>
              </a:rPr>
              <a:t>CloudWatch feedback</a:t>
            </a:r>
          </a:p>
        </p:txBody>
      </p:sp>
    </p:spTree>
    <p:extLst>
      <p:ext uri="{BB962C8B-B14F-4D97-AF65-F5344CB8AC3E}">
        <p14:creationId xmlns:p14="http://schemas.microsoft.com/office/powerpoint/2010/main" val="1026449806"/>
      </p:ext>
    </p:extLst>
  </p:cSld>
</p:sld>
</file>

<file path=ppt/slides/slide10.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7397532-A19B-4016-BC3F-1F148D121D79}"/>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LIVE DEMONSTRATION</a:t>
            </a:r>
          </a:p>
        </p:txBody>
      </p:sp>
      <p:sp>
        <p:nvSpPr>
          <p:cNvPr id="2" name="">
            <a:extLst xmlns:a="http://schemas.openxmlformats.org/drawingml/2006/main">
              <a:ext uri="{FF2B5EF4-FFF2-40B4-BE49-F238E27FC236}">
                <a16:creationId xmlns:a16="http://schemas.microsoft.com/office/drawing/2014/main" id="{205E29CF-B46E-4092-A4AD-F3D51E0E7190}"/>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Open five screens in this order</a:t>
            </a:r>
          </a:p>
        </p:txBody>
      </p:sp>
      <p:sp>
        <p:nvSpPr>
          <p:cNvPr id="3" name="">
            <a:extLst xmlns:a="http://schemas.openxmlformats.org/drawingml/2006/main">
              <a:ext uri="{FF2B5EF4-FFF2-40B4-BE49-F238E27FC236}">
                <a16:creationId xmlns:a16="http://schemas.microsoft.com/office/drawing/2014/main" id="{2AE7B507-E15C-4C6C-8696-DBEAF016B2F0}"/>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9A867E-6981-4EB8-809E-F8E6D8DD934D}"/>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62DC0EEE-A6F1-4F4B-B13A-E2FF6FB5C5F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C29C1943-F4E6-4BAA-8190-17384AB02C9E}"/>
              </a:ext>
            </a:extLst>
          </p:cNvPr>
          <p:cNvSpPr>
            <a:spLocks xmlns:a="http://schemas.openxmlformats.org/drawingml/2006/main" noGrp="1"/>
          </p:cNvSpPr>
          <p:nvPr/>
        </p:nvSpPr>
        <p:spPr>
          <a:xfrm xmlns:a="http://schemas.openxmlformats.org/drawingml/2006/main">
            <a:off x="781050" y="1733550"/>
            <a:ext cx="476250" cy="4762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D30DF6-D0EA-48F3-B120-2776E5F19064}"/>
              </a:ext>
            </a:extLst>
          </p:cNvPr>
          <p:cNvSpPr>
            <a:spLocks xmlns:a="http://schemas.openxmlformats.org/drawingml/2006/main" noGrp="1"/>
          </p:cNvSpPr>
          <p:nvPr/>
        </p:nvSpPr>
        <p:spPr>
          <a:xfrm xmlns:a="http://schemas.openxmlformats.org/drawingml/2006/main">
            <a:off x="781050" y="17335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9F4CDD8-14B6-4727-844B-F90E03371014}"/>
              </a:ext>
            </a:extLst>
          </p:cNvPr>
          <p:cNvSpPr>
            <a:spLocks xmlns:a="http://schemas.openxmlformats.org/drawingml/2006/main" noGrp="1"/>
          </p:cNvSpPr>
          <p:nvPr/>
        </p:nvSpPr>
        <p:spPr>
          <a:xfrm xmlns:a="http://schemas.openxmlformats.org/drawingml/2006/main">
            <a:off x="1562100" y="17145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PR checks</a:t>
            </a:r>
          </a:p>
        </p:txBody>
      </p:sp>
      <p:sp>
        <p:nvSpPr>
          <p:cNvPr id="9" name="">
            <a:extLst xmlns:a="http://schemas.openxmlformats.org/drawingml/2006/main">
              <a:ext uri="{FF2B5EF4-FFF2-40B4-BE49-F238E27FC236}">
                <a16:creationId xmlns:a16="http://schemas.microsoft.com/office/drawing/2014/main" id="{CAD43C3C-C39A-4935-86A8-2E1E11ADF741}"/>
              </a:ext>
            </a:extLst>
          </p:cNvPr>
          <p:cNvSpPr>
            <a:spLocks xmlns:a="http://schemas.openxmlformats.org/drawingml/2006/main" noGrp="1"/>
          </p:cNvSpPr>
          <p:nvPr/>
        </p:nvSpPr>
        <p:spPr>
          <a:xfrm xmlns:a="http://schemas.openxmlformats.org/drawingml/2006/main">
            <a:off x="4095750" y="17145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Application repository • Checks tab</a:t>
            </a:r>
          </a:p>
        </p:txBody>
      </p:sp>
      <p:sp>
        <p:nvSpPr>
          <p:cNvPr id="10" name="">
            <a:extLst xmlns:a="http://schemas.openxmlformats.org/drawingml/2006/main">
              <a:ext uri="{FF2B5EF4-FFF2-40B4-BE49-F238E27FC236}">
                <a16:creationId xmlns:a16="http://schemas.microsoft.com/office/drawing/2014/main" id="{79276B02-DFFC-4F62-8A6B-BA8F0648051C}"/>
              </a:ext>
            </a:extLst>
          </p:cNvPr>
          <p:cNvSpPr>
            <a:spLocks xmlns:a="http://schemas.openxmlformats.org/drawingml/2006/main" noGrp="1"/>
          </p:cNvSpPr>
          <p:nvPr/>
        </p:nvSpPr>
        <p:spPr>
          <a:xfrm xmlns:a="http://schemas.openxmlformats.org/drawingml/2006/main">
            <a:off x="1000125" y="220980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C71849-2093-4C30-AFFA-8594D6221B11}"/>
              </a:ext>
            </a:extLst>
          </p:cNvPr>
          <p:cNvSpPr>
            <a:spLocks xmlns:a="http://schemas.openxmlformats.org/drawingml/2006/main" noGrp="1"/>
          </p:cNvSpPr>
          <p:nvPr/>
        </p:nvSpPr>
        <p:spPr>
          <a:xfrm xmlns:a="http://schemas.openxmlformats.org/drawingml/2006/main">
            <a:off x="781050" y="2552700"/>
            <a:ext cx="476250" cy="4762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C8DDA72-6394-40F9-8605-DE1F38269D85}"/>
              </a:ext>
            </a:extLst>
          </p:cNvPr>
          <p:cNvSpPr>
            <a:spLocks xmlns:a="http://schemas.openxmlformats.org/drawingml/2006/main" noGrp="1"/>
          </p:cNvSpPr>
          <p:nvPr/>
        </p:nvSpPr>
        <p:spPr>
          <a:xfrm xmlns:a="http://schemas.openxmlformats.org/drawingml/2006/main">
            <a:off x="781050" y="2552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E06AC928-1D3A-4DE9-A15C-886F59EBAB9A}"/>
              </a:ext>
            </a:extLst>
          </p:cNvPr>
          <p:cNvSpPr>
            <a:spLocks xmlns:a="http://schemas.openxmlformats.org/drawingml/2006/main" noGrp="1"/>
          </p:cNvSpPr>
          <p:nvPr/>
        </p:nvSpPr>
        <p:spPr>
          <a:xfrm xmlns:a="http://schemas.openxmlformats.org/drawingml/2006/main">
            <a:off x="1562100" y="2533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Compose</a:t>
            </a:r>
          </a:p>
        </p:txBody>
      </p:sp>
      <p:sp>
        <p:nvSpPr>
          <p:cNvPr id="14" name="">
            <a:extLst xmlns:a="http://schemas.openxmlformats.org/drawingml/2006/main">
              <a:ext uri="{FF2B5EF4-FFF2-40B4-BE49-F238E27FC236}">
                <a16:creationId xmlns:a16="http://schemas.microsoft.com/office/drawing/2014/main" id="{1CC5B044-07F7-49AF-A9D5-9B57DA8209BF}"/>
              </a:ext>
            </a:extLst>
          </p:cNvPr>
          <p:cNvSpPr>
            <a:spLocks xmlns:a="http://schemas.openxmlformats.org/drawingml/2006/main" noGrp="1"/>
          </p:cNvSpPr>
          <p:nvPr/>
        </p:nvSpPr>
        <p:spPr>
          <a:xfrm xmlns:a="http://schemas.openxmlformats.org/drawingml/2006/main">
            <a:off x="4095750" y="25336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Infra Actions • run 31949676557</a:t>
            </a:r>
          </a:p>
        </p:txBody>
      </p:sp>
      <p:sp>
        <p:nvSpPr>
          <p:cNvPr id="15" name="">
            <a:extLst xmlns:a="http://schemas.openxmlformats.org/drawingml/2006/main">
              <a:ext uri="{FF2B5EF4-FFF2-40B4-BE49-F238E27FC236}">
                <a16:creationId xmlns:a16="http://schemas.microsoft.com/office/drawing/2014/main" id="{BD0A1968-5754-4714-8BF1-1B9CEEAFE862}"/>
              </a:ext>
            </a:extLst>
          </p:cNvPr>
          <p:cNvSpPr>
            <a:spLocks xmlns:a="http://schemas.openxmlformats.org/drawingml/2006/main" noGrp="1"/>
          </p:cNvSpPr>
          <p:nvPr/>
        </p:nvSpPr>
        <p:spPr>
          <a:xfrm xmlns:a="http://schemas.openxmlformats.org/drawingml/2006/main">
            <a:off x="1000125" y="302895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AAE0810-276D-46B6-88D9-73EA1A298235}"/>
              </a:ext>
            </a:extLst>
          </p:cNvPr>
          <p:cNvSpPr>
            <a:spLocks xmlns:a="http://schemas.openxmlformats.org/drawingml/2006/main" noGrp="1"/>
          </p:cNvSpPr>
          <p:nvPr/>
        </p:nvSpPr>
        <p:spPr>
          <a:xfrm xmlns:a="http://schemas.openxmlformats.org/drawingml/2006/main">
            <a:off x="781050" y="3371850"/>
            <a:ext cx="476250" cy="4762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5909D93-3FFD-4DEE-B6C6-B5C977D9D1C1}"/>
              </a:ext>
            </a:extLst>
          </p:cNvPr>
          <p:cNvSpPr>
            <a:spLocks xmlns:a="http://schemas.openxmlformats.org/drawingml/2006/main" noGrp="1"/>
          </p:cNvSpPr>
          <p:nvPr/>
        </p:nvSpPr>
        <p:spPr>
          <a:xfrm xmlns:a="http://schemas.openxmlformats.org/drawingml/2006/main">
            <a:off x="781050" y="33718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5549ECCE-8BCD-4A44-9CEE-850AC855D629}"/>
              </a:ext>
            </a:extLst>
          </p:cNvPr>
          <p:cNvSpPr>
            <a:spLocks xmlns:a="http://schemas.openxmlformats.org/drawingml/2006/main" noGrp="1"/>
          </p:cNvSpPr>
          <p:nvPr/>
        </p:nvSpPr>
        <p:spPr>
          <a:xfrm xmlns:a="http://schemas.openxmlformats.org/drawingml/2006/main">
            <a:off x="1562100" y="33528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Publish</a:t>
            </a:r>
          </a:p>
        </p:txBody>
      </p:sp>
      <p:sp>
        <p:nvSpPr>
          <p:cNvPr id="19" name="">
            <a:extLst xmlns:a="http://schemas.openxmlformats.org/drawingml/2006/main">
              <a:ext uri="{FF2B5EF4-FFF2-40B4-BE49-F238E27FC236}">
                <a16:creationId xmlns:a16="http://schemas.microsoft.com/office/drawing/2014/main" id="{F5FD089F-7909-4C30-89F8-EAFB28A5A73C}"/>
              </a:ext>
            </a:extLst>
          </p:cNvPr>
          <p:cNvSpPr>
            <a:spLocks xmlns:a="http://schemas.openxmlformats.org/drawingml/2006/main" noGrp="1"/>
          </p:cNvSpPr>
          <p:nvPr/>
        </p:nvSpPr>
        <p:spPr>
          <a:xfrm xmlns:a="http://schemas.openxmlformats.org/drawingml/2006/main">
            <a:off x="4095750" y="3352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Infra Actions • run 31949803280</a:t>
            </a:r>
          </a:p>
        </p:txBody>
      </p:sp>
      <p:sp>
        <p:nvSpPr>
          <p:cNvPr id="20" name="">
            <a:extLst xmlns:a="http://schemas.openxmlformats.org/drawingml/2006/main">
              <a:ext uri="{FF2B5EF4-FFF2-40B4-BE49-F238E27FC236}">
                <a16:creationId xmlns:a16="http://schemas.microsoft.com/office/drawing/2014/main" id="{83057C72-EBE4-45D8-A945-048D937E78C4}"/>
              </a:ext>
            </a:extLst>
          </p:cNvPr>
          <p:cNvSpPr>
            <a:spLocks xmlns:a="http://schemas.openxmlformats.org/drawingml/2006/main" noGrp="1"/>
          </p:cNvSpPr>
          <p:nvPr/>
        </p:nvSpPr>
        <p:spPr>
          <a:xfrm xmlns:a="http://schemas.openxmlformats.org/drawingml/2006/main">
            <a:off x="1000125" y="384810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C8C514B-0726-4EE6-B47B-CC0502D9025B}"/>
              </a:ext>
            </a:extLst>
          </p:cNvPr>
          <p:cNvSpPr>
            <a:spLocks xmlns:a="http://schemas.openxmlformats.org/drawingml/2006/main" noGrp="1"/>
          </p:cNvSpPr>
          <p:nvPr/>
        </p:nvSpPr>
        <p:spPr>
          <a:xfrm xmlns:a="http://schemas.openxmlformats.org/drawingml/2006/main">
            <a:off x="781050" y="4191000"/>
            <a:ext cx="476250" cy="4762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A4CC4AF-761B-49A6-B612-22C52EBF9B43}"/>
              </a:ext>
            </a:extLst>
          </p:cNvPr>
          <p:cNvSpPr>
            <a:spLocks xmlns:a="http://schemas.openxmlformats.org/drawingml/2006/main" noGrp="1"/>
          </p:cNvSpPr>
          <p:nvPr/>
        </p:nvSpPr>
        <p:spPr>
          <a:xfrm xmlns:a="http://schemas.openxmlformats.org/drawingml/2006/main">
            <a:off x="781050" y="4191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6D33FDA0-F860-470A-8C2F-A247D4EB742A}"/>
              </a:ext>
            </a:extLst>
          </p:cNvPr>
          <p:cNvSpPr>
            <a:spLocks xmlns:a="http://schemas.openxmlformats.org/drawingml/2006/main" noGrp="1"/>
          </p:cNvSpPr>
          <p:nvPr/>
        </p:nvSpPr>
        <p:spPr>
          <a:xfrm xmlns:a="http://schemas.openxmlformats.org/drawingml/2006/main">
            <a:off x="1562100" y="4171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Deploy</a:t>
            </a:r>
          </a:p>
        </p:txBody>
      </p:sp>
      <p:sp>
        <p:nvSpPr>
          <p:cNvPr id="24" name="">
            <a:extLst xmlns:a="http://schemas.openxmlformats.org/drawingml/2006/main">
              <a:ext uri="{FF2B5EF4-FFF2-40B4-BE49-F238E27FC236}">
                <a16:creationId xmlns:a16="http://schemas.microsoft.com/office/drawing/2014/main" id="{1AD33F0D-B849-4BAA-A12E-2762E8133ECF}"/>
              </a:ext>
            </a:extLst>
          </p:cNvPr>
          <p:cNvSpPr>
            <a:spLocks xmlns:a="http://schemas.openxmlformats.org/drawingml/2006/main" noGrp="1"/>
          </p:cNvSpPr>
          <p:nvPr/>
        </p:nvSpPr>
        <p:spPr>
          <a:xfrm xmlns:a="http://schemas.openxmlformats.org/drawingml/2006/main">
            <a:off x="4095750" y="41719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Infra Actions • run 31950088472</a:t>
            </a:r>
          </a:p>
        </p:txBody>
      </p:sp>
      <p:sp>
        <p:nvSpPr>
          <p:cNvPr id="25" name="">
            <a:extLst xmlns:a="http://schemas.openxmlformats.org/drawingml/2006/main">
              <a:ext uri="{FF2B5EF4-FFF2-40B4-BE49-F238E27FC236}">
                <a16:creationId xmlns:a16="http://schemas.microsoft.com/office/drawing/2014/main" id="{F9548580-21EF-4228-A4D2-38FFDA54ACC0}"/>
              </a:ext>
            </a:extLst>
          </p:cNvPr>
          <p:cNvSpPr>
            <a:spLocks xmlns:a="http://schemas.openxmlformats.org/drawingml/2006/main" noGrp="1"/>
          </p:cNvSpPr>
          <p:nvPr/>
        </p:nvSpPr>
        <p:spPr>
          <a:xfrm xmlns:a="http://schemas.openxmlformats.org/drawingml/2006/main">
            <a:off x="1000125" y="4667250"/>
            <a:ext cx="38100" cy="34290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F755635-FBF1-4FC0-83AC-5E8138A4842A}"/>
              </a:ext>
            </a:extLst>
          </p:cNvPr>
          <p:cNvSpPr>
            <a:spLocks xmlns:a="http://schemas.openxmlformats.org/drawingml/2006/main" noGrp="1"/>
          </p:cNvSpPr>
          <p:nvPr/>
        </p:nvSpPr>
        <p:spPr>
          <a:xfrm xmlns:a="http://schemas.openxmlformats.org/drawingml/2006/main">
            <a:off x="781050" y="5010150"/>
            <a:ext cx="476250" cy="4762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B034D4A-782E-481A-A957-4B0DCD3E8121}"/>
              </a:ext>
            </a:extLst>
          </p:cNvPr>
          <p:cNvSpPr>
            <a:spLocks xmlns:a="http://schemas.openxmlformats.org/drawingml/2006/main" noGrp="1"/>
          </p:cNvSpPr>
          <p:nvPr/>
        </p:nvSpPr>
        <p:spPr>
          <a:xfrm xmlns:a="http://schemas.openxmlformats.org/drawingml/2006/main">
            <a:off x="781050" y="50101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F6F96C42-8F5B-4795-91A4-5FCC26CD622B}"/>
              </a:ext>
            </a:extLst>
          </p:cNvPr>
          <p:cNvSpPr>
            <a:spLocks xmlns:a="http://schemas.openxmlformats.org/drawingml/2006/main" noGrp="1"/>
          </p:cNvSpPr>
          <p:nvPr/>
        </p:nvSpPr>
        <p:spPr>
          <a:xfrm xmlns:a="http://schemas.openxmlformats.org/drawingml/2006/main">
            <a:off x="1562100" y="49911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B2545"/>
                </a:solidFill>
                <a:latin typeface="Aptos"/>
                <a:ea typeface="Aptos"/>
                <a:cs typeface="Aptos"/>
              </a:defRPr>
            </a:pPr>
            <a:r>
              <a:rPr sz="1650" b="1">
                <a:solidFill>
                  <a:srgbClr val="0B2545"/>
                </a:solidFill>
                <a:latin typeface="Aptos"/>
                <a:ea typeface="Aptos"/>
                <a:cs typeface="Aptos"/>
              </a:rPr>
              <a:t>Live assurance</a:t>
            </a:r>
          </a:p>
        </p:txBody>
      </p:sp>
      <p:sp>
        <p:nvSpPr>
          <p:cNvPr id="29" name="">
            <a:extLst xmlns:a="http://schemas.openxmlformats.org/drawingml/2006/main">
              <a:ext uri="{FF2B5EF4-FFF2-40B4-BE49-F238E27FC236}">
                <a16:creationId xmlns:a16="http://schemas.microsoft.com/office/drawing/2014/main" id="{F6A0265A-D9F8-4471-A34C-78DCD8FAEEA4}"/>
              </a:ext>
            </a:extLst>
          </p:cNvPr>
          <p:cNvSpPr>
            <a:spLocks xmlns:a="http://schemas.openxmlformats.org/drawingml/2006/main" noGrp="1"/>
          </p:cNvSpPr>
          <p:nvPr/>
        </p:nvSpPr>
        <p:spPr>
          <a:xfrm xmlns:a="http://schemas.openxmlformats.org/drawingml/2006/main">
            <a:off x="4095750" y="49911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0">
                <a:solidFill>
                  <a:srgbClr val="5A6571"/>
                </a:solidFill>
                <a:latin typeface="Aptos"/>
                <a:ea typeface="Aptos"/>
                <a:cs typeface="Aptos"/>
              </a:defRPr>
            </a:pPr>
            <a:r>
              <a:rPr sz="1425" b="0">
                <a:solidFill>
                  <a:srgbClr val="5A6571"/>
                </a:solidFill>
                <a:latin typeface="Aptos"/>
                <a:ea typeface="Aptos"/>
                <a:cs typeface="Aptos"/>
              </a:rPr>
              <a:t>/healthz • ZAP • JMeter</a:t>
            </a:r>
          </a:p>
        </p:txBody>
      </p:sp>
      <p:sp>
        <p:nvSpPr>
          <p:cNvPr id="30" name="">
            <a:extLst xmlns:a="http://schemas.openxmlformats.org/drawingml/2006/main">
              <a:ext uri="{FF2B5EF4-FFF2-40B4-BE49-F238E27FC236}">
                <a16:creationId xmlns:a16="http://schemas.microsoft.com/office/drawing/2014/main" id="{A40BCA89-8C7E-43DB-AC77-EF03EE4F853F}"/>
              </a:ext>
            </a:extLst>
          </p:cNvPr>
          <p:cNvSpPr>
            <a:spLocks xmlns:a="http://schemas.openxmlformats.org/drawingml/2006/main" noGrp="1"/>
          </p:cNvSpPr>
          <p:nvPr/>
        </p:nvSpPr>
        <p:spPr>
          <a:xfrm xmlns:a="http://schemas.openxmlformats.org/drawingml/2006/main">
            <a:off x="9334500" y="1771650"/>
            <a:ext cx="2038350" cy="3371850"/>
          </a:xfrm>
          <a:prstGeom xmlns:a="http://schemas.openxmlformats.org/drawingml/2006/main" prst="roundRect">
            <a:avLst>
              <a:gd name="adj" fmla="val 3738"/>
            </a:avLst>
          </a:prstGeom>
          <a:solidFill xmlns:a="http://schemas.openxmlformats.org/drawingml/2006/main">
            <a:srgbClr val="EAF2FA"/>
          </a:solidFill>
          <a:ln xmlns:a="http://schemas.openxmlformats.org/drawingml/2006/main" w="9525">
            <a:solidFill>
              <a:srgbClr val="D9E3DE"/>
            </a:solidFill>
            <a:prstDash val="solid"/>
          </a:ln>
        </p:spPr>
      </p:sp>
      <p:sp>
        <p:nvSpPr>
          <p:cNvPr id="31" name="">
            <a:extLst xmlns:a="http://schemas.openxmlformats.org/drawingml/2006/main">
              <a:ext uri="{FF2B5EF4-FFF2-40B4-BE49-F238E27FC236}">
                <a16:creationId xmlns:a16="http://schemas.microsoft.com/office/drawing/2014/main" id="{B6409BA9-F167-4ADC-97DB-B0C481CF36D6}"/>
              </a:ext>
            </a:extLst>
          </p:cNvPr>
          <p:cNvSpPr>
            <a:spLocks xmlns:a="http://schemas.openxmlformats.org/drawingml/2006/main" noGrp="1"/>
          </p:cNvSpPr>
          <p:nvPr/>
        </p:nvSpPr>
        <p:spPr>
          <a:xfrm xmlns:a="http://schemas.openxmlformats.org/drawingml/2006/main">
            <a:off x="9544050" y="20764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2E74B5"/>
                </a:solidFill>
                <a:latin typeface="Aptos"/>
                <a:ea typeface="Aptos"/>
                <a:cs typeface="Aptos"/>
              </a:defRPr>
            </a:pPr>
            <a:r>
              <a:rPr sz="1125" b="1">
                <a:solidFill>
                  <a:srgbClr val="2E74B5"/>
                </a:solidFill>
                <a:latin typeface="Aptos"/>
                <a:ea typeface="Aptos"/>
                <a:cs typeface="Aptos"/>
              </a:rPr>
              <a:t>5–7 MINUTES</a:t>
            </a:r>
          </a:p>
        </p:txBody>
      </p:sp>
      <p:sp>
        <p:nvSpPr>
          <p:cNvPr id="32" name="">
            <a:extLst xmlns:a="http://schemas.openxmlformats.org/drawingml/2006/main">
              <a:ext uri="{FF2B5EF4-FFF2-40B4-BE49-F238E27FC236}">
                <a16:creationId xmlns:a16="http://schemas.microsoft.com/office/drawing/2014/main" id="{79D8D5CE-DD29-4808-A8C4-E76CEF4C7E93}"/>
              </a:ext>
            </a:extLst>
          </p:cNvPr>
          <p:cNvSpPr>
            <a:spLocks xmlns:a="http://schemas.openxmlformats.org/drawingml/2006/main" noGrp="1"/>
          </p:cNvSpPr>
          <p:nvPr/>
        </p:nvSpPr>
        <p:spPr>
          <a:xfrm xmlns:a="http://schemas.openxmlformats.org/drawingml/2006/main">
            <a:off x="9563100" y="2724150"/>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046"/>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One evidence chain</a:t>
            </a:r>
          </a:p>
        </p:txBody>
      </p:sp>
      <p:sp>
        <p:nvSpPr>
          <p:cNvPr id="33" name="">
            <a:extLst xmlns:a="http://schemas.openxmlformats.org/drawingml/2006/main">
              <a:ext uri="{FF2B5EF4-FFF2-40B4-BE49-F238E27FC236}">
                <a16:creationId xmlns:a16="http://schemas.microsoft.com/office/drawing/2014/main" id="{C7DBF6AF-2F44-4AB7-999F-013EC4151B77}"/>
              </a:ext>
            </a:extLst>
          </p:cNvPr>
          <p:cNvSpPr>
            <a:spLocks xmlns:a="http://schemas.openxmlformats.org/drawingml/2006/main" noGrp="1"/>
          </p:cNvSpPr>
          <p:nvPr/>
        </p:nvSpPr>
        <p:spPr>
          <a:xfrm xmlns:a="http://schemas.openxmlformats.org/drawingml/2006/main">
            <a:off x="9639300" y="3333750"/>
            <a:ext cx="142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0">
                <a:solidFill>
                  <a:srgbClr val="5A6571"/>
                </a:solidFill>
                <a:latin typeface="Aptos"/>
                <a:ea typeface="Aptos"/>
                <a:cs typeface="Aptos"/>
              </a:defRPr>
            </a:pPr>
            <a:r>
              <a:rPr sz="1275" b="0">
                <a:solidFill>
                  <a:srgbClr val="5A6571"/>
                </a:solidFill>
                <a:latin typeface="Aptos"/>
                <a:ea typeface="Aptos"/>
                <a:cs typeface="Aptos"/>
              </a:rPr>
              <a:t>Pre-open every link in a separate browser tab.</a:t>
            </a:r>
          </a:p>
        </p:txBody>
      </p:sp>
      <p:sp>
        <p:nvSpPr>
          <p:cNvPr id="34" name="">
            <a:extLst xmlns:a="http://schemas.openxmlformats.org/drawingml/2006/main">
              <a:ext uri="{FF2B5EF4-FFF2-40B4-BE49-F238E27FC236}">
                <a16:creationId xmlns:a16="http://schemas.microsoft.com/office/drawing/2014/main" id="{B007D3F3-4900-4961-A1B2-619756416A93}"/>
              </a:ext>
            </a:extLst>
          </p:cNvPr>
          <p:cNvSpPr>
            <a:spLocks xmlns:a="http://schemas.openxmlformats.org/drawingml/2006/main" noGrp="1"/>
          </p:cNvSpPr>
          <p:nvPr/>
        </p:nvSpPr>
        <p:spPr>
          <a:xfrm xmlns:a="http://schemas.openxmlformats.org/drawingml/2006/main">
            <a:off x="9639300" y="43624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B3261E"/>
                </a:solidFill>
                <a:latin typeface="Aptos"/>
                <a:ea typeface="Aptos"/>
                <a:cs typeface="Aptos"/>
              </a:defRPr>
            </a:pPr>
            <a:r>
              <a:rPr sz="1275" b="1">
                <a:solidFill>
                  <a:srgbClr val="B3261E"/>
                </a:solidFill>
                <a:latin typeface="Aptos"/>
                <a:ea typeface="Aptos"/>
                <a:cs typeface="Aptos"/>
              </a:rPr>
              <a:t>Use the guide if Wi-Fi is unstable.</a:t>
            </a:r>
          </a:p>
        </p:txBody>
      </p:sp>
    </p:spTree>
    <p:extLst>
      <p:ext uri="{BB962C8B-B14F-4D97-AF65-F5344CB8AC3E}">
        <p14:creationId xmlns:p14="http://schemas.microsoft.com/office/powerpoint/2010/main" val="2045490126"/>
      </p:ext>
    </p:extLst>
  </p:cSld>
</p:sld>
</file>

<file path=ppt/slides/slide11.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C20E05A-5126-4837-93EC-73446F615572}"/>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LOCAL DEMO BACKUP</a:t>
            </a:r>
          </a:p>
        </p:txBody>
      </p:sp>
      <p:sp>
        <p:nvSpPr>
          <p:cNvPr id="2" name="">
            <a:extLst xmlns:a="http://schemas.openxmlformats.org/drawingml/2006/main">
              <a:ext uri="{FF2B5EF4-FFF2-40B4-BE49-F238E27FC236}">
                <a16:creationId xmlns:a16="http://schemas.microsoft.com/office/drawing/2014/main" id="{31FB1529-2242-4E9B-BD14-492C16510F35}"/>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Know where every demo artifact lives</a:t>
            </a:r>
          </a:p>
        </p:txBody>
      </p:sp>
      <p:sp>
        <p:nvSpPr>
          <p:cNvPr id="3" name="">
            <a:extLst xmlns:a="http://schemas.openxmlformats.org/drawingml/2006/main">
              <a:ext uri="{FF2B5EF4-FFF2-40B4-BE49-F238E27FC236}">
                <a16:creationId xmlns:a16="http://schemas.microsoft.com/office/drawing/2014/main" id="{ADD0BC20-240F-47D7-ACD6-D23730644B0F}"/>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8FE904-8C48-4246-8429-CD7FACE19F6F}"/>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C4AC322E-CF7E-4537-B9E7-64F9063DA16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2BD6C0FD-74EA-4816-ACC7-E332E87AE7BA}"/>
              </a:ext>
            </a:extLst>
          </p:cNvPr>
          <p:cNvSpPr>
            <a:spLocks xmlns:a="http://schemas.openxmlformats.org/drawingml/2006/main" noGrp="1"/>
          </p:cNvSpPr>
          <p:nvPr/>
        </p:nvSpPr>
        <p:spPr>
          <a:xfrm xmlns:a="http://schemas.openxmlformats.org/drawingml/2006/main">
            <a:off x="781050" y="1771650"/>
            <a:ext cx="361950" cy="3619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C07CA6-71C9-4AC5-BBFC-64F64A372D0A}"/>
              </a:ext>
            </a:extLst>
          </p:cNvPr>
          <p:cNvSpPr>
            <a:spLocks xmlns:a="http://schemas.openxmlformats.org/drawingml/2006/main" noGrp="1"/>
          </p:cNvSpPr>
          <p:nvPr/>
        </p:nvSpPr>
        <p:spPr>
          <a:xfrm xmlns:a="http://schemas.openxmlformats.org/drawingml/2006/main">
            <a:off x="7810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781C6420-2E89-4C24-9CE4-F0078CFF0FF8}"/>
              </a:ext>
            </a:extLst>
          </p:cNvPr>
          <p:cNvSpPr>
            <a:spLocks xmlns:a="http://schemas.openxmlformats.org/drawingml/2006/main" noGrp="1"/>
          </p:cNvSpPr>
          <p:nvPr/>
        </p:nvSpPr>
        <p:spPr>
          <a:xfrm xmlns:a="http://schemas.openxmlformats.org/drawingml/2006/main">
            <a:off x="1390650" y="17526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Open foodmind-infra in VS Code</a:t>
            </a:r>
          </a:p>
        </p:txBody>
      </p:sp>
      <p:sp>
        <p:nvSpPr>
          <p:cNvPr id="9" name="">
            <a:extLst xmlns:a="http://schemas.openxmlformats.org/drawingml/2006/main">
              <a:ext uri="{FF2B5EF4-FFF2-40B4-BE49-F238E27FC236}">
                <a16:creationId xmlns:a16="http://schemas.microsoft.com/office/drawing/2014/main" id="{39D62951-A041-4953-8B97-CBE4C71B1FD3}"/>
              </a:ext>
            </a:extLst>
          </p:cNvPr>
          <p:cNvSpPr>
            <a:spLocks xmlns:a="http://schemas.openxmlformats.org/drawingml/2006/main" noGrp="1"/>
          </p:cNvSpPr>
          <p:nvPr/>
        </p:nvSpPr>
        <p:spPr>
          <a:xfrm xmlns:a="http://schemas.openxmlformats.org/drawingml/2006/main">
            <a:off x="781050" y="2457450"/>
            <a:ext cx="361950" cy="3619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9585FD-E1FA-4091-B21F-B936D7814931}"/>
              </a:ext>
            </a:extLst>
          </p:cNvPr>
          <p:cNvSpPr>
            <a:spLocks xmlns:a="http://schemas.openxmlformats.org/drawingml/2006/main" noGrp="1"/>
          </p:cNvSpPr>
          <p:nvPr/>
        </p:nvSpPr>
        <p:spPr>
          <a:xfrm xmlns:a="http://schemas.openxmlformats.org/drawingml/2006/main">
            <a:off x="781050" y="24574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D64DCF8-1025-4542-A808-90B08283137D}"/>
              </a:ext>
            </a:extLst>
          </p:cNvPr>
          <p:cNvSpPr>
            <a:spLocks xmlns:a="http://schemas.openxmlformats.org/drawingml/2006/main" noGrp="1"/>
          </p:cNvSpPr>
          <p:nvPr/>
        </p:nvSpPr>
        <p:spPr>
          <a:xfrm xmlns:a="http://schemas.openxmlformats.org/drawingml/2006/main">
            <a:off x="1390650" y="24384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releases/staging-source.json</a:t>
            </a:r>
          </a:p>
        </p:txBody>
      </p:sp>
      <p:sp>
        <p:nvSpPr>
          <p:cNvPr id="12" name="">
            <a:extLst xmlns:a="http://schemas.openxmlformats.org/drawingml/2006/main">
              <a:ext uri="{FF2B5EF4-FFF2-40B4-BE49-F238E27FC236}">
                <a16:creationId xmlns:a16="http://schemas.microsoft.com/office/drawing/2014/main" id="{5CA210BE-4265-40D7-B05B-2EC74EB9B4EA}"/>
              </a:ext>
            </a:extLst>
          </p:cNvPr>
          <p:cNvSpPr>
            <a:spLocks xmlns:a="http://schemas.openxmlformats.org/drawingml/2006/main" noGrp="1"/>
          </p:cNvSpPr>
          <p:nvPr/>
        </p:nvSpPr>
        <p:spPr>
          <a:xfrm xmlns:a="http://schemas.openxmlformats.org/drawingml/2006/main">
            <a:off x="781050" y="3143250"/>
            <a:ext cx="361950" cy="3619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9E6FDA8-9B47-4C49-AC89-B45BA20303ED}"/>
              </a:ext>
            </a:extLst>
          </p:cNvPr>
          <p:cNvSpPr>
            <a:spLocks xmlns:a="http://schemas.openxmlformats.org/drawingml/2006/main" noGrp="1"/>
          </p:cNvSpPr>
          <p:nvPr/>
        </p:nvSpPr>
        <p:spPr>
          <a:xfrm xmlns:a="http://schemas.openxmlformats.org/drawingml/2006/main">
            <a:off x="781050" y="31432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09AE7F62-74F9-4D2D-A4D7-3AD3B0FBE12A}"/>
              </a:ext>
            </a:extLst>
          </p:cNvPr>
          <p:cNvSpPr>
            <a:spLocks xmlns:a="http://schemas.openxmlformats.org/drawingml/2006/main" noGrp="1"/>
          </p:cNvSpPr>
          <p:nvPr/>
        </p:nvSpPr>
        <p:spPr>
          <a:xfrm xmlns:a="http://schemas.openxmlformats.org/drawingml/2006/main">
            <a:off x="1390650" y="31242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0B2545"/>
                </a:solidFill>
                <a:latin typeface="Aptos"/>
                <a:ea typeface="Aptos"/>
                <a:cs typeface="Aptos"/>
              </a:defRPr>
            </a:pPr>
            <a:r>
              <a:rPr sz="1575" b="1">
                <a:solidFill>
                  <a:srgbClr val="0B2545"/>
                </a:solidFill>
                <a:latin typeface="Aptos"/>
                <a:ea typeface="Aptos"/>
                <a:cs typeface="Aptos"/>
              </a:rPr>
              <a:t>.github/workflows/publish-staging.yml</a:t>
            </a:r>
          </a:p>
        </p:txBody>
      </p:sp>
      <p:sp>
        <p:nvSpPr>
          <p:cNvPr id="15" name="">
            <a:extLst xmlns:a="http://schemas.openxmlformats.org/drawingml/2006/main">
              <a:ext uri="{FF2B5EF4-FFF2-40B4-BE49-F238E27FC236}">
                <a16:creationId xmlns:a16="http://schemas.microsoft.com/office/drawing/2014/main" id="{F65B5B1E-F385-4E3F-A768-A52BE3831476}"/>
              </a:ext>
            </a:extLst>
          </p:cNvPr>
          <p:cNvSpPr>
            <a:spLocks xmlns:a="http://schemas.openxmlformats.org/drawingml/2006/main" noGrp="1"/>
          </p:cNvSpPr>
          <p:nvPr/>
        </p:nvSpPr>
        <p:spPr>
          <a:xfrm xmlns:a="http://schemas.openxmlformats.org/drawingml/2006/main">
            <a:off x="781050" y="3829050"/>
            <a:ext cx="361950" cy="3619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30B03E-5E02-4B4C-8668-00253F6B4234}"/>
              </a:ext>
            </a:extLst>
          </p:cNvPr>
          <p:cNvSpPr>
            <a:spLocks xmlns:a="http://schemas.openxmlformats.org/drawingml/2006/main" noGrp="1"/>
          </p:cNvSpPr>
          <p:nvPr/>
        </p:nvSpPr>
        <p:spPr>
          <a:xfrm xmlns:a="http://schemas.openxmlformats.org/drawingml/2006/main">
            <a:off x="781050" y="38290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73ED94DA-00F6-4646-8AEC-651A4BABA8BE}"/>
              </a:ext>
            </a:extLst>
          </p:cNvPr>
          <p:cNvSpPr>
            <a:spLocks xmlns:a="http://schemas.openxmlformats.org/drawingml/2006/main" noGrp="1"/>
          </p:cNvSpPr>
          <p:nvPr/>
        </p:nvSpPr>
        <p:spPr>
          <a:xfrm xmlns:a="http://schemas.openxmlformats.org/drawingml/2006/main">
            <a:off x="1390650" y="38100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scripts/cd/deploy-staging.sh</a:t>
            </a:r>
          </a:p>
        </p:txBody>
      </p:sp>
      <p:sp>
        <p:nvSpPr>
          <p:cNvPr id="18" name="">
            <a:extLst xmlns:a="http://schemas.openxmlformats.org/drawingml/2006/main">
              <a:ext uri="{FF2B5EF4-FFF2-40B4-BE49-F238E27FC236}">
                <a16:creationId xmlns:a16="http://schemas.microsoft.com/office/drawing/2014/main" id="{44F45EEA-D447-4B23-A7C5-CE900F695789}"/>
              </a:ext>
            </a:extLst>
          </p:cNvPr>
          <p:cNvSpPr>
            <a:spLocks xmlns:a="http://schemas.openxmlformats.org/drawingml/2006/main" noGrp="1"/>
          </p:cNvSpPr>
          <p:nvPr/>
        </p:nvSpPr>
        <p:spPr>
          <a:xfrm xmlns:a="http://schemas.openxmlformats.org/drawingml/2006/main">
            <a:off x="781050" y="4514850"/>
            <a:ext cx="361950" cy="3619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B1CF22-000B-46A6-962C-BBB42A0B4F6E}"/>
              </a:ext>
            </a:extLst>
          </p:cNvPr>
          <p:cNvSpPr>
            <a:spLocks xmlns:a="http://schemas.openxmlformats.org/drawingml/2006/main" noGrp="1"/>
          </p:cNvSpPr>
          <p:nvPr/>
        </p:nvSpPr>
        <p:spPr>
          <a:xfrm xmlns:a="http://schemas.openxmlformats.org/drawingml/2006/main">
            <a:off x="781050" y="4514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0" name="">
            <a:extLst xmlns:a="http://schemas.openxmlformats.org/drawingml/2006/main">
              <a:ext uri="{FF2B5EF4-FFF2-40B4-BE49-F238E27FC236}">
                <a16:creationId xmlns:a16="http://schemas.microsoft.com/office/drawing/2014/main" id="{35D97196-627E-4723-904F-2AFD2CB4A216}"/>
              </a:ext>
            </a:extLst>
          </p:cNvPr>
          <p:cNvSpPr>
            <a:spLocks xmlns:a="http://schemas.openxmlformats.org/drawingml/2006/main" noGrp="1"/>
          </p:cNvSpPr>
          <p:nvPr/>
        </p:nvSpPr>
        <p:spPr>
          <a:xfrm xmlns:a="http://schemas.openxmlformats.org/drawingml/2006/main">
            <a:off x="1390650" y="44958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scripts/verify-aws-demo.sh</a:t>
            </a:r>
          </a:p>
        </p:txBody>
      </p:sp>
      <p:sp>
        <p:nvSpPr>
          <p:cNvPr id="21" name="">
            <a:extLst xmlns:a="http://schemas.openxmlformats.org/drawingml/2006/main">
              <a:ext uri="{FF2B5EF4-FFF2-40B4-BE49-F238E27FC236}">
                <a16:creationId xmlns:a16="http://schemas.microsoft.com/office/drawing/2014/main" id="{91563FAB-C5B5-4B4E-A29A-4BF009CA89E0}"/>
              </a:ext>
            </a:extLst>
          </p:cNvPr>
          <p:cNvSpPr>
            <a:spLocks xmlns:a="http://schemas.openxmlformats.org/drawingml/2006/main" noGrp="1"/>
          </p:cNvSpPr>
          <p:nvPr/>
        </p:nvSpPr>
        <p:spPr>
          <a:xfrm xmlns:a="http://schemas.openxmlformats.org/drawingml/2006/main">
            <a:off x="8420100" y="1752600"/>
            <a:ext cx="2876550" cy="3429000"/>
          </a:xfrm>
          <a:prstGeom xmlns:a="http://schemas.openxmlformats.org/drawingml/2006/main" prst="roundRect">
            <a:avLst>
              <a:gd name="adj" fmla="val 2649"/>
            </a:avLst>
          </a:prstGeom>
          <a:solidFill xmlns:a="http://schemas.openxmlformats.org/drawingml/2006/main">
            <a:srgbClr val="E9F6EF"/>
          </a:solidFill>
          <a:ln xmlns:a="http://schemas.openxmlformats.org/drawingml/2006/main" w="9525">
            <a:solidFill>
              <a:srgbClr val="D9E3DE"/>
            </a:solidFill>
            <a:prstDash val="solid"/>
          </a:ln>
        </p:spPr>
      </p:sp>
      <p:sp>
        <p:nvSpPr>
          <p:cNvPr id="22" name="">
            <a:extLst xmlns:a="http://schemas.openxmlformats.org/drawingml/2006/main">
              <a:ext uri="{FF2B5EF4-FFF2-40B4-BE49-F238E27FC236}">
                <a16:creationId xmlns:a16="http://schemas.microsoft.com/office/drawing/2014/main" id="{82FC1CC8-4E5C-42CF-8F75-BDBAC319231B}"/>
              </a:ext>
            </a:extLst>
          </p:cNvPr>
          <p:cNvSpPr>
            <a:spLocks xmlns:a="http://schemas.openxmlformats.org/drawingml/2006/main" noGrp="1"/>
          </p:cNvSpPr>
          <p:nvPr/>
        </p:nvSpPr>
        <p:spPr>
          <a:xfrm xmlns:a="http://schemas.openxmlformats.org/drawingml/2006/main">
            <a:off x="8763000" y="2095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1854F"/>
                </a:solidFill>
                <a:latin typeface="Aptos"/>
                <a:ea typeface="Aptos"/>
                <a:cs typeface="Aptos"/>
              </a:defRPr>
            </a:pPr>
            <a:r>
              <a:rPr sz="1125" b="1">
                <a:solidFill>
                  <a:srgbClr val="11854F"/>
                </a:solidFill>
                <a:latin typeface="Aptos"/>
                <a:ea typeface="Aptos"/>
                <a:cs typeface="Aptos"/>
              </a:rPr>
              <a:t>SAFE COMMANDS</a:t>
            </a:r>
          </a:p>
        </p:txBody>
      </p:sp>
      <p:sp>
        <p:nvSpPr>
          <p:cNvPr id="23" name="">
            <a:extLst xmlns:a="http://schemas.openxmlformats.org/drawingml/2006/main">
              <a:ext uri="{FF2B5EF4-FFF2-40B4-BE49-F238E27FC236}">
                <a16:creationId xmlns:a16="http://schemas.microsoft.com/office/drawing/2014/main" id="{D8EE3CFA-CA4F-4558-B0FE-85E320E83BD9}"/>
              </a:ext>
            </a:extLst>
          </p:cNvPr>
          <p:cNvSpPr>
            <a:spLocks xmlns:a="http://schemas.openxmlformats.org/drawingml/2006/main" noGrp="1"/>
          </p:cNvSpPr>
          <p:nvPr/>
        </p:nvSpPr>
        <p:spPr>
          <a:xfrm xmlns:a="http://schemas.openxmlformats.org/drawingml/2006/main">
            <a:off x="8763000" y="27241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gh auth status</a:t>
            </a:r>
          </a:p>
        </p:txBody>
      </p:sp>
      <p:sp>
        <p:nvSpPr>
          <p:cNvPr id="24" name="">
            <a:extLst xmlns:a="http://schemas.openxmlformats.org/drawingml/2006/main">
              <a:ext uri="{FF2B5EF4-FFF2-40B4-BE49-F238E27FC236}">
                <a16:creationId xmlns:a16="http://schemas.microsoft.com/office/drawing/2014/main" id="{444AE0C0-891B-4FC3-96A6-53B2A57CEB8B}"/>
              </a:ext>
            </a:extLst>
          </p:cNvPr>
          <p:cNvSpPr>
            <a:spLocks xmlns:a="http://schemas.openxmlformats.org/drawingml/2006/main" noGrp="1"/>
          </p:cNvSpPr>
          <p:nvPr/>
        </p:nvSpPr>
        <p:spPr>
          <a:xfrm xmlns:a="http://schemas.openxmlformats.org/drawingml/2006/main">
            <a:off x="8763000" y="31623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gh run list</a:t>
            </a:r>
          </a:p>
        </p:txBody>
      </p:sp>
      <p:sp>
        <p:nvSpPr>
          <p:cNvPr id="25" name="">
            <a:extLst xmlns:a="http://schemas.openxmlformats.org/drawingml/2006/main">
              <a:ext uri="{FF2B5EF4-FFF2-40B4-BE49-F238E27FC236}">
                <a16:creationId xmlns:a16="http://schemas.microsoft.com/office/drawing/2014/main" id="{5DEB3435-AAB6-4908-A2D9-71B51DFA52C6}"/>
              </a:ext>
            </a:extLst>
          </p:cNvPr>
          <p:cNvSpPr>
            <a:spLocks xmlns:a="http://schemas.openxmlformats.org/drawingml/2006/main" noGrp="1"/>
          </p:cNvSpPr>
          <p:nvPr/>
        </p:nvSpPr>
        <p:spPr>
          <a:xfrm xmlns:a="http://schemas.openxmlformats.org/drawingml/2006/main">
            <a:off x="8763000" y="36004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curl /healthz</a:t>
            </a:r>
          </a:p>
        </p:txBody>
      </p:sp>
      <p:sp>
        <p:nvSpPr>
          <p:cNvPr id="26" name="">
            <a:extLst xmlns:a="http://schemas.openxmlformats.org/drawingml/2006/main">
              <a:ext uri="{FF2B5EF4-FFF2-40B4-BE49-F238E27FC236}">
                <a16:creationId xmlns:a16="http://schemas.microsoft.com/office/drawing/2014/main" id="{E3FAE759-8554-4EFC-A480-B2DCE9C36E18}"/>
              </a:ext>
            </a:extLst>
          </p:cNvPr>
          <p:cNvSpPr>
            <a:spLocks xmlns:a="http://schemas.openxmlformats.org/drawingml/2006/main" noGrp="1"/>
          </p:cNvSpPr>
          <p:nvPr/>
        </p:nvSpPr>
        <p:spPr>
          <a:xfrm xmlns:a="http://schemas.openxmlformats.org/drawingml/2006/main">
            <a:off x="8763000" y="4038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check headers</a:t>
            </a:r>
          </a:p>
        </p:txBody>
      </p:sp>
      <p:sp>
        <p:nvSpPr>
          <p:cNvPr id="27" name="">
            <a:extLst xmlns:a="http://schemas.openxmlformats.org/drawingml/2006/main">
              <a:ext uri="{FF2B5EF4-FFF2-40B4-BE49-F238E27FC236}">
                <a16:creationId xmlns:a16="http://schemas.microsoft.com/office/drawing/2014/main" id="{357B3DD3-072C-4AE0-9F0C-E9E469F1AC1D}"/>
              </a:ext>
            </a:extLst>
          </p:cNvPr>
          <p:cNvSpPr>
            <a:spLocks xmlns:a="http://schemas.openxmlformats.org/drawingml/2006/main" noGrp="1"/>
          </p:cNvSpPr>
          <p:nvPr/>
        </p:nvSpPr>
        <p:spPr>
          <a:xfrm xmlns:a="http://schemas.openxmlformats.org/drawingml/2006/main">
            <a:off x="8763000" y="44767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11854F"/>
                </a:solidFill>
                <a:latin typeface="Aptos"/>
                <a:ea typeface="Aptos"/>
                <a:cs typeface="Aptos"/>
              </a:defRPr>
            </a:pPr>
            <a:r>
              <a:rPr sz="1875" b="1">
                <a:solidFill>
                  <a:srgbClr val="11854F"/>
                </a:solidFill>
                <a:latin typeface="Aptos"/>
                <a:ea typeface="Aptos"/>
                <a:cs typeface="Aptos"/>
              </a:rPr>
              <a:t>No secret output</a:t>
            </a:r>
          </a:p>
        </p:txBody>
      </p:sp>
      <p:sp>
        <p:nvSpPr>
          <p:cNvPr id="28" name="">
            <a:extLst xmlns:a="http://schemas.openxmlformats.org/drawingml/2006/main">
              <a:ext uri="{FF2B5EF4-FFF2-40B4-BE49-F238E27FC236}">
                <a16:creationId xmlns:a16="http://schemas.microsoft.com/office/drawing/2014/main" id="{DC2BB258-4E46-4D67-ACDF-8E2420347132}"/>
              </a:ext>
            </a:extLst>
          </p:cNvPr>
          <p:cNvSpPr>
            <a:spLocks xmlns:a="http://schemas.openxmlformats.org/drawingml/2006/main" noGrp="1"/>
          </p:cNvSpPr>
          <p:nvPr/>
        </p:nvSpPr>
        <p:spPr>
          <a:xfrm xmlns:a="http://schemas.openxmlformats.org/drawingml/2006/main">
            <a:off x="781050" y="56959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1">
                <a:solidFill>
                  <a:srgbClr val="5A6571"/>
                </a:solidFill>
                <a:latin typeface="Aptos"/>
                <a:ea typeface="Aptos"/>
                <a:cs typeface="Aptos"/>
              </a:defRPr>
            </a:pPr>
            <a:r>
              <a:rPr sz="1425" b="1">
                <a:solidFill>
                  <a:srgbClr val="5A6571"/>
                </a:solidFill>
                <a:latin typeface="Aptos"/>
                <a:ea typeface="Aptos"/>
                <a:cs typeface="Aptos"/>
              </a:rPr>
              <a:t>Use live GitHub and AWS evidence first; use local files to explain implementation.</a:t>
            </a:r>
          </a:p>
        </p:txBody>
      </p:sp>
    </p:spTree>
    <p:extLst>
      <p:ext uri="{BB962C8B-B14F-4D97-AF65-F5344CB8AC3E}">
        <p14:creationId xmlns:p14="http://schemas.microsoft.com/office/powerpoint/2010/main" val="688936750"/>
      </p:ext>
    </p:extLst>
  </p:cSld>
</p:sld>
</file>

<file path=ppt/slides/slide1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C20E05A-5126-4837-93EC-73446F615572}"/>
              </a:ext>
            </a:extLst>
          </p:cNvPr>
          <p:cNvSpPr>
            <a:spLocks xmlns:a="http://schemas.openxmlformats.org/drawingml/2006/main" noGrp="1"/>
          </p:cNvSpPr>
          <p:nvPr/>
        </p:nvSpPr>
        <p:spPr>
          <a:xfrm xmlns:a="http://schemas.openxmlformats.org/drawingml/2006/main">
            <a:off x="6096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11854F"/>
                </a:solidFill>
                <a:latin typeface="Aptos"/>
                <a:ea typeface="Aptos"/>
                <a:cs typeface="Aptos"/>
              </a:defRPr>
            </a:pPr>
            <a:r>
              <a:rPr sz="975" b="1">
                <a:solidFill>
                  <a:srgbClr val="11854F"/>
                </a:solidFill>
                <a:latin typeface="Aptos"/>
                <a:ea typeface="Aptos"/>
                <a:cs typeface="Aptos"/>
              </a:rPr>
              <a:t>OPERATING RESULT</a:t>
            </a:r>
          </a:p>
        </p:txBody>
      </p:sp>
      <p:sp>
        <p:nvSpPr>
          <p:cNvPr id="2" name="">
            <a:extLst xmlns:a="http://schemas.openxmlformats.org/drawingml/2006/main">
              <a:ext uri="{FF2B5EF4-FFF2-40B4-BE49-F238E27FC236}">
                <a16:creationId xmlns:a16="http://schemas.microsoft.com/office/drawing/2014/main" id="{31FB1529-2242-4E9B-BD14-492C16510F35}"/>
              </a:ext>
            </a:extLst>
          </p:cNvPr>
          <p:cNvSpPr>
            <a:spLocks xmlns:a="http://schemas.openxmlformats.org/drawingml/2006/main" noGrp="1"/>
          </p:cNvSpPr>
          <p:nvPr/>
        </p:nvSpPr>
        <p:spPr>
          <a:xfrm xmlns:a="http://schemas.openxmlformats.org/drawingml/2006/main">
            <a:off x="609600" y="6477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850" b="1">
                <a:solidFill>
                  <a:srgbClr val="0B2545"/>
                </a:solidFill>
                <a:latin typeface="Aptos"/>
                <a:ea typeface="Aptos"/>
                <a:cs typeface="Aptos"/>
              </a:defRPr>
            </a:pPr>
            <a:r>
              <a:rPr sz="2850" b="1">
                <a:solidFill>
                  <a:srgbClr val="0B2545"/>
                </a:solidFill>
                <a:latin typeface="Aptos"/>
                <a:ea typeface="Aptos"/>
                <a:cs typeface="Aptos"/>
              </a:rPr>
              <a:t>The pipeline is operating, evidenced, and reversible</a:t>
            </a:r>
          </a:p>
        </p:txBody>
      </p:sp>
      <p:sp>
        <p:nvSpPr>
          <p:cNvPr id="3" name="">
            <a:extLst xmlns:a="http://schemas.openxmlformats.org/drawingml/2006/main">
              <a:ext uri="{FF2B5EF4-FFF2-40B4-BE49-F238E27FC236}">
                <a16:creationId xmlns:a16="http://schemas.microsoft.com/office/drawing/2014/main" id="{ADD0BC20-240F-47D7-ACD6-D23730644B0F}"/>
              </a:ext>
            </a:extLst>
          </p:cNvPr>
          <p:cNvSpPr>
            <a:spLocks xmlns:a="http://schemas.openxmlformats.org/drawingml/2006/main" noGrp="1"/>
          </p:cNvSpPr>
          <p:nvPr/>
        </p:nvSpPr>
        <p:spPr>
          <a:xfrm xmlns:a="http://schemas.openxmlformats.org/drawingml/2006/main">
            <a:off x="609600" y="1323975"/>
            <a:ext cx="10972800" cy="19050"/>
          </a:xfrm>
          <a:prstGeom xmlns:a="http://schemas.openxmlformats.org/drawingml/2006/main" prst="rect">
            <a:avLst/>
          </a:prstGeom>
          <a:solidFill xmlns:a="http://schemas.openxmlformats.org/drawingml/2006/main">
            <a:srgbClr val="D9E3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8FE904-8C48-4246-8429-CD7FACE19F6F}"/>
              </a:ext>
            </a:extLst>
          </p:cNvPr>
          <p:cNvSpPr>
            <a:spLocks xmlns:a="http://schemas.openxmlformats.org/drawingml/2006/main" noGrp="1"/>
          </p:cNvSpPr>
          <p:nvPr/>
        </p:nvSpPr>
        <p:spPr>
          <a:xfrm xmlns:a="http://schemas.openxmlformats.org/drawingml/2006/main">
            <a:off x="609600" y="649605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825" b="1">
                <a:solidFill>
                  <a:srgbClr val="5A6571"/>
                </a:solidFill>
                <a:latin typeface="Aptos"/>
                <a:ea typeface="Aptos"/>
                <a:cs typeface="Aptos"/>
              </a:defRPr>
            </a:pPr>
            <a:r>
              <a:rPr sz="825" b="1">
                <a:solidFill>
                  <a:srgbClr val="5A6571"/>
                </a:solidFill>
                <a:latin typeface="Aptos"/>
                <a:ea typeface="Aptos"/>
                <a:cs typeface="Aptos"/>
              </a:rPr>
              <a:t>FOODMIND  •  DEVSECOPS</a:t>
            </a:r>
          </a:p>
        </p:txBody>
      </p:sp>
      <p:sp>
        <p:nvSpPr>
          <p:cNvPr id="5" name="">
            <a:extLst xmlns:a="http://schemas.openxmlformats.org/drawingml/2006/main">
              <a:ext uri="{FF2B5EF4-FFF2-40B4-BE49-F238E27FC236}">
                <a16:creationId xmlns:a16="http://schemas.microsoft.com/office/drawing/2014/main" id="{C4AC322E-CF7E-4537-B9E7-64F9063DA16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825" b="1">
                <a:solidFill>
                  <a:srgbClr val="5A6571"/>
                </a:solidFill>
                <a:latin typeface="Aptos"/>
                <a:ea typeface="Aptos"/>
                <a:cs typeface="Aptos"/>
              </a:defRPr>
            </a:pPr>
            <a:r>
              <a:rPr sz="825" b="1">
                <a:solidFill>
                  <a:srgbClr val="5A6571"/>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2BD6C0FD-74EA-4816-ACC7-E332E87AE7BA}"/>
              </a:ext>
            </a:extLst>
          </p:cNvPr>
          <p:cNvSpPr>
            <a:spLocks xmlns:a="http://schemas.openxmlformats.org/drawingml/2006/main" noGrp="1"/>
          </p:cNvSpPr>
          <p:nvPr/>
        </p:nvSpPr>
        <p:spPr>
          <a:xfrm xmlns:a="http://schemas.openxmlformats.org/drawingml/2006/main">
            <a:off x="781050" y="1771650"/>
            <a:ext cx="361950" cy="3619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C07CA6-71C9-4AC5-BBFC-64F64A372D0A}"/>
              </a:ext>
            </a:extLst>
          </p:cNvPr>
          <p:cNvSpPr>
            <a:spLocks xmlns:a="http://schemas.openxmlformats.org/drawingml/2006/main" noGrp="1"/>
          </p:cNvSpPr>
          <p:nvPr/>
        </p:nvSpPr>
        <p:spPr>
          <a:xfrm xmlns:a="http://schemas.openxmlformats.org/drawingml/2006/main">
            <a:off x="7810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781C6420-2E89-4C24-9CE4-F0078CFF0FF8}"/>
              </a:ext>
            </a:extLst>
          </p:cNvPr>
          <p:cNvSpPr>
            <a:spLocks xmlns:a="http://schemas.openxmlformats.org/drawingml/2006/main" noGrp="1"/>
          </p:cNvSpPr>
          <p:nvPr/>
        </p:nvSpPr>
        <p:spPr>
          <a:xfrm xmlns:a="http://schemas.openxmlformats.org/drawingml/2006/main">
            <a:off x="1390650" y="17526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All application security gates are merged</a:t>
            </a:r>
          </a:p>
        </p:txBody>
      </p:sp>
      <p:sp>
        <p:nvSpPr>
          <p:cNvPr id="9" name="">
            <a:extLst xmlns:a="http://schemas.openxmlformats.org/drawingml/2006/main">
              <a:ext uri="{FF2B5EF4-FFF2-40B4-BE49-F238E27FC236}">
                <a16:creationId xmlns:a16="http://schemas.microsoft.com/office/drawing/2014/main" id="{39D62951-A041-4953-8B97-CBE4C71B1FD3}"/>
              </a:ext>
            </a:extLst>
          </p:cNvPr>
          <p:cNvSpPr>
            <a:spLocks xmlns:a="http://schemas.openxmlformats.org/drawingml/2006/main" noGrp="1"/>
          </p:cNvSpPr>
          <p:nvPr/>
        </p:nvSpPr>
        <p:spPr>
          <a:xfrm xmlns:a="http://schemas.openxmlformats.org/drawingml/2006/main">
            <a:off x="781050" y="2457450"/>
            <a:ext cx="361950" cy="3619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9585FD-E1FA-4091-B21F-B936D7814931}"/>
              </a:ext>
            </a:extLst>
          </p:cNvPr>
          <p:cNvSpPr>
            <a:spLocks xmlns:a="http://schemas.openxmlformats.org/drawingml/2006/main" noGrp="1"/>
          </p:cNvSpPr>
          <p:nvPr/>
        </p:nvSpPr>
        <p:spPr>
          <a:xfrm xmlns:a="http://schemas.openxmlformats.org/drawingml/2006/main">
            <a:off x="781050" y="24574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D64DCF8-1025-4542-A808-90B08283137D}"/>
              </a:ext>
            </a:extLst>
          </p:cNvPr>
          <p:cNvSpPr>
            <a:spLocks xmlns:a="http://schemas.openxmlformats.org/drawingml/2006/main" noGrp="1"/>
          </p:cNvSpPr>
          <p:nvPr/>
        </p:nvSpPr>
        <p:spPr>
          <a:xfrm xmlns:a="http://schemas.openxmlformats.org/drawingml/2006/main">
            <a:off x="1390650" y="24384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Seven images are scanned before ECR</a:t>
            </a:r>
          </a:p>
        </p:txBody>
      </p:sp>
      <p:sp>
        <p:nvSpPr>
          <p:cNvPr id="12" name="">
            <a:extLst xmlns:a="http://schemas.openxmlformats.org/drawingml/2006/main">
              <a:ext uri="{FF2B5EF4-FFF2-40B4-BE49-F238E27FC236}">
                <a16:creationId xmlns:a16="http://schemas.microsoft.com/office/drawing/2014/main" id="{5CA210BE-4265-40D7-B05B-2EC74EB9B4EA}"/>
              </a:ext>
            </a:extLst>
          </p:cNvPr>
          <p:cNvSpPr>
            <a:spLocks xmlns:a="http://schemas.openxmlformats.org/drawingml/2006/main" noGrp="1"/>
          </p:cNvSpPr>
          <p:nvPr/>
        </p:nvSpPr>
        <p:spPr>
          <a:xfrm xmlns:a="http://schemas.openxmlformats.org/drawingml/2006/main">
            <a:off x="781050" y="3143250"/>
            <a:ext cx="361950" cy="361950"/>
          </a:xfrm>
          <a:prstGeom xmlns:a="http://schemas.openxmlformats.org/drawingml/2006/main" prst="ellipse">
            <a:avLst/>
          </a:prstGeom>
          <a:solidFill xmlns:a="http://schemas.openxmlformats.org/drawingml/2006/main">
            <a:srgbClr val="11854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9E6FDA8-9B47-4C49-AC89-B45BA20303ED}"/>
              </a:ext>
            </a:extLst>
          </p:cNvPr>
          <p:cNvSpPr>
            <a:spLocks xmlns:a="http://schemas.openxmlformats.org/drawingml/2006/main" noGrp="1"/>
          </p:cNvSpPr>
          <p:nvPr/>
        </p:nvSpPr>
        <p:spPr>
          <a:xfrm xmlns:a="http://schemas.openxmlformats.org/drawingml/2006/main">
            <a:off x="781050" y="31432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09AE7F62-74F9-4D2D-A4D7-3AD3B0FBE12A}"/>
              </a:ext>
            </a:extLst>
          </p:cNvPr>
          <p:cNvSpPr>
            <a:spLocks xmlns:a="http://schemas.openxmlformats.org/drawingml/2006/main" noGrp="1"/>
          </p:cNvSpPr>
          <p:nvPr/>
        </p:nvSpPr>
        <p:spPr>
          <a:xfrm xmlns:a="http://schemas.openxmlformats.org/drawingml/2006/main">
            <a:off x="1390650" y="31242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1">
                <a:solidFill>
                  <a:srgbClr val="0B2545"/>
                </a:solidFill>
                <a:latin typeface="Aptos"/>
                <a:ea typeface="Aptos"/>
                <a:cs typeface="Aptos"/>
              </a:defRPr>
            </a:pPr>
            <a:r>
              <a:rPr sz="1575" b="1">
                <a:solidFill>
                  <a:srgbClr val="0B2545"/>
                </a:solidFill>
                <a:latin typeface="Aptos"/>
                <a:ea typeface="Aptos"/>
                <a:cs typeface="Aptos"/>
              </a:rPr>
              <a:t>The release is deployed by immutable digest</a:t>
            </a:r>
          </a:p>
        </p:txBody>
      </p:sp>
      <p:sp>
        <p:nvSpPr>
          <p:cNvPr id="15" name="">
            <a:extLst xmlns:a="http://schemas.openxmlformats.org/drawingml/2006/main">
              <a:ext uri="{FF2B5EF4-FFF2-40B4-BE49-F238E27FC236}">
                <a16:creationId xmlns:a16="http://schemas.microsoft.com/office/drawing/2014/main" id="{F65B5B1E-F385-4E3F-A768-A52BE3831476}"/>
              </a:ext>
            </a:extLst>
          </p:cNvPr>
          <p:cNvSpPr>
            <a:spLocks xmlns:a="http://schemas.openxmlformats.org/drawingml/2006/main" noGrp="1"/>
          </p:cNvSpPr>
          <p:nvPr/>
        </p:nvSpPr>
        <p:spPr>
          <a:xfrm xmlns:a="http://schemas.openxmlformats.org/drawingml/2006/main">
            <a:off x="781050" y="3829050"/>
            <a:ext cx="361950" cy="3619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30B03E-5E02-4B4C-8668-00253F6B4234}"/>
              </a:ext>
            </a:extLst>
          </p:cNvPr>
          <p:cNvSpPr>
            <a:spLocks xmlns:a="http://schemas.openxmlformats.org/drawingml/2006/main" noGrp="1"/>
          </p:cNvSpPr>
          <p:nvPr/>
        </p:nvSpPr>
        <p:spPr>
          <a:xfrm xmlns:a="http://schemas.openxmlformats.org/drawingml/2006/main">
            <a:off x="781050" y="38290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73ED94DA-00F6-4646-8AEC-651A4BABA8BE}"/>
              </a:ext>
            </a:extLst>
          </p:cNvPr>
          <p:cNvSpPr>
            <a:spLocks xmlns:a="http://schemas.openxmlformats.org/drawingml/2006/main" noGrp="1"/>
          </p:cNvSpPr>
          <p:nvPr/>
        </p:nvSpPr>
        <p:spPr>
          <a:xfrm xmlns:a="http://schemas.openxmlformats.org/drawingml/2006/main">
            <a:off x="1390650" y="38100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Readiness and automatic rollback are active</a:t>
            </a:r>
          </a:p>
        </p:txBody>
      </p:sp>
      <p:sp>
        <p:nvSpPr>
          <p:cNvPr id="18" name="">
            <a:extLst xmlns:a="http://schemas.openxmlformats.org/drawingml/2006/main">
              <a:ext uri="{FF2B5EF4-FFF2-40B4-BE49-F238E27FC236}">
                <a16:creationId xmlns:a16="http://schemas.microsoft.com/office/drawing/2014/main" id="{44F45EEA-D447-4B23-A7C5-CE900F695789}"/>
              </a:ext>
            </a:extLst>
          </p:cNvPr>
          <p:cNvSpPr>
            <a:spLocks xmlns:a="http://schemas.openxmlformats.org/drawingml/2006/main" noGrp="1"/>
          </p:cNvSpPr>
          <p:nvPr/>
        </p:nvSpPr>
        <p:spPr>
          <a:xfrm xmlns:a="http://schemas.openxmlformats.org/drawingml/2006/main">
            <a:off x="781050" y="4514850"/>
            <a:ext cx="361950" cy="361950"/>
          </a:xfrm>
          <a:prstGeom xmlns:a="http://schemas.openxmlformats.org/drawingml/2006/main" prst="ellipse">
            <a:avLst/>
          </a:prstGeom>
          <a:solidFill xmlns:a="http://schemas.openxmlformats.org/drawingml/2006/main">
            <a:srgbClr val="2E74B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B1CF22-000B-46A6-962C-BBB42A0B4F6E}"/>
              </a:ext>
            </a:extLst>
          </p:cNvPr>
          <p:cNvSpPr>
            <a:spLocks xmlns:a="http://schemas.openxmlformats.org/drawingml/2006/main" noGrp="1"/>
          </p:cNvSpPr>
          <p:nvPr/>
        </p:nvSpPr>
        <p:spPr>
          <a:xfrm xmlns:a="http://schemas.openxmlformats.org/drawingml/2006/main">
            <a:off x="781050" y="4514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0" name="">
            <a:extLst xmlns:a="http://schemas.openxmlformats.org/drawingml/2006/main">
              <a:ext uri="{FF2B5EF4-FFF2-40B4-BE49-F238E27FC236}">
                <a16:creationId xmlns:a16="http://schemas.microsoft.com/office/drawing/2014/main" id="{35D97196-627E-4723-904F-2AFD2CB4A216}"/>
              </a:ext>
            </a:extLst>
          </p:cNvPr>
          <p:cNvSpPr>
            <a:spLocks xmlns:a="http://schemas.openxmlformats.org/drawingml/2006/main" noGrp="1"/>
          </p:cNvSpPr>
          <p:nvPr/>
        </p:nvSpPr>
        <p:spPr>
          <a:xfrm xmlns:a="http://schemas.openxmlformats.org/drawingml/2006/main">
            <a:off x="1390650" y="44958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0B2545"/>
                </a:solidFill>
                <a:latin typeface="Aptos"/>
                <a:ea typeface="Aptos"/>
                <a:cs typeface="Aptos"/>
              </a:defRPr>
            </a:pPr>
            <a:r>
              <a:rPr sz="1575" b="0">
                <a:solidFill>
                  <a:srgbClr val="0B2545"/>
                </a:solidFill>
                <a:latin typeface="Aptos"/>
                <a:ea typeface="Aptos"/>
                <a:cs typeface="Aptos"/>
              </a:rPr>
              <a:t>ZAP, headers and JMeter pass</a:t>
            </a:r>
          </a:p>
        </p:txBody>
      </p:sp>
      <p:sp>
        <p:nvSpPr>
          <p:cNvPr id="21" name="">
            <a:extLst xmlns:a="http://schemas.openxmlformats.org/drawingml/2006/main">
              <a:ext uri="{FF2B5EF4-FFF2-40B4-BE49-F238E27FC236}">
                <a16:creationId xmlns:a16="http://schemas.microsoft.com/office/drawing/2014/main" id="{91563FAB-C5B5-4B4E-A29A-4BF009CA89E0}"/>
              </a:ext>
            </a:extLst>
          </p:cNvPr>
          <p:cNvSpPr>
            <a:spLocks xmlns:a="http://schemas.openxmlformats.org/drawingml/2006/main" noGrp="1"/>
          </p:cNvSpPr>
          <p:nvPr/>
        </p:nvSpPr>
        <p:spPr>
          <a:xfrm xmlns:a="http://schemas.openxmlformats.org/drawingml/2006/main">
            <a:off x="8420100" y="1752600"/>
            <a:ext cx="2876550" cy="3429000"/>
          </a:xfrm>
          <a:prstGeom xmlns:a="http://schemas.openxmlformats.org/drawingml/2006/main" prst="roundRect">
            <a:avLst>
              <a:gd name="adj" fmla="val 2649"/>
            </a:avLst>
          </a:prstGeom>
          <a:solidFill xmlns:a="http://schemas.openxmlformats.org/drawingml/2006/main">
            <a:srgbClr val="E9F6EF"/>
          </a:solidFill>
          <a:ln xmlns:a="http://schemas.openxmlformats.org/drawingml/2006/main" w="9525">
            <a:solidFill>
              <a:srgbClr val="D9E3DE"/>
            </a:solidFill>
            <a:prstDash val="solid"/>
          </a:ln>
        </p:spPr>
      </p:sp>
      <p:sp>
        <p:nvSpPr>
          <p:cNvPr id="22" name="">
            <a:extLst xmlns:a="http://schemas.openxmlformats.org/drawingml/2006/main">
              <a:ext uri="{FF2B5EF4-FFF2-40B4-BE49-F238E27FC236}">
                <a16:creationId xmlns:a16="http://schemas.microsoft.com/office/drawing/2014/main" id="{82FC1CC8-4E5C-42CF-8F75-BDBAC319231B}"/>
              </a:ext>
            </a:extLst>
          </p:cNvPr>
          <p:cNvSpPr>
            <a:spLocks xmlns:a="http://schemas.openxmlformats.org/drawingml/2006/main" noGrp="1"/>
          </p:cNvSpPr>
          <p:nvPr/>
        </p:nvSpPr>
        <p:spPr>
          <a:xfrm xmlns:a="http://schemas.openxmlformats.org/drawingml/2006/main">
            <a:off x="8763000" y="2095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1854F"/>
                </a:solidFill>
                <a:latin typeface="Aptos"/>
                <a:ea typeface="Aptos"/>
                <a:cs typeface="Aptos"/>
              </a:defRPr>
            </a:pPr>
            <a:r>
              <a:rPr sz="1125" b="1">
                <a:solidFill>
                  <a:srgbClr val="11854F"/>
                </a:solidFill>
                <a:latin typeface="Aptos"/>
                <a:ea typeface="Aptos"/>
                <a:cs typeface="Aptos"/>
              </a:rPr>
              <a:t>CURRENT RELEASE</a:t>
            </a:r>
          </a:p>
        </p:txBody>
      </p:sp>
      <p:sp>
        <p:nvSpPr>
          <p:cNvPr id="23" name="">
            <a:extLst xmlns:a="http://schemas.openxmlformats.org/drawingml/2006/main">
              <a:ext uri="{FF2B5EF4-FFF2-40B4-BE49-F238E27FC236}">
                <a16:creationId xmlns:a16="http://schemas.microsoft.com/office/drawing/2014/main" id="{D8EE3CFA-CA4F-4558-B0FE-85E320E83BD9}"/>
              </a:ext>
            </a:extLst>
          </p:cNvPr>
          <p:cNvSpPr>
            <a:spLocks xmlns:a="http://schemas.openxmlformats.org/drawingml/2006/main" noGrp="1"/>
          </p:cNvSpPr>
          <p:nvPr/>
        </p:nvSpPr>
        <p:spPr>
          <a:xfrm xmlns:a="http://schemas.openxmlformats.org/drawingml/2006/main">
            <a:off x="8763000" y="27241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Infra 3496a39b</a:t>
            </a:r>
          </a:p>
        </p:txBody>
      </p:sp>
      <p:sp>
        <p:nvSpPr>
          <p:cNvPr id="24" name="">
            <a:extLst xmlns:a="http://schemas.openxmlformats.org/drawingml/2006/main">
              <a:ext uri="{FF2B5EF4-FFF2-40B4-BE49-F238E27FC236}">
                <a16:creationId xmlns:a16="http://schemas.microsoft.com/office/drawing/2014/main" id="{444AE0C0-891B-4FC3-96A6-53B2A57CEB8B}"/>
              </a:ext>
            </a:extLst>
          </p:cNvPr>
          <p:cNvSpPr>
            <a:spLocks xmlns:a="http://schemas.openxmlformats.org/drawingml/2006/main" noGrp="1"/>
          </p:cNvSpPr>
          <p:nvPr/>
        </p:nvSpPr>
        <p:spPr>
          <a:xfrm xmlns:a="http://schemas.openxmlformats.org/drawingml/2006/main">
            <a:off x="8763000" y="31623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7 ECR digests</a:t>
            </a:r>
          </a:p>
        </p:txBody>
      </p:sp>
      <p:sp>
        <p:nvSpPr>
          <p:cNvPr id="25" name="">
            <a:extLst xmlns:a="http://schemas.openxmlformats.org/drawingml/2006/main">
              <a:ext uri="{FF2B5EF4-FFF2-40B4-BE49-F238E27FC236}">
                <a16:creationId xmlns:a16="http://schemas.microsoft.com/office/drawing/2014/main" id="{5DEB3435-AAB6-4908-A2D9-71B51DFA52C6}"/>
              </a:ext>
            </a:extLst>
          </p:cNvPr>
          <p:cNvSpPr>
            <a:spLocks xmlns:a="http://schemas.openxmlformats.org/drawingml/2006/main" noGrp="1"/>
          </p:cNvSpPr>
          <p:nvPr/>
        </p:nvSpPr>
        <p:spPr>
          <a:xfrm xmlns:a="http://schemas.openxmlformats.org/drawingml/2006/main">
            <a:off x="8763000" y="36004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p95 781 ms</a:t>
            </a:r>
          </a:p>
        </p:txBody>
      </p:sp>
      <p:sp>
        <p:nvSpPr>
          <p:cNvPr id="26" name="">
            <a:extLst xmlns:a="http://schemas.openxmlformats.org/drawingml/2006/main">
              <a:ext uri="{FF2B5EF4-FFF2-40B4-BE49-F238E27FC236}">
                <a16:creationId xmlns:a16="http://schemas.microsoft.com/office/drawing/2014/main" id="{E3FAE759-8554-4EFC-A480-B2DCE9C36E18}"/>
              </a:ext>
            </a:extLst>
          </p:cNvPr>
          <p:cNvSpPr>
            <a:spLocks xmlns:a="http://schemas.openxmlformats.org/drawingml/2006/main" noGrp="1"/>
          </p:cNvSpPr>
          <p:nvPr/>
        </p:nvSpPr>
        <p:spPr>
          <a:xfrm xmlns:a="http://schemas.openxmlformats.org/drawingml/2006/main">
            <a:off x="8763000" y="4038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0B2545"/>
                </a:solidFill>
                <a:latin typeface="Aptos"/>
                <a:ea typeface="Aptos"/>
                <a:cs typeface="Aptos"/>
              </a:defRPr>
            </a:pPr>
            <a:r>
              <a:rPr sz="1875" b="1">
                <a:solidFill>
                  <a:srgbClr val="0B2545"/>
                </a:solidFill>
                <a:latin typeface="Aptos"/>
                <a:ea typeface="Aptos"/>
                <a:cs typeface="Aptos"/>
              </a:rPr>
              <a:t>DAST PASS</a:t>
            </a:r>
          </a:p>
        </p:txBody>
      </p:sp>
      <p:sp>
        <p:nvSpPr>
          <p:cNvPr id="27" name="">
            <a:extLst xmlns:a="http://schemas.openxmlformats.org/drawingml/2006/main">
              <a:ext uri="{FF2B5EF4-FFF2-40B4-BE49-F238E27FC236}">
                <a16:creationId xmlns:a16="http://schemas.microsoft.com/office/drawing/2014/main" id="{357B3DD3-072C-4AE0-9F0C-E9E469F1AC1D}"/>
              </a:ext>
            </a:extLst>
          </p:cNvPr>
          <p:cNvSpPr>
            <a:spLocks xmlns:a="http://schemas.openxmlformats.org/drawingml/2006/main" noGrp="1"/>
          </p:cNvSpPr>
          <p:nvPr/>
        </p:nvSpPr>
        <p:spPr>
          <a:xfrm xmlns:a="http://schemas.openxmlformats.org/drawingml/2006/main">
            <a:off x="8763000" y="44767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75" b="1">
                <a:solidFill>
                  <a:srgbClr val="11854F"/>
                </a:solidFill>
                <a:latin typeface="Aptos"/>
                <a:ea typeface="Aptos"/>
                <a:cs typeface="Aptos"/>
              </a:defRPr>
            </a:pPr>
            <a:r>
              <a:rPr sz="1875" b="1">
                <a:solidFill>
                  <a:srgbClr val="11854F"/>
                </a:solidFill>
                <a:latin typeface="Aptos"/>
                <a:ea typeface="Aptos"/>
                <a:cs typeface="Aptos"/>
              </a:rPr>
              <a:t>Evidence retained</a:t>
            </a:r>
          </a:p>
        </p:txBody>
      </p:sp>
      <p:sp>
        <p:nvSpPr>
          <p:cNvPr id="28" name="">
            <a:extLst xmlns:a="http://schemas.openxmlformats.org/drawingml/2006/main">
              <a:ext uri="{FF2B5EF4-FFF2-40B4-BE49-F238E27FC236}">
                <a16:creationId xmlns:a16="http://schemas.microsoft.com/office/drawing/2014/main" id="{DC2BB258-4E46-4D67-ACDF-8E2420347132}"/>
              </a:ext>
            </a:extLst>
          </p:cNvPr>
          <p:cNvSpPr>
            <a:spLocks xmlns:a="http://schemas.openxmlformats.org/drawingml/2006/main" noGrp="1"/>
          </p:cNvSpPr>
          <p:nvPr/>
        </p:nvSpPr>
        <p:spPr>
          <a:xfrm xmlns:a="http://schemas.openxmlformats.org/drawingml/2006/main">
            <a:off x="781050" y="56959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425" b="1">
                <a:solidFill>
                  <a:srgbClr val="5A6571"/>
                </a:solidFill>
                <a:latin typeface="Aptos"/>
                <a:ea typeface="Aptos"/>
                <a:cs typeface="Aptos"/>
              </a:defRPr>
            </a:pPr>
            <a:r>
              <a:rPr sz="1425" b="1">
                <a:solidFill>
                  <a:srgbClr val="5A6571"/>
                </a:solidFill>
                <a:latin typeface="Aptos"/>
                <a:ea typeface="Aptos"/>
                <a:cs typeface="Aptos"/>
              </a:rPr>
              <a:t>Live: staging-3496a39b3375-31949803280-1</a:t>
            </a:r>
          </a:p>
        </p:txBody>
      </p:sp>
    </p:spTree>
    <p:extLst>
      <p:ext uri="{BB962C8B-B14F-4D97-AF65-F5344CB8AC3E}">
        <p14:creationId xmlns:p14="http://schemas.microsoft.com/office/powerpoint/2010/main" val="688936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2026-08-16T18:37:40.8130000Z</dcterms:created>
  <dcterms:modified xsi:type="dcterms:W3CDTF">2026-08-16T18:37:40.8130000Z</dcterms:modified>
</coreProperties>
</file>