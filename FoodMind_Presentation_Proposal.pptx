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E8BC1-A7EF-4F3A-A19B-8C355FE2B8B0}" v="4" dt="2026-07-26T15:33:00.528"/>
    <p1510:client id="{252D8FA4-6EF2-6F41-80BC-1E314FB84F18}" v="786" dt="2026-07-27T06:57:20.4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86400"/>
  </p:normalViewPr>
  <p:slideViewPr>
    <p:cSldViewPr snapToGrid="0">
      <p:cViewPr varScale="1">
        <p:scale>
          <a:sx n="92" d="100"/>
          <a:sy n="92" d="100"/>
        </p:scale>
        <p:origin x="58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Terrence Yaqi" userId="6dbea422-1a6d-447b-aba2-ab25f918c224" providerId="ADAL" clId="{D7ABF46B-58F9-5DFC-B5BE-4143A237EFDE}"/>
    <pc:docChg chg="custSel modSld">
      <pc:chgData name="Chen Terrence Yaqi" userId="6dbea422-1a6d-447b-aba2-ab25f918c224" providerId="ADAL" clId="{D7ABF46B-58F9-5DFC-B5BE-4143A237EFDE}" dt="2026-07-27T01:09:57.785" v="0" actId="313"/>
      <pc:docMkLst>
        <pc:docMk/>
      </pc:docMkLst>
      <pc:sldChg chg="modSp mod">
        <pc:chgData name="Chen Terrence Yaqi" userId="6dbea422-1a6d-447b-aba2-ab25f918c224" providerId="ADAL" clId="{D7ABF46B-58F9-5DFC-B5BE-4143A237EFDE}" dt="2026-07-27T01:09:57.785" v="0" actId="313"/>
        <pc:sldMkLst>
          <pc:docMk/>
          <pc:sldMk cId="1345061244" sldId="256"/>
        </pc:sldMkLst>
        <pc:spChg chg="mod">
          <ac:chgData name="Chen Terrence Yaqi" userId="6dbea422-1a6d-447b-aba2-ab25f918c224" providerId="ADAL" clId="{D7ABF46B-58F9-5DFC-B5BE-4143A237EFDE}" dt="2026-07-27T01:09:57.785" v="0" actId="313"/>
          <ac:spMkLst>
            <pc:docMk/>
            <pc:sldMk cId="1345061244" sldId="256"/>
            <ac:spMk id="4" creationId="{23336568-D9B4-45EC-B514-09776D6B7FE2}"/>
          </ac:spMkLst>
        </pc:spChg>
      </pc:sldChg>
    </pc:docChg>
  </pc:docChgLst>
  <pc:docChgLst>
    <pc:chgData name="Chen Terrence Yaqi" userId="fd0f25ab-de92-4d97-a7d9-a0180993481a" providerId="ADAL" clId="{D7ABF46B-58F9-5DFC-B5BE-4143A237EFDE}"/>
    <pc:docChg chg="undo custSel addSld delSld modSld">
      <pc:chgData name="Chen Terrence Yaqi" userId="fd0f25ab-de92-4d97-a7d9-a0180993481a" providerId="ADAL" clId="{D7ABF46B-58F9-5DFC-B5BE-4143A237EFDE}" dt="2026-07-27T07:05:01.845" v="1212" actId="20577"/>
      <pc:docMkLst>
        <pc:docMk/>
      </pc:docMkLst>
      <pc:sldChg chg="delSp modSp mod modNotesTx">
        <pc:chgData name="Chen Terrence Yaqi" userId="fd0f25ab-de92-4d97-a7d9-a0180993481a" providerId="ADAL" clId="{D7ABF46B-58F9-5DFC-B5BE-4143A237EFDE}" dt="2026-07-27T07:05:01.845" v="1212" actId="20577"/>
        <pc:sldMkLst>
          <pc:docMk/>
          <pc:sldMk cId="1345061244" sldId="256"/>
        </pc:sldMkLst>
        <pc:spChg chg="mod">
          <ac:chgData name="Chen Terrence Yaqi" userId="fd0f25ab-de92-4d97-a7d9-a0180993481a" providerId="ADAL" clId="{D7ABF46B-58F9-5DFC-B5BE-4143A237EFDE}" dt="2026-07-27T01:14:23.709" v="1" actId="20577"/>
          <ac:spMkLst>
            <pc:docMk/>
            <pc:sldMk cId="1345061244" sldId="256"/>
            <ac:spMk id="4" creationId="{23336568-D9B4-45EC-B514-09776D6B7FE2}"/>
          </ac:spMkLst>
        </pc:spChg>
        <pc:spChg chg="mod">
          <ac:chgData name="Chen Terrence Yaqi" userId="fd0f25ab-de92-4d97-a7d9-a0180993481a" providerId="ADAL" clId="{D7ABF46B-58F9-5DFC-B5BE-4143A237EFDE}" dt="2026-07-27T02:02:46.904" v="64" actId="14100"/>
          <ac:spMkLst>
            <pc:docMk/>
            <pc:sldMk cId="1345061244" sldId="256"/>
            <ac:spMk id="6" creationId="{1AC5A63E-1524-44D1-A858-6EB8A349F380}"/>
          </ac:spMkLst>
        </pc:spChg>
        <pc:spChg chg="del">
          <ac:chgData name="Chen Terrence Yaqi" userId="fd0f25ab-de92-4d97-a7d9-a0180993481a" providerId="ADAL" clId="{D7ABF46B-58F9-5DFC-B5BE-4143A237EFDE}" dt="2026-07-27T02:00:19.437" v="11" actId="478"/>
          <ac:spMkLst>
            <pc:docMk/>
            <pc:sldMk cId="1345061244" sldId="256"/>
            <ac:spMk id="9" creationId="{1A42D7F5-6AF7-4879-9297-1F04A151FFB3}"/>
          </ac:spMkLst>
        </pc:spChg>
        <pc:graphicFrameChg chg="mod modGraphic">
          <ac:chgData name="Chen Terrence Yaqi" userId="fd0f25ab-de92-4d97-a7d9-a0180993481a" providerId="ADAL" clId="{D7ABF46B-58F9-5DFC-B5BE-4143A237EFDE}" dt="2026-07-27T02:02:42.950" v="63" actId="20577"/>
          <ac:graphicFrameMkLst>
            <pc:docMk/>
            <pc:sldMk cId="1345061244" sldId="256"/>
            <ac:graphicFrameMk id="16" creationId="{00000000-0000-0000-0000-000000000000}"/>
          </ac:graphicFrameMkLst>
        </pc:graphicFrameChg>
      </pc:sldChg>
      <pc:sldChg chg="modSp mod modNotesTx">
        <pc:chgData name="Chen Terrence Yaqi" userId="fd0f25ab-de92-4d97-a7d9-a0180993481a" providerId="ADAL" clId="{D7ABF46B-58F9-5DFC-B5BE-4143A237EFDE}" dt="2026-07-27T05:51:19.326" v="819" actId="115"/>
        <pc:sldMkLst>
          <pc:docMk/>
          <pc:sldMk cId="1217996653" sldId="257"/>
        </pc:sldMkLst>
        <pc:spChg chg="mod">
          <ac:chgData name="Chen Terrence Yaqi" userId="fd0f25ab-de92-4d97-a7d9-a0180993481a" providerId="ADAL" clId="{D7ABF46B-58F9-5DFC-B5BE-4143A237EFDE}" dt="2026-07-27T05:49:01.503" v="809" actId="1076"/>
          <ac:spMkLst>
            <pc:docMk/>
            <pc:sldMk cId="1217996653" sldId="257"/>
            <ac:spMk id="10" creationId="{8AB50BFD-C426-44F8-9403-B164704617CE}"/>
          </ac:spMkLst>
        </pc:spChg>
        <pc:spChg chg="mod">
          <ac:chgData name="Chen Terrence Yaqi" userId="fd0f25ab-de92-4d97-a7d9-a0180993481a" providerId="ADAL" clId="{D7ABF46B-58F9-5DFC-B5BE-4143A237EFDE}" dt="2026-07-27T05:48:33.387" v="805" actId="14100"/>
          <ac:spMkLst>
            <pc:docMk/>
            <pc:sldMk cId="1217996653" sldId="257"/>
            <ac:spMk id="11" creationId="{8FBD2BA4-8AEE-474A-90D2-33DA0EFBDBFF}"/>
          </ac:spMkLst>
        </pc:spChg>
        <pc:spChg chg="mod">
          <ac:chgData name="Chen Terrence Yaqi" userId="fd0f25ab-de92-4d97-a7d9-a0180993481a" providerId="ADAL" clId="{D7ABF46B-58F9-5DFC-B5BE-4143A237EFDE}" dt="2026-07-27T05:51:19.326" v="819" actId="115"/>
          <ac:spMkLst>
            <pc:docMk/>
            <pc:sldMk cId="1217996653" sldId="257"/>
            <ac:spMk id="16" creationId="{61DF2147-D6EE-2183-99F0-19736BF890D0}"/>
          </ac:spMkLst>
        </pc:spChg>
      </pc:sldChg>
      <pc:sldChg chg="modNotesTx">
        <pc:chgData name="Chen Terrence Yaqi" userId="fd0f25ab-de92-4d97-a7d9-a0180993481a" providerId="ADAL" clId="{D7ABF46B-58F9-5DFC-B5BE-4143A237EFDE}" dt="2026-07-27T02:44:34.930" v="709" actId="20577"/>
        <pc:sldMkLst>
          <pc:docMk/>
          <pc:sldMk cId="599530101" sldId="258"/>
        </pc:sldMkLst>
      </pc:sldChg>
      <pc:sldChg chg="modSp add del mod modNotesTx">
        <pc:chgData name="Chen Terrence Yaqi" userId="fd0f25ab-de92-4d97-a7d9-a0180993481a" providerId="ADAL" clId="{D7ABF46B-58F9-5DFC-B5BE-4143A237EFDE}" dt="2026-07-27T02:53:45.357" v="793" actId="20577"/>
        <pc:sldMkLst>
          <pc:docMk/>
          <pc:sldMk cId="397194232" sldId="259"/>
        </pc:sldMkLst>
        <pc:spChg chg="mod">
          <ac:chgData name="Chen Terrence Yaqi" userId="fd0f25ab-de92-4d97-a7d9-a0180993481a" providerId="ADAL" clId="{D7ABF46B-58F9-5DFC-B5BE-4143A237EFDE}" dt="2026-07-27T02:09:45.053" v="66" actId="20577"/>
          <ac:spMkLst>
            <pc:docMk/>
            <pc:sldMk cId="397194232" sldId="259"/>
            <ac:spMk id="2" creationId="{1F557715-BFC4-4E4B-9249-66AED0839996}"/>
          </ac:spMkLst>
        </pc:spChg>
        <pc:spChg chg="mod">
          <ac:chgData name="Chen Terrence Yaqi" userId="fd0f25ab-de92-4d97-a7d9-a0180993481a" providerId="ADAL" clId="{D7ABF46B-58F9-5DFC-B5BE-4143A237EFDE}" dt="2026-07-27T02:52:57.991" v="784" actId="20577"/>
          <ac:spMkLst>
            <pc:docMk/>
            <pc:sldMk cId="397194232" sldId="259"/>
            <ac:spMk id="7" creationId="{51F470FA-2ABF-4519-9751-CD0403DC2D5D}"/>
          </ac:spMkLst>
        </pc:spChg>
        <pc:spChg chg="mod">
          <ac:chgData name="Chen Terrence Yaqi" userId="fd0f25ab-de92-4d97-a7d9-a0180993481a" providerId="ADAL" clId="{D7ABF46B-58F9-5DFC-B5BE-4143A237EFDE}" dt="2026-07-27T02:53:33.006" v="790" actId="20577"/>
          <ac:spMkLst>
            <pc:docMk/>
            <pc:sldMk cId="397194232" sldId="259"/>
            <ac:spMk id="8" creationId="{4486B5D1-5945-4FDF-A57B-15EB539AA5AB}"/>
          </ac:spMkLst>
        </pc:spChg>
        <pc:spChg chg="mod">
          <ac:chgData name="Chen Terrence Yaqi" userId="fd0f25ab-de92-4d97-a7d9-a0180993481a" providerId="ADAL" clId="{D7ABF46B-58F9-5DFC-B5BE-4143A237EFDE}" dt="2026-07-27T02:53:45.357" v="793" actId="20577"/>
          <ac:spMkLst>
            <pc:docMk/>
            <pc:sldMk cId="397194232" sldId="259"/>
            <ac:spMk id="9" creationId="{5E254CF4-A2C2-497B-A2EA-945357DCBF4B}"/>
          </ac:spMkLst>
        </pc:spChg>
        <pc:spChg chg="mod">
          <ac:chgData name="Chen Terrence Yaqi" userId="fd0f25ab-de92-4d97-a7d9-a0180993481a" providerId="ADAL" clId="{D7ABF46B-58F9-5DFC-B5BE-4143A237EFDE}" dt="2026-07-27T02:53:41.739" v="791" actId="20577"/>
          <ac:spMkLst>
            <pc:docMk/>
            <pc:sldMk cId="397194232" sldId="259"/>
            <ac:spMk id="10" creationId="{61282014-4C43-4FD3-8468-AB76A275276C}"/>
          </ac:spMkLst>
        </pc:spChg>
      </pc:sldChg>
      <pc:sldChg chg="modSp mod modNotesTx">
        <pc:chgData name="Chen Terrence Yaqi" userId="fd0f25ab-de92-4d97-a7d9-a0180993481a" providerId="ADAL" clId="{D7ABF46B-58F9-5DFC-B5BE-4143A237EFDE}" dt="2026-07-27T05:58:22.719" v="1171" actId="20577"/>
        <pc:sldMkLst>
          <pc:docMk/>
          <pc:sldMk cId="925019653" sldId="260"/>
        </pc:sldMkLst>
        <pc:spChg chg="mod">
          <ac:chgData name="Chen Terrence Yaqi" userId="fd0f25ab-de92-4d97-a7d9-a0180993481a" providerId="ADAL" clId="{D7ABF46B-58F9-5DFC-B5BE-4143A237EFDE}" dt="2026-07-27T05:55:23.122" v="859" actId="20577"/>
          <ac:spMkLst>
            <pc:docMk/>
            <pc:sldMk cId="925019653" sldId="260"/>
            <ac:spMk id="2" creationId="{AE5514DE-0AE5-4EA4-B7BA-C997393F72CA}"/>
          </ac:spMkLst>
        </pc:spChg>
        <pc:spChg chg="mod">
          <ac:chgData name="Chen Terrence Yaqi" userId="fd0f25ab-de92-4d97-a7d9-a0180993481a" providerId="ADAL" clId="{D7ABF46B-58F9-5DFC-B5BE-4143A237EFDE}" dt="2026-07-27T02:10:31.480" v="103" actId="20577"/>
          <ac:spMkLst>
            <pc:docMk/>
            <pc:sldMk cId="925019653" sldId="260"/>
            <ac:spMk id="9" creationId="{F89D742D-8357-4334-B5F1-8E3C0EE3E59C}"/>
          </ac:spMkLst>
        </pc:spChg>
        <pc:spChg chg="mod">
          <ac:chgData name="Chen Terrence Yaqi" userId="fd0f25ab-de92-4d97-a7d9-a0180993481a" providerId="ADAL" clId="{D7ABF46B-58F9-5DFC-B5BE-4143A237EFDE}" dt="2026-07-27T02:10:22.336" v="91" actId="20577"/>
          <ac:spMkLst>
            <pc:docMk/>
            <pc:sldMk cId="925019653" sldId="260"/>
            <ac:spMk id="16" creationId="{682BAE53-2915-488D-B181-F43E743256FD}"/>
          </ac:spMkLst>
        </pc:spChg>
      </pc:sldChg>
      <pc:sldChg chg="modSp mod">
        <pc:chgData name="Chen Terrence Yaqi" userId="fd0f25ab-de92-4d97-a7d9-a0180993481a" providerId="ADAL" clId="{D7ABF46B-58F9-5DFC-B5BE-4143A237EFDE}" dt="2026-07-27T02:11:17.767" v="107" actId="14100"/>
        <pc:sldMkLst>
          <pc:docMk/>
          <pc:sldMk cId="599530101" sldId="261"/>
        </pc:sldMkLst>
        <pc:spChg chg="mod">
          <ac:chgData name="Chen Terrence Yaqi" userId="fd0f25ab-de92-4d97-a7d9-a0180993481a" providerId="ADAL" clId="{D7ABF46B-58F9-5DFC-B5BE-4143A237EFDE}" dt="2026-07-27T02:11:17.767" v="107" actId="14100"/>
          <ac:spMkLst>
            <pc:docMk/>
            <pc:sldMk cId="599530101" sldId="261"/>
            <ac:spMk id="2" creationId="{34D552F7-8950-438A-8772-EA5E7DF09267}"/>
          </ac:spMkLst>
        </pc:spChg>
        <pc:picChg chg="mod">
          <ac:chgData name="Chen Terrence Yaqi" userId="fd0f25ab-de92-4d97-a7d9-a0180993481a" providerId="ADAL" clId="{D7ABF46B-58F9-5DFC-B5BE-4143A237EFDE}" dt="2026-07-27T02:11:10.567" v="106" actId="14100"/>
          <ac:picMkLst>
            <pc:docMk/>
            <pc:sldMk cId="599530101" sldId="261"/>
            <ac:picMk id="14" creationId="{00000000-0000-0000-0000-000000000000}"/>
          </ac:picMkLst>
        </pc:picChg>
      </pc:sldChg>
      <pc:sldChg chg="modSp mod">
        <pc:chgData name="Chen Terrence Yaqi" userId="fd0f25ab-de92-4d97-a7d9-a0180993481a" providerId="ADAL" clId="{D7ABF46B-58F9-5DFC-B5BE-4143A237EFDE}" dt="2026-07-27T06:57:20.441" v="1205"/>
        <pc:sldMkLst>
          <pc:docMk/>
          <pc:sldMk cId="1393030118" sldId="263"/>
        </pc:sldMkLst>
        <pc:spChg chg="mod">
          <ac:chgData name="Chen Terrence Yaqi" userId="fd0f25ab-de92-4d97-a7d9-a0180993481a" providerId="ADAL" clId="{D7ABF46B-58F9-5DFC-B5BE-4143A237EFDE}" dt="2026-07-27T02:00:45.835" v="15" actId="20577"/>
          <ac:spMkLst>
            <pc:docMk/>
            <pc:sldMk cId="1393030118" sldId="263"/>
            <ac:spMk id="2" creationId="{1CD4F976-F6EC-44DF-A807-6C4723A99DF5}"/>
          </ac:spMkLst>
        </pc:spChg>
        <pc:spChg chg="mod">
          <ac:chgData name="Chen Terrence Yaqi" userId="fd0f25ab-de92-4d97-a7d9-a0180993481a" providerId="ADAL" clId="{D7ABF46B-58F9-5DFC-B5BE-4143A237EFDE}" dt="2026-07-27T06:57:20.441" v="1205"/>
          <ac:spMkLst>
            <pc:docMk/>
            <pc:sldMk cId="1393030118" sldId="263"/>
            <ac:spMk id="23" creationId="{FF9AD598-DE59-4A7A-B349-03A9D8969546}"/>
          </ac:spMkLst>
        </pc:spChg>
      </pc:sldChg>
      <pc:sldChg chg="modSp mod">
        <pc:chgData name="Chen Terrence Yaqi" userId="fd0f25ab-de92-4d97-a7d9-a0180993481a" providerId="ADAL" clId="{D7ABF46B-58F9-5DFC-B5BE-4143A237EFDE}" dt="2026-07-27T06:14:49.536" v="1178" actId="20577"/>
        <pc:sldMkLst>
          <pc:docMk/>
          <pc:sldMk cId="374037967" sldId="264"/>
        </pc:sldMkLst>
        <pc:spChg chg="mod">
          <ac:chgData name="Chen Terrence Yaqi" userId="fd0f25ab-de92-4d97-a7d9-a0180993481a" providerId="ADAL" clId="{D7ABF46B-58F9-5DFC-B5BE-4143A237EFDE}" dt="2026-07-27T02:01:19.245" v="41" actId="20577"/>
          <ac:spMkLst>
            <pc:docMk/>
            <pc:sldMk cId="374037967" sldId="264"/>
            <ac:spMk id="2" creationId="{6A6D6418-72D1-4ACA-9566-EF14A145E39C}"/>
          </ac:spMkLst>
        </pc:spChg>
        <pc:spChg chg="mod">
          <ac:chgData name="Chen Terrence Yaqi" userId="fd0f25ab-de92-4d97-a7d9-a0180993481a" providerId="ADAL" clId="{D7ABF46B-58F9-5DFC-B5BE-4143A237EFDE}" dt="2026-07-27T06:14:49.536" v="1178" actId="20577"/>
          <ac:spMkLst>
            <pc:docMk/>
            <pc:sldMk cId="374037967" sldId="264"/>
            <ac:spMk id="18" creationId="{CC5091CA-090F-44C8-84B4-59C645802CE4}"/>
          </ac:spMkLst>
        </pc:spChg>
      </pc:sldChg>
      <pc:sldChg chg="del">
        <pc:chgData name="Chen Terrence Yaqi" userId="fd0f25ab-de92-4d97-a7d9-a0180993481a" providerId="ADAL" clId="{D7ABF46B-58F9-5DFC-B5BE-4143A237EFDE}" dt="2026-07-27T02:01:23.107" v="42" actId="2696"/>
        <pc:sldMkLst>
          <pc:docMk/>
          <pc:sldMk cId="364969026" sldId="265"/>
        </pc:sldMkLst>
      </pc:sldChg>
      <pc:sldChg chg="delSp modSp mod">
        <pc:chgData name="Chen Terrence Yaqi" userId="fd0f25ab-de92-4d97-a7d9-a0180993481a" providerId="ADAL" clId="{D7ABF46B-58F9-5DFC-B5BE-4143A237EFDE}" dt="2026-07-27T05:46:50.754" v="802" actId="20577"/>
        <pc:sldMkLst>
          <pc:docMk/>
          <pc:sldMk cId="1134469503" sldId="267"/>
        </pc:sldMkLst>
        <pc:spChg chg="mod">
          <ac:chgData name="Chen Terrence Yaqi" userId="fd0f25ab-de92-4d97-a7d9-a0180993481a" providerId="ADAL" clId="{D7ABF46B-58F9-5DFC-B5BE-4143A237EFDE}" dt="2026-07-27T05:46:50.754" v="802" actId="20577"/>
          <ac:spMkLst>
            <pc:docMk/>
            <pc:sldMk cId="1134469503" sldId="267"/>
            <ac:spMk id="2" creationId="{2644E1FD-5389-4755-82AE-D391E79E8072}"/>
          </ac:spMkLst>
        </pc:spChg>
        <pc:spChg chg="del">
          <ac:chgData name="Chen Terrence Yaqi" userId="fd0f25ab-de92-4d97-a7d9-a0180993481a" providerId="ADAL" clId="{D7ABF46B-58F9-5DFC-B5BE-4143A237EFDE}" dt="2026-07-27T02:02:08.260" v="54" actId="478"/>
          <ac:spMkLst>
            <pc:docMk/>
            <pc:sldMk cId="1134469503" sldId="267"/>
            <ac:spMk id="25" creationId="{60065AFE-1F5E-494E-AC57-000A6E61EABD}"/>
          </ac:spMkLst>
        </pc:spChg>
        <pc:spChg chg="mod">
          <ac:chgData name="Chen Terrence Yaqi" userId="fd0f25ab-de92-4d97-a7d9-a0180993481a" providerId="ADAL" clId="{D7ABF46B-58F9-5DFC-B5BE-4143A237EFDE}" dt="2026-07-27T02:02:13.788" v="55" actId="1076"/>
          <ac:spMkLst>
            <pc:docMk/>
            <pc:sldMk cId="1134469503" sldId="267"/>
            <ac:spMk id="26" creationId="{6DB34720-8BDA-421E-968E-9193ACC74FEF}"/>
          </ac:spMkLst>
        </pc:spChg>
      </pc:sldChg>
    </pc:docChg>
  </pc:docChgLst>
  <pc:docChgLst>
    <pc:chgData name="Chen Terrence Yaqi" userId="fd0f25ab-de92-4d97-a7d9-a0180993481a" providerId="ADAL" clId="{34B68806-6A8F-3233-95F1-35ED254FE753}"/>
    <pc:docChg chg="modSld">
      <pc:chgData name="Chen Terrence Yaqi" userId="fd0f25ab-de92-4d97-a7d9-a0180993481a" providerId="ADAL" clId="{34B68806-6A8F-3233-95F1-35ED254FE753}" dt="2026-07-27T04:40:29.044" v="17" actId="20577"/>
      <pc:docMkLst>
        <pc:docMk/>
      </pc:docMkLst>
      <pc:sldChg chg="modSp mod">
        <pc:chgData name="Chen Terrence Yaqi" userId="fd0f25ab-de92-4d97-a7d9-a0180993481a" providerId="ADAL" clId="{34B68806-6A8F-3233-95F1-35ED254FE753}" dt="2026-07-27T04:40:29.044" v="17" actId="20577"/>
        <pc:sldMkLst>
          <pc:docMk/>
          <pc:sldMk cId="397194232" sldId="259"/>
        </pc:sldMkLst>
        <pc:spChg chg="mod">
          <ac:chgData name="Chen Terrence Yaqi" userId="fd0f25ab-de92-4d97-a7d9-a0180993481a" providerId="ADAL" clId="{34B68806-6A8F-3233-95F1-35ED254FE753}" dt="2026-07-27T04:40:29.044" v="17" actId="20577"/>
          <ac:spMkLst>
            <pc:docMk/>
            <pc:sldMk cId="397194232" sldId="259"/>
            <ac:spMk id="8" creationId="{4486B5D1-5945-4FDF-A57B-15EB539AA5AB}"/>
          </ac:spMkLst>
        </pc:spChg>
      </pc:sldChg>
    </pc:docChg>
  </pc:docChgLst>
  <pc:docChgLst>
    <pc:chgData name="Chen Terrence Yaqi" userId="fd0f25ab-de92-4d97-a7d9-a0180993481a" providerId="ADAL" clId="{F709EA44-118B-4F41-90C6-B7ED3FF3B9C0}"/>
    <pc:docChg chg="custSel modSld">
      <pc:chgData name="Chen Terrence Yaqi" userId="fd0f25ab-de92-4d97-a7d9-a0180993481a" providerId="ADAL" clId="{F709EA44-118B-4F41-90C6-B7ED3FF3B9C0}" dt="2026-07-26T15:38:10.079" v="74" actId="1036"/>
      <pc:docMkLst>
        <pc:docMk/>
      </pc:docMkLst>
      <pc:sldChg chg="modSp mod">
        <pc:chgData name="Chen Terrence Yaqi" userId="fd0f25ab-de92-4d97-a7d9-a0180993481a" providerId="ADAL" clId="{F709EA44-118B-4F41-90C6-B7ED3FF3B9C0}" dt="2026-07-26T15:38:10.079" v="74" actId="1036"/>
        <pc:sldMkLst>
          <pc:docMk/>
          <pc:sldMk cId="599530101" sldId="258"/>
        </pc:sldMkLst>
        <pc:spChg chg="mod">
          <ac:chgData name="Chen Terrence Yaqi" userId="fd0f25ab-de92-4d97-a7d9-a0180993481a" providerId="ADAL" clId="{F709EA44-118B-4F41-90C6-B7ED3FF3B9C0}" dt="2026-07-26T15:36:13.275" v="73" actId="1076"/>
          <ac:spMkLst>
            <pc:docMk/>
            <pc:sldMk cId="599530101" sldId="258"/>
            <ac:spMk id="10" creationId="{81EBF185-5F73-45A5-9AB6-7A2E69A2E9FA}"/>
          </ac:spMkLst>
        </pc:spChg>
        <pc:picChg chg="mod modCrop">
          <ac:chgData name="Chen Terrence Yaqi" userId="fd0f25ab-de92-4d97-a7d9-a0180993481a" providerId="ADAL" clId="{F709EA44-118B-4F41-90C6-B7ED3FF3B9C0}" dt="2026-07-26T15:38:10.079" v="74" actId="1036"/>
          <ac:picMkLst>
            <pc:docMk/>
            <pc:sldMk cId="599530101" sldId="258"/>
            <ac:picMk id="26" creationId="{00000000-0000-0000-0000-000000000000}"/>
          </ac:picMkLst>
        </pc:picChg>
      </pc:sldChg>
      <pc:sldChg chg="delSp mod">
        <pc:chgData name="Chen Terrence Yaqi" userId="fd0f25ab-de92-4d97-a7d9-a0180993481a" providerId="ADAL" clId="{F709EA44-118B-4F41-90C6-B7ED3FF3B9C0}" dt="2026-07-26T15:31:37.377" v="55" actId="478"/>
        <pc:sldMkLst>
          <pc:docMk/>
          <pc:sldMk cId="925019653" sldId="260"/>
        </pc:sldMkLst>
        <pc:spChg chg="del">
          <ac:chgData name="Chen Terrence Yaqi" userId="fd0f25ab-de92-4d97-a7d9-a0180993481a" providerId="ADAL" clId="{F709EA44-118B-4F41-90C6-B7ED3FF3B9C0}" dt="2026-07-26T15:31:37.377" v="55" actId="478"/>
          <ac:spMkLst>
            <pc:docMk/>
            <pc:sldMk cId="925019653" sldId="260"/>
            <ac:spMk id="19" creationId="{742F0F64-A79A-412C-8235-766D0454491B}"/>
          </ac:spMkLst>
        </pc:spChg>
      </pc:sldChg>
      <pc:sldChg chg="modSp mod">
        <pc:chgData name="Chen Terrence Yaqi" userId="fd0f25ab-de92-4d97-a7d9-a0180993481a" providerId="ADAL" clId="{F709EA44-118B-4F41-90C6-B7ED3FF3B9C0}" dt="2026-07-26T15:10:11.794" v="54" actId="403"/>
        <pc:sldMkLst>
          <pc:docMk/>
          <pc:sldMk cId="584264589" sldId="262"/>
        </pc:sldMkLst>
        <pc:spChg chg="mod">
          <ac:chgData name="Chen Terrence Yaqi" userId="fd0f25ab-de92-4d97-a7d9-a0180993481a" providerId="ADAL" clId="{F709EA44-118B-4F41-90C6-B7ED3FF3B9C0}" dt="2026-07-26T15:10:11.794" v="54" actId="403"/>
          <ac:spMkLst>
            <pc:docMk/>
            <pc:sldMk cId="584264589" sldId="262"/>
            <ac:spMk id="2" creationId="{4ED1C83C-7EF4-4EF0-8AC1-E96BD87B962A}"/>
          </ac:spMkLst>
        </pc:spChg>
      </pc:sldChg>
      <pc:sldChg chg="modSp mod">
        <pc:chgData name="Chen Terrence Yaqi" userId="fd0f25ab-de92-4d97-a7d9-a0180993481a" providerId="ADAL" clId="{F709EA44-118B-4F41-90C6-B7ED3FF3B9C0}" dt="2026-07-26T15:08:51.597" v="21" actId="403"/>
        <pc:sldMkLst>
          <pc:docMk/>
          <pc:sldMk cId="1393030118" sldId="263"/>
        </pc:sldMkLst>
        <pc:spChg chg="mod">
          <ac:chgData name="Chen Terrence Yaqi" userId="fd0f25ab-de92-4d97-a7d9-a0180993481a" providerId="ADAL" clId="{F709EA44-118B-4F41-90C6-B7ED3FF3B9C0}" dt="2026-07-26T15:08:51.597" v="21" actId="403"/>
          <ac:spMkLst>
            <pc:docMk/>
            <pc:sldMk cId="1393030118" sldId="263"/>
            <ac:spMk id="2" creationId="{1CD4F976-F6EC-44DF-A807-6C4723A99DF5}"/>
          </ac:spMkLst>
        </pc:spChg>
      </pc:sldChg>
      <pc:sldChg chg="modSp mod">
        <pc:chgData name="Chen Terrence Yaqi" userId="fd0f25ab-de92-4d97-a7d9-a0180993481a" providerId="ADAL" clId="{F709EA44-118B-4F41-90C6-B7ED3FF3B9C0}" dt="2026-07-26T15:09:03.812" v="25" actId="403"/>
        <pc:sldMkLst>
          <pc:docMk/>
          <pc:sldMk cId="374037967" sldId="264"/>
        </pc:sldMkLst>
        <pc:spChg chg="mod">
          <ac:chgData name="Chen Terrence Yaqi" userId="fd0f25ab-de92-4d97-a7d9-a0180993481a" providerId="ADAL" clId="{F709EA44-118B-4F41-90C6-B7ED3FF3B9C0}" dt="2026-07-26T15:09:03.812" v="25" actId="403"/>
          <ac:spMkLst>
            <pc:docMk/>
            <pc:sldMk cId="374037967" sldId="264"/>
            <ac:spMk id="2" creationId="{6A6D6418-72D1-4ACA-9566-EF14A145E39C}"/>
          </ac:spMkLst>
        </pc:spChg>
      </pc:sldChg>
      <pc:sldChg chg="modSp mod">
        <pc:chgData name="Chen Terrence Yaqi" userId="fd0f25ab-de92-4d97-a7d9-a0180993481a" providerId="ADAL" clId="{F709EA44-118B-4F41-90C6-B7ED3FF3B9C0}" dt="2026-07-26T15:09:44.186" v="42" actId="14100"/>
        <pc:sldMkLst>
          <pc:docMk/>
          <pc:sldMk cId="599530101" sldId="266"/>
        </pc:sldMkLst>
        <pc:spChg chg="mod">
          <ac:chgData name="Chen Terrence Yaqi" userId="fd0f25ab-de92-4d97-a7d9-a0180993481a" providerId="ADAL" clId="{F709EA44-118B-4F41-90C6-B7ED3FF3B9C0}" dt="2026-07-26T15:09:29.766" v="38" actId="313"/>
          <ac:spMkLst>
            <pc:docMk/>
            <pc:sldMk cId="599530101" sldId="266"/>
            <ac:spMk id="2" creationId="{34D552F7-8950-438A-8772-EA5E7DF09267}"/>
          </ac:spMkLst>
        </pc:spChg>
        <pc:picChg chg="mod">
          <ac:chgData name="Chen Terrence Yaqi" userId="fd0f25ab-de92-4d97-a7d9-a0180993481a" providerId="ADAL" clId="{F709EA44-118B-4F41-90C6-B7ED3FF3B9C0}" dt="2026-07-26T15:09:44.186" v="42" actId="14100"/>
          <ac:picMkLst>
            <pc:docMk/>
            <pc:sldMk cId="599530101" sldId="266"/>
            <ac:picMk id="1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everyone. We are Team 5, and our proposed project is </a:t>
            </a:r>
            <a:r>
              <a:rPr lang="en-US" dirty="0"/>
              <a:t>called </a:t>
            </a:r>
            <a:r>
              <a:rPr dirty="0" err="1"/>
              <a:t>FoodMind</a:t>
            </a:r>
            <a:r>
              <a:rPr dirty="0"/>
              <a:t>, a meal-decision and food-insight platform.</a:t>
            </a:r>
          </a:p>
          <a:p>
            <a:endParaRPr dirty="0"/>
          </a:p>
          <a:p>
            <a:r>
              <a:rPr dirty="0"/>
              <a:t>Before explaining the system, I would like to show where our idea came from.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real post from </a:t>
            </a:r>
            <a:r>
              <a:rPr dirty="0" err="1"/>
              <a:t>Xiaohongshu</a:t>
            </a:r>
            <a:r>
              <a:rPr dirty="0"/>
              <a:t>, a Chinese social media platform. Its title roughly means, “My friends are serious foodies, so I created a shared document.”</a:t>
            </a:r>
          </a:p>
          <a:p>
            <a:endParaRPr dirty="0"/>
          </a:p>
          <a:p>
            <a:r>
              <a:rPr dirty="0"/>
              <a:t>The blogger used to order whatever looked appealing. After seeing a widely discussed story about a food vendor, however, they became more conscious of food safety. They began checking whether a restaurant had a </a:t>
            </a:r>
            <a:r>
              <a:rPr lang="en-SG" dirty="0"/>
              <a:t>good hygienic environment,</a:t>
            </a:r>
            <a:r>
              <a:rPr dirty="0"/>
              <a:t> what its kitchen looked like, and what delivery customers said.</a:t>
            </a:r>
          </a:p>
          <a:p>
            <a:endParaRPr dirty="0"/>
          </a:p>
          <a:p>
            <a:r>
              <a:rPr dirty="0"/>
              <a:t>Every meal decision became a research task. It took a lot of time and mental energy, but the blogger still sometimes ordered disappointing food. They even joked that they </a:t>
            </a:r>
            <a:r>
              <a:rPr lang="en-US" dirty="0"/>
              <a:t>should </a:t>
            </a:r>
            <a:r>
              <a:rPr dirty="0"/>
              <a:t>evolve beyond the need to eat</a:t>
            </a:r>
            <a:r>
              <a:rPr lang="en-US" dirty="0"/>
              <a:t> food</a:t>
            </a:r>
            <a:r>
              <a:rPr dirty="0"/>
              <a:t>.</a:t>
            </a:r>
          </a:p>
          <a:p>
            <a:endParaRPr dirty="0"/>
          </a:p>
          <a:p>
            <a:r>
              <a:rPr dirty="0"/>
              <a:t>One day, a friend who knew a lot about food recommended a restaurant in their group chat. The blogger tried it and found the food excellent. The group then created a shared food document to preserve good meals, restaurants and drinks.</a:t>
            </a:r>
          </a:p>
          <a:p>
            <a:endParaRPr dirty="0"/>
          </a:p>
          <a:p>
            <a:r>
              <a:rPr dirty="0"/>
              <a:t>This is one real-life example.</a:t>
            </a:r>
          </a:p>
          <a:p>
            <a:endParaRPr dirty="0"/>
          </a:p>
          <a:p>
            <a:r>
              <a:rPr dirty="0"/>
              <a:t>[Sources]</a:t>
            </a:r>
          </a:p>
          <a:p>
            <a:r>
              <a:rPr dirty="0"/>
              <a:t>- User-provided </a:t>
            </a:r>
            <a:r>
              <a:rPr dirty="0" err="1"/>
              <a:t>Xiaohongshu</a:t>
            </a:r>
            <a:r>
              <a:rPr dirty="0"/>
              <a:t> post and shared-document screenshots from the </a:t>
            </a:r>
            <a:r>
              <a:rPr dirty="0" err="1"/>
              <a:t>FoodMind</a:t>
            </a:r>
            <a:r>
              <a:rPr dirty="0"/>
              <a:t> proposal source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let look at this table. This is their shared document. The first row is June Eleven Lunch. Group Member B ate this one. Group Member C ate this one. Member D ate this one. And so on…</a:t>
            </a:r>
          </a:p>
          <a:p>
            <a:r>
              <a:rPr lang="en-US" dirty="0"/>
              <a:t>This document looks very useful so far. But it still need people to manually maintain it. This will cost a lot of time. And once the number of records become large, it becomes difficult for them to retrieve. </a:t>
            </a:r>
            <a:endParaRPr dirty="0"/>
          </a:p>
          <a:p>
            <a:r>
              <a:rPr dirty="0"/>
              <a:t>Our goal is to reuse </a:t>
            </a:r>
            <a:r>
              <a:rPr lang="en-US" dirty="0"/>
              <a:t>this </a:t>
            </a:r>
            <a:r>
              <a:rPr dirty="0"/>
              <a:t>trusted </a:t>
            </a:r>
            <a:r>
              <a:rPr lang="en-US" dirty="0" err="1"/>
              <a:t>datasource</a:t>
            </a:r>
            <a:r>
              <a:rPr lang="en-US" dirty="0"/>
              <a:t> </a:t>
            </a:r>
            <a:r>
              <a:rPr dirty="0"/>
              <a:t>and support faster</a:t>
            </a:r>
            <a:r>
              <a:rPr lang="en-US" dirty="0"/>
              <a:t> </a:t>
            </a:r>
            <a:r>
              <a:rPr dirty="0"/>
              <a:t>and more </a:t>
            </a:r>
            <a:r>
              <a:rPr dirty="0" err="1"/>
              <a:t>personalised</a:t>
            </a:r>
            <a:r>
              <a:rPr dirty="0"/>
              <a:t> decisions.</a:t>
            </a:r>
          </a:p>
          <a:p>
            <a:endParaRPr dirty="0"/>
          </a:p>
          <a:p>
            <a:r>
              <a:rPr dirty="0"/>
              <a:t>[Sources]</a:t>
            </a:r>
          </a:p>
          <a:p>
            <a:r>
              <a:rPr dirty="0"/>
              <a:t>- User-provided shared food-record screenshot from the </a:t>
            </a:r>
            <a:r>
              <a:rPr dirty="0" err="1"/>
              <a:t>FoodMind</a:t>
            </a:r>
            <a:r>
              <a:rPr dirty="0"/>
              <a:t> proposal source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general workflow: </a:t>
            </a:r>
            <a:r>
              <a:rPr dirty="0"/>
              <a:t>record and share, retrieve, filter and rank, explain, choose or reject, rate and </a:t>
            </a:r>
            <a:r>
              <a:rPr lang="en-GB" dirty="0"/>
              <a:t>analyse</a:t>
            </a:r>
            <a:r>
              <a:rPr dirty="0"/>
              <a:t>.</a:t>
            </a:r>
          </a:p>
          <a:p>
            <a:endParaRPr dirty="0"/>
          </a:p>
          <a:p>
            <a:r>
              <a:rPr dirty="0"/>
              <a:t>Users can record food and drinks, keep posts private or share them with a trusted group. They can request recommendations, explore </a:t>
            </a:r>
            <a:r>
              <a:rPr lang="en-GB" dirty="0"/>
              <a:t>authorised</a:t>
            </a:r>
            <a:r>
              <a:rPr dirty="0"/>
              <a:t> content through a chatbot, and view personal insights.</a:t>
            </a:r>
          </a:p>
          <a:p>
            <a:endParaRPr dirty="0"/>
          </a:p>
          <a:p>
            <a:r>
              <a:rPr dirty="0"/>
              <a:t>The loop preserves useful experience and turns every explicit decision into feedback for later analysis and offline model updates.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how does this work?</a:t>
            </a:r>
          </a:p>
          <a:p>
            <a:r>
              <a:rPr lang="en-US" dirty="0"/>
              <a:t>First, the user select some conditions(</a:t>
            </a:r>
            <a:r>
              <a:rPr lang="en-SG" sz="1200" b="0" i="0" dirty="0">
                <a:solidFill>
                  <a:srgbClr val="667174"/>
                </a:solidFill>
                <a:latin typeface="Arial"/>
                <a:ea typeface="Arial"/>
                <a:cs typeface="Arial"/>
              </a:rPr>
              <a:t>Meal type, budget, area, so on…)</a:t>
            </a:r>
          </a:p>
          <a:p>
            <a:r>
              <a:rPr lang="en-SG" sz="1200" b="0" i="0" dirty="0">
                <a:solidFill>
                  <a:srgbClr val="667174"/>
                </a:solidFill>
                <a:latin typeface="Arial"/>
                <a:ea typeface="Arial"/>
                <a:cs typeface="Arial"/>
              </a:rPr>
              <a:t>Then the system will use these things to filter out some candidates.</a:t>
            </a:r>
          </a:p>
          <a:p>
            <a:r>
              <a:rPr lang="en-SG" sz="1200" b="0" i="0" dirty="0">
                <a:solidFill>
                  <a:srgbClr val="667174"/>
                </a:solidFill>
                <a:latin typeface="Arial"/>
                <a:ea typeface="Arial"/>
                <a:cs typeface="Arial"/>
              </a:rPr>
              <a:t>The machine learning model will choose the best result.</a:t>
            </a:r>
          </a:p>
          <a:p>
            <a:r>
              <a:rPr lang="en-SG" sz="1200" b="0" i="0" dirty="0">
                <a:solidFill>
                  <a:srgbClr val="667174"/>
                </a:solidFill>
                <a:latin typeface="Arial"/>
                <a:ea typeface="Arial"/>
                <a:cs typeface="Arial"/>
              </a:rPr>
              <a:t>At last, The agent explains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use-case diagram translates our proposed solution into a clear functional scope.</a:t>
            </a:r>
          </a:p>
          <a:p>
            <a:endParaRPr dirty="0"/>
          </a:p>
          <a:p>
            <a:r>
              <a:rPr dirty="0"/>
              <a:t>For normal users, the flow begins with registration, preferences and personal food records. Users can then manage trusted groups, browse </a:t>
            </a:r>
            <a:r>
              <a:rPr dirty="0" err="1"/>
              <a:t>authorised</a:t>
            </a:r>
            <a:r>
              <a:rPr dirty="0"/>
              <a:t> group content, generate recommendations, accept or reject them, request cooking plans, use the </a:t>
            </a:r>
            <a:r>
              <a:rPr dirty="0" err="1"/>
              <a:t>FoodMind</a:t>
            </a:r>
            <a:r>
              <a:rPr dirty="0"/>
              <a:t> chatbot, and review weekly recaps and dashboards.</a:t>
            </a:r>
          </a:p>
          <a:p>
            <a:endParaRPr dirty="0"/>
          </a:p>
          <a:p>
            <a:r>
              <a:rPr dirty="0"/>
              <a:t>The Admin path is separate and limited to account administration. This separation keeps normal user data and administrative functions under different permission rules.</a:t>
            </a:r>
          </a:p>
          <a:p>
            <a:endParaRPr dirty="0"/>
          </a:p>
          <a:p>
            <a:r>
              <a:rPr dirty="0"/>
              <a:t>The diagram also makes the three AI entry points visible: food recommendation, cooking planning and platform exploration. These use cases define the integrated MVP that the remaining slides explain.</a:t>
            </a:r>
          </a:p>
          <a:p>
            <a:endParaRPr dirty="0"/>
          </a:p>
          <a:p>
            <a:r>
              <a:rPr dirty="0"/>
              <a:t>[Sources]</a:t>
            </a:r>
          </a:p>
          <a:p>
            <a:r>
              <a:rPr dirty="0"/>
              <a:t>- User-provided </a:t>
            </a:r>
            <a:r>
              <a:rPr dirty="0" err="1"/>
              <a:t>FoodMind</a:t>
            </a:r>
            <a:r>
              <a:rPr dirty="0"/>
              <a:t> use-case diagram, image(1).</a:t>
            </a:r>
            <a:r>
              <a:rPr dirty="0" err="1"/>
              <a:t>png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FoodMind</a:t>
            </a:r>
            <a:r>
              <a:rPr dirty="0"/>
              <a:t> has three AI entry points: recommendation, cooking and platform exploration.</a:t>
            </a:r>
          </a:p>
          <a:p>
            <a:endParaRPr dirty="0"/>
          </a:p>
          <a:p>
            <a:r>
              <a:rPr dirty="0"/>
              <a:t>The Recommendation Agent calls retrieval, filtering and ranking tools, then explains the result. The Cooking Planner Agent uses ingredients, time, budget and dietary rules to retrieve a seed recipe and produce practical steps.</a:t>
            </a:r>
          </a:p>
          <a:p>
            <a:endParaRPr dirty="0"/>
          </a:p>
          <a:p>
            <a:r>
              <a:rPr dirty="0"/>
              <a:t>The independent Chatbot uses three Agents. Its Orchestrator delegates to the Platform Search Agent or Content Summary Agent. They search, </a:t>
            </a:r>
            <a:r>
              <a:rPr dirty="0" err="1"/>
              <a:t>summarise</a:t>
            </a:r>
            <a:r>
              <a:rPr dirty="0"/>
              <a:t> or compare </a:t>
            </a:r>
            <a:r>
              <a:rPr dirty="0" err="1"/>
              <a:t>authorised</a:t>
            </a:r>
            <a:r>
              <a:rPr dirty="0"/>
              <a:t> Meal Notes, Food Products and Places while keeping source references.</a:t>
            </a:r>
          </a:p>
          <a:p>
            <a:endParaRPr dirty="0"/>
          </a:p>
          <a:p>
            <a:r>
              <a:rPr dirty="0" err="1"/>
              <a:t>LangGraph</a:t>
            </a:r>
            <a:r>
              <a:rPr dirty="0"/>
              <a:t> manages state, routing, timeouts and traces. Agents use only allow-listed tools, cannot access PostgreSQL directly and cannot cross into another AI workflow. This keeps the system controlled and testable.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Hybrid Model combines rules, Collaborative Filtering and Logistic Regression.</a:t>
            </a:r>
          </a:p>
          <a:p>
            <a:endParaRPr dirty="0"/>
          </a:p>
          <a:p>
            <a:r>
              <a:rPr dirty="0"/>
              <a:t>We first build a user-meal interaction matrix. User-based CF asks, “What do users with </a:t>
            </a:r>
            <a:r>
              <a:rPr dirty="0" err="1"/>
              <a:t>behaviour</a:t>
            </a:r>
            <a:r>
              <a:rPr dirty="0"/>
              <a:t> similar to mine enjoy?” Item-based CF asks, “Is this candidate </a:t>
            </a:r>
            <a:r>
              <a:rPr dirty="0" err="1"/>
              <a:t>behaviourally</a:t>
            </a:r>
            <a:r>
              <a:rPr dirty="0"/>
              <a:t> similar to meals I liked?”</a:t>
            </a:r>
          </a:p>
          <a:p>
            <a:endParaRPr dirty="0"/>
          </a:p>
          <a:p>
            <a:r>
              <a:rPr dirty="0"/>
              <a:t>Both CF scores become Logistic Regression features. Other features include cuisine match, spice compatibility, price, location, meal time, ratings and repetition.</a:t>
            </a:r>
          </a:p>
          <a:p>
            <a:endParaRPr dirty="0"/>
          </a:p>
          <a:p>
            <a:r>
              <a:rPr dirty="0"/>
              <a:t>Logistic Regression learns the importance of these features and estimates the probability that the user will accept each valid candidate. We therefore avoid guessing a fixed CF-to-LR ratio.</a:t>
            </a:r>
          </a:p>
          <a:p>
            <a:endParaRPr dirty="0"/>
          </a:p>
          <a:p>
            <a:r>
              <a:rPr dirty="0"/>
              <a:t>For a new user or meal, CF may be unavailable. Availability flags identify missing scores, so the model falls back to preferences, context, seed data and rules. Missing CF data is not treated as dislike.</a:t>
            </a:r>
          </a:p>
          <a:p>
            <a:endParaRPr dirty="0"/>
          </a:p>
          <a:p>
            <a:r>
              <a:rPr dirty="0"/>
              <a:t>Verified evidence and strong positive model contributions become reason codes. The Agent explains these codes but cannot invent evidence.</a:t>
            </a:r>
          </a:p>
          <a:p>
            <a:endParaRPr dirty="0"/>
          </a:p>
          <a:p>
            <a:r>
              <a:rPr dirty="0"/>
              <a:t>We will evaluate the classifier with a confusion matrix, precision, recall, F1 and ROC-AUC. Any simulated prototype data will be disclosed.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Android uses Kotlin and Jetpack Compose, while Web uses React and TypeScript. Both provide the same capabilities through one Spring Boot REST API.</a:t>
            </a:r>
          </a:p>
          <a:p>
            <a:endParaRPr dirty="0"/>
          </a:p>
          <a:p>
            <a:r>
              <a:rPr dirty="0"/>
              <a:t>Spring Boot is the only public business API. It owns authentication, </a:t>
            </a:r>
            <a:r>
              <a:rPr dirty="0" err="1"/>
              <a:t>authorisation</a:t>
            </a:r>
            <a:r>
              <a:rPr dirty="0"/>
              <a:t>, rules, search, analytics and database writes. PostgreSQL is the system of record. S3 stores optional photos, while PostgreSQL stores their keys and metadata.</a:t>
            </a:r>
          </a:p>
          <a:p>
            <a:endParaRPr dirty="0"/>
          </a:p>
          <a:p>
            <a:r>
              <a:rPr dirty="0" err="1"/>
              <a:t>FastAPI</a:t>
            </a:r>
            <a:r>
              <a:rPr dirty="0"/>
              <a:t> is private and runs </a:t>
            </a:r>
            <a:r>
              <a:rPr dirty="0" err="1"/>
              <a:t>LangGraph</a:t>
            </a:r>
            <a:r>
              <a:rPr dirty="0"/>
              <a:t> and scikit-learn. Spring Boot sends only </a:t>
            </a:r>
            <a:r>
              <a:rPr dirty="0" err="1"/>
              <a:t>authorised</a:t>
            </a:r>
            <a:r>
              <a:rPr dirty="0"/>
              <a:t> context. </a:t>
            </a:r>
            <a:r>
              <a:rPr dirty="0" err="1"/>
              <a:t>Pydantic</a:t>
            </a:r>
            <a:r>
              <a:rPr dirty="0"/>
              <a:t> validates structured AI outputs, and Spring Boot separately validates permissions, business rules and persistence.</a:t>
            </a:r>
          </a:p>
          <a:p>
            <a:endParaRPr dirty="0"/>
          </a:p>
          <a:p>
            <a:r>
              <a:rPr dirty="0"/>
              <a:t>Users therefore cannot call Agents directly, and Agents cannot retrieve arbitrary private data or write to the database.</a:t>
            </a:r>
          </a:p>
          <a:p>
            <a:endParaRPr dirty="0"/>
          </a:p>
          <a:p>
            <a:r>
              <a:rPr dirty="0"/>
              <a:t>Web runs on </a:t>
            </a:r>
            <a:r>
              <a:rPr dirty="0" err="1"/>
              <a:t>Vercel</a:t>
            </a:r>
            <a:r>
              <a:rPr dirty="0"/>
              <a:t>. Spring Boot runs on AWS ECS Fargate, </a:t>
            </a:r>
            <a:r>
              <a:rPr dirty="0" err="1"/>
              <a:t>FastAPI</a:t>
            </a:r>
            <a:r>
              <a:rPr dirty="0"/>
              <a:t> remains private, PostgreSQL uses RDS and S3 stores photos.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architecture maps the use cases to controlled service boundaries.</a:t>
            </a:r>
          </a:p>
          <a:p>
            <a:endParaRPr dirty="0"/>
          </a:p>
          <a:p>
            <a:r>
              <a:rPr dirty="0"/>
              <a:t>The Android application and React Web application use the same Spring Boot backend. Spring Boot owns JWT authentication, permissions, API validation, domain APIs and feature APIs, so both clients follow the same business rules.</a:t>
            </a:r>
          </a:p>
          <a:p>
            <a:endParaRPr dirty="0"/>
          </a:p>
          <a:p>
            <a:r>
              <a:rPr dirty="0"/>
              <a:t>PostgreSQL is the system of record, while the seed catalogue supplies controlled Meal, Product, Place and Recipe data for the MVP.</a:t>
            </a:r>
          </a:p>
          <a:p>
            <a:endParaRPr dirty="0"/>
          </a:p>
          <a:p>
            <a:r>
              <a:rPr dirty="0"/>
              <a:t>The </a:t>
            </a:r>
            <a:r>
              <a:rPr dirty="0" err="1"/>
              <a:t>FastAPI</a:t>
            </a:r>
            <a:r>
              <a:rPr dirty="0"/>
              <a:t> multi-Agent service is private. It contains the Recommendation Agent, Cooking Planner Agent, Platform Search Agent, Chatbot Orchestrator and Content Summary Agent. They work through allow-listed tools rather than accessing the database directly.</a:t>
            </a:r>
          </a:p>
          <a:p>
            <a:endParaRPr dirty="0"/>
          </a:p>
          <a:p>
            <a:r>
              <a:rPr dirty="0"/>
              <a:t>The separate </a:t>
            </a:r>
            <a:r>
              <a:rPr dirty="0" err="1"/>
              <a:t>FastAPI</a:t>
            </a:r>
            <a:r>
              <a:rPr dirty="0"/>
              <a:t> ML service hosts the Hybrid Recommendation Model. Collaborative Filtering and Logistic Regression provide ranking signals, while Spring Boot remains responsible for </a:t>
            </a:r>
            <a:r>
              <a:rPr dirty="0" err="1"/>
              <a:t>authorisation</a:t>
            </a:r>
            <a:r>
              <a:rPr dirty="0"/>
              <a:t> and persistence.</a:t>
            </a:r>
          </a:p>
          <a:p>
            <a:endParaRPr dirty="0"/>
          </a:p>
          <a:p>
            <a:r>
              <a:rPr dirty="0"/>
              <a:t>This design supports the Proposal's technology mapping: each use case reaches only the services and tools it requires.</a:t>
            </a:r>
          </a:p>
          <a:p>
            <a:endParaRPr dirty="0"/>
          </a:p>
          <a:p>
            <a:r>
              <a:rPr dirty="0"/>
              <a:t>[Sources]</a:t>
            </a:r>
          </a:p>
          <a:p>
            <a:r>
              <a:rPr dirty="0"/>
              <a:t>- User-provided </a:t>
            </a:r>
            <a:r>
              <a:rPr dirty="0" err="1"/>
              <a:t>FoodMind</a:t>
            </a:r>
            <a:r>
              <a:rPr dirty="0"/>
              <a:t> architecture diagram, image(2).</a:t>
            </a:r>
            <a:r>
              <a:rPr dirty="0" err="1"/>
              <a:t>png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four-week plan moves from design and contracts, to a complete baseline flow, then Hybrid ML and all five Agents, and finally cloud deployment, UAT and demonstration.</a:t>
            </a:r>
          </a:p>
          <a:p>
            <a:endParaRPr dirty="0"/>
          </a:p>
          <a:p>
            <a:r>
              <a:rPr dirty="0"/>
              <a:t>We control limited data, Agent unpredictability, privacy and scope risks with disclosed seed data, deterministic fallbacks, structured outputs, permission checks, timeouts, traces and a strict MVP boundary.</a:t>
            </a:r>
          </a:p>
          <a:p>
            <a:endParaRPr dirty="0"/>
          </a:p>
          <a:p>
            <a:r>
              <a:rPr dirty="0"/>
              <a:t>Public search, maps, ordering, payment and advanced recommendation methods remain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FoodMind</a:t>
            </a:r>
            <a:r>
              <a:rPr dirty="0"/>
              <a:t> begins with a real manual solution: friends preserving reliable food experiences in one document.</a:t>
            </a:r>
          </a:p>
          <a:p>
            <a:endParaRPr dirty="0"/>
          </a:p>
          <a:p>
            <a:r>
              <a:rPr dirty="0"/>
              <a:t>We make that idea structured, searchable, </a:t>
            </a:r>
            <a:r>
              <a:rPr dirty="0" err="1"/>
              <a:t>personalised</a:t>
            </a:r>
            <a:r>
              <a:rPr dirty="0"/>
              <a:t>, explainable and connected to feedback and analytics. </a:t>
            </a:r>
            <a:r>
              <a:rPr dirty="0" err="1"/>
              <a:t>FoodMind</a:t>
            </a:r>
            <a:r>
              <a:rPr dirty="0"/>
              <a:t> helps users turn personal experience and trusted group knowledge into better everyday decisions.</a:t>
            </a:r>
          </a:p>
          <a:p>
            <a:endParaRPr dirty="0"/>
          </a:p>
          <a:p>
            <a:r>
              <a:rPr dirty="0"/>
              <a:t>Thank you. We are happy to answer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052112-A4BD-4127-8749-D5529B616AEB}"/>
              </a:ext>
            </a:extLst>
          </p:cNvPr>
          <p:cNvSpPr>
            <a:spLocks noGrp="1"/>
          </p:cNvSpPr>
          <p:nvPr/>
        </p:nvSpPr>
        <p:spPr>
          <a:xfrm>
            <a:off x="838200" y="704850"/>
            <a:ext cx="4762500" cy="266700"/>
          </a:xfrm>
          <a:prstGeom prst="rect">
            <a:avLst/>
          </a:prstGeom>
          <a:noFill/>
          <a:ln w="0">
            <a:noFill/>
            <a:prstDash val="solid"/>
          </a:ln>
        </p:spPr>
        <p:txBody>
          <a:bodyPr wrap="square" lIns="0" tIns="0" rIns="0" bIns="0" anchor="t">
            <a:noAutofit/>
          </a:bodyPr>
          <a:lstStyle/>
          <a:p>
            <a:pPr algn="l">
              <a:lnSpc>
                <a:spcPct val="105000"/>
              </a:lnSpc>
              <a:buNone/>
              <a:defRPr sz="1350" b="1" i="0">
                <a:solidFill>
                  <a:srgbClr val="356B56"/>
                </a:solidFill>
                <a:latin typeface="Arial"/>
                <a:ea typeface="Arial"/>
                <a:cs typeface="Arial"/>
              </a:defRPr>
            </a:pPr>
            <a:r>
              <a:rPr sz="1350" b="1" i="0">
                <a:solidFill>
                  <a:srgbClr val="356B56"/>
                </a:solidFill>
                <a:latin typeface="Arial"/>
                <a:ea typeface="Arial"/>
                <a:cs typeface="Arial"/>
              </a:rPr>
              <a:t>AD PROJECT  •  TEAM 5</a:t>
            </a:r>
          </a:p>
        </p:txBody>
      </p:sp>
      <p:sp>
        <p:nvSpPr>
          <p:cNvPr id="3" name="deck-title">
            <a:extLst>
              <a:ext uri="{FF2B5EF4-FFF2-40B4-BE49-F238E27FC236}">
                <a16:creationId xmlns:a16="http://schemas.microsoft.com/office/drawing/2014/main" id="{2E88B2F2-03DE-4B21-A644-0F46421950C6}"/>
              </a:ext>
            </a:extLst>
          </p:cNvPr>
          <p:cNvSpPr>
            <a:spLocks noGrp="1"/>
          </p:cNvSpPr>
          <p:nvPr/>
        </p:nvSpPr>
        <p:spPr>
          <a:xfrm>
            <a:off x="800100" y="1676400"/>
            <a:ext cx="7239000" cy="952500"/>
          </a:xfrm>
          <a:prstGeom prst="rect">
            <a:avLst/>
          </a:prstGeom>
          <a:noFill/>
          <a:ln w="0">
            <a:noFill/>
            <a:prstDash val="solid"/>
          </a:ln>
        </p:spPr>
        <p:txBody>
          <a:bodyPr wrap="square" lIns="0" tIns="0" rIns="0" bIns="0" anchor="t">
            <a:noAutofit/>
          </a:bodyPr>
          <a:lstStyle/>
          <a:p>
            <a:pPr algn="l">
              <a:lnSpc>
                <a:spcPct val="105000"/>
              </a:lnSpc>
              <a:buNone/>
              <a:defRPr sz="5700" b="1" i="0">
                <a:solidFill>
                  <a:srgbClr val="192526"/>
                </a:solidFill>
                <a:latin typeface="Arial"/>
                <a:ea typeface="Arial"/>
                <a:cs typeface="Arial"/>
              </a:defRPr>
            </a:pPr>
            <a:r>
              <a:rPr sz="5700" b="1" i="0">
                <a:solidFill>
                  <a:srgbClr val="192526"/>
                </a:solidFill>
                <a:latin typeface="Arial"/>
                <a:ea typeface="Arial"/>
                <a:cs typeface="Arial"/>
              </a:rPr>
              <a:t>FoodMind</a:t>
            </a:r>
          </a:p>
        </p:txBody>
      </p:sp>
      <p:sp>
        <p:nvSpPr>
          <p:cNvPr id="4" name="矩形 3">
            <a:extLst>
              <a:ext uri="{FF2B5EF4-FFF2-40B4-BE49-F238E27FC236}">
                <a16:creationId xmlns:a16="http://schemas.microsoft.com/office/drawing/2014/main" id="{23336568-D9B4-45EC-B514-09776D6B7FE2}"/>
              </a:ext>
            </a:extLst>
          </p:cNvPr>
          <p:cNvSpPr>
            <a:spLocks noGrp="1"/>
          </p:cNvSpPr>
          <p:nvPr/>
        </p:nvSpPr>
        <p:spPr>
          <a:xfrm>
            <a:off x="857250" y="2743200"/>
            <a:ext cx="7905750" cy="495300"/>
          </a:xfrm>
          <a:prstGeom prst="rect">
            <a:avLst/>
          </a:prstGeom>
          <a:noFill/>
          <a:ln w="0">
            <a:noFill/>
            <a:prstDash val="solid"/>
          </a:ln>
        </p:spPr>
        <p:txBody>
          <a:bodyPr wrap="square" lIns="0" tIns="0" rIns="0" bIns="0" anchor="t">
            <a:noAutofit/>
          </a:bodyPr>
          <a:lstStyle/>
          <a:p>
            <a:pPr algn="l">
              <a:lnSpc>
                <a:spcPct val="105000"/>
              </a:lnSpc>
              <a:buNone/>
              <a:defRPr sz="2550" b="0" i="0">
                <a:solidFill>
                  <a:srgbClr val="356B56"/>
                </a:solidFill>
                <a:latin typeface="Arial"/>
                <a:ea typeface="Arial"/>
                <a:cs typeface="Arial"/>
              </a:defRPr>
            </a:pPr>
            <a:r>
              <a:rPr sz="2550" b="0" i="0">
                <a:solidFill>
                  <a:srgbClr val="356B56"/>
                </a:solidFill>
                <a:latin typeface="Arial"/>
                <a:ea typeface="Arial"/>
                <a:cs typeface="Arial"/>
              </a:rPr>
              <a:t>Personalized food decision support</a:t>
            </a:r>
          </a:p>
        </p:txBody>
      </p:sp>
      <p:sp>
        <p:nvSpPr>
          <p:cNvPr id="6" name="矩形 5">
            <a:extLst>
              <a:ext uri="{FF2B5EF4-FFF2-40B4-BE49-F238E27FC236}">
                <a16:creationId xmlns:a16="http://schemas.microsoft.com/office/drawing/2014/main" id="{1AC5A63E-1524-44D1-A858-6EB8A349F380}"/>
              </a:ext>
            </a:extLst>
          </p:cNvPr>
          <p:cNvSpPr>
            <a:spLocks noGrp="1"/>
          </p:cNvSpPr>
          <p:nvPr/>
        </p:nvSpPr>
        <p:spPr>
          <a:xfrm>
            <a:off x="800100" y="3238500"/>
            <a:ext cx="10220408" cy="495300"/>
          </a:xfrm>
          <a:prstGeom prst="rect">
            <a:avLst/>
          </a:prstGeom>
          <a:noFill/>
          <a:ln w="0">
            <a:noFill/>
            <a:prstDash val="solid"/>
          </a:ln>
        </p:spPr>
        <p:txBody>
          <a:bodyPr wrap="square" lIns="0" tIns="0" rIns="0" bIns="0" anchor="t">
            <a:noAutofit/>
          </a:bodyPr>
          <a:lstStyle/>
          <a:p>
            <a:pPr algn="l">
              <a:lnSpc>
                <a:spcPct val="118000"/>
              </a:lnSpc>
              <a:buNone/>
              <a:defRPr sz="1950" b="0" i="0">
                <a:solidFill>
                  <a:srgbClr val="667174"/>
                </a:solidFill>
                <a:latin typeface="Arial"/>
                <a:ea typeface="Arial"/>
                <a:cs typeface="Arial"/>
              </a:defRPr>
            </a:pPr>
            <a:r>
              <a:rPr sz="1950" b="0" i="0" dirty="0">
                <a:solidFill>
                  <a:srgbClr val="667174"/>
                </a:solidFill>
                <a:latin typeface="Arial"/>
                <a:ea typeface="Arial"/>
                <a:cs typeface="Arial"/>
              </a:rPr>
              <a:t>Turning personal experience and trusted group knowledge into faster</a:t>
            </a:r>
            <a:r>
              <a:rPr sz="1950" dirty="0">
                <a:solidFill>
                  <a:srgbClr val="667174"/>
                </a:solidFill>
                <a:latin typeface="Arial"/>
                <a:ea typeface="Arial"/>
                <a:cs typeface="Arial"/>
              </a:rPr>
              <a:t> </a:t>
            </a:r>
            <a:r>
              <a:rPr sz="1950" b="0" i="0" dirty="0">
                <a:solidFill>
                  <a:srgbClr val="667174"/>
                </a:solidFill>
                <a:latin typeface="Arial"/>
                <a:ea typeface="Arial"/>
                <a:cs typeface="Arial"/>
              </a:rPr>
              <a:t>everyday choices.</a:t>
            </a:r>
          </a:p>
        </p:txBody>
      </p:sp>
      <p:graphicFrame>
        <p:nvGraphicFramePr>
          <p:cNvPr id="16" name="表格 9"/>
          <p:cNvGraphicFramePr/>
          <p:nvPr>
            <p:extLst>
              <p:ext uri="{D42A27DB-BD31-4B8C-83A1-F6EECF244321}">
                <p14:modId xmlns:p14="http://schemas.microsoft.com/office/powerpoint/2010/main" val="1219840072"/>
              </p:ext>
            </p:extLst>
          </p:nvPr>
        </p:nvGraphicFramePr>
        <p:xfrm>
          <a:off x="800099" y="3733800"/>
          <a:ext cx="4323046" cy="2786696"/>
        </p:xfrm>
        <a:graphic>
          <a:graphicData uri="http://schemas.openxmlformats.org/drawingml/2006/table">
            <a:tbl>
              <a:tblPr firstRow="1" firstCol="1" bandRow="1">
                <a:tableStyleId>{5C22544A-7EE6-4342-B048-85BDC9FD1C3A}</a:tableStyleId>
              </a:tblPr>
              <a:tblGrid>
                <a:gridCol w="1376830">
                  <a:extLst>
                    <a:ext uri="{9D8B030D-6E8A-4147-A177-3AD203B41FA5}">
                      <a16:colId xmlns:a16="http://schemas.microsoft.com/office/drawing/2014/main" val="20000"/>
                    </a:ext>
                  </a:extLst>
                </a:gridCol>
                <a:gridCol w="2946216">
                  <a:extLst>
                    <a:ext uri="{9D8B030D-6E8A-4147-A177-3AD203B41FA5}">
                      <a16:colId xmlns:a16="http://schemas.microsoft.com/office/drawing/2014/main" val="20001"/>
                    </a:ext>
                  </a:extLst>
                </a:gridCol>
              </a:tblGrid>
              <a:tr h="326426">
                <a:tc>
                  <a:txBody>
                    <a:bodyPr/>
                    <a:lstStyle/>
                    <a:p>
                      <a:pPr algn="ctr">
                        <a:lnSpc>
                          <a:spcPct val="105000"/>
                        </a:lnSpc>
                        <a:buNone/>
                      </a:pPr>
                      <a:r>
                        <a:rPr sz="1600"/>
                        <a:t>Team Member</a:t>
                      </a:r>
                    </a:p>
                  </a:txBody>
                  <a:tcPr marL="68580" marR="68580" marT="0" marB="0"/>
                </a:tc>
                <a:tc>
                  <a:txBody>
                    <a:bodyPr/>
                    <a:lstStyle/>
                    <a:p>
                      <a:pPr algn="ctr">
                        <a:lnSpc>
                          <a:spcPct val="105000"/>
                        </a:lnSpc>
                        <a:buNone/>
                      </a:pPr>
                      <a:r>
                        <a:rPr sz="1600"/>
                        <a:t>Matric Number</a:t>
                      </a:r>
                    </a:p>
                  </a:txBody>
                  <a:tcPr marL="68580" marR="68580" marT="0" marB="0"/>
                </a:tc>
                <a:extLst>
                  <a:ext uri="{0D108BD9-81ED-4DB2-BD59-A6C34878D82A}">
                    <a16:rowId xmlns:a16="http://schemas.microsoft.com/office/drawing/2014/main" val="10000"/>
                  </a:ext>
                </a:extLst>
              </a:tr>
              <a:tr h="326426">
                <a:tc>
                  <a:txBody>
                    <a:bodyPr/>
                    <a:lstStyle/>
                    <a:p>
                      <a:pPr algn="ctr">
                        <a:lnSpc>
                          <a:spcPct val="105000"/>
                        </a:lnSpc>
                        <a:buNone/>
                      </a:pPr>
                      <a:r>
                        <a:rPr sz="1600"/>
                        <a:t>Chen Yaqi</a:t>
                      </a:r>
                    </a:p>
                  </a:txBody>
                  <a:tcPr marL="68580" marR="68580" marT="0" marB="0"/>
                </a:tc>
                <a:tc>
                  <a:txBody>
                    <a:bodyPr/>
                    <a:lstStyle/>
                    <a:p>
                      <a:pPr>
                        <a:lnSpc>
                          <a:spcPct val="105000"/>
                        </a:lnSpc>
                        <a:buNone/>
                      </a:pPr>
                      <a:r>
                        <a:rPr sz="1600" dirty="0"/>
                        <a:t>A0335050U</a:t>
                      </a:r>
                    </a:p>
                  </a:txBody>
                  <a:tcPr marL="68580" marR="68580" marT="0" marB="0"/>
                </a:tc>
                <a:extLst>
                  <a:ext uri="{0D108BD9-81ED-4DB2-BD59-A6C34878D82A}">
                    <a16:rowId xmlns:a16="http://schemas.microsoft.com/office/drawing/2014/main" val="10001"/>
                  </a:ext>
                </a:extLst>
              </a:tr>
              <a:tr h="326426">
                <a:tc>
                  <a:txBody>
                    <a:bodyPr/>
                    <a:lstStyle/>
                    <a:p>
                      <a:pPr algn="ctr">
                        <a:lnSpc>
                          <a:spcPct val="105000"/>
                        </a:lnSpc>
                        <a:buNone/>
                      </a:pPr>
                      <a:r>
                        <a:rPr sz="1600"/>
                        <a:t>Wu Aomo</a:t>
                      </a:r>
                    </a:p>
                  </a:txBody>
                  <a:tcPr marL="68580" marR="68580" marT="0" marB="0"/>
                </a:tc>
                <a:tc>
                  <a:txBody>
                    <a:bodyPr/>
                    <a:lstStyle/>
                    <a:p>
                      <a:pPr>
                        <a:lnSpc>
                          <a:spcPct val="105000"/>
                        </a:lnSpc>
                        <a:buNone/>
                      </a:pPr>
                      <a:r>
                        <a:rPr sz="1600" dirty="0"/>
                        <a:t>A0335088X</a:t>
                      </a:r>
                    </a:p>
                  </a:txBody>
                  <a:tcPr marL="68580" marR="68580" marT="0" marB="0"/>
                </a:tc>
                <a:extLst>
                  <a:ext uri="{0D108BD9-81ED-4DB2-BD59-A6C34878D82A}">
                    <a16:rowId xmlns:a16="http://schemas.microsoft.com/office/drawing/2014/main" val="10002"/>
                  </a:ext>
                </a:extLst>
              </a:tr>
              <a:tr h="326426">
                <a:tc>
                  <a:txBody>
                    <a:bodyPr/>
                    <a:lstStyle/>
                    <a:p>
                      <a:pPr algn="ctr">
                        <a:lnSpc>
                          <a:spcPct val="105000"/>
                        </a:lnSpc>
                        <a:buNone/>
                      </a:pPr>
                      <a:r>
                        <a:rPr sz="1600"/>
                        <a:t>Huang Qijun</a:t>
                      </a:r>
                    </a:p>
                  </a:txBody>
                  <a:tcPr marL="68580" marR="68580" marT="0" marB="0"/>
                </a:tc>
                <a:tc>
                  <a:txBody>
                    <a:bodyPr/>
                    <a:lstStyle/>
                    <a:p>
                      <a:pPr>
                        <a:lnSpc>
                          <a:spcPct val="105000"/>
                        </a:lnSpc>
                        <a:buNone/>
                      </a:pPr>
                      <a:r>
                        <a:rPr sz="1600" dirty="0"/>
                        <a:t>A0335061N</a:t>
                      </a:r>
                    </a:p>
                  </a:txBody>
                  <a:tcPr marL="68580" marR="68580" marT="0" marB="0"/>
                </a:tc>
                <a:extLst>
                  <a:ext uri="{0D108BD9-81ED-4DB2-BD59-A6C34878D82A}">
                    <a16:rowId xmlns:a16="http://schemas.microsoft.com/office/drawing/2014/main" val="10003"/>
                  </a:ext>
                </a:extLst>
              </a:tr>
              <a:tr h="326426">
                <a:tc>
                  <a:txBody>
                    <a:bodyPr/>
                    <a:lstStyle/>
                    <a:p>
                      <a:pPr algn="ctr">
                        <a:lnSpc>
                          <a:spcPct val="105000"/>
                        </a:lnSpc>
                        <a:buNone/>
                      </a:pPr>
                      <a:r>
                        <a:rPr sz="1600"/>
                        <a:t>Luo Yuxiang</a:t>
                      </a:r>
                    </a:p>
                  </a:txBody>
                  <a:tcPr marL="68580" marR="68580" marT="0" marB="0"/>
                </a:tc>
                <a:tc>
                  <a:txBody>
                    <a:bodyPr/>
                    <a:lstStyle/>
                    <a:p>
                      <a:pPr>
                        <a:lnSpc>
                          <a:spcPct val="105000"/>
                        </a:lnSpc>
                        <a:buNone/>
                      </a:pPr>
                      <a:r>
                        <a:rPr sz="1600"/>
                        <a:t>A0335071M</a:t>
                      </a:r>
                    </a:p>
                  </a:txBody>
                  <a:tcPr marL="68580" marR="68580" marT="0" marB="0"/>
                </a:tc>
                <a:extLst>
                  <a:ext uri="{0D108BD9-81ED-4DB2-BD59-A6C34878D82A}">
                    <a16:rowId xmlns:a16="http://schemas.microsoft.com/office/drawing/2014/main" val="10004"/>
                  </a:ext>
                </a:extLst>
              </a:tr>
              <a:tr h="326426">
                <a:tc>
                  <a:txBody>
                    <a:bodyPr/>
                    <a:lstStyle/>
                    <a:p>
                      <a:pPr algn="ctr">
                        <a:lnSpc>
                          <a:spcPct val="105000"/>
                        </a:lnSpc>
                        <a:buNone/>
                      </a:pPr>
                      <a:r>
                        <a:rPr sz="1600"/>
                        <a:t>Lei Tianyou</a:t>
                      </a:r>
                    </a:p>
                  </a:txBody>
                  <a:tcPr marL="68580" marR="68580" marT="0" marB="0"/>
                </a:tc>
                <a:tc>
                  <a:txBody>
                    <a:bodyPr/>
                    <a:lstStyle/>
                    <a:p>
                      <a:pPr>
                        <a:lnSpc>
                          <a:spcPct val="105000"/>
                        </a:lnSpc>
                        <a:buNone/>
                      </a:pPr>
                      <a:r>
                        <a:rPr sz="1600"/>
                        <a:t>A0335067A</a:t>
                      </a:r>
                    </a:p>
                  </a:txBody>
                  <a:tcPr marL="68580" marR="68580" marT="0" marB="0"/>
                </a:tc>
                <a:extLst>
                  <a:ext uri="{0D108BD9-81ED-4DB2-BD59-A6C34878D82A}">
                    <a16:rowId xmlns:a16="http://schemas.microsoft.com/office/drawing/2014/main" val="10005"/>
                  </a:ext>
                </a:extLst>
              </a:tr>
              <a:tr h="326426">
                <a:tc>
                  <a:txBody>
                    <a:bodyPr/>
                    <a:lstStyle/>
                    <a:p>
                      <a:pPr algn="ctr">
                        <a:lnSpc>
                          <a:spcPct val="105000"/>
                        </a:lnSpc>
                        <a:buNone/>
                      </a:pPr>
                      <a:r>
                        <a:rPr sz="1600"/>
                        <a:t>Chen Chen</a:t>
                      </a:r>
                    </a:p>
                  </a:txBody>
                  <a:tcPr marL="68580" marR="68580" marT="0" marB="0"/>
                </a:tc>
                <a:tc>
                  <a:txBody>
                    <a:bodyPr/>
                    <a:lstStyle/>
                    <a:p>
                      <a:pPr>
                        <a:lnSpc>
                          <a:spcPct val="105000"/>
                        </a:lnSpc>
                        <a:buNone/>
                      </a:pPr>
                      <a:r>
                        <a:rPr sz="1600"/>
                        <a:t>A0335082J</a:t>
                      </a:r>
                    </a:p>
                  </a:txBody>
                  <a:tcPr marL="68580" marR="68580" marT="0" marB="0"/>
                </a:tc>
                <a:extLst>
                  <a:ext uri="{0D108BD9-81ED-4DB2-BD59-A6C34878D82A}">
                    <a16:rowId xmlns:a16="http://schemas.microsoft.com/office/drawing/2014/main" val="10006"/>
                  </a:ext>
                </a:extLst>
              </a:tr>
              <a:tr h="326426">
                <a:tc>
                  <a:txBody>
                    <a:bodyPr/>
                    <a:lstStyle/>
                    <a:p>
                      <a:pPr algn="ctr">
                        <a:lnSpc>
                          <a:spcPct val="105000"/>
                        </a:lnSpc>
                        <a:buNone/>
                      </a:pPr>
                      <a:r>
                        <a:rPr sz="1600"/>
                        <a:t>Deng Yunke</a:t>
                      </a:r>
                    </a:p>
                  </a:txBody>
                  <a:tcPr marL="68580" marR="68580" marT="0" marB="0"/>
                </a:tc>
                <a:tc>
                  <a:txBody>
                    <a:bodyPr/>
                    <a:lstStyle/>
                    <a:p>
                      <a:pPr>
                        <a:lnSpc>
                          <a:spcPct val="105000"/>
                        </a:lnSpc>
                        <a:buNone/>
                      </a:pPr>
                      <a:r>
                        <a:rPr sz="1600" dirty="0"/>
                        <a:t>A0335081L</a:t>
                      </a: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45061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F54356D-AD81-41EF-B0D3-B29840BD1919}"/>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2-title">
            <a:extLst>
              <a:ext uri="{FF2B5EF4-FFF2-40B4-BE49-F238E27FC236}">
                <a16:creationId xmlns:a16="http://schemas.microsoft.com/office/drawing/2014/main" id="{78ACF18E-3447-4772-A4DE-845F2C580197}"/>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a:solidFill>
                  <a:srgbClr val="192526"/>
                </a:solidFill>
                <a:latin typeface="Arial"/>
                <a:ea typeface="Arial"/>
                <a:cs typeface="Arial"/>
              </a:rPr>
              <a:t>A shared document solved a real daily problem</a:t>
            </a:r>
          </a:p>
        </p:txBody>
      </p:sp>
      <p:sp>
        <p:nvSpPr>
          <p:cNvPr id="3" name="直接连接符 2">
            <a:extLst>
              <a:ext uri="{FF2B5EF4-FFF2-40B4-BE49-F238E27FC236}">
                <a16:creationId xmlns:a16="http://schemas.microsoft.com/office/drawing/2014/main" id="{793E99C4-418C-4134-B84A-802233308B6B}"/>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922AC31D-4ED0-47A5-AC62-35F4F74E4E6B}"/>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A226B28A-73D2-4CAA-A6D7-5721E44FADD8}"/>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02</a:t>
            </a:r>
          </a:p>
        </p:txBody>
      </p:sp>
      <p:sp>
        <p:nvSpPr>
          <p:cNvPr id="6" name="矩形: 圆角 5">
            <a:extLst>
              <a:ext uri="{FF2B5EF4-FFF2-40B4-BE49-F238E27FC236}">
                <a16:creationId xmlns:a16="http://schemas.microsoft.com/office/drawing/2014/main" id="{E08C89C1-E39B-491E-BB5D-CE600CEC86A1}"/>
              </a:ext>
            </a:extLst>
          </p:cNvPr>
          <p:cNvSpPr>
            <a:spLocks noGrp="1"/>
          </p:cNvSpPr>
          <p:nvPr/>
        </p:nvSpPr>
        <p:spPr>
          <a:xfrm>
            <a:off x="723900" y="1295400"/>
            <a:ext cx="2533650" cy="4610100"/>
          </a:xfrm>
          <a:prstGeom prst="roundRect">
            <a:avLst>
              <a:gd name="adj" fmla="val 6015"/>
            </a:avLst>
          </a:prstGeom>
          <a:solidFill>
            <a:srgbClr val="FFFFFF"/>
          </a:solidFill>
          <a:ln w="11430">
            <a:solidFill>
              <a:srgbClr val="D8DDD9"/>
            </a:solidFill>
            <a:prstDash val="solid"/>
          </a:ln>
        </p:spPr>
        <p:txBody>
          <a:bodyPr/>
          <a:lstStyle/>
          <a:p>
            <a:endParaRPr/>
          </a:p>
        </p:txBody>
      </p:sp>
      <p:pic>
        <p:nvPicPr>
          <p:cNvPr id="24" name="图片 21"/>
          <p:cNvPicPr>
            <a:picLocks noChangeAspect="1"/>
          </p:cNvPicPr>
          <p:nvPr/>
        </p:nvPicPr>
        <p:blipFill>
          <a:blip r:embed="rId3"/>
          <a:stretch/>
        </p:blipFill>
        <p:spPr>
          <a:xfrm>
            <a:off x="92805" y="1117413"/>
            <a:ext cx="3235539" cy="5321487"/>
          </a:xfrm>
          <a:prstGeom prst="roundRect">
            <a:avLst/>
          </a:prstGeom>
        </p:spPr>
      </p:pic>
      <p:sp>
        <p:nvSpPr>
          <p:cNvPr id="10" name="矩形 9">
            <a:extLst>
              <a:ext uri="{FF2B5EF4-FFF2-40B4-BE49-F238E27FC236}">
                <a16:creationId xmlns:a16="http://schemas.microsoft.com/office/drawing/2014/main" id="{8AB50BFD-C426-44F8-9403-B164704617CE}"/>
              </a:ext>
            </a:extLst>
          </p:cNvPr>
          <p:cNvSpPr>
            <a:spLocks noGrp="1"/>
          </p:cNvSpPr>
          <p:nvPr/>
        </p:nvSpPr>
        <p:spPr>
          <a:xfrm>
            <a:off x="3257550" y="914400"/>
            <a:ext cx="7802262" cy="822326"/>
          </a:xfrm>
          <a:prstGeom prst="rect">
            <a:avLst/>
          </a:prstGeom>
          <a:noFill/>
          <a:ln w="0">
            <a:noFill/>
            <a:prstDash val="solid"/>
          </a:ln>
        </p:spPr>
        <p:txBody>
          <a:bodyPr wrap="square" lIns="0" tIns="0" rIns="0" bIns="0" anchor="t">
            <a:noAutofit/>
          </a:bodyPr>
          <a:lstStyle/>
          <a:p>
            <a:pPr>
              <a:lnSpc>
                <a:spcPct val="105000"/>
              </a:lnSpc>
              <a:buNone/>
              <a:defRPr sz="1500" b="0" i="0">
                <a:solidFill>
                  <a:srgbClr val="667174"/>
                </a:solidFill>
                <a:latin typeface="Arial"/>
                <a:ea typeface="Arial"/>
                <a:cs typeface="Arial"/>
              </a:defRPr>
            </a:pPr>
            <a:r>
              <a:rPr sz="1600" b="1" dirty="0">
                <a:solidFill>
                  <a:srgbClr val="667174"/>
                </a:solidFill>
                <a:latin typeface="Arial"/>
                <a:ea typeface="Arial"/>
                <a:cs typeface="Arial"/>
              </a:rPr>
              <a:t>This project was inspired by this </a:t>
            </a:r>
            <a:r>
              <a:rPr sz="1600" b="1" dirty="0" err="1">
                <a:solidFill>
                  <a:srgbClr val="667174"/>
                </a:solidFill>
                <a:latin typeface="Arial"/>
                <a:ea typeface="Arial"/>
                <a:cs typeface="Arial"/>
              </a:rPr>
              <a:t>Xiaohongshu</a:t>
            </a:r>
            <a:r>
              <a:rPr sz="1600" b="1" dirty="0">
                <a:solidFill>
                  <a:srgbClr val="667174"/>
                </a:solidFill>
                <a:latin typeface="Arial"/>
                <a:ea typeface="Arial"/>
                <a:cs typeface="Arial"/>
              </a:rPr>
              <a:t> (Chinese social media) post.</a:t>
            </a:r>
          </a:p>
          <a:p>
            <a:pPr algn="r">
              <a:lnSpc>
                <a:spcPct val="105000"/>
              </a:lnSpc>
              <a:buNone/>
              <a:defRPr sz="1500" b="0" i="0">
                <a:solidFill>
                  <a:srgbClr val="667174"/>
                </a:solidFill>
                <a:latin typeface="Arial"/>
                <a:ea typeface="Arial"/>
                <a:cs typeface="Arial"/>
              </a:defRPr>
            </a:pPr>
            <a:endParaRPr sz="1600" b="1" dirty="0">
              <a:solidFill>
                <a:srgbClr val="667174"/>
              </a:solidFill>
              <a:latin typeface="Arial"/>
              <a:ea typeface="Arial"/>
              <a:cs typeface="Arial"/>
            </a:endParaRPr>
          </a:p>
          <a:p>
            <a:pPr algn="r">
              <a:lnSpc>
                <a:spcPct val="105000"/>
              </a:lnSpc>
              <a:buNone/>
              <a:defRPr sz="1500" b="0" i="0">
                <a:solidFill>
                  <a:srgbClr val="667174"/>
                </a:solidFill>
                <a:latin typeface="Arial"/>
                <a:ea typeface="Arial"/>
                <a:cs typeface="Arial"/>
              </a:defRPr>
            </a:pPr>
            <a:r>
              <a:rPr sz="1600" b="1" i="0" dirty="0">
                <a:solidFill>
                  <a:srgbClr val="667174"/>
                </a:solidFill>
                <a:latin typeface="Arial"/>
                <a:ea typeface="Arial"/>
                <a:cs typeface="Arial"/>
              </a:rPr>
              <a:t>The post roughly means:</a:t>
            </a:r>
          </a:p>
        </p:txBody>
      </p:sp>
      <p:sp>
        <p:nvSpPr>
          <p:cNvPr id="11" name="矩形 10">
            <a:extLst>
              <a:ext uri="{FF2B5EF4-FFF2-40B4-BE49-F238E27FC236}">
                <a16:creationId xmlns:a16="http://schemas.microsoft.com/office/drawing/2014/main" id="{8FBD2BA4-8AEE-474A-90D2-33DA0EFBDBFF}"/>
              </a:ext>
            </a:extLst>
          </p:cNvPr>
          <p:cNvSpPr>
            <a:spLocks noGrp="1"/>
          </p:cNvSpPr>
          <p:nvPr/>
        </p:nvSpPr>
        <p:spPr>
          <a:xfrm>
            <a:off x="8610600" y="1912866"/>
            <a:ext cx="3495968" cy="4564133"/>
          </a:xfrm>
          <a:prstGeom prst="rect">
            <a:avLst/>
          </a:prstGeom>
          <a:noFill/>
          <a:ln w="0">
            <a:noFill/>
            <a:prstDash val="solid"/>
          </a:ln>
        </p:spPr>
        <p:txBody>
          <a:bodyPr wrap="square" lIns="0" tIns="0" rIns="0" bIns="0" anchor="t">
            <a:noAutofit/>
          </a:bodyPr>
          <a:lstStyle/>
          <a:p>
            <a:pPr algn="l">
              <a:lnSpc>
                <a:spcPct val="112000"/>
              </a:lnSpc>
              <a:buNone/>
              <a:defRPr sz="2175" b="1" i="0">
                <a:solidFill>
                  <a:srgbClr val="192526"/>
                </a:solidFill>
                <a:latin typeface="Arial"/>
                <a:ea typeface="Arial"/>
                <a:cs typeface="Arial"/>
              </a:defRPr>
            </a:pPr>
            <a:r>
              <a:rPr sz="2400" i="0" dirty="0">
                <a:solidFill>
                  <a:srgbClr val="192526"/>
                </a:solidFill>
                <a:latin typeface="Arial"/>
                <a:ea typeface="Arial"/>
                <a:cs typeface="Arial"/>
              </a:rPr>
              <a:t>“We often don’t know what to eat, so I created a shared document in WeChat group."</a:t>
            </a:r>
          </a:p>
          <a:p>
            <a:pPr algn="l">
              <a:lnSpc>
                <a:spcPct val="112000"/>
              </a:lnSpc>
              <a:buNone/>
              <a:defRPr sz="2175" b="1" i="0">
                <a:solidFill>
                  <a:srgbClr val="192526"/>
                </a:solidFill>
                <a:latin typeface="Arial"/>
                <a:ea typeface="Arial"/>
                <a:cs typeface="Arial"/>
              </a:defRPr>
            </a:pPr>
            <a:endParaRPr sz="2400" i="0" dirty="0">
              <a:solidFill>
                <a:srgbClr val="192526"/>
              </a:solidFill>
              <a:latin typeface="Arial"/>
              <a:ea typeface="Arial"/>
              <a:cs typeface="Arial"/>
            </a:endParaRPr>
          </a:p>
          <a:p>
            <a:pPr>
              <a:lnSpc>
                <a:spcPct val="112000"/>
              </a:lnSpc>
              <a:buNone/>
              <a:defRPr sz="2175" b="1" i="0">
                <a:solidFill>
                  <a:srgbClr val="192526"/>
                </a:solidFill>
                <a:latin typeface="Arial"/>
                <a:ea typeface="Arial"/>
                <a:cs typeface="Arial"/>
              </a:defRPr>
            </a:pPr>
            <a:r>
              <a:rPr sz="2000" i="1" dirty="0">
                <a:solidFill>
                  <a:srgbClr val="192526"/>
                </a:solidFill>
                <a:latin typeface="Arial"/>
                <a:ea typeface="Arial"/>
                <a:cs typeface="Arial"/>
              </a:rPr>
              <a:t>They use this </a:t>
            </a:r>
            <a:r>
              <a:rPr sz="2000" i="1" dirty="0"/>
              <a:t>document to preserve good meals, restaurants and drinks.</a:t>
            </a:r>
          </a:p>
          <a:p>
            <a:pPr>
              <a:lnSpc>
                <a:spcPct val="112000"/>
              </a:lnSpc>
              <a:buNone/>
              <a:defRPr sz="2175" b="1" i="0">
                <a:solidFill>
                  <a:srgbClr val="192526"/>
                </a:solidFill>
                <a:latin typeface="Arial"/>
                <a:ea typeface="Arial"/>
                <a:cs typeface="Arial"/>
              </a:defRPr>
            </a:pPr>
            <a:endParaRPr sz="2000" i="1" dirty="0"/>
          </a:p>
          <a:p>
            <a:pPr>
              <a:lnSpc>
                <a:spcPct val="112000"/>
              </a:lnSpc>
              <a:buNone/>
              <a:defRPr sz="2175" b="1" i="0">
                <a:solidFill>
                  <a:srgbClr val="192526"/>
                </a:solidFill>
                <a:latin typeface="Arial"/>
                <a:ea typeface="Arial"/>
                <a:cs typeface="Arial"/>
              </a:defRPr>
            </a:pPr>
            <a:r>
              <a:rPr sz="2000" i="1" dirty="0">
                <a:solidFill>
                  <a:srgbClr val="192526"/>
                </a:solidFill>
                <a:latin typeface="Arial"/>
                <a:ea typeface="Arial"/>
                <a:cs typeface="Arial"/>
              </a:rPr>
              <a:t>Then they can learn from each other and decide what to eat quickly.</a:t>
            </a:r>
          </a:p>
          <a:p>
            <a:pPr algn="l">
              <a:lnSpc>
                <a:spcPct val="112000"/>
              </a:lnSpc>
              <a:buNone/>
              <a:defRPr sz="2175" b="1" i="0">
                <a:solidFill>
                  <a:srgbClr val="192526"/>
                </a:solidFill>
                <a:latin typeface="Arial"/>
                <a:ea typeface="Arial"/>
                <a:cs typeface="Arial"/>
              </a:defRPr>
            </a:pPr>
            <a:endParaRPr sz="2000" i="1" dirty="0">
              <a:solidFill>
                <a:srgbClr val="192526"/>
              </a:solidFill>
              <a:latin typeface="Arial"/>
              <a:ea typeface="Arial"/>
              <a:cs typeface="Arial"/>
            </a:endParaRPr>
          </a:p>
          <a:p>
            <a:pPr algn="l">
              <a:lnSpc>
                <a:spcPct val="112000"/>
              </a:lnSpc>
              <a:buNone/>
              <a:defRPr sz="2175" b="1" i="0">
                <a:solidFill>
                  <a:srgbClr val="192526"/>
                </a:solidFill>
                <a:latin typeface="Arial"/>
                <a:ea typeface="Arial"/>
                <a:cs typeface="Arial"/>
              </a:defRPr>
            </a:pPr>
            <a:endParaRPr sz="2000" i="1" dirty="0">
              <a:solidFill>
                <a:srgbClr val="192526"/>
              </a:solidFill>
              <a:latin typeface="Arial"/>
              <a:ea typeface="Arial"/>
              <a:cs typeface="Arial"/>
            </a:endParaRPr>
          </a:p>
        </p:txBody>
      </p:sp>
      <p:sp>
        <p:nvSpPr>
          <p:cNvPr id="16" name="文本框 15">
            <a:extLst>
              <a:ext uri="{FF2B5EF4-FFF2-40B4-BE49-F238E27FC236}">
                <a16:creationId xmlns:a16="http://schemas.microsoft.com/office/drawing/2014/main" id="{61DF2147-D6EE-2183-99F0-19736BF890D0}"/>
              </a:ext>
            </a:extLst>
          </p:cNvPr>
          <p:cNvSpPr>
            <a:spLocks noGrp="1"/>
          </p:cNvSpPr>
          <p:nvPr/>
        </p:nvSpPr>
        <p:spPr>
          <a:xfrm>
            <a:off x="3399138" y="1155513"/>
            <a:ext cx="5140668" cy="5509200"/>
          </a:xfrm>
          <a:prstGeom prst="rect">
            <a:avLst/>
          </a:prstGeom>
          <a:solidFill>
            <a:srgbClr val="000000">
              <a:alpha val="80000"/>
            </a:srgbClr>
          </a:solidFill>
        </p:spPr>
        <p:txBody>
          <a:bodyPr wrap="square">
            <a:spAutoFit/>
          </a:bodyPr>
          <a:lstStyle/>
          <a:p>
            <a:r>
              <a:rPr sz="1600" dirty="0">
                <a:solidFill>
                  <a:schemeClr val="bg1"/>
                </a:solidFill>
              </a:rPr>
              <a:t>After the food quality incident, </a:t>
            </a:r>
            <a:r>
              <a:rPr sz="1600" b="1" u="sng" dirty="0">
                <a:solidFill>
                  <a:schemeClr val="bg1"/>
                </a:solidFill>
              </a:rPr>
              <a:t>I became much more conscious of food safety</a:t>
            </a:r>
            <a:r>
              <a:rPr sz="1600" dirty="0">
                <a:solidFill>
                  <a:schemeClr val="bg1"/>
                </a:solidFill>
              </a:rPr>
              <a:t>. In the past, I simply ordered whatever looked good. Now, I also check whether a restaurant has a physical dine-in location, what its kitchen is like, and what delivery customers say about it.</a:t>
            </a:r>
          </a:p>
          <a:p>
            <a:r>
              <a:rPr sz="1600" b="1" u="sng" dirty="0">
                <a:solidFill>
                  <a:schemeClr val="bg1"/>
                </a:solidFill>
              </a:rPr>
              <a:t>As a result, I spent a huge amount of time every day researching what to eat and carefully vetting delivery restaurants</a:t>
            </a:r>
            <a:r>
              <a:rPr sz="1600" b="1" dirty="0">
                <a:solidFill>
                  <a:schemeClr val="bg1"/>
                </a:solidFill>
              </a:rPr>
              <a:t>.</a:t>
            </a:r>
            <a:r>
              <a:rPr sz="1600" dirty="0">
                <a:solidFill>
                  <a:schemeClr val="bg1"/>
                </a:solidFill>
              </a:rPr>
              <a:t> The whole process was exhausting. Since I was no food expert, I still often ended up ordering disappointing meals. I became so frustrated that I wished humans could evolve beyond the need to eat food—but, unfortunately, that never happened.</a:t>
            </a:r>
          </a:p>
          <a:p>
            <a:r>
              <a:rPr sz="1600" dirty="0">
                <a:solidFill>
                  <a:schemeClr val="bg1"/>
                </a:solidFill>
              </a:rPr>
              <a:t>Then one day, a foodie friend recommended a restaurant in our group chat. I tried it, and the food was incredible. </a:t>
            </a:r>
            <a:r>
              <a:rPr sz="1600" b="1" u="sng" dirty="0">
                <a:solidFill>
                  <a:schemeClr val="bg1"/>
                </a:solidFill>
              </a:rPr>
              <a:t>That gave me an idea: why not share what we eat for lunch and dinner every day, so we can give one another meal ideas?</a:t>
            </a:r>
          </a:p>
          <a:p>
            <a:r>
              <a:rPr sz="1600" dirty="0">
                <a:solidFill>
                  <a:schemeClr val="bg1"/>
                </a:solidFill>
              </a:rPr>
              <a:t>However, our goldfish-like memories made this difficult, </a:t>
            </a:r>
            <a:r>
              <a:rPr sz="1600" b="1" dirty="0">
                <a:solidFill>
                  <a:schemeClr val="bg1"/>
                </a:solidFill>
              </a:rPr>
              <a:t>so I created a shared food document and put it in our group chat.</a:t>
            </a:r>
            <a:r>
              <a:rPr sz="1600" dirty="0">
                <a:solidFill>
                  <a:schemeClr val="bg1"/>
                </a:solidFill>
              </a:rPr>
              <a:t> My friends enthusiastically joined in, recording good meals, restaurants, and later drinks as well. </a:t>
            </a:r>
            <a:r>
              <a:rPr sz="1600" b="1" u="sng" dirty="0">
                <a:solidFill>
                  <a:schemeClr val="bg1"/>
                </a:solidFill>
              </a:rPr>
              <a:t>It worked so well that, ever since, I have never run out of inspiration for what to order.</a:t>
            </a:r>
          </a:p>
        </p:txBody>
      </p:sp>
    </p:spTree>
    <p:extLst>
      <p:ext uri="{BB962C8B-B14F-4D97-AF65-F5344CB8AC3E}">
        <p14:creationId xmlns:p14="http://schemas.microsoft.com/office/powerpoint/2010/main" val="1217996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E29A328-5DA3-43DB-BAEF-7AFFD4949947}"/>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3-title">
            <a:extLst>
              <a:ext uri="{FF2B5EF4-FFF2-40B4-BE49-F238E27FC236}">
                <a16:creationId xmlns:a16="http://schemas.microsoft.com/office/drawing/2014/main" id="{34D552F7-8950-438A-8772-EA5E7DF09267}"/>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a:solidFill>
                  <a:srgbClr val="192526"/>
                </a:solidFill>
                <a:latin typeface="Arial"/>
                <a:ea typeface="Arial"/>
                <a:cs typeface="Arial"/>
              </a:rPr>
              <a:t>The shared document was still manual</a:t>
            </a:r>
          </a:p>
        </p:txBody>
      </p:sp>
      <p:sp>
        <p:nvSpPr>
          <p:cNvPr id="3" name="直接连接符 2">
            <a:extLst>
              <a:ext uri="{FF2B5EF4-FFF2-40B4-BE49-F238E27FC236}">
                <a16:creationId xmlns:a16="http://schemas.microsoft.com/office/drawing/2014/main" id="{4D5C249A-DDDE-48FC-B268-8250027B1410}"/>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7FB79DA-64F7-4600-88A3-51CA2DEC0914}"/>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D6B0823B-A8C4-4740-97F5-A96B465FD9EA}"/>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03</a:t>
            </a:r>
          </a:p>
        </p:txBody>
      </p:sp>
      <p:pic>
        <p:nvPicPr>
          <p:cNvPr id="26" name="图片 25"/>
          <p:cNvPicPr>
            <a:picLocks/>
          </p:cNvPicPr>
          <p:nvPr/>
        </p:nvPicPr>
        <p:blipFill>
          <a:blip r:embed="rId3"/>
          <a:srcRect t="2346" r="-233" b="25225"/>
          <a:stretch>
            <a:fillRect/>
          </a:stretch>
        </p:blipFill>
        <p:spPr>
          <a:xfrm>
            <a:off x="129652" y="940274"/>
            <a:ext cx="6337823" cy="5543542"/>
          </a:xfrm>
          <a:prstGeom prst="rect">
            <a:avLst/>
          </a:prstGeom>
          <a:ln>
            <a:solidFill>
              <a:schemeClr val="tx1"/>
            </a:solidFill>
          </a:ln>
        </p:spPr>
      </p:pic>
      <p:sp>
        <p:nvSpPr>
          <p:cNvPr id="8" name="矩形 7">
            <a:extLst>
              <a:ext uri="{FF2B5EF4-FFF2-40B4-BE49-F238E27FC236}">
                <a16:creationId xmlns:a16="http://schemas.microsoft.com/office/drawing/2014/main" id="{D0EC9C4D-5273-4B7E-8B01-8111EE79254F}"/>
              </a:ext>
            </a:extLst>
          </p:cNvPr>
          <p:cNvSpPr>
            <a:spLocks noGrp="1"/>
          </p:cNvSpPr>
          <p:nvPr/>
        </p:nvSpPr>
        <p:spPr>
          <a:xfrm>
            <a:off x="6534150" y="1524000"/>
            <a:ext cx="552450"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356B56"/>
                </a:solidFill>
                <a:latin typeface="Arial"/>
                <a:ea typeface="Arial"/>
                <a:cs typeface="Arial"/>
              </a:defRPr>
            </a:pPr>
            <a:r>
              <a:rPr sz="2025" b="1" i="0">
                <a:solidFill>
                  <a:srgbClr val="356B56"/>
                </a:solidFill>
                <a:latin typeface="Arial"/>
                <a:ea typeface="Arial"/>
                <a:cs typeface="Arial"/>
              </a:rPr>
              <a:t>01</a:t>
            </a:r>
          </a:p>
        </p:txBody>
      </p:sp>
      <p:sp>
        <p:nvSpPr>
          <p:cNvPr id="9" name="矩形 8">
            <a:extLst>
              <a:ext uri="{FF2B5EF4-FFF2-40B4-BE49-F238E27FC236}">
                <a16:creationId xmlns:a16="http://schemas.microsoft.com/office/drawing/2014/main" id="{0D2E18F2-9F17-4031-A0CC-5D33DDA503BA}"/>
              </a:ext>
            </a:extLst>
          </p:cNvPr>
          <p:cNvSpPr>
            <a:spLocks noGrp="1"/>
          </p:cNvSpPr>
          <p:nvPr/>
        </p:nvSpPr>
        <p:spPr>
          <a:xfrm>
            <a:off x="7200900" y="1524000"/>
            <a:ext cx="3524250" cy="32385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2025" b="1" i="0">
                <a:solidFill>
                  <a:srgbClr val="192526"/>
                </a:solidFill>
                <a:latin typeface="Arial"/>
                <a:ea typeface="Arial"/>
                <a:cs typeface="Arial"/>
              </a:rPr>
              <a:t>Time cost</a:t>
            </a:r>
          </a:p>
        </p:txBody>
      </p:sp>
      <p:sp>
        <p:nvSpPr>
          <p:cNvPr id="10" name="矩形 9">
            <a:extLst>
              <a:ext uri="{FF2B5EF4-FFF2-40B4-BE49-F238E27FC236}">
                <a16:creationId xmlns:a16="http://schemas.microsoft.com/office/drawing/2014/main" id="{81EBF185-5F73-45A5-9AB6-7A2E69A2E9FA}"/>
              </a:ext>
            </a:extLst>
          </p:cNvPr>
          <p:cNvSpPr>
            <a:spLocks noGrp="1"/>
          </p:cNvSpPr>
          <p:nvPr/>
        </p:nvSpPr>
        <p:spPr>
          <a:xfrm>
            <a:off x="7200900" y="1944237"/>
            <a:ext cx="3905250" cy="609600"/>
          </a:xfrm>
          <a:prstGeom prst="rect">
            <a:avLst/>
          </a:prstGeom>
          <a:noFill/>
          <a:ln w="0">
            <a:noFill/>
            <a:prstDash val="solid"/>
          </a:ln>
        </p:spPr>
        <p:txBody>
          <a:bodyPr wrap="square" lIns="0" tIns="0" rIns="0" bIns="0" anchor="t">
            <a:noAutofit/>
          </a:bodyPr>
          <a:lstStyle/>
          <a:p>
            <a:pPr algn="l">
              <a:lnSpc>
                <a:spcPct val="112000"/>
              </a:lnSpc>
              <a:buNone/>
              <a:defRPr sz="1575" b="0" i="0">
                <a:solidFill>
                  <a:srgbClr val="667174"/>
                </a:solidFill>
                <a:latin typeface="Arial"/>
                <a:ea typeface="Arial"/>
                <a:cs typeface="Arial"/>
              </a:defRPr>
            </a:pPr>
            <a:r>
              <a:rPr sz="1575" b="0" i="0">
                <a:solidFill>
                  <a:srgbClr val="667174"/>
                </a:solidFill>
                <a:latin typeface="Arial"/>
                <a:ea typeface="Arial"/>
                <a:cs typeface="Arial"/>
              </a:rPr>
              <a:t>Every meal became a research task.</a:t>
            </a:r>
          </a:p>
        </p:txBody>
      </p:sp>
      <p:sp>
        <p:nvSpPr>
          <p:cNvPr id="11" name="直接连接符 10">
            <a:extLst>
              <a:ext uri="{FF2B5EF4-FFF2-40B4-BE49-F238E27FC236}">
                <a16:creationId xmlns:a16="http://schemas.microsoft.com/office/drawing/2014/main" id="{17F3EEAF-9148-4F1A-A0DF-CEC0716738C8}"/>
              </a:ext>
            </a:extLst>
          </p:cNvPr>
          <p:cNvSpPr>
            <a:spLocks noGrp="1"/>
          </p:cNvSpPr>
          <p:nvPr/>
        </p:nvSpPr>
        <p:spPr>
          <a:xfrm>
            <a:off x="6534150" y="2628900"/>
            <a:ext cx="4572000" cy="0"/>
          </a:xfrm>
          <a:prstGeom prst="line">
            <a:avLst/>
          </a:prstGeom>
          <a:noFill/>
          <a:ln w="9525">
            <a:solidFill>
              <a:srgbClr val="D8DDD9"/>
            </a:solidFill>
            <a:prstDash val="solid"/>
          </a:ln>
        </p:spPr>
        <p:txBody>
          <a:bodyPr/>
          <a:lstStyle/>
          <a:p>
            <a:endParaRPr/>
          </a:p>
        </p:txBody>
      </p:sp>
      <p:sp>
        <p:nvSpPr>
          <p:cNvPr id="12" name="矩形 11">
            <a:extLst>
              <a:ext uri="{FF2B5EF4-FFF2-40B4-BE49-F238E27FC236}">
                <a16:creationId xmlns:a16="http://schemas.microsoft.com/office/drawing/2014/main" id="{813BE348-BEFB-4EB5-8E82-B779721B330D}"/>
              </a:ext>
            </a:extLst>
          </p:cNvPr>
          <p:cNvSpPr>
            <a:spLocks noGrp="1"/>
          </p:cNvSpPr>
          <p:nvPr/>
        </p:nvSpPr>
        <p:spPr>
          <a:xfrm>
            <a:off x="6534150" y="2781300"/>
            <a:ext cx="552450"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356B56"/>
                </a:solidFill>
                <a:latin typeface="Arial"/>
                <a:ea typeface="Arial"/>
                <a:cs typeface="Arial"/>
              </a:defRPr>
            </a:pPr>
            <a:r>
              <a:rPr sz="2025" b="1" i="0">
                <a:solidFill>
                  <a:srgbClr val="356B56"/>
                </a:solidFill>
                <a:latin typeface="Arial"/>
                <a:ea typeface="Arial"/>
                <a:cs typeface="Arial"/>
              </a:rPr>
              <a:t>02</a:t>
            </a:r>
          </a:p>
        </p:txBody>
      </p:sp>
      <p:sp>
        <p:nvSpPr>
          <p:cNvPr id="13" name="矩形 12">
            <a:extLst>
              <a:ext uri="{FF2B5EF4-FFF2-40B4-BE49-F238E27FC236}">
                <a16:creationId xmlns:a16="http://schemas.microsoft.com/office/drawing/2014/main" id="{13B410EB-553F-4A2D-A191-C758845CC5BC}"/>
              </a:ext>
            </a:extLst>
          </p:cNvPr>
          <p:cNvSpPr>
            <a:spLocks noGrp="1"/>
          </p:cNvSpPr>
          <p:nvPr/>
        </p:nvSpPr>
        <p:spPr>
          <a:xfrm>
            <a:off x="7200900" y="2781300"/>
            <a:ext cx="3524250" cy="32385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2025" b="1" i="0">
                <a:solidFill>
                  <a:srgbClr val="192526"/>
                </a:solidFill>
                <a:latin typeface="Arial"/>
                <a:ea typeface="Arial"/>
                <a:cs typeface="Arial"/>
              </a:rPr>
              <a:t>Scattered evidence</a:t>
            </a:r>
          </a:p>
        </p:txBody>
      </p:sp>
      <p:sp>
        <p:nvSpPr>
          <p:cNvPr id="14" name="矩形 13">
            <a:extLst>
              <a:ext uri="{FF2B5EF4-FFF2-40B4-BE49-F238E27FC236}">
                <a16:creationId xmlns:a16="http://schemas.microsoft.com/office/drawing/2014/main" id="{BDFB4F6C-B8FE-481E-B23C-B804C4ABDF8A}"/>
              </a:ext>
            </a:extLst>
          </p:cNvPr>
          <p:cNvSpPr>
            <a:spLocks noGrp="1"/>
          </p:cNvSpPr>
          <p:nvPr/>
        </p:nvSpPr>
        <p:spPr>
          <a:xfrm>
            <a:off x="7200900" y="3181350"/>
            <a:ext cx="3905250" cy="609600"/>
          </a:xfrm>
          <a:prstGeom prst="rect">
            <a:avLst/>
          </a:prstGeom>
          <a:noFill/>
          <a:ln w="0">
            <a:noFill/>
            <a:prstDash val="solid"/>
          </a:ln>
        </p:spPr>
        <p:txBody>
          <a:bodyPr wrap="square" lIns="0" tIns="0" rIns="0" bIns="0" anchor="t">
            <a:noAutofit/>
          </a:bodyPr>
          <a:lstStyle/>
          <a:p>
            <a:pPr algn="l">
              <a:lnSpc>
                <a:spcPct val="112000"/>
              </a:lnSpc>
              <a:buNone/>
              <a:defRPr sz="1575" b="0" i="0">
                <a:solidFill>
                  <a:srgbClr val="667174"/>
                </a:solidFill>
                <a:latin typeface="Arial"/>
                <a:ea typeface="Arial"/>
                <a:cs typeface="Arial"/>
              </a:defRPr>
            </a:pPr>
            <a:r>
              <a:rPr sz="1575" b="0" i="0">
                <a:solidFill>
                  <a:srgbClr val="667174"/>
                </a:solidFill>
                <a:latin typeface="Arial"/>
                <a:ea typeface="Arial"/>
                <a:cs typeface="Arial"/>
              </a:rPr>
              <a:t>Reviews, hygiene cues, preferences and history lived in different places.</a:t>
            </a:r>
          </a:p>
        </p:txBody>
      </p:sp>
      <p:sp>
        <p:nvSpPr>
          <p:cNvPr id="15" name="直接连接符 14">
            <a:extLst>
              <a:ext uri="{FF2B5EF4-FFF2-40B4-BE49-F238E27FC236}">
                <a16:creationId xmlns:a16="http://schemas.microsoft.com/office/drawing/2014/main" id="{EC2B83EF-5A48-4462-97CC-37738D961482}"/>
              </a:ext>
            </a:extLst>
          </p:cNvPr>
          <p:cNvSpPr>
            <a:spLocks noGrp="1"/>
          </p:cNvSpPr>
          <p:nvPr/>
        </p:nvSpPr>
        <p:spPr>
          <a:xfrm>
            <a:off x="6534150" y="3886200"/>
            <a:ext cx="4572000" cy="0"/>
          </a:xfrm>
          <a:prstGeom prst="line">
            <a:avLst/>
          </a:prstGeom>
          <a:noFill/>
          <a:ln w="9525">
            <a:solidFill>
              <a:srgbClr val="D8DDD9"/>
            </a:solidFill>
            <a:prstDash val="solid"/>
          </a:ln>
        </p:spPr>
        <p:txBody>
          <a:bodyPr/>
          <a:lstStyle/>
          <a:p>
            <a:endParaRPr/>
          </a:p>
        </p:txBody>
      </p:sp>
      <p:sp>
        <p:nvSpPr>
          <p:cNvPr id="16" name="矩形 15">
            <a:extLst>
              <a:ext uri="{FF2B5EF4-FFF2-40B4-BE49-F238E27FC236}">
                <a16:creationId xmlns:a16="http://schemas.microsoft.com/office/drawing/2014/main" id="{4BCF7F31-3ECC-400B-A14D-9DD447D08D51}"/>
              </a:ext>
            </a:extLst>
          </p:cNvPr>
          <p:cNvSpPr>
            <a:spLocks noGrp="1"/>
          </p:cNvSpPr>
          <p:nvPr/>
        </p:nvSpPr>
        <p:spPr>
          <a:xfrm>
            <a:off x="6534150" y="4171950"/>
            <a:ext cx="552450"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356B56"/>
                </a:solidFill>
                <a:latin typeface="Arial"/>
                <a:ea typeface="Arial"/>
                <a:cs typeface="Arial"/>
              </a:defRPr>
            </a:pPr>
            <a:r>
              <a:rPr sz="2025" b="1" i="0">
                <a:solidFill>
                  <a:srgbClr val="356B56"/>
                </a:solidFill>
                <a:latin typeface="Arial"/>
                <a:ea typeface="Arial"/>
                <a:cs typeface="Arial"/>
              </a:rPr>
              <a:t>03</a:t>
            </a:r>
          </a:p>
        </p:txBody>
      </p:sp>
      <p:sp>
        <p:nvSpPr>
          <p:cNvPr id="17" name="矩形 16">
            <a:extLst>
              <a:ext uri="{FF2B5EF4-FFF2-40B4-BE49-F238E27FC236}">
                <a16:creationId xmlns:a16="http://schemas.microsoft.com/office/drawing/2014/main" id="{62F3E74C-66F7-485F-8D3D-8D9DF945407D}"/>
              </a:ext>
            </a:extLst>
          </p:cNvPr>
          <p:cNvSpPr>
            <a:spLocks noGrp="1"/>
          </p:cNvSpPr>
          <p:nvPr/>
        </p:nvSpPr>
        <p:spPr>
          <a:xfrm>
            <a:off x="7200900" y="4171950"/>
            <a:ext cx="3524250" cy="32385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2025" b="1" i="0">
                <a:solidFill>
                  <a:srgbClr val="192526"/>
                </a:solidFill>
                <a:latin typeface="Arial"/>
                <a:ea typeface="Arial"/>
                <a:cs typeface="Arial"/>
              </a:rPr>
              <a:t>Still manual</a:t>
            </a:r>
          </a:p>
        </p:txBody>
      </p:sp>
      <p:sp>
        <p:nvSpPr>
          <p:cNvPr id="18" name="矩形 17">
            <a:extLst>
              <a:ext uri="{FF2B5EF4-FFF2-40B4-BE49-F238E27FC236}">
                <a16:creationId xmlns:a16="http://schemas.microsoft.com/office/drawing/2014/main" id="{28E8D748-70B6-4E2D-BD55-8776CD214C47}"/>
              </a:ext>
            </a:extLst>
          </p:cNvPr>
          <p:cNvSpPr>
            <a:spLocks noGrp="1"/>
          </p:cNvSpPr>
          <p:nvPr/>
        </p:nvSpPr>
        <p:spPr>
          <a:xfrm>
            <a:off x="7200900" y="4572000"/>
            <a:ext cx="3905250" cy="609600"/>
          </a:xfrm>
          <a:prstGeom prst="rect">
            <a:avLst/>
          </a:prstGeom>
          <a:noFill/>
          <a:ln w="0">
            <a:noFill/>
            <a:prstDash val="solid"/>
          </a:ln>
        </p:spPr>
        <p:txBody>
          <a:bodyPr wrap="square" lIns="0" tIns="0" rIns="0" bIns="0" anchor="t">
            <a:noAutofit/>
          </a:bodyPr>
          <a:lstStyle/>
          <a:p>
            <a:pPr algn="l">
              <a:lnSpc>
                <a:spcPct val="112000"/>
              </a:lnSpc>
              <a:buNone/>
              <a:defRPr sz="1575" b="0" i="0">
                <a:solidFill>
                  <a:srgbClr val="667174"/>
                </a:solidFill>
                <a:latin typeface="Arial"/>
                <a:ea typeface="Arial"/>
                <a:cs typeface="Arial"/>
              </a:defRPr>
            </a:pPr>
            <a:r>
              <a:rPr sz="1575" b="0" i="0">
                <a:solidFill>
                  <a:srgbClr val="667174"/>
                </a:solidFill>
                <a:latin typeface="Arial"/>
                <a:ea typeface="Arial"/>
                <a:cs typeface="Arial"/>
              </a:rPr>
              <a:t>Users had to search, compare and choose by themselves.</a:t>
            </a:r>
          </a:p>
        </p:txBody>
      </p:sp>
      <p:sp>
        <p:nvSpPr>
          <p:cNvPr id="19" name="矩形: 圆角 18">
            <a:extLst>
              <a:ext uri="{FF2B5EF4-FFF2-40B4-BE49-F238E27FC236}">
                <a16:creationId xmlns:a16="http://schemas.microsoft.com/office/drawing/2014/main" id="{4BEB28A7-D072-4447-B236-CD6979FEF4CA}"/>
              </a:ext>
            </a:extLst>
          </p:cNvPr>
          <p:cNvSpPr>
            <a:spLocks noGrp="1"/>
          </p:cNvSpPr>
          <p:nvPr/>
        </p:nvSpPr>
        <p:spPr>
          <a:xfrm>
            <a:off x="6534150" y="5486400"/>
            <a:ext cx="4572000" cy="552450"/>
          </a:xfrm>
          <a:prstGeom prst="roundRect">
            <a:avLst>
              <a:gd name="adj" fmla="val 20690"/>
            </a:avLst>
          </a:prstGeom>
          <a:solidFill>
            <a:srgbClr val="E7F0EB"/>
          </a:solidFill>
          <a:ln w="11430">
            <a:solidFill>
              <a:srgbClr val="4F806B"/>
            </a:solidFill>
            <a:prstDash val="solid"/>
          </a:ln>
        </p:spPr>
        <p:txBody>
          <a:bodyPr wrap="square" lIns="114300" tIns="95250" rIns="114300" bIns="95250" anchor="ctr">
            <a:noAutofit/>
          </a:bodyPr>
          <a:lstStyle/>
          <a:p>
            <a:pPr algn="ctr">
              <a:lnSpc>
                <a:spcPct val="100000"/>
              </a:lnSpc>
              <a:buNone/>
              <a:defRPr sz="1575" b="1">
                <a:solidFill>
                  <a:srgbClr val="356B56"/>
                </a:solidFill>
                <a:latin typeface="Arial"/>
                <a:ea typeface="Arial"/>
                <a:cs typeface="Arial"/>
              </a:defRPr>
            </a:pPr>
            <a:r>
              <a:rPr sz="1575" b="1">
                <a:solidFill>
                  <a:srgbClr val="356B56"/>
                </a:solidFill>
                <a:latin typeface="Arial"/>
                <a:ea typeface="Arial"/>
                <a:cs typeface="Arial"/>
              </a:rPr>
              <a:t>The need: reusable, personalised decision support.</a:t>
            </a:r>
          </a:p>
        </p:txBody>
      </p:sp>
    </p:spTree>
    <p:extLst>
      <p:ext uri="{BB962C8B-B14F-4D97-AF65-F5344CB8AC3E}">
        <p14:creationId xmlns:p14="http://schemas.microsoft.com/office/powerpoint/2010/main" val="599530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CDC3AEE0-BD23-4511-B77F-407ECBCB6533}"/>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4-title">
            <a:extLst>
              <a:ext uri="{FF2B5EF4-FFF2-40B4-BE49-F238E27FC236}">
                <a16:creationId xmlns:a16="http://schemas.microsoft.com/office/drawing/2014/main" id="{1F557715-BFC4-4E4B-9249-66AED0839996}"/>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lang="en-US" sz="3450" b="1" i="0" dirty="0">
                <a:solidFill>
                  <a:srgbClr val="192526"/>
                </a:solidFill>
                <a:latin typeface="Arial"/>
                <a:ea typeface="Arial"/>
                <a:cs typeface="Arial"/>
              </a:rPr>
              <a:t>We</a:t>
            </a:r>
            <a:r>
              <a:rPr sz="3450" b="1" i="0" dirty="0">
                <a:solidFill>
                  <a:srgbClr val="192526"/>
                </a:solidFill>
                <a:latin typeface="Arial"/>
                <a:ea typeface="Arial"/>
                <a:cs typeface="Arial"/>
              </a:rPr>
              <a:t> creates a continuous decision loop</a:t>
            </a:r>
          </a:p>
        </p:txBody>
      </p:sp>
      <p:sp>
        <p:nvSpPr>
          <p:cNvPr id="3" name="直接连接符 2">
            <a:extLst>
              <a:ext uri="{FF2B5EF4-FFF2-40B4-BE49-F238E27FC236}">
                <a16:creationId xmlns:a16="http://schemas.microsoft.com/office/drawing/2014/main" id="{BF51B786-4FBD-449C-82B0-3196680C07EC}"/>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96F9B3EE-8877-4720-A931-F99F92AC94D9}"/>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7554F262-1129-420B-8116-4641BE7223BE}"/>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04</a:t>
            </a:r>
          </a:p>
        </p:txBody>
      </p:sp>
      <p:sp>
        <p:nvSpPr>
          <p:cNvPr id="6" name="矩形: 圆角 5">
            <a:extLst>
              <a:ext uri="{FF2B5EF4-FFF2-40B4-BE49-F238E27FC236}">
                <a16:creationId xmlns:a16="http://schemas.microsoft.com/office/drawing/2014/main" id="{05127BAE-7622-4D6C-8A08-BEB0D80414A8}"/>
              </a:ext>
            </a:extLst>
          </p:cNvPr>
          <p:cNvSpPr>
            <a:spLocks noGrp="1"/>
          </p:cNvSpPr>
          <p:nvPr/>
        </p:nvSpPr>
        <p:spPr>
          <a:xfrm>
            <a:off x="590550" y="2286000"/>
            <a:ext cx="1790700" cy="1047750"/>
          </a:xfrm>
          <a:prstGeom prst="roundRect">
            <a:avLst>
              <a:gd name="adj" fmla="val 14545"/>
            </a:avLst>
          </a:prstGeom>
          <a:solidFill>
            <a:srgbClr val="F1F6F3"/>
          </a:solidFill>
          <a:ln w="12383">
            <a:solidFill>
              <a:srgbClr val="4F806B"/>
            </a:solidFill>
            <a:prstDash val="solid"/>
          </a:ln>
        </p:spPr>
        <p:txBody>
          <a:bodyPr wrap="square" lIns="114300" tIns="95250" rIns="114300" bIns="95250" anchor="ctr">
            <a:noAutofit/>
          </a:bodyPr>
          <a:lstStyle/>
          <a:p>
            <a:pPr algn="ctr">
              <a:lnSpc>
                <a:spcPct val="100000"/>
              </a:lnSpc>
              <a:buNone/>
              <a:defRPr sz="1800" b="1">
                <a:solidFill>
                  <a:srgbClr val="192526"/>
                </a:solidFill>
                <a:latin typeface="Arial"/>
                <a:ea typeface="Arial"/>
                <a:cs typeface="Arial"/>
              </a:defRPr>
            </a:pPr>
            <a:r>
              <a:rPr sz="1800" b="1" dirty="0">
                <a:solidFill>
                  <a:srgbClr val="192526"/>
                </a:solidFill>
                <a:latin typeface="Arial"/>
                <a:ea typeface="Arial"/>
                <a:cs typeface="Arial"/>
              </a:rPr>
              <a:t>Record</a:t>
            </a:r>
          </a:p>
          <a:p>
            <a:pPr algn="ctr">
              <a:lnSpc>
                <a:spcPct val="100000"/>
              </a:lnSpc>
              <a:buNone/>
              <a:defRPr sz="1800" b="1">
                <a:solidFill>
                  <a:srgbClr val="192526"/>
                </a:solidFill>
                <a:latin typeface="Arial"/>
                <a:ea typeface="Arial"/>
                <a:cs typeface="Arial"/>
              </a:defRPr>
            </a:pPr>
            <a:r>
              <a:rPr sz="1800" b="1" dirty="0">
                <a:solidFill>
                  <a:srgbClr val="192526"/>
                </a:solidFill>
                <a:latin typeface="Arial"/>
                <a:ea typeface="Arial"/>
                <a:cs typeface="Arial"/>
              </a:rPr>
              <a:t>&amp; share</a:t>
            </a:r>
          </a:p>
        </p:txBody>
      </p:sp>
      <p:sp>
        <p:nvSpPr>
          <p:cNvPr id="7" name="矩形: 圆角 6">
            <a:extLst>
              <a:ext uri="{FF2B5EF4-FFF2-40B4-BE49-F238E27FC236}">
                <a16:creationId xmlns:a16="http://schemas.microsoft.com/office/drawing/2014/main" id="{51F470FA-2ABF-4519-9751-CD0403DC2D5D}"/>
              </a:ext>
            </a:extLst>
          </p:cNvPr>
          <p:cNvSpPr>
            <a:spLocks noGrp="1"/>
          </p:cNvSpPr>
          <p:nvPr/>
        </p:nvSpPr>
        <p:spPr>
          <a:xfrm>
            <a:off x="2905125" y="2286000"/>
            <a:ext cx="1790700" cy="1047750"/>
          </a:xfrm>
          <a:prstGeom prst="roundRect">
            <a:avLst>
              <a:gd name="adj" fmla="val 14545"/>
            </a:avLst>
          </a:prstGeom>
          <a:solidFill>
            <a:srgbClr val="FFFFFF"/>
          </a:solidFill>
          <a:ln w="12383">
            <a:solidFill>
              <a:srgbClr val="4F806B"/>
            </a:solidFill>
            <a:prstDash val="solid"/>
          </a:ln>
        </p:spPr>
        <p:txBody>
          <a:bodyPr wrap="square" lIns="114300" tIns="95250" rIns="114300" bIns="95250" anchor="ctr">
            <a:noAutofit/>
          </a:bodyPr>
          <a:lstStyle/>
          <a:p>
            <a:pPr algn="ctr">
              <a:lnSpc>
                <a:spcPct val="100000"/>
              </a:lnSpc>
              <a:buNone/>
              <a:defRPr sz="1800" b="1">
                <a:solidFill>
                  <a:srgbClr val="192526"/>
                </a:solidFill>
                <a:latin typeface="Arial"/>
                <a:ea typeface="Arial"/>
                <a:cs typeface="Arial"/>
              </a:defRPr>
            </a:pPr>
            <a:r>
              <a:rPr sz="1800" b="1" dirty="0">
                <a:solidFill>
                  <a:srgbClr val="192526"/>
                </a:solidFill>
                <a:latin typeface="Arial"/>
                <a:ea typeface="Arial"/>
                <a:cs typeface="Arial"/>
              </a:rPr>
              <a:t>Retrieve trusted</a:t>
            </a:r>
          </a:p>
          <a:p>
            <a:pPr algn="ctr">
              <a:lnSpc>
                <a:spcPct val="100000"/>
              </a:lnSpc>
              <a:buNone/>
              <a:defRPr sz="1800" b="1">
                <a:solidFill>
                  <a:srgbClr val="192526"/>
                </a:solidFill>
                <a:latin typeface="Arial"/>
                <a:ea typeface="Arial"/>
                <a:cs typeface="Arial"/>
              </a:defRPr>
            </a:pPr>
            <a:r>
              <a:rPr lang="en-US" b="1" dirty="0" err="1">
                <a:solidFill>
                  <a:srgbClr val="192526"/>
                </a:solidFill>
                <a:latin typeface="Arial"/>
                <a:ea typeface="Arial"/>
                <a:cs typeface="Arial"/>
              </a:rPr>
              <a:t>datasource</a:t>
            </a:r>
            <a:endParaRPr sz="1800" b="1" dirty="0">
              <a:solidFill>
                <a:srgbClr val="192526"/>
              </a:solidFill>
              <a:latin typeface="Arial"/>
              <a:ea typeface="Arial"/>
              <a:cs typeface="Arial"/>
            </a:endParaRPr>
          </a:p>
        </p:txBody>
      </p:sp>
      <p:sp>
        <p:nvSpPr>
          <p:cNvPr id="8" name="矩形: 圆角 7">
            <a:extLst>
              <a:ext uri="{FF2B5EF4-FFF2-40B4-BE49-F238E27FC236}">
                <a16:creationId xmlns:a16="http://schemas.microsoft.com/office/drawing/2014/main" id="{4486B5D1-5945-4FDF-A57B-15EB539AA5AB}"/>
              </a:ext>
            </a:extLst>
          </p:cNvPr>
          <p:cNvSpPr>
            <a:spLocks noGrp="1"/>
          </p:cNvSpPr>
          <p:nvPr/>
        </p:nvSpPr>
        <p:spPr>
          <a:xfrm>
            <a:off x="5219700" y="2286000"/>
            <a:ext cx="1790700" cy="1047750"/>
          </a:xfrm>
          <a:prstGeom prst="roundRect">
            <a:avLst>
              <a:gd name="adj" fmla="val 14545"/>
            </a:avLst>
          </a:prstGeom>
          <a:solidFill>
            <a:srgbClr val="E7F0EB"/>
          </a:solidFill>
          <a:ln w="12383">
            <a:solidFill>
              <a:srgbClr val="4F806B"/>
            </a:solidFill>
            <a:prstDash val="solid"/>
          </a:ln>
        </p:spPr>
        <p:txBody>
          <a:bodyPr wrap="square" lIns="114300" tIns="95250" rIns="114300" bIns="95250" anchor="ctr">
            <a:noAutofit/>
          </a:bodyPr>
          <a:lstStyle/>
          <a:p>
            <a:pPr algn="ctr">
              <a:lnSpc>
                <a:spcPct val="100000"/>
              </a:lnSpc>
              <a:buNone/>
              <a:defRPr sz="1800" b="1">
                <a:solidFill>
                  <a:srgbClr val="192526"/>
                </a:solidFill>
                <a:latin typeface="Arial"/>
                <a:ea typeface="Arial"/>
                <a:cs typeface="Arial"/>
              </a:defRPr>
            </a:pPr>
            <a:r>
              <a:rPr lang="en-US" altLang="zh-CN" b="1" dirty="0">
                <a:solidFill>
                  <a:srgbClr val="192526"/>
                </a:solidFill>
                <a:latin typeface="Arial"/>
                <a:ea typeface="Arial"/>
                <a:cs typeface="Arial"/>
              </a:rPr>
              <a:t>Filter</a:t>
            </a:r>
            <a:endParaRPr sz="1800" b="1" dirty="0">
              <a:solidFill>
                <a:srgbClr val="192526"/>
              </a:solidFill>
              <a:latin typeface="Arial"/>
              <a:ea typeface="Arial"/>
              <a:cs typeface="Arial"/>
            </a:endParaRPr>
          </a:p>
        </p:txBody>
      </p:sp>
      <p:sp>
        <p:nvSpPr>
          <p:cNvPr id="9" name="矩形: 圆角 8">
            <a:extLst>
              <a:ext uri="{FF2B5EF4-FFF2-40B4-BE49-F238E27FC236}">
                <a16:creationId xmlns:a16="http://schemas.microsoft.com/office/drawing/2014/main" id="{5E254CF4-A2C2-497B-A2EA-945357DCBF4B}"/>
              </a:ext>
            </a:extLst>
          </p:cNvPr>
          <p:cNvSpPr>
            <a:spLocks noGrp="1"/>
          </p:cNvSpPr>
          <p:nvPr/>
        </p:nvSpPr>
        <p:spPr>
          <a:xfrm>
            <a:off x="7534275" y="2286000"/>
            <a:ext cx="1790700" cy="1047750"/>
          </a:xfrm>
          <a:prstGeom prst="roundRect">
            <a:avLst>
              <a:gd name="adj" fmla="val 14545"/>
            </a:avLst>
          </a:prstGeom>
          <a:solidFill>
            <a:srgbClr val="FFFFFF"/>
          </a:solidFill>
          <a:ln w="12383">
            <a:solidFill>
              <a:srgbClr val="4F806B"/>
            </a:solidFill>
            <a:prstDash val="solid"/>
          </a:ln>
        </p:spPr>
        <p:txBody>
          <a:bodyPr wrap="square" lIns="114300" tIns="95250" rIns="114300" bIns="95250" anchor="ctr">
            <a:noAutofit/>
          </a:bodyPr>
          <a:lstStyle/>
          <a:p>
            <a:pPr algn="ctr">
              <a:lnSpc>
                <a:spcPct val="100000"/>
              </a:lnSpc>
              <a:buNone/>
              <a:defRPr sz="1800" b="1">
                <a:solidFill>
                  <a:srgbClr val="192526"/>
                </a:solidFill>
                <a:latin typeface="Arial"/>
                <a:ea typeface="Arial"/>
                <a:cs typeface="Arial"/>
              </a:defRPr>
            </a:pPr>
            <a:r>
              <a:rPr sz="1800" b="1" dirty="0">
                <a:solidFill>
                  <a:srgbClr val="192526"/>
                </a:solidFill>
                <a:latin typeface="Arial"/>
                <a:ea typeface="Arial"/>
                <a:cs typeface="Arial"/>
              </a:rPr>
              <a:t>Explain</a:t>
            </a:r>
          </a:p>
          <a:p>
            <a:pPr algn="ctr">
              <a:lnSpc>
                <a:spcPct val="100000"/>
              </a:lnSpc>
              <a:buNone/>
              <a:defRPr sz="1800" b="1">
                <a:solidFill>
                  <a:srgbClr val="192526"/>
                </a:solidFill>
                <a:latin typeface="Arial"/>
                <a:ea typeface="Arial"/>
                <a:cs typeface="Arial"/>
              </a:defRPr>
            </a:pPr>
            <a:r>
              <a:rPr sz="1800" b="1" dirty="0">
                <a:solidFill>
                  <a:srgbClr val="192526"/>
                </a:solidFill>
                <a:latin typeface="Arial"/>
                <a:ea typeface="Arial"/>
                <a:cs typeface="Arial"/>
              </a:rPr>
              <a:t>&amp; </a:t>
            </a:r>
            <a:r>
              <a:rPr lang="en-US" sz="1800" b="1" dirty="0">
                <a:solidFill>
                  <a:srgbClr val="192526"/>
                </a:solidFill>
                <a:latin typeface="Arial"/>
                <a:ea typeface="Arial"/>
                <a:cs typeface="Arial"/>
              </a:rPr>
              <a:t>D</a:t>
            </a:r>
            <a:r>
              <a:rPr lang="en-US" sz="1800" b="1">
                <a:solidFill>
                  <a:srgbClr val="192526"/>
                </a:solidFill>
                <a:latin typeface="Arial"/>
                <a:ea typeface="Arial"/>
                <a:cs typeface="Arial"/>
              </a:rPr>
              <a:t>ecide</a:t>
            </a:r>
            <a:endParaRPr sz="1800" b="1" dirty="0">
              <a:solidFill>
                <a:srgbClr val="192526"/>
              </a:solidFill>
              <a:latin typeface="Arial"/>
              <a:ea typeface="Arial"/>
              <a:cs typeface="Arial"/>
            </a:endParaRPr>
          </a:p>
        </p:txBody>
      </p:sp>
      <p:sp>
        <p:nvSpPr>
          <p:cNvPr id="10" name="矩形: 圆角 9">
            <a:extLst>
              <a:ext uri="{FF2B5EF4-FFF2-40B4-BE49-F238E27FC236}">
                <a16:creationId xmlns:a16="http://schemas.microsoft.com/office/drawing/2014/main" id="{61282014-4C43-4FD3-8468-AB76A275276C}"/>
              </a:ext>
            </a:extLst>
          </p:cNvPr>
          <p:cNvSpPr>
            <a:spLocks noGrp="1"/>
          </p:cNvSpPr>
          <p:nvPr/>
        </p:nvSpPr>
        <p:spPr>
          <a:xfrm>
            <a:off x="9848850" y="2286000"/>
            <a:ext cx="1790700" cy="1047750"/>
          </a:xfrm>
          <a:prstGeom prst="roundRect">
            <a:avLst>
              <a:gd name="adj" fmla="val 14545"/>
            </a:avLst>
          </a:prstGeom>
          <a:solidFill>
            <a:srgbClr val="F4E8E1"/>
          </a:solidFill>
          <a:ln w="12383">
            <a:solidFill>
              <a:srgbClr val="B86143"/>
            </a:solidFill>
            <a:prstDash val="solid"/>
          </a:ln>
        </p:spPr>
        <p:txBody>
          <a:bodyPr wrap="square" lIns="114300" tIns="95250" rIns="114300" bIns="95250" anchor="ctr">
            <a:noAutofit/>
          </a:bodyPr>
          <a:lstStyle/>
          <a:p>
            <a:pPr algn="ctr">
              <a:lnSpc>
                <a:spcPct val="100000"/>
              </a:lnSpc>
              <a:buNone/>
              <a:defRPr sz="1800" b="1">
                <a:solidFill>
                  <a:srgbClr val="B86143"/>
                </a:solidFill>
                <a:latin typeface="Arial"/>
                <a:ea typeface="Arial"/>
                <a:cs typeface="Arial"/>
              </a:defRPr>
            </a:pPr>
            <a:r>
              <a:rPr sz="1800" b="1" dirty="0">
                <a:solidFill>
                  <a:srgbClr val="B86143"/>
                </a:solidFill>
                <a:latin typeface="Arial"/>
                <a:ea typeface="Arial"/>
                <a:cs typeface="Arial"/>
              </a:rPr>
              <a:t>Feedback</a:t>
            </a:r>
          </a:p>
        </p:txBody>
      </p:sp>
      <p:cxnSp>
        <p:nvCxnSpPr>
          <p:cNvPr id="59" name="直接箭头连接符 30"/>
          <p:cNvCxnSpPr>
            <a:stCxn id="6" idx="3"/>
            <a:endCxn id="7" idx="1"/>
          </p:cNvCxnSpPr>
          <p:nvPr/>
        </p:nvCxnSpPr>
        <p:spPr>
          <a:xfrm>
            <a:off x="2381250" y="2809875"/>
            <a:ext cx="523875" cy="0"/>
          </a:xfrm>
          <a:prstGeom prst="straightConnector1">
            <a:avLst/>
          </a:prstGeom>
          <a:ln w="19050">
            <a:solidFill>
              <a:srgbClr val="4F806B"/>
            </a:solidFill>
            <a:prstDash val="solid"/>
            <a:tailEnd type="arrow" w="sm" len="sm"/>
          </a:ln>
        </p:spPr>
      </p:cxnSp>
      <p:cxnSp>
        <p:nvCxnSpPr>
          <p:cNvPr id="60" name="直接箭头连接符 31"/>
          <p:cNvCxnSpPr>
            <a:stCxn id="7" idx="3"/>
            <a:endCxn id="8" idx="1"/>
          </p:cNvCxnSpPr>
          <p:nvPr/>
        </p:nvCxnSpPr>
        <p:spPr>
          <a:xfrm>
            <a:off x="4695825" y="2809875"/>
            <a:ext cx="523875" cy="0"/>
          </a:xfrm>
          <a:prstGeom prst="straightConnector1">
            <a:avLst/>
          </a:prstGeom>
          <a:ln w="19050">
            <a:solidFill>
              <a:srgbClr val="4F806B"/>
            </a:solidFill>
            <a:prstDash val="solid"/>
            <a:tailEnd type="arrow" w="sm" len="sm"/>
          </a:ln>
        </p:spPr>
      </p:cxnSp>
      <p:cxnSp>
        <p:nvCxnSpPr>
          <p:cNvPr id="61" name="直接箭头连接符 32"/>
          <p:cNvCxnSpPr>
            <a:stCxn id="8" idx="3"/>
            <a:endCxn id="9" idx="1"/>
          </p:cNvCxnSpPr>
          <p:nvPr/>
        </p:nvCxnSpPr>
        <p:spPr>
          <a:xfrm>
            <a:off x="7010400" y="2809875"/>
            <a:ext cx="523875" cy="0"/>
          </a:xfrm>
          <a:prstGeom prst="straightConnector1">
            <a:avLst/>
          </a:prstGeom>
          <a:ln w="19050">
            <a:solidFill>
              <a:srgbClr val="4F806B"/>
            </a:solidFill>
            <a:prstDash val="solid"/>
            <a:tailEnd type="arrow" w="sm" len="sm"/>
          </a:ln>
        </p:spPr>
      </p:cxnSp>
      <p:cxnSp>
        <p:nvCxnSpPr>
          <p:cNvPr id="62" name="直接箭头连接符 33"/>
          <p:cNvCxnSpPr>
            <a:stCxn id="9" idx="3"/>
            <a:endCxn id="10" idx="1"/>
          </p:cNvCxnSpPr>
          <p:nvPr/>
        </p:nvCxnSpPr>
        <p:spPr>
          <a:xfrm>
            <a:off x="9324975" y="2809875"/>
            <a:ext cx="523875" cy="0"/>
          </a:xfrm>
          <a:prstGeom prst="straightConnector1">
            <a:avLst/>
          </a:prstGeom>
          <a:ln w="19050">
            <a:solidFill>
              <a:srgbClr val="4F806B"/>
            </a:solidFill>
            <a:prstDash val="solid"/>
            <a:tailEnd type="arrow" w="sm" len="sm"/>
          </a:ln>
        </p:spPr>
      </p:cxnSp>
      <p:sp>
        <p:nvSpPr>
          <p:cNvPr id="15" name="矩形 14">
            <a:extLst>
              <a:ext uri="{FF2B5EF4-FFF2-40B4-BE49-F238E27FC236}">
                <a16:creationId xmlns:a16="http://schemas.microsoft.com/office/drawing/2014/main" id="{06A93E30-5A00-4871-8E9C-E19AB902E1D4}"/>
              </a:ext>
            </a:extLst>
          </p:cNvPr>
          <p:cNvSpPr>
            <a:spLocks noGrp="1"/>
          </p:cNvSpPr>
          <p:nvPr/>
        </p:nvSpPr>
        <p:spPr>
          <a:xfrm>
            <a:off x="590550" y="1885950"/>
            <a:ext cx="1790700" cy="228600"/>
          </a:xfrm>
          <a:prstGeom prst="rect">
            <a:avLst/>
          </a:prstGeom>
          <a:noFill/>
          <a:ln w="0">
            <a:noFill/>
            <a:prstDash val="solid"/>
          </a:ln>
        </p:spPr>
        <p:txBody>
          <a:bodyPr wrap="square" lIns="0" tIns="0" rIns="0" bIns="0" anchor="t">
            <a:noAutofit/>
          </a:bodyPr>
          <a:lstStyle/>
          <a:p>
            <a:pPr algn="ctr">
              <a:lnSpc>
                <a:spcPct val="105000"/>
              </a:lnSpc>
              <a:buNone/>
              <a:defRPr sz="1125" b="1" i="0">
                <a:solidFill>
                  <a:srgbClr val="667174"/>
                </a:solidFill>
                <a:latin typeface="Arial"/>
                <a:ea typeface="Arial"/>
                <a:cs typeface="Arial"/>
              </a:defRPr>
            </a:pPr>
            <a:r>
              <a:rPr sz="1125" b="1" i="0">
                <a:solidFill>
                  <a:srgbClr val="667174"/>
                </a:solidFill>
                <a:latin typeface="Arial"/>
                <a:ea typeface="Arial"/>
                <a:cs typeface="Arial"/>
              </a:rPr>
              <a:t>RECORD</a:t>
            </a:r>
          </a:p>
        </p:txBody>
      </p:sp>
      <p:sp>
        <p:nvSpPr>
          <p:cNvPr id="16" name="矩形 15">
            <a:extLst>
              <a:ext uri="{FF2B5EF4-FFF2-40B4-BE49-F238E27FC236}">
                <a16:creationId xmlns:a16="http://schemas.microsoft.com/office/drawing/2014/main" id="{8D8BB272-272F-4475-A1BF-168FB1A1941A}"/>
              </a:ext>
            </a:extLst>
          </p:cNvPr>
          <p:cNvSpPr>
            <a:spLocks noGrp="1"/>
          </p:cNvSpPr>
          <p:nvPr/>
        </p:nvSpPr>
        <p:spPr>
          <a:xfrm>
            <a:off x="2905125" y="1885950"/>
            <a:ext cx="4105275" cy="228600"/>
          </a:xfrm>
          <a:prstGeom prst="rect">
            <a:avLst/>
          </a:prstGeom>
          <a:noFill/>
          <a:ln w="0">
            <a:noFill/>
            <a:prstDash val="solid"/>
          </a:ln>
        </p:spPr>
        <p:txBody>
          <a:bodyPr wrap="square" lIns="0" tIns="0" rIns="0" bIns="0" anchor="t">
            <a:noAutofit/>
          </a:bodyPr>
          <a:lstStyle/>
          <a:p>
            <a:pPr algn="ctr">
              <a:lnSpc>
                <a:spcPct val="105000"/>
              </a:lnSpc>
              <a:buNone/>
              <a:defRPr sz="1125" b="1" i="0">
                <a:solidFill>
                  <a:srgbClr val="667174"/>
                </a:solidFill>
                <a:latin typeface="Arial"/>
                <a:ea typeface="Arial"/>
                <a:cs typeface="Arial"/>
              </a:defRPr>
            </a:pPr>
            <a:r>
              <a:rPr sz="1125" b="1" i="0">
                <a:solidFill>
                  <a:srgbClr val="667174"/>
                </a:solidFill>
                <a:latin typeface="Arial"/>
                <a:ea typeface="Arial"/>
                <a:cs typeface="Arial"/>
              </a:rPr>
              <a:t>UNDERSTAND</a:t>
            </a:r>
          </a:p>
        </p:txBody>
      </p:sp>
      <p:sp>
        <p:nvSpPr>
          <p:cNvPr id="17" name="矩形 16">
            <a:extLst>
              <a:ext uri="{FF2B5EF4-FFF2-40B4-BE49-F238E27FC236}">
                <a16:creationId xmlns:a16="http://schemas.microsoft.com/office/drawing/2014/main" id="{1271A37F-98DA-4293-BC02-FF382A5C3291}"/>
              </a:ext>
            </a:extLst>
          </p:cNvPr>
          <p:cNvSpPr>
            <a:spLocks noGrp="1"/>
          </p:cNvSpPr>
          <p:nvPr/>
        </p:nvSpPr>
        <p:spPr>
          <a:xfrm>
            <a:off x="7534275" y="1885950"/>
            <a:ext cx="4105275" cy="228600"/>
          </a:xfrm>
          <a:prstGeom prst="rect">
            <a:avLst/>
          </a:prstGeom>
          <a:noFill/>
          <a:ln w="0">
            <a:noFill/>
            <a:prstDash val="solid"/>
          </a:ln>
        </p:spPr>
        <p:txBody>
          <a:bodyPr wrap="square" lIns="0" tIns="0" rIns="0" bIns="0" anchor="t">
            <a:noAutofit/>
          </a:bodyPr>
          <a:lstStyle/>
          <a:p>
            <a:pPr algn="ctr">
              <a:lnSpc>
                <a:spcPct val="105000"/>
              </a:lnSpc>
              <a:buNone/>
              <a:defRPr sz="1125" b="1" i="0">
                <a:solidFill>
                  <a:srgbClr val="667174"/>
                </a:solidFill>
                <a:latin typeface="Arial"/>
                <a:ea typeface="Arial"/>
                <a:cs typeface="Arial"/>
              </a:defRPr>
            </a:pPr>
            <a:r>
              <a:rPr sz="1125" b="1" i="0">
                <a:solidFill>
                  <a:srgbClr val="667174"/>
                </a:solidFill>
                <a:latin typeface="Arial"/>
                <a:ea typeface="Arial"/>
                <a:cs typeface="Arial"/>
              </a:rPr>
              <a:t>ACT</a:t>
            </a:r>
          </a:p>
        </p:txBody>
      </p:sp>
      <p:sp>
        <p:nvSpPr>
          <p:cNvPr id="18" name="直接连接符 17">
            <a:extLst>
              <a:ext uri="{FF2B5EF4-FFF2-40B4-BE49-F238E27FC236}">
                <a16:creationId xmlns:a16="http://schemas.microsoft.com/office/drawing/2014/main" id="{EDC5D47F-5BD1-48C9-B134-C785D6DDF9C4}"/>
              </a:ext>
            </a:extLst>
          </p:cNvPr>
          <p:cNvSpPr>
            <a:spLocks noGrp="1"/>
          </p:cNvSpPr>
          <p:nvPr/>
        </p:nvSpPr>
        <p:spPr>
          <a:xfrm>
            <a:off x="1476375" y="4000500"/>
            <a:ext cx="9277350" cy="0"/>
          </a:xfrm>
          <a:prstGeom prst="line">
            <a:avLst/>
          </a:prstGeom>
          <a:noFill/>
          <a:ln w="19050">
            <a:solidFill>
              <a:srgbClr val="B86143"/>
            </a:solidFill>
            <a:prstDash val="dash"/>
          </a:ln>
        </p:spPr>
        <p:txBody>
          <a:bodyPr/>
          <a:lstStyle/>
          <a:p>
            <a:endParaRPr/>
          </a:p>
        </p:txBody>
      </p:sp>
      <p:sp>
        <p:nvSpPr>
          <p:cNvPr id="19" name="矩形 18">
            <a:extLst>
              <a:ext uri="{FF2B5EF4-FFF2-40B4-BE49-F238E27FC236}">
                <a16:creationId xmlns:a16="http://schemas.microsoft.com/office/drawing/2014/main" id="{800C1E15-BBFF-4C24-A1E7-F0F6F372E7E0}"/>
              </a:ext>
            </a:extLst>
          </p:cNvPr>
          <p:cNvSpPr>
            <a:spLocks noGrp="1"/>
          </p:cNvSpPr>
          <p:nvPr/>
        </p:nvSpPr>
        <p:spPr>
          <a:xfrm>
            <a:off x="4933950" y="3810000"/>
            <a:ext cx="2286000" cy="304800"/>
          </a:xfrm>
          <a:prstGeom prst="rect">
            <a:avLst/>
          </a:prstGeom>
          <a:solidFill>
            <a:srgbClr val="FAF9F6"/>
          </a:solidFill>
          <a:ln w="0">
            <a:noFill/>
            <a:prstDash val="solid"/>
          </a:ln>
        </p:spPr>
        <p:txBody>
          <a:bodyPr wrap="square" lIns="76200" tIns="19050" rIns="76200" bIns="19050" anchor="t">
            <a:noAutofit/>
          </a:bodyPr>
          <a:lstStyle/>
          <a:p>
            <a:pPr algn="ctr">
              <a:lnSpc>
                <a:spcPct val="105000"/>
              </a:lnSpc>
              <a:buNone/>
              <a:defRPr sz="1425" b="1" i="0">
                <a:solidFill>
                  <a:srgbClr val="B86143"/>
                </a:solidFill>
                <a:latin typeface="Arial"/>
                <a:ea typeface="Arial"/>
                <a:cs typeface="Arial"/>
              </a:defRPr>
            </a:pPr>
            <a:r>
              <a:rPr sz="1425" b="1" i="0">
                <a:solidFill>
                  <a:srgbClr val="B86143"/>
                </a:solidFill>
                <a:latin typeface="Arial"/>
                <a:ea typeface="Arial"/>
                <a:cs typeface="Arial"/>
              </a:rPr>
              <a:t>Learning loop</a:t>
            </a:r>
          </a:p>
        </p:txBody>
      </p:sp>
      <p:sp>
        <p:nvSpPr>
          <p:cNvPr id="20" name="矩形 19">
            <a:extLst>
              <a:ext uri="{FF2B5EF4-FFF2-40B4-BE49-F238E27FC236}">
                <a16:creationId xmlns:a16="http://schemas.microsoft.com/office/drawing/2014/main" id="{63FA8232-B078-4D0A-A716-23E05055BD51}"/>
              </a:ext>
            </a:extLst>
          </p:cNvPr>
          <p:cNvSpPr>
            <a:spLocks noGrp="1"/>
          </p:cNvSpPr>
          <p:nvPr/>
        </p:nvSpPr>
        <p:spPr>
          <a:xfrm>
            <a:off x="2038350" y="4819650"/>
            <a:ext cx="8115300" cy="704850"/>
          </a:xfrm>
          <a:prstGeom prst="rect">
            <a:avLst/>
          </a:prstGeom>
          <a:noFill/>
          <a:ln w="0">
            <a:noFill/>
            <a:prstDash val="solid"/>
          </a:ln>
        </p:spPr>
        <p:txBody>
          <a:bodyPr wrap="square" lIns="0" tIns="0" rIns="0" bIns="0" anchor="t">
            <a:noAutofit/>
          </a:bodyPr>
          <a:lstStyle/>
          <a:p>
            <a:pPr algn="ctr">
              <a:lnSpc>
                <a:spcPct val="115000"/>
              </a:lnSpc>
              <a:buNone/>
              <a:defRPr sz="1800" b="0" i="0">
                <a:solidFill>
                  <a:srgbClr val="667174"/>
                </a:solidFill>
                <a:latin typeface="Arial"/>
                <a:ea typeface="Arial"/>
                <a:cs typeface="Arial"/>
              </a:defRPr>
            </a:pPr>
            <a:r>
              <a:rPr sz="1800" b="0" i="0">
                <a:solidFill>
                  <a:srgbClr val="667174"/>
                </a:solidFill>
                <a:latin typeface="Arial"/>
                <a:ea typeface="Arial"/>
                <a:cs typeface="Arial"/>
              </a:rPr>
              <a:t>Same capabilities on Android and Web; one common backend keeps the experience and business rules consistent.</a:t>
            </a:r>
          </a:p>
        </p:txBody>
      </p:sp>
    </p:spTree>
    <p:extLst>
      <p:ext uri="{BB962C8B-B14F-4D97-AF65-F5344CB8AC3E}">
        <p14:creationId xmlns:p14="http://schemas.microsoft.com/office/powerpoint/2010/main" val="397194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C09B88D8-5A2C-4ABD-B80F-F225A4F35578}"/>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5-title">
            <a:extLst>
              <a:ext uri="{FF2B5EF4-FFF2-40B4-BE49-F238E27FC236}">
                <a16:creationId xmlns:a16="http://schemas.microsoft.com/office/drawing/2014/main" id="{AE5514DE-0AE5-4EA4-B7BA-C997393F72CA}"/>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lang="en-US" sz="3450" b="1" i="0" dirty="0">
                <a:solidFill>
                  <a:srgbClr val="192526"/>
                </a:solidFill>
                <a:latin typeface="Arial"/>
                <a:ea typeface="Arial"/>
                <a:cs typeface="Arial"/>
              </a:rPr>
              <a:t>How does this work?</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CC01E067-3ED8-4F25-B8B5-CEB0EC5DD098}"/>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AE9802B6-641D-4429-B4E6-6C9FE3AA88D9}"/>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051A17DA-C608-436A-B267-9F3384EE078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05</a:t>
            </a:r>
          </a:p>
        </p:txBody>
      </p:sp>
      <p:sp>
        <p:nvSpPr>
          <p:cNvPr id="6" name="矩形: 圆角 5">
            <a:extLst>
              <a:ext uri="{FF2B5EF4-FFF2-40B4-BE49-F238E27FC236}">
                <a16:creationId xmlns:a16="http://schemas.microsoft.com/office/drawing/2014/main" id="{3D064518-10E8-48C1-AE8E-0F808D039A08}"/>
              </a:ext>
            </a:extLst>
          </p:cNvPr>
          <p:cNvSpPr>
            <a:spLocks noGrp="1"/>
          </p:cNvSpPr>
          <p:nvPr/>
        </p:nvSpPr>
        <p:spPr>
          <a:xfrm>
            <a:off x="647700" y="1952625"/>
            <a:ext cx="2000250" cy="1123950"/>
          </a:xfrm>
          <a:prstGeom prst="roundRect">
            <a:avLst>
              <a:gd name="adj" fmla="val 11864"/>
            </a:avLst>
          </a:prstGeom>
          <a:solidFill>
            <a:srgbClr val="F1F6F3"/>
          </a:solidFill>
          <a:ln w="12383">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1</a:t>
            </a:r>
          </a:p>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CONTEXT</a:t>
            </a:r>
          </a:p>
        </p:txBody>
      </p:sp>
      <p:sp>
        <p:nvSpPr>
          <p:cNvPr id="7" name="矩形: 圆角 6">
            <a:extLst>
              <a:ext uri="{FF2B5EF4-FFF2-40B4-BE49-F238E27FC236}">
                <a16:creationId xmlns:a16="http://schemas.microsoft.com/office/drawing/2014/main" id="{CBC5C23E-A3E4-4581-B7B5-71B7108631EC}"/>
              </a:ext>
            </a:extLst>
          </p:cNvPr>
          <p:cNvSpPr>
            <a:spLocks noGrp="1"/>
          </p:cNvSpPr>
          <p:nvPr/>
        </p:nvSpPr>
        <p:spPr>
          <a:xfrm>
            <a:off x="3448050" y="1952625"/>
            <a:ext cx="2000250" cy="1123950"/>
          </a:xfrm>
          <a:prstGeom prst="roundRect">
            <a:avLst>
              <a:gd name="adj" fmla="val 11864"/>
            </a:avLst>
          </a:prstGeom>
          <a:solidFill>
            <a:srgbClr val="FFFFFF"/>
          </a:solidFill>
          <a:ln w="12383">
            <a:solidFill>
              <a:srgbClr val="4F806B"/>
            </a:solidFill>
            <a:prstDash val="solid"/>
          </a:ln>
        </p:spPr>
        <p:txBody>
          <a:bodyPr wrap="square" lIns="114300" tIns="95250" rIns="114300" bIns="95250" anchor="ctr">
            <a:noAutofit/>
          </a:bodyPr>
          <a:lstStyle/>
          <a:p>
            <a:pPr algn="ctr">
              <a:lnSpc>
                <a:spcPct val="100000"/>
              </a:lnSpc>
              <a:buNone/>
              <a:defRPr sz="1875" b="1">
                <a:solidFill>
                  <a:srgbClr val="192526"/>
                </a:solidFill>
                <a:latin typeface="Arial"/>
                <a:ea typeface="Arial"/>
                <a:cs typeface="Arial"/>
              </a:defRPr>
            </a:pPr>
            <a:r>
              <a:rPr sz="1875" b="1">
                <a:solidFill>
                  <a:srgbClr val="192526"/>
                </a:solidFill>
                <a:latin typeface="Arial"/>
                <a:ea typeface="Arial"/>
                <a:cs typeface="Arial"/>
              </a:rPr>
              <a:t>2</a:t>
            </a:r>
          </a:p>
          <a:p>
            <a:pPr algn="ctr">
              <a:lnSpc>
                <a:spcPct val="100000"/>
              </a:lnSpc>
              <a:buNone/>
              <a:defRPr sz="1875" b="1">
                <a:solidFill>
                  <a:srgbClr val="192526"/>
                </a:solidFill>
                <a:latin typeface="Arial"/>
                <a:ea typeface="Arial"/>
                <a:cs typeface="Arial"/>
              </a:defRPr>
            </a:pPr>
            <a:r>
              <a:rPr sz="1875" b="1">
                <a:solidFill>
                  <a:srgbClr val="192526"/>
                </a:solidFill>
                <a:latin typeface="Arial"/>
                <a:ea typeface="Arial"/>
                <a:cs typeface="Arial"/>
              </a:rPr>
              <a:t>CANDIDATES</a:t>
            </a:r>
          </a:p>
        </p:txBody>
      </p:sp>
      <p:sp>
        <p:nvSpPr>
          <p:cNvPr id="8" name="矩形: 圆角 7">
            <a:extLst>
              <a:ext uri="{FF2B5EF4-FFF2-40B4-BE49-F238E27FC236}">
                <a16:creationId xmlns:a16="http://schemas.microsoft.com/office/drawing/2014/main" id="{9CF9220D-7791-4626-B0C2-3EF1C4FC1300}"/>
              </a:ext>
            </a:extLst>
          </p:cNvPr>
          <p:cNvSpPr>
            <a:spLocks noGrp="1"/>
          </p:cNvSpPr>
          <p:nvPr/>
        </p:nvSpPr>
        <p:spPr>
          <a:xfrm>
            <a:off x="6248400" y="1952625"/>
            <a:ext cx="2247900" cy="1123950"/>
          </a:xfrm>
          <a:prstGeom prst="roundRect">
            <a:avLst>
              <a:gd name="adj" fmla="val 11864"/>
            </a:avLst>
          </a:prstGeom>
          <a:solidFill>
            <a:srgbClr val="E7F0EB"/>
          </a:solidFill>
          <a:ln w="12383">
            <a:solidFill>
              <a:srgbClr val="4F806B"/>
            </a:solidFill>
            <a:prstDash val="solid"/>
          </a:ln>
        </p:spPr>
        <p:txBody>
          <a:bodyPr wrap="square" lIns="114300" tIns="95250" rIns="114300" bIns="95250" anchor="ctr">
            <a:noAutofit/>
          </a:bodyPr>
          <a:lstStyle/>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3</a:t>
            </a:r>
          </a:p>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DECISION ENGINE</a:t>
            </a:r>
          </a:p>
        </p:txBody>
      </p:sp>
      <p:sp>
        <p:nvSpPr>
          <p:cNvPr id="9" name="矩形: 圆角 8">
            <a:extLst>
              <a:ext uri="{FF2B5EF4-FFF2-40B4-BE49-F238E27FC236}">
                <a16:creationId xmlns:a16="http://schemas.microsoft.com/office/drawing/2014/main" id="{F89D742D-8357-4334-B5F1-8E3C0EE3E59C}"/>
              </a:ext>
            </a:extLst>
          </p:cNvPr>
          <p:cNvSpPr>
            <a:spLocks noGrp="1"/>
          </p:cNvSpPr>
          <p:nvPr/>
        </p:nvSpPr>
        <p:spPr>
          <a:xfrm>
            <a:off x="9296400" y="1952625"/>
            <a:ext cx="2247900" cy="1123950"/>
          </a:xfrm>
          <a:prstGeom prst="roundRect">
            <a:avLst>
              <a:gd name="adj" fmla="val 11864"/>
            </a:avLst>
          </a:prstGeom>
          <a:solidFill>
            <a:srgbClr val="F4E8E1"/>
          </a:solidFill>
          <a:ln w="12383">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sz="1725" b="1" dirty="0">
                <a:solidFill>
                  <a:srgbClr val="B86143"/>
                </a:solidFill>
                <a:latin typeface="Arial"/>
                <a:ea typeface="Arial"/>
                <a:cs typeface="Arial"/>
              </a:rPr>
              <a:t>4</a:t>
            </a:r>
          </a:p>
          <a:p>
            <a:pPr algn="ctr">
              <a:lnSpc>
                <a:spcPct val="100000"/>
              </a:lnSpc>
              <a:buNone/>
              <a:defRPr sz="1725" b="1">
                <a:solidFill>
                  <a:srgbClr val="B86143"/>
                </a:solidFill>
                <a:latin typeface="Arial"/>
                <a:ea typeface="Arial"/>
                <a:cs typeface="Arial"/>
              </a:defRPr>
            </a:pPr>
            <a:r>
              <a:rPr lang="en-US" sz="1725" b="1" dirty="0">
                <a:solidFill>
                  <a:srgbClr val="B86143"/>
                </a:solidFill>
                <a:latin typeface="Arial"/>
                <a:ea typeface="Arial"/>
                <a:cs typeface="Arial"/>
              </a:rPr>
              <a:t>RESULT</a:t>
            </a:r>
            <a:endParaRPr sz="1725" b="1" dirty="0">
              <a:solidFill>
                <a:srgbClr val="B86143"/>
              </a:solidFill>
              <a:latin typeface="Arial"/>
              <a:ea typeface="Arial"/>
              <a:cs typeface="Arial"/>
            </a:endParaRPr>
          </a:p>
        </p:txBody>
      </p:sp>
      <p:cxnSp>
        <p:nvCxnSpPr>
          <p:cNvPr id="53" name="直接箭头连接符 28"/>
          <p:cNvCxnSpPr>
            <a:stCxn id="6" idx="3"/>
            <a:endCxn id="7" idx="1"/>
          </p:cNvCxnSpPr>
          <p:nvPr/>
        </p:nvCxnSpPr>
        <p:spPr>
          <a:xfrm>
            <a:off x="2647950" y="2514600"/>
            <a:ext cx="800100" cy="0"/>
          </a:xfrm>
          <a:prstGeom prst="straightConnector1">
            <a:avLst/>
          </a:prstGeom>
          <a:ln w="19050">
            <a:solidFill>
              <a:srgbClr val="4F806B"/>
            </a:solidFill>
            <a:prstDash val="solid"/>
            <a:tailEnd type="arrow" w="sm" len="sm"/>
          </a:ln>
        </p:spPr>
      </p:cxnSp>
      <p:cxnSp>
        <p:nvCxnSpPr>
          <p:cNvPr id="54" name="直接箭头连接符 29"/>
          <p:cNvCxnSpPr>
            <a:stCxn id="7" idx="3"/>
            <a:endCxn id="8" idx="1"/>
          </p:cNvCxnSpPr>
          <p:nvPr/>
        </p:nvCxnSpPr>
        <p:spPr>
          <a:xfrm>
            <a:off x="5448300" y="2514600"/>
            <a:ext cx="800100" cy="0"/>
          </a:xfrm>
          <a:prstGeom prst="straightConnector1">
            <a:avLst/>
          </a:prstGeom>
          <a:ln w="19050">
            <a:solidFill>
              <a:srgbClr val="4F806B"/>
            </a:solidFill>
            <a:prstDash val="solid"/>
            <a:tailEnd type="arrow" w="sm" len="sm"/>
          </a:ln>
        </p:spPr>
      </p:cxnSp>
      <p:cxnSp>
        <p:nvCxnSpPr>
          <p:cNvPr id="55" name="直接箭头连接符 30"/>
          <p:cNvCxnSpPr>
            <a:stCxn id="8" idx="3"/>
            <a:endCxn id="9" idx="1"/>
          </p:cNvCxnSpPr>
          <p:nvPr/>
        </p:nvCxnSpPr>
        <p:spPr>
          <a:xfrm>
            <a:off x="8496300" y="2514600"/>
            <a:ext cx="800100" cy="0"/>
          </a:xfrm>
          <a:prstGeom prst="straightConnector1">
            <a:avLst/>
          </a:prstGeom>
          <a:ln w="19050">
            <a:solidFill>
              <a:srgbClr val="4F806B"/>
            </a:solidFill>
            <a:prstDash val="solid"/>
            <a:tailEnd type="arrow" w="sm" len="sm"/>
          </a:ln>
        </p:spPr>
      </p:cxnSp>
      <p:sp>
        <p:nvSpPr>
          <p:cNvPr id="13" name="矩形 12">
            <a:extLst>
              <a:ext uri="{FF2B5EF4-FFF2-40B4-BE49-F238E27FC236}">
                <a16:creationId xmlns:a16="http://schemas.microsoft.com/office/drawing/2014/main" id="{BCCE1C85-B3BF-47F0-808D-3EB45B8688B5}"/>
              </a:ext>
            </a:extLst>
          </p:cNvPr>
          <p:cNvSpPr>
            <a:spLocks noGrp="1"/>
          </p:cNvSpPr>
          <p:nvPr/>
        </p:nvSpPr>
        <p:spPr>
          <a:xfrm>
            <a:off x="647700" y="3333750"/>
            <a:ext cx="2000250" cy="723900"/>
          </a:xfrm>
          <a:prstGeom prst="rect">
            <a:avLst/>
          </a:prstGeom>
          <a:noFill/>
          <a:ln w="0">
            <a:noFill/>
            <a:prstDash val="solid"/>
          </a:ln>
        </p:spPr>
        <p:txBody>
          <a:bodyPr wrap="square" lIns="0" tIns="0" rIns="0" bIns="0" anchor="t">
            <a:noAutofit/>
          </a:bodyPr>
          <a:lstStyle/>
          <a:p>
            <a:pPr algn="ctr">
              <a:lnSpc>
                <a:spcPct val="118000"/>
              </a:lnSpc>
              <a:buNone/>
              <a:defRPr sz="1500" b="0" i="0">
                <a:solidFill>
                  <a:srgbClr val="667174"/>
                </a:solidFill>
                <a:latin typeface="Arial"/>
                <a:ea typeface="Arial"/>
                <a:cs typeface="Arial"/>
              </a:defRPr>
            </a:pPr>
            <a:r>
              <a:rPr sz="1500" b="0" i="0" dirty="0">
                <a:solidFill>
                  <a:srgbClr val="667174"/>
                </a:solidFill>
                <a:latin typeface="Arial"/>
                <a:ea typeface="Arial"/>
                <a:cs typeface="Arial"/>
              </a:rPr>
              <a:t>Meal type  •  budget</a:t>
            </a:r>
          </a:p>
          <a:p>
            <a:pPr algn="ctr">
              <a:lnSpc>
                <a:spcPct val="118000"/>
              </a:lnSpc>
              <a:buNone/>
              <a:defRPr sz="1500" b="0" i="0">
                <a:solidFill>
                  <a:srgbClr val="667174"/>
                </a:solidFill>
                <a:latin typeface="Arial"/>
                <a:ea typeface="Arial"/>
                <a:cs typeface="Arial"/>
              </a:defRPr>
            </a:pPr>
            <a:r>
              <a:rPr sz="1500" b="0" i="0" dirty="0">
                <a:solidFill>
                  <a:srgbClr val="667174"/>
                </a:solidFill>
                <a:latin typeface="Arial"/>
                <a:ea typeface="Arial"/>
                <a:cs typeface="Arial"/>
              </a:rPr>
              <a:t>area  •  mood  •  time</a:t>
            </a:r>
          </a:p>
        </p:txBody>
      </p:sp>
      <p:sp>
        <p:nvSpPr>
          <p:cNvPr id="14" name="矩形 13">
            <a:extLst>
              <a:ext uri="{FF2B5EF4-FFF2-40B4-BE49-F238E27FC236}">
                <a16:creationId xmlns:a16="http://schemas.microsoft.com/office/drawing/2014/main" id="{892F7CBB-4D4C-4F2A-A825-79537B5E6A58}"/>
              </a:ext>
            </a:extLst>
          </p:cNvPr>
          <p:cNvSpPr>
            <a:spLocks noGrp="1"/>
          </p:cNvSpPr>
          <p:nvPr/>
        </p:nvSpPr>
        <p:spPr>
          <a:xfrm>
            <a:off x="3448050" y="3333750"/>
            <a:ext cx="2000250" cy="914400"/>
          </a:xfrm>
          <a:prstGeom prst="rect">
            <a:avLst/>
          </a:prstGeom>
          <a:noFill/>
          <a:ln w="0">
            <a:noFill/>
            <a:prstDash val="solid"/>
          </a:ln>
        </p:spPr>
        <p:txBody>
          <a:bodyPr wrap="square" lIns="0" tIns="0" rIns="0" bIns="0" anchor="t">
            <a:noAutofit/>
          </a:bodyPr>
          <a:lstStyle/>
          <a:p>
            <a:pPr algn="ctr">
              <a:lnSpc>
                <a:spcPct val="115000"/>
              </a:lnSpc>
              <a:buNone/>
              <a:defRPr sz="1500" b="0" i="0">
                <a:solidFill>
                  <a:srgbClr val="667174"/>
                </a:solidFill>
                <a:latin typeface="Arial"/>
                <a:ea typeface="Arial"/>
                <a:cs typeface="Arial"/>
              </a:defRPr>
            </a:pPr>
            <a:r>
              <a:rPr sz="1500" b="0" i="0">
                <a:solidFill>
                  <a:srgbClr val="667174"/>
                </a:solidFill>
                <a:latin typeface="Arial"/>
                <a:ea typeface="Arial"/>
                <a:cs typeface="Arial"/>
              </a:rPr>
              <a:t>User history</a:t>
            </a:r>
          </a:p>
          <a:p>
            <a:pPr algn="ctr">
              <a:lnSpc>
                <a:spcPct val="115000"/>
              </a:lnSpc>
              <a:buNone/>
              <a:defRPr sz="1500" b="0" i="0">
                <a:solidFill>
                  <a:srgbClr val="667174"/>
                </a:solidFill>
                <a:latin typeface="Arial"/>
                <a:ea typeface="Arial"/>
                <a:cs typeface="Arial"/>
              </a:defRPr>
            </a:pPr>
            <a:r>
              <a:rPr sz="1500" b="0" i="0">
                <a:solidFill>
                  <a:srgbClr val="667174"/>
                </a:solidFill>
                <a:latin typeface="Arial"/>
                <a:ea typeface="Arial"/>
                <a:cs typeface="Arial"/>
              </a:rPr>
              <a:t>authorised groups</a:t>
            </a:r>
          </a:p>
          <a:p>
            <a:pPr algn="ctr">
              <a:lnSpc>
                <a:spcPct val="115000"/>
              </a:lnSpc>
              <a:buNone/>
              <a:defRPr sz="1500" b="0" i="0">
                <a:solidFill>
                  <a:srgbClr val="667174"/>
                </a:solidFill>
                <a:latin typeface="Arial"/>
                <a:ea typeface="Arial"/>
                <a:cs typeface="Arial"/>
              </a:defRPr>
            </a:pPr>
            <a:r>
              <a:rPr sz="1500" b="0" i="0">
                <a:solidFill>
                  <a:srgbClr val="667174"/>
                </a:solidFill>
                <a:latin typeface="Arial"/>
                <a:ea typeface="Arial"/>
                <a:cs typeface="Arial"/>
              </a:rPr>
              <a:t>seed catalogue</a:t>
            </a:r>
          </a:p>
        </p:txBody>
      </p:sp>
      <p:sp>
        <p:nvSpPr>
          <p:cNvPr id="15" name="矩形 14">
            <a:extLst>
              <a:ext uri="{FF2B5EF4-FFF2-40B4-BE49-F238E27FC236}">
                <a16:creationId xmlns:a16="http://schemas.microsoft.com/office/drawing/2014/main" id="{F2CB7ABF-3252-43A1-994A-569452E24ACE}"/>
              </a:ext>
            </a:extLst>
          </p:cNvPr>
          <p:cNvSpPr>
            <a:spLocks noGrp="1"/>
          </p:cNvSpPr>
          <p:nvPr/>
        </p:nvSpPr>
        <p:spPr>
          <a:xfrm>
            <a:off x="6248400" y="3333750"/>
            <a:ext cx="2247900" cy="800100"/>
          </a:xfrm>
          <a:prstGeom prst="rect">
            <a:avLst/>
          </a:prstGeom>
          <a:noFill/>
          <a:ln w="0">
            <a:noFill/>
            <a:prstDash val="solid"/>
          </a:ln>
        </p:spPr>
        <p:txBody>
          <a:bodyPr wrap="square" lIns="0" tIns="0" rIns="0" bIns="0" anchor="t">
            <a:noAutofit/>
          </a:bodyPr>
          <a:lstStyle/>
          <a:p>
            <a:pPr algn="ctr">
              <a:lnSpc>
                <a:spcPct val="116000"/>
              </a:lnSpc>
              <a:buNone/>
              <a:defRPr sz="1500" b="0" i="0">
                <a:solidFill>
                  <a:srgbClr val="667174"/>
                </a:solidFill>
                <a:latin typeface="Arial"/>
                <a:ea typeface="Arial"/>
                <a:cs typeface="Arial"/>
              </a:defRPr>
            </a:pPr>
            <a:r>
              <a:rPr sz="1500" b="0" i="0">
                <a:solidFill>
                  <a:srgbClr val="667174"/>
                </a:solidFill>
                <a:latin typeface="Arial"/>
                <a:ea typeface="Arial"/>
                <a:cs typeface="Arial"/>
              </a:rPr>
              <a:t>Rules remove invalid items</a:t>
            </a:r>
          </a:p>
          <a:p>
            <a:pPr algn="ctr">
              <a:lnSpc>
                <a:spcPct val="116000"/>
              </a:lnSpc>
              <a:buNone/>
              <a:defRPr sz="1500" b="0" i="0">
                <a:solidFill>
                  <a:srgbClr val="667174"/>
                </a:solidFill>
                <a:latin typeface="Arial"/>
                <a:ea typeface="Arial"/>
                <a:cs typeface="Arial"/>
              </a:defRPr>
            </a:pPr>
            <a:r>
              <a:rPr sz="1500" b="0" i="0">
                <a:solidFill>
                  <a:srgbClr val="667174"/>
                </a:solidFill>
                <a:latin typeface="Arial"/>
                <a:ea typeface="Arial"/>
                <a:cs typeface="Arial"/>
              </a:rPr>
              <a:t>Hybrid Model ranks the rest</a:t>
            </a:r>
          </a:p>
        </p:txBody>
      </p:sp>
      <p:sp>
        <p:nvSpPr>
          <p:cNvPr id="16" name="矩形 15">
            <a:extLst>
              <a:ext uri="{FF2B5EF4-FFF2-40B4-BE49-F238E27FC236}">
                <a16:creationId xmlns:a16="http://schemas.microsoft.com/office/drawing/2014/main" id="{682BAE53-2915-488D-B181-F43E743256FD}"/>
              </a:ext>
            </a:extLst>
          </p:cNvPr>
          <p:cNvSpPr>
            <a:spLocks noGrp="1"/>
          </p:cNvSpPr>
          <p:nvPr/>
        </p:nvSpPr>
        <p:spPr>
          <a:xfrm>
            <a:off x="9296400" y="3333750"/>
            <a:ext cx="2247900" cy="914400"/>
          </a:xfrm>
          <a:prstGeom prst="rect">
            <a:avLst/>
          </a:prstGeom>
          <a:noFill/>
          <a:ln w="0">
            <a:noFill/>
            <a:prstDash val="solid"/>
          </a:ln>
        </p:spPr>
        <p:txBody>
          <a:bodyPr wrap="square" lIns="0" tIns="0" rIns="0" bIns="0" anchor="t">
            <a:noAutofit/>
          </a:bodyPr>
          <a:lstStyle/>
          <a:p>
            <a:pPr algn="ctr">
              <a:lnSpc>
                <a:spcPct val="115000"/>
              </a:lnSpc>
              <a:buNone/>
              <a:defRPr sz="1500" b="0" i="0">
                <a:solidFill>
                  <a:srgbClr val="667174"/>
                </a:solidFill>
                <a:latin typeface="Arial"/>
                <a:ea typeface="Arial"/>
                <a:cs typeface="Arial"/>
              </a:defRPr>
            </a:pPr>
            <a:r>
              <a:rPr lang="en-US" sz="1500" b="0" i="0" dirty="0">
                <a:solidFill>
                  <a:srgbClr val="667174"/>
                </a:solidFill>
                <a:latin typeface="Arial"/>
                <a:ea typeface="Arial"/>
                <a:cs typeface="Arial"/>
              </a:rPr>
              <a:t>Options</a:t>
            </a:r>
            <a:endParaRPr sz="1500" b="0" i="0" dirty="0">
              <a:solidFill>
                <a:srgbClr val="667174"/>
              </a:solidFill>
              <a:latin typeface="Arial"/>
              <a:ea typeface="Arial"/>
              <a:cs typeface="Arial"/>
            </a:endParaRPr>
          </a:p>
        </p:txBody>
      </p:sp>
      <p:sp>
        <p:nvSpPr>
          <p:cNvPr id="17" name="直接连接符 16">
            <a:extLst>
              <a:ext uri="{FF2B5EF4-FFF2-40B4-BE49-F238E27FC236}">
                <a16:creationId xmlns:a16="http://schemas.microsoft.com/office/drawing/2014/main" id="{50EA72C5-7ADE-4082-812F-25DBD3EC1300}"/>
              </a:ext>
            </a:extLst>
          </p:cNvPr>
          <p:cNvSpPr>
            <a:spLocks noGrp="1"/>
          </p:cNvSpPr>
          <p:nvPr/>
        </p:nvSpPr>
        <p:spPr>
          <a:xfrm>
            <a:off x="1066800" y="4781550"/>
            <a:ext cx="10058400" cy="0"/>
          </a:xfrm>
          <a:prstGeom prst="line">
            <a:avLst/>
          </a:prstGeom>
          <a:noFill/>
          <a:ln w="11430">
            <a:solidFill>
              <a:srgbClr val="D8DDD9"/>
            </a:solidFill>
            <a:prstDash val="solid"/>
          </a:ln>
        </p:spPr>
        <p:txBody>
          <a:bodyPr/>
          <a:lstStyle/>
          <a:p>
            <a:endParaRPr/>
          </a:p>
        </p:txBody>
      </p:sp>
      <p:sp>
        <p:nvSpPr>
          <p:cNvPr id="18" name="矩形 17">
            <a:extLst>
              <a:ext uri="{FF2B5EF4-FFF2-40B4-BE49-F238E27FC236}">
                <a16:creationId xmlns:a16="http://schemas.microsoft.com/office/drawing/2014/main" id="{54F5E1B0-3209-43B1-82B1-BE85EC699552}"/>
              </a:ext>
            </a:extLst>
          </p:cNvPr>
          <p:cNvSpPr>
            <a:spLocks noGrp="1"/>
          </p:cNvSpPr>
          <p:nvPr/>
        </p:nvSpPr>
        <p:spPr>
          <a:xfrm>
            <a:off x="1714500" y="5048250"/>
            <a:ext cx="8763000" cy="285750"/>
          </a:xfrm>
          <a:prstGeom prst="rect">
            <a:avLst/>
          </a:prstGeom>
          <a:noFill/>
          <a:ln w="0">
            <a:noFill/>
            <a:prstDash val="solid"/>
          </a:ln>
        </p:spPr>
        <p:txBody>
          <a:bodyPr wrap="square" lIns="0" tIns="0" rIns="0" bIns="0" anchor="t">
            <a:noAutofit/>
          </a:bodyPr>
          <a:lstStyle/>
          <a:p>
            <a:pPr algn="ctr">
              <a:lnSpc>
                <a:spcPct val="105000"/>
              </a:lnSpc>
              <a:buNone/>
              <a:defRPr sz="1500" b="1" i="0">
                <a:solidFill>
                  <a:srgbClr val="B86143"/>
                </a:solidFill>
                <a:latin typeface="Arial"/>
                <a:ea typeface="Arial"/>
                <a:cs typeface="Arial"/>
              </a:defRPr>
            </a:pPr>
            <a:r>
              <a:rPr sz="1500" b="1" i="0">
                <a:solidFill>
                  <a:srgbClr val="B86143"/>
                </a:solidFill>
                <a:latin typeface="Arial"/>
                <a:ea typeface="Arial"/>
                <a:cs typeface="Arial"/>
              </a:rPr>
              <a:t>ACCEPT  /  REJECT  /  RATE  /  WOULD EAT AGAIN</a:t>
            </a:r>
          </a:p>
        </p:txBody>
      </p:sp>
    </p:spTree>
    <p:extLst>
      <p:ext uri="{BB962C8B-B14F-4D97-AF65-F5344CB8AC3E}">
        <p14:creationId xmlns:p14="http://schemas.microsoft.com/office/powerpoint/2010/main" val="925019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E29A328-5DA3-43DB-BAEF-7AFFD4949947}"/>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3-title">
            <a:extLst>
              <a:ext uri="{FF2B5EF4-FFF2-40B4-BE49-F238E27FC236}">
                <a16:creationId xmlns:a16="http://schemas.microsoft.com/office/drawing/2014/main" id="{34D552F7-8950-438A-8772-EA5E7DF09267}"/>
              </a:ext>
            </a:extLst>
          </p:cNvPr>
          <p:cNvSpPr>
            <a:spLocks noGrp="1"/>
          </p:cNvSpPr>
          <p:nvPr/>
        </p:nvSpPr>
        <p:spPr>
          <a:xfrm>
            <a:off x="838200" y="457199"/>
            <a:ext cx="2933700" cy="1447763"/>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lang="en-US" sz="3450" b="1" dirty="0">
                <a:solidFill>
                  <a:srgbClr val="192526"/>
                </a:solidFill>
                <a:latin typeface="Arial"/>
                <a:ea typeface="Arial"/>
                <a:cs typeface="Arial"/>
              </a:rPr>
              <a:t>Use Cases Diagram</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4D5C249A-DDDE-48FC-B268-8250027B1410}"/>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7FB79DA-64F7-4600-88A3-51CA2DEC0914}"/>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D6B0823B-A8C4-4740-97F5-A96B465FD9EA}"/>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06</a:t>
            </a:r>
          </a:p>
        </p:txBody>
      </p:sp>
      <p:pic>
        <p:nvPicPr>
          <p:cNvPr id="14" name="FoodMind use-case diagram"/>
          <p:cNvPicPr>
            <a:picLocks noChangeAspect="1"/>
          </p:cNvPicPr>
          <p:nvPr/>
        </p:nvPicPr>
        <p:blipFill>
          <a:blip r:embed="rId3"/>
          <a:stretch/>
        </p:blipFill>
        <p:spPr>
          <a:xfrm>
            <a:off x="3771900" y="0"/>
            <a:ext cx="8420100" cy="6880273"/>
          </a:xfrm>
          <a:prstGeom prst="rect">
            <a:avLst/>
          </a:prstGeom>
        </p:spPr>
      </p:pic>
    </p:spTree>
    <p:extLst>
      <p:ext uri="{BB962C8B-B14F-4D97-AF65-F5344CB8AC3E}">
        <p14:creationId xmlns:p14="http://schemas.microsoft.com/office/powerpoint/2010/main" val="599530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B956062-6872-41BE-9D6C-5CF227C9207B}"/>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7-title">
            <a:extLst>
              <a:ext uri="{FF2B5EF4-FFF2-40B4-BE49-F238E27FC236}">
                <a16:creationId xmlns:a16="http://schemas.microsoft.com/office/drawing/2014/main" id="{4ED1C83C-7EF4-4EF0-8AC1-E96BD87B962A}"/>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4800" b="1" i="0">
                <a:solidFill>
                  <a:srgbClr val="192526"/>
                </a:solidFill>
                <a:latin typeface="Arial"/>
                <a:ea typeface="Arial"/>
                <a:cs typeface="Arial"/>
              </a:rPr>
              <a:t>Agents</a:t>
            </a:r>
            <a:r>
              <a:rPr lang="en-US" sz="3450" b="1" i="0">
                <a:solidFill>
                  <a:srgbClr val="192526"/>
                </a:solidFill>
                <a:latin typeface="Arial"/>
                <a:ea typeface="Arial"/>
                <a:cs typeface="Arial"/>
              </a:rPr>
              <a:t> Design</a:t>
            </a:r>
            <a:endParaRPr sz="3450" b="1" i="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A341B89E-F124-426E-A5F9-B5AFBBA3E267}"/>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EC0E0A4C-F0D9-46E6-B046-A8537669BB22}"/>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5CD27802-8175-4425-9FE4-0C8AE9E9911C}"/>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07</a:t>
            </a:r>
          </a:p>
        </p:txBody>
      </p:sp>
      <p:sp>
        <p:nvSpPr>
          <p:cNvPr id="6" name="矩形 5">
            <a:extLst>
              <a:ext uri="{FF2B5EF4-FFF2-40B4-BE49-F238E27FC236}">
                <a16:creationId xmlns:a16="http://schemas.microsoft.com/office/drawing/2014/main" id="{9352B7F0-DFF8-4F9D-8DB0-4E665B91A6C4}"/>
              </a:ext>
            </a:extLst>
          </p:cNvPr>
          <p:cNvSpPr>
            <a:spLocks noGrp="1"/>
          </p:cNvSpPr>
          <p:nvPr/>
        </p:nvSpPr>
        <p:spPr>
          <a:xfrm>
            <a:off x="6667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01</a:t>
            </a:r>
          </a:p>
        </p:txBody>
      </p:sp>
      <p:sp>
        <p:nvSpPr>
          <p:cNvPr id="7" name="矩形 6">
            <a:extLst>
              <a:ext uri="{FF2B5EF4-FFF2-40B4-BE49-F238E27FC236}">
                <a16:creationId xmlns:a16="http://schemas.microsoft.com/office/drawing/2014/main" id="{4FDCAFDD-857B-4537-B17A-7D0A76A984DA}"/>
              </a:ext>
            </a:extLst>
          </p:cNvPr>
          <p:cNvSpPr>
            <a:spLocks noGrp="1"/>
          </p:cNvSpPr>
          <p:nvPr/>
        </p:nvSpPr>
        <p:spPr>
          <a:xfrm>
            <a:off x="666750" y="2266950"/>
            <a:ext cx="302895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RECOMMENDATION</a:t>
            </a:r>
          </a:p>
        </p:txBody>
      </p:sp>
      <p:sp>
        <p:nvSpPr>
          <p:cNvPr id="8" name="矩形 7">
            <a:extLst>
              <a:ext uri="{FF2B5EF4-FFF2-40B4-BE49-F238E27FC236}">
                <a16:creationId xmlns:a16="http://schemas.microsoft.com/office/drawing/2014/main" id="{ECDF3DD6-B010-49CC-BF4F-F385485C684B}"/>
              </a:ext>
            </a:extLst>
          </p:cNvPr>
          <p:cNvSpPr>
            <a:spLocks noGrp="1"/>
          </p:cNvSpPr>
          <p:nvPr/>
        </p:nvSpPr>
        <p:spPr>
          <a:xfrm>
            <a:off x="666750" y="2838450"/>
            <a:ext cx="3143250" cy="342900"/>
          </a:xfrm>
          <a:prstGeom prst="rect">
            <a:avLst/>
          </a:prstGeom>
          <a:noFill/>
          <a:ln w="0">
            <a:noFill/>
            <a:prstDash val="solid"/>
          </a:ln>
        </p:spPr>
        <p:txBody>
          <a:bodyPr wrap="square" lIns="0" tIns="0" rIns="0" bIns="0" anchor="t">
            <a:noAutofit/>
          </a:bodyPr>
          <a:lstStyle/>
          <a:p>
            <a:pPr algn="l">
              <a:lnSpc>
                <a:spcPct val="105000"/>
              </a:lnSpc>
              <a:buNone/>
              <a:defRPr sz="2100" b="1" i="0">
                <a:solidFill>
                  <a:srgbClr val="192526"/>
                </a:solidFill>
                <a:latin typeface="Arial"/>
                <a:ea typeface="Arial"/>
                <a:cs typeface="Arial"/>
              </a:defRPr>
            </a:pPr>
            <a:r>
              <a:rPr sz="2100" b="1" i="0">
                <a:solidFill>
                  <a:srgbClr val="192526"/>
                </a:solidFill>
                <a:latin typeface="Arial"/>
                <a:ea typeface="Arial"/>
                <a:cs typeface="Arial"/>
              </a:rPr>
              <a:t>Recommendation Agent</a:t>
            </a:r>
          </a:p>
        </p:txBody>
      </p:sp>
      <p:sp>
        <p:nvSpPr>
          <p:cNvPr id="9" name="矩形 8">
            <a:extLst>
              <a:ext uri="{FF2B5EF4-FFF2-40B4-BE49-F238E27FC236}">
                <a16:creationId xmlns:a16="http://schemas.microsoft.com/office/drawing/2014/main" id="{787C9841-FF88-4D4E-AA6C-8A193C4723D4}"/>
              </a:ext>
            </a:extLst>
          </p:cNvPr>
          <p:cNvSpPr>
            <a:spLocks noGrp="1"/>
          </p:cNvSpPr>
          <p:nvPr/>
        </p:nvSpPr>
        <p:spPr>
          <a:xfrm>
            <a:off x="666750" y="3352800"/>
            <a:ext cx="3143250" cy="781050"/>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Retrieves, filters, ranks</a:t>
            </a:r>
          </a:p>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and explains meal options.</a:t>
            </a:r>
          </a:p>
        </p:txBody>
      </p:sp>
      <p:sp>
        <p:nvSpPr>
          <p:cNvPr id="10" name="直接连接符 9">
            <a:extLst>
              <a:ext uri="{FF2B5EF4-FFF2-40B4-BE49-F238E27FC236}">
                <a16:creationId xmlns:a16="http://schemas.microsoft.com/office/drawing/2014/main" id="{1C56C701-8F82-47CD-BDD7-ED96EB72BBEF}"/>
              </a:ext>
            </a:extLst>
          </p:cNvPr>
          <p:cNvSpPr>
            <a:spLocks noGrp="1"/>
          </p:cNvSpPr>
          <p:nvPr/>
        </p:nvSpPr>
        <p:spPr>
          <a:xfrm>
            <a:off x="4095750" y="1600200"/>
            <a:ext cx="0" cy="0"/>
          </a:xfrm>
          <a:prstGeom prst="line">
            <a:avLst/>
          </a:prstGeom>
          <a:noFill/>
          <a:ln w="9525">
            <a:solidFill>
              <a:srgbClr val="D8DDD9"/>
            </a:solidFill>
            <a:prstDash val="solid"/>
          </a:ln>
        </p:spPr>
        <p:txBody>
          <a:bodyPr/>
          <a:lstStyle/>
          <a:p>
            <a:endParaRPr/>
          </a:p>
        </p:txBody>
      </p:sp>
      <p:sp>
        <p:nvSpPr>
          <p:cNvPr id="11" name="直接连接符 10">
            <a:extLst>
              <a:ext uri="{FF2B5EF4-FFF2-40B4-BE49-F238E27FC236}">
                <a16:creationId xmlns:a16="http://schemas.microsoft.com/office/drawing/2014/main" id="{2D84C2BF-56E8-4F78-9260-8D7216B8A4DD}"/>
              </a:ext>
            </a:extLst>
          </p:cNvPr>
          <p:cNvSpPr>
            <a:spLocks noGrp="1"/>
          </p:cNvSpPr>
          <p:nvPr/>
        </p:nvSpPr>
        <p:spPr>
          <a:xfrm>
            <a:off x="4095750" y="1600200"/>
            <a:ext cx="0" cy="3810000"/>
          </a:xfrm>
          <a:prstGeom prst="line">
            <a:avLst/>
          </a:prstGeom>
          <a:noFill/>
          <a:ln w="11430">
            <a:solidFill>
              <a:srgbClr val="D8DDD9"/>
            </a:solidFill>
            <a:prstDash val="solid"/>
          </a:ln>
        </p:spPr>
        <p:txBody>
          <a:bodyPr/>
          <a:lstStyle/>
          <a:p>
            <a:endParaRPr/>
          </a:p>
        </p:txBody>
      </p:sp>
      <p:sp>
        <p:nvSpPr>
          <p:cNvPr id="12" name="矩形 11">
            <a:extLst>
              <a:ext uri="{FF2B5EF4-FFF2-40B4-BE49-F238E27FC236}">
                <a16:creationId xmlns:a16="http://schemas.microsoft.com/office/drawing/2014/main" id="{D125D16E-14AC-4F58-A313-9B437B19D038}"/>
              </a:ext>
            </a:extLst>
          </p:cNvPr>
          <p:cNvSpPr>
            <a:spLocks noGrp="1"/>
          </p:cNvSpPr>
          <p:nvPr/>
        </p:nvSpPr>
        <p:spPr>
          <a:xfrm>
            <a:off x="45148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02</a:t>
            </a:r>
          </a:p>
        </p:txBody>
      </p:sp>
      <p:sp>
        <p:nvSpPr>
          <p:cNvPr id="13" name="矩形 12">
            <a:extLst>
              <a:ext uri="{FF2B5EF4-FFF2-40B4-BE49-F238E27FC236}">
                <a16:creationId xmlns:a16="http://schemas.microsoft.com/office/drawing/2014/main" id="{A4B7B59B-775D-4C90-AB48-7B4D31F8B11F}"/>
              </a:ext>
            </a:extLst>
          </p:cNvPr>
          <p:cNvSpPr>
            <a:spLocks noGrp="1"/>
          </p:cNvSpPr>
          <p:nvPr/>
        </p:nvSpPr>
        <p:spPr>
          <a:xfrm>
            <a:off x="4514850" y="2266950"/>
            <a:ext cx="2857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COOKING</a:t>
            </a:r>
          </a:p>
        </p:txBody>
      </p:sp>
      <p:sp>
        <p:nvSpPr>
          <p:cNvPr id="14" name="矩形 13">
            <a:extLst>
              <a:ext uri="{FF2B5EF4-FFF2-40B4-BE49-F238E27FC236}">
                <a16:creationId xmlns:a16="http://schemas.microsoft.com/office/drawing/2014/main" id="{CFA48AD0-07F9-423D-9CDB-C34041D9C641}"/>
              </a:ext>
            </a:extLst>
          </p:cNvPr>
          <p:cNvSpPr>
            <a:spLocks noGrp="1"/>
          </p:cNvSpPr>
          <p:nvPr/>
        </p:nvSpPr>
        <p:spPr>
          <a:xfrm>
            <a:off x="4514850" y="2838450"/>
            <a:ext cx="3143250" cy="666750"/>
          </a:xfrm>
          <a:prstGeom prst="rect">
            <a:avLst/>
          </a:prstGeom>
          <a:noFill/>
          <a:ln w="0">
            <a:noFill/>
            <a:prstDash val="solid"/>
          </a:ln>
        </p:spPr>
        <p:txBody>
          <a:bodyPr wrap="square" lIns="0" tIns="0" rIns="0" bIns="0" anchor="t">
            <a:noAutofit/>
          </a:bodyPr>
          <a:lstStyle/>
          <a:p>
            <a:pPr algn="l">
              <a:lnSpc>
                <a:spcPct val="105000"/>
              </a:lnSpc>
              <a:buNone/>
              <a:defRPr sz="2100" b="1" i="0">
                <a:solidFill>
                  <a:srgbClr val="192526"/>
                </a:solidFill>
                <a:latin typeface="Arial"/>
                <a:ea typeface="Arial"/>
                <a:cs typeface="Arial"/>
              </a:defRPr>
            </a:pPr>
            <a:r>
              <a:rPr sz="2100" b="1" i="0">
                <a:solidFill>
                  <a:srgbClr val="192526"/>
                </a:solidFill>
                <a:latin typeface="Arial"/>
                <a:ea typeface="Arial"/>
                <a:cs typeface="Arial"/>
              </a:rPr>
              <a:t>Cooking Planner Agent</a:t>
            </a:r>
          </a:p>
        </p:txBody>
      </p:sp>
      <p:sp>
        <p:nvSpPr>
          <p:cNvPr id="15" name="矩形 14">
            <a:extLst>
              <a:ext uri="{FF2B5EF4-FFF2-40B4-BE49-F238E27FC236}">
                <a16:creationId xmlns:a16="http://schemas.microsoft.com/office/drawing/2014/main" id="{9645B9F1-427D-473B-89A2-6C755197386B}"/>
              </a:ext>
            </a:extLst>
          </p:cNvPr>
          <p:cNvSpPr>
            <a:spLocks noGrp="1"/>
          </p:cNvSpPr>
          <p:nvPr/>
        </p:nvSpPr>
        <p:spPr>
          <a:xfrm>
            <a:off x="4514850" y="3619500"/>
            <a:ext cx="3143250" cy="800100"/>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Uses ingredients, time, budget</a:t>
            </a:r>
          </a:p>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and dietary rules to build a plan.</a:t>
            </a:r>
          </a:p>
        </p:txBody>
      </p:sp>
      <p:sp>
        <p:nvSpPr>
          <p:cNvPr id="16" name="直接连接符 15">
            <a:extLst>
              <a:ext uri="{FF2B5EF4-FFF2-40B4-BE49-F238E27FC236}">
                <a16:creationId xmlns:a16="http://schemas.microsoft.com/office/drawing/2014/main" id="{F7CB57B3-C620-473C-8229-D4D3BFD6B310}"/>
              </a:ext>
            </a:extLst>
          </p:cNvPr>
          <p:cNvSpPr>
            <a:spLocks noGrp="1"/>
          </p:cNvSpPr>
          <p:nvPr/>
        </p:nvSpPr>
        <p:spPr>
          <a:xfrm>
            <a:off x="7953375" y="1600200"/>
            <a:ext cx="0" cy="3810000"/>
          </a:xfrm>
          <a:prstGeom prst="line">
            <a:avLst/>
          </a:prstGeom>
          <a:noFill/>
          <a:ln w="11430">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DA73F909-54A6-4C1A-AC4B-014176F3325C}"/>
              </a:ext>
            </a:extLst>
          </p:cNvPr>
          <p:cNvSpPr>
            <a:spLocks noGrp="1"/>
          </p:cNvSpPr>
          <p:nvPr/>
        </p:nvSpPr>
        <p:spPr>
          <a:xfrm>
            <a:off x="838200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B86143"/>
                </a:solidFill>
                <a:latin typeface="Arial"/>
                <a:ea typeface="Arial"/>
                <a:cs typeface="Arial"/>
              </a:defRPr>
            </a:pPr>
            <a:r>
              <a:rPr sz="2925" b="1" i="0">
                <a:solidFill>
                  <a:srgbClr val="B86143"/>
                </a:solidFill>
                <a:latin typeface="Arial"/>
                <a:ea typeface="Arial"/>
                <a:cs typeface="Arial"/>
              </a:rPr>
              <a:t>03</a:t>
            </a:r>
          </a:p>
        </p:txBody>
      </p:sp>
      <p:sp>
        <p:nvSpPr>
          <p:cNvPr id="18" name="矩形 17">
            <a:extLst>
              <a:ext uri="{FF2B5EF4-FFF2-40B4-BE49-F238E27FC236}">
                <a16:creationId xmlns:a16="http://schemas.microsoft.com/office/drawing/2014/main" id="{BAB93A56-DB33-4691-A7A1-B4EF2202AE05}"/>
              </a:ext>
            </a:extLst>
          </p:cNvPr>
          <p:cNvSpPr>
            <a:spLocks noGrp="1"/>
          </p:cNvSpPr>
          <p:nvPr/>
        </p:nvSpPr>
        <p:spPr>
          <a:xfrm>
            <a:off x="8382000" y="2266950"/>
            <a:ext cx="2476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CHATBOT</a:t>
            </a:r>
          </a:p>
        </p:txBody>
      </p:sp>
      <p:sp>
        <p:nvSpPr>
          <p:cNvPr id="19" name="矩形 18">
            <a:extLst>
              <a:ext uri="{FF2B5EF4-FFF2-40B4-BE49-F238E27FC236}">
                <a16:creationId xmlns:a16="http://schemas.microsoft.com/office/drawing/2014/main" id="{8CB6E57B-BBC5-4764-8E29-F4C92174A8F9}"/>
              </a:ext>
            </a:extLst>
          </p:cNvPr>
          <p:cNvSpPr>
            <a:spLocks noGrp="1"/>
          </p:cNvSpPr>
          <p:nvPr/>
        </p:nvSpPr>
        <p:spPr>
          <a:xfrm>
            <a:off x="8382000" y="2838450"/>
            <a:ext cx="3143250"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2025" b="1" i="0">
                <a:solidFill>
                  <a:srgbClr val="192526"/>
                </a:solidFill>
                <a:latin typeface="Arial"/>
                <a:ea typeface="Arial"/>
                <a:cs typeface="Arial"/>
              </a:rPr>
              <a:t>Chatbot Orchestrator</a:t>
            </a:r>
          </a:p>
        </p:txBody>
      </p:sp>
      <p:sp>
        <p:nvSpPr>
          <p:cNvPr id="20" name="矩形 19">
            <a:extLst>
              <a:ext uri="{FF2B5EF4-FFF2-40B4-BE49-F238E27FC236}">
                <a16:creationId xmlns:a16="http://schemas.microsoft.com/office/drawing/2014/main" id="{647C0D22-9731-46D7-9108-06E9A3AE4CF5}"/>
              </a:ext>
            </a:extLst>
          </p:cNvPr>
          <p:cNvSpPr>
            <a:spLocks noGrp="1"/>
          </p:cNvSpPr>
          <p:nvPr/>
        </p:nvSpPr>
        <p:spPr>
          <a:xfrm>
            <a:off x="8382000" y="3390900"/>
            <a:ext cx="3143250" cy="781050"/>
          </a:xfrm>
          <a:prstGeom prst="rect">
            <a:avLst/>
          </a:prstGeom>
          <a:noFill/>
          <a:ln w="0">
            <a:noFill/>
            <a:prstDash val="solid"/>
          </a:ln>
        </p:spPr>
        <p:txBody>
          <a:bodyPr wrap="square" lIns="0" tIns="0" rIns="0" bIns="0" anchor="t">
            <a:noAutofit/>
          </a:bodyPr>
          <a:lstStyle/>
          <a:p>
            <a:pPr algn="l">
              <a:lnSpc>
                <a:spcPct val="118000"/>
              </a:lnSpc>
              <a:buNone/>
              <a:defRPr sz="1725" b="1" i="0">
                <a:solidFill>
                  <a:srgbClr val="356B56"/>
                </a:solidFill>
                <a:latin typeface="Arial"/>
                <a:ea typeface="Arial"/>
                <a:cs typeface="Arial"/>
              </a:defRPr>
            </a:pPr>
            <a:r>
              <a:rPr sz="1725" b="1" i="0">
                <a:solidFill>
                  <a:srgbClr val="356B56"/>
                </a:solidFill>
                <a:latin typeface="Arial"/>
                <a:ea typeface="Arial"/>
                <a:cs typeface="Arial"/>
              </a:rPr>
              <a:t>Platform Search Agent</a:t>
            </a:r>
          </a:p>
          <a:p>
            <a:pPr algn="l">
              <a:lnSpc>
                <a:spcPct val="118000"/>
              </a:lnSpc>
              <a:buNone/>
              <a:defRPr sz="1725" b="1" i="0">
                <a:solidFill>
                  <a:srgbClr val="356B56"/>
                </a:solidFill>
                <a:latin typeface="Arial"/>
                <a:ea typeface="Arial"/>
                <a:cs typeface="Arial"/>
              </a:defRPr>
            </a:pPr>
            <a:r>
              <a:rPr sz="1725" b="1" i="0">
                <a:solidFill>
                  <a:srgbClr val="356B56"/>
                </a:solidFill>
                <a:latin typeface="Arial"/>
                <a:ea typeface="Arial"/>
                <a:cs typeface="Arial"/>
              </a:rPr>
              <a:t>Content Summary Agent</a:t>
            </a:r>
          </a:p>
        </p:txBody>
      </p:sp>
      <p:sp>
        <p:nvSpPr>
          <p:cNvPr id="21" name="矩形 20">
            <a:extLst>
              <a:ext uri="{FF2B5EF4-FFF2-40B4-BE49-F238E27FC236}">
                <a16:creationId xmlns:a16="http://schemas.microsoft.com/office/drawing/2014/main" id="{72A8EB44-5E42-421D-B89D-6823AA8C8A25}"/>
              </a:ext>
            </a:extLst>
          </p:cNvPr>
          <p:cNvSpPr>
            <a:spLocks noGrp="1"/>
          </p:cNvSpPr>
          <p:nvPr/>
        </p:nvSpPr>
        <p:spPr>
          <a:xfrm>
            <a:off x="8382000" y="4362450"/>
            <a:ext cx="2952750" cy="323850"/>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sz="1500" b="0" i="0">
                <a:solidFill>
                  <a:srgbClr val="667174"/>
                </a:solidFill>
                <a:latin typeface="Arial"/>
                <a:ea typeface="Arial"/>
                <a:cs typeface="Arial"/>
              </a:rPr>
              <a:t>Authorised platform content only.</a:t>
            </a:r>
          </a:p>
        </p:txBody>
      </p:sp>
      <p:sp>
        <p:nvSpPr>
          <p:cNvPr id="22" name="矩形: 圆角 21">
            <a:extLst>
              <a:ext uri="{FF2B5EF4-FFF2-40B4-BE49-F238E27FC236}">
                <a16:creationId xmlns:a16="http://schemas.microsoft.com/office/drawing/2014/main" id="{961C28F3-AD1E-4910-AAE4-66563CF2BBC2}"/>
              </a:ext>
            </a:extLst>
          </p:cNvPr>
          <p:cNvSpPr>
            <a:spLocks noGrp="1"/>
          </p:cNvSpPr>
          <p:nvPr/>
        </p:nvSpPr>
        <p:spPr>
          <a:xfrm>
            <a:off x="1562100" y="5476875"/>
            <a:ext cx="9067800" cy="609600"/>
          </a:xfrm>
          <a:prstGeom prst="roundRect">
            <a:avLst>
              <a:gd name="adj" fmla="val 18750"/>
            </a:avLst>
          </a:prstGeom>
          <a:solidFill>
            <a:srgbClr val="E7F0EB"/>
          </a:solidFill>
          <a:ln w="10478">
            <a:solidFill>
              <a:srgbClr val="4F806B"/>
            </a:solidFill>
            <a:prstDash val="solid"/>
          </a:ln>
        </p:spPr>
        <p:txBody>
          <a:bodyPr wrap="square" lIns="114300" tIns="95250" rIns="114300" bIns="95250" anchor="ctr">
            <a:noAutofit/>
          </a:bodyPr>
          <a:lstStyle/>
          <a:p>
            <a:pPr algn="ctr">
              <a:lnSpc>
                <a:spcPct val="100000"/>
              </a:lnSpc>
              <a:buNone/>
              <a:defRPr sz="1425" b="1">
                <a:solidFill>
                  <a:srgbClr val="356B56"/>
                </a:solidFill>
                <a:latin typeface="Arial"/>
                <a:ea typeface="Arial"/>
                <a:cs typeface="Arial"/>
              </a:defRPr>
            </a:pPr>
            <a:r>
              <a:rPr sz="1425" b="1">
                <a:solidFill>
                  <a:srgbClr val="356B56"/>
                </a:solidFill>
                <a:latin typeface="Arial"/>
                <a:ea typeface="Arial"/>
                <a:cs typeface="Arial"/>
              </a:rPr>
              <a:t>LangGraph manages state, routing, timeouts and traces. Agents use allow-listed tools and cannot cross into another AI workflow.</a:t>
            </a:r>
          </a:p>
        </p:txBody>
      </p:sp>
    </p:spTree>
    <p:extLst>
      <p:ext uri="{BB962C8B-B14F-4D97-AF65-F5344CB8AC3E}">
        <p14:creationId xmlns:p14="http://schemas.microsoft.com/office/powerpoint/2010/main" val="58426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20D9A2E1-E88C-4CD7-A1F2-31591B67242C}"/>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6-title">
            <a:extLst>
              <a:ext uri="{FF2B5EF4-FFF2-40B4-BE49-F238E27FC236}">
                <a16:creationId xmlns:a16="http://schemas.microsoft.com/office/drawing/2014/main" id="{1CD4F976-F6EC-44DF-A807-6C4723A99DF5}"/>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dirty="0">
                <a:solidFill>
                  <a:srgbClr val="192526"/>
                </a:solidFill>
                <a:latin typeface="Arial"/>
                <a:ea typeface="Arial"/>
                <a:cs typeface="Arial"/>
              </a:rPr>
              <a:t>Hybrid </a:t>
            </a:r>
            <a:r>
              <a:rPr lang="en-US" altLang="zh-CN" sz="4400" b="1" i="0" dirty="0">
                <a:solidFill>
                  <a:srgbClr val="192526"/>
                </a:solidFill>
                <a:latin typeface="Arial"/>
                <a:ea typeface="Arial"/>
                <a:cs typeface="Arial"/>
              </a:rPr>
              <a:t>Machine Learning </a:t>
            </a:r>
            <a:r>
              <a:rPr sz="3450" b="1" i="0" dirty="0">
                <a:solidFill>
                  <a:srgbClr val="192526"/>
                </a:solidFill>
                <a:latin typeface="Arial"/>
                <a:ea typeface="Arial"/>
                <a:cs typeface="Arial"/>
              </a:rPr>
              <a:t>Mode</a:t>
            </a:r>
            <a:r>
              <a:rPr lang="en-US" sz="3450" b="1" i="0" dirty="0">
                <a:solidFill>
                  <a:srgbClr val="192526"/>
                </a:solidFill>
                <a:latin typeface="Arial"/>
                <a:ea typeface="Arial"/>
                <a:cs typeface="Arial"/>
              </a:rPr>
              <a:t>l</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64BDC852-FFF9-4B14-9524-41E98C54B4D5}"/>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47B87D9-1A84-4FCE-A6DF-C153C65CB3AF}"/>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EAAD4A59-037F-44E1-B97D-64D01F56FA8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08</a:t>
            </a:r>
          </a:p>
        </p:txBody>
      </p:sp>
      <p:sp>
        <p:nvSpPr>
          <p:cNvPr id="6" name="矩形: 圆角 5">
            <a:extLst>
              <a:ext uri="{FF2B5EF4-FFF2-40B4-BE49-F238E27FC236}">
                <a16:creationId xmlns:a16="http://schemas.microsoft.com/office/drawing/2014/main" id="{D39B4821-DF72-4F57-8014-DFCF4D69EC74}"/>
              </a:ext>
            </a:extLst>
          </p:cNvPr>
          <p:cNvSpPr>
            <a:spLocks noGrp="1"/>
          </p:cNvSpPr>
          <p:nvPr/>
        </p:nvSpPr>
        <p:spPr>
          <a:xfrm>
            <a:off x="666750" y="1504950"/>
            <a:ext cx="2095500" cy="685800"/>
          </a:xfrm>
          <a:prstGeom prst="roundRect">
            <a:avLst>
              <a:gd name="adj" fmla="val 19444"/>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800" b="1">
                <a:solidFill>
                  <a:srgbClr val="B86143"/>
                </a:solidFill>
                <a:latin typeface="Arial"/>
                <a:ea typeface="Arial"/>
                <a:cs typeface="Arial"/>
              </a:defRPr>
            </a:pPr>
            <a:r>
              <a:rPr sz="1800" b="1">
                <a:solidFill>
                  <a:srgbClr val="B86143"/>
                </a:solidFill>
                <a:latin typeface="Arial"/>
                <a:ea typeface="Arial"/>
                <a:cs typeface="Arial"/>
              </a:rPr>
              <a:t>HARD RULES</a:t>
            </a:r>
          </a:p>
        </p:txBody>
      </p:sp>
      <p:sp>
        <p:nvSpPr>
          <p:cNvPr id="7" name="矩形 6">
            <a:extLst>
              <a:ext uri="{FF2B5EF4-FFF2-40B4-BE49-F238E27FC236}">
                <a16:creationId xmlns:a16="http://schemas.microsoft.com/office/drawing/2014/main" id="{D3194691-C257-434B-BE46-B9BA9B7E2D8B}"/>
              </a:ext>
            </a:extLst>
          </p:cNvPr>
          <p:cNvSpPr>
            <a:spLocks noGrp="1"/>
          </p:cNvSpPr>
          <p:nvPr/>
        </p:nvSpPr>
        <p:spPr>
          <a:xfrm>
            <a:off x="3105150" y="1676400"/>
            <a:ext cx="7924800" cy="361950"/>
          </a:xfrm>
          <a:prstGeom prst="rect">
            <a:avLst/>
          </a:prstGeom>
          <a:noFill/>
          <a:ln w="0">
            <a:noFill/>
            <a:prstDash val="solid"/>
          </a:ln>
        </p:spPr>
        <p:txBody>
          <a:bodyPr wrap="square" lIns="0" tIns="0" rIns="0" bIns="0" anchor="ctr">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Allergies  •  dietary restrictions  •  budget  •  spice  •  repetition</a:t>
            </a:r>
          </a:p>
        </p:txBody>
      </p:sp>
      <p:sp>
        <p:nvSpPr>
          <p:cNvPr id="8" name="直接连接符 7">
            <a:extLst>
              <a:ext uri="{FF2B5EF4-FFF2-40B4-BE49-F238E27FC236}">
                <a16:creationId xmlns:a16="http://schemas.microsoft.com/office/drawing/2014/main" id="{E760F973-9230-422D-8A49-332BEC24B114}"/>
              </a:ext>
            </a:extLst>
          </p:cNvPr>
          <p:cNvSpPr>
            <a:spLocks noGrp="1"/>
          </p:cNvSpPr>
          <p:nvPr/>
        </p:nvSpPr>
        <p:spPr>
          <a:xfrm>
            <a:off x="666750" y="2400300"/>
            <a:ext cx="10363200" cy="0"/>
          </a:xfrm>
          <a:prstGeom prst="line">
            <a:avLst/>
          </a:prstGeom>
          <a:noFill/>
          <a:ln w="11430">
            <a:solidFill>
              <a:srgbClr val="D8DDD9"/>
            </a:solidFill>
            <a:prstDash val="solid"/>
          </a:ln>
        </p:spPr>
        <p:txBody>
          <a:bodyPr/>
          <a:lstStyle/>
          <a:p>
            <a:endParaRPr/>
          </a:p>
        </p:txBody>
      </p:sp>
      <p:sp>
        <p:nvSpPr>
          <p:cNvPr id="9" name="矩形: 圆角 8">
            <a:extLst>
              <a:ext uri="{FF2B5EF4-FFF2-40B4-BE49-F238E27FC236}">
                <a16:creationId xmlns:a16="http://schemas.microsoft.com/office/drawing/2014/main" id="{05163E14-23F6-464C-8A79-C281D2026393}"/>
              </a:ext>
            </a:extLst>
          </p:cNvPr>
          <p:cNvSpPr>
            <a:spLocks noGrp="1"/>
          </p:cNvSpPr>
          <p:nvPr/>
        </p:nvSpPr>
        <p:spPr>
          <a:xfrm>
            <a:off x="666750" y="3009900"/>
            <a:ext cx="5295900" cy="2152650"/>
          </a:xfrm>
          <a:prstGeom prst="roundRect">
            <a:avLst>
              <a:gd name="adj" fmla="val 7080"/>
            </a:avLst>
          </a:prstGeom>
          <a:solidFill>
            <a:srgbClr val="FFFFFF"/>
          </a:solidFill>
          <a:ln w="12383">
            <a:solidFill>
              <a:srgbClr val="4F806B"/>
            </a:solidFill>
            <a:prstDash val="solid"/>
          </a:ln>
        </p:spPr>
        <p:txBody>
          <a:bodyPr/>
          <a:lstStyle/>
          <a:p>
            <a:endParaRPr/>
          </a:p>
        </p:txBody>
      </p:sp>
      <p:sp>
        <p:nvSpPr>
          <p:cNvPr id="10" name="矩形 9">
            <a:extLst>
              <a:ext uri="{FF2B5EF4-FFF2-40B4-BE49-F238E27FC236}">
                <a16:creationId xmlns:a16="http://schemas.microsoft.com/office/drawing/2014/main" id="{4FF74F85-90D6-4288-8D8E-B211DAC6627C}"/>
              </a:ext>
            </a:extLst>
          </p:cNvPr>
          <p:cNvSpPr>
            <a:spLocks noGrp="1"/>
          </p:cNvSpPr>
          <p:nvPr/>
        </p:nvSpPr>
        <p:spPr>
          <a:xfrm>
            <a:off x="933450" y="3219450"/>
            <a:ext cx="2286000" cy="266700"/>
          </a:xfrm>
          <a:prstGeom prst="rect">
            <a:avLst/>
          </a:prstGeom>
          <a:noFill/>
          <a:ln w="0">
            <a:noFill/>
            <a:prstDash val="solid"/>
          </a:ln>
        </p:spPr>
        <p:txBody>
          <a:bodyPr wrap="square" lIns="0" tIns="0" rIns="0" bIns="0" anchor="t">
            <a:noAutofit/>
          </a:bodyPr>
          <a:lstStyle/>
          <a:p>
            <a:pPr algn="l">
              <a:lnSpc>
                <a:spcPct val="105000"/>
              </a:lnSpc>
              <a:buNone/>
              <a:defRPr sz="1425" b="1" i="0">
                <a:solidFill>
                  <a:srgbClr val="356B56"/>
                </a:solidFill>
                <a:latin typeface="Arial"/>
                <a:ea typeface="Arial"/>
                <a:cs typeface="Arial"/>
              </a:defRPr>
            </a:pPr>
            <a:r>
              <a:rPr sz="1425" b="1" i="0">
                <a:solidFill>
                  <a:srgbClr val="356B56"/>
                </a:solidFill>
                <a:latin typeface="Arial"/>
                <a:ea typeface="Arial"/>
                <a:cs typeface="Arial"/>
              </a:rPr>
              <a:t>MODEL FEATURES</a:t>
            </a:r>
          </a:p>
        </p:txBody>
      </p:sp>
      <p:sp>
        <p:nvSpPr>
          <p:cNvPr id="11" name="矩形 10">
            <a:extLst>
              <a:ext uri="{FF2B5EF4-FFF2-40B4-BE49-F238E27FC236}">
                <a16:creationId xmlns:a16="http://schemas.microsoft.com/office/drawing/2014/main" id="{AB8C57AB-E7F7-4555-A106-59714108791D}"/>
              </a:ext>
            </a:extLst>
          </p:cNvPr>
          <p:cNvSpPr>
            <a:spLocks noGrp="1"/>
          </p:cNvSpPr>
          <p:nvPr/>
        </p:nvSpPr>
        <p:spPr>
          <a:xfrm>
            <a:off x="933450" y="369570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UserCF</a:t>
            </a:r>
          </a:p>
        </p:txBody>
      </p:sp>
      <p:sp>
        <p:nvSpPr>
          <p:cNvPr id="12" name="矩形 11">
            <a:extLst>
              <a:ext uri="{FF2B5EF4-FFF2-40B4-BE49-F238E27FC236}">
                <a16:creationId xmlns:a16="http://schemas.microsoft.com/office/drawing/2014/main" id="{E7C116C2-9859-4E90-B40D-2174FCE2D00C}"/>
              </a:ext>
            </a:extLst>
          </p:cNvPr>
          <p:cNvSpPr>
            <a:spLocks noGrp="1"/>
          </p:cNvSpPr>
          <p:nvPr/>
        </p:nvSpPr>
        <p:spPr>
          <a:xfrm>
            <a:off x="2171700" y="3714750"/>
            <a:ext cx="3143250" cy="266700"/>
          </a:xfrm>
          <a:prstGeom prst="rect">
            <a:avLst/>
          </a:prstGeom>
          <a:noFill/>
          <a:ln w="0">
            <a:noFill/>
            <a:prstDash val="solid"/>
          </a:ln>
        </p:spPr>
        <p:txBody>
          <a:bodyPr wrap="square" lIns="0" tIns="0" rIns="0" bIns="0" anchor="t">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Similar users</a:t>
            </a:r>
          </a:p>
        </p:txBody>
      </p:sp>
      <p:sp>
        <p:nvSpPr>
          <p:cNvPr id="13" name="直接连接符 12">
            <a:extLst>
              <a:ext uri="{FF2B5EF4-FFF2-40B4-BE49-F238E27FC236}">
                <a16:creationId xmlns:a16="http://schemas.microsoft.com/office/drawing/2014/main" id="{8C5394DC-9D02-4416-A1E6-1B71359CC4A4}"/>
              </a:ext>
            </a:extLst>
          </p:cNvPr>
          <p:cNvSpPr>
            <a:spLocks noGrp="1"/>
          </p:cNvSpPr>
          <p:nvPr/>
        </p:nvSpPr>
        <p:spPr>
          <a:xfrm>
            <a:off x="933450" y="4095750"/>
            <a:ext cx="4705350" cy="0"/>
          </a:xfrm>
          <a:prstGeom prst="line">
            <a:avLst/>
          </a:prstGeom>
          <a:noFill/>
          <a:ln w="9525">
            <a:solidFill>
              <a:srgbClr val="D8DDD9"/>
            </a:solidFill>
            <a:prstDash val="solid"/>
          </a:ln>
        </p:spPr>
        <p:txBody>
          <a:bodyPr/>
          <a:lstStyle/>
          <a:p>
            <a:endParaRPr/>
          </a:p>
        </p:txBody>
      </p:sp>
      <p:sp>
        <p:nvSpPr>
          <p:cNvPr id="14" name="矩形 13">
            <a:extLst>
              <a:ext uri="{FF2B5EF4-FFF2-40B4-BE49-F238E27FC236}">
                <a16:creationId xmlns:a16="http://schemas.microsoft.com/office/drawing/2014/main" id="{64A13D41-5F83-40A4-8F58-D399176412D5}"/>
              </a:ext>
            </a:extLst>
          </p:cNvPr>
          <p:cNvSpPr>
            <a:spLocks noGrp="1"/>
          </p:cNvSpPr>
          <p:nvPr/>
        </p:nvSpPr>
        <p:spPr>
          <a:xfrm>
            <a:off x="933450" y="42481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ItemCF</a:t>
            </a:r>
          </a:p>
        </p:txBody>
      </p:sp>
      <p:sp>
        <p:nvSpPr>
          <p:cNvPr id="15" name="矩形 14">
            <a:extLst>
              <a:ext uri="{FF2B5EF4-FFF2-40B4-BE49-F238E27FC236}">
                <a16:creationId xmlns:a16="http://schemas.microsoft.com/office/drawing/2014/main" id="{CAE61713-32F9-46F0-9472-F464AC6AB9E6}"/>
              </a:ext>
            </a:extLst>
          </p:cNvPr>
          <p:cNvSpPr>
            <a:spLocks noGrp="1"/>
          </p:cNvSpPr>
          <p:nvPr/>
        </p:nvSpPr>
        <p:spPr>
          <a:xfrm>
            <a:off x="2171700" y="4267200"/>
            <a:ext cx="3143250" cy="266700"/>
          </a:xfrm>
          <a:prstGeom prst="rect">
            <a:avLst/>
          </a:prstGeom>
          <a:noFill/>
          <a:ln w="0">
            <a:noFill/>
            <a:prstDash val="solid"/>
          </a:ln>
        </p:spPr>
        <p:txBody>
          <a:bodyPr wrap="square" lIns="0" tIns="0" rIns="0" bIns="0" anchor="t">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Similar meals</a:t>
            </a:r>
          </a:p>
        </p:txBody>
      </p:sp>
      <p:sp>
        <p:nvSpPr>
          <p:cNvPr id="16" name="直接连接符 15">
            <a:extLst>
              <a:ext uri="{FF2B5EF4-FFF2-40B4-BE49-F238E27FC236}">
                <a16:creationId xmlns:a16="http://schemas.microsoft.com/office/drawing/2014/main" id="{73B86C44-783F-4A39-BFE2-545214D0B052}"/>
              </a:ext>
            </a:extLst>
          </p:cNvPr>
          <p:cNvSpPr>
            <a:spLocks noGrp="1"/>
          </p:cNvSpPr>
          <p:nvPr/>
        </p:nvSpPr>
        <p:spPr>
          <a:xfrm>
            <a:off x="933450" y="4648200"/>
            <a:ext cx="4705350" cy="0"/>
          </a:xfrm>
          <a:prstGeom prst="line">
            <a:avLst/>
          </a:prstGeom>
          <a:noFill/>
          <a:ln w="9525">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CACDEC88-DDCB-4283-A3EC-CF3BA1197722}"/>
              </a:ext>
            </a:extLst>
          </p:cNvPr>
          <p:cNvSpPr>
            <a:spLocks noGrp="1"/>
          </p:cNvSpPr>
          <p:nvPr/>
        </p:nvSpPr>
        <p:spPr>
          <a:xfrm>
            <a:off x="933450" y="47815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Context</a:t>
            </a:r>
          </a:p>
        </p:txBody>
      </p:sp>
      <p:sp>
        <p:nvSpPr>
          <p:cNvPr id="18" name="矩形 17">
            <a:extLst>
              <a:ext uri="{FF2B5EF4-FFF2-40B4-BE49-F238E27FC236}">
                <a16:creationId xmlns:a16="http://schemas.microsoft.com/office/drawing/2014/main" id="{D50061F2-86E4-468B-9AF4-2CFE1E2DBD3C}"/>
              </a:ext>
            </a:extLst>
          </p:cNvPr>
          <p:cNvSpPr>
            <a:spLocks noGrp="1"/>
          </p:cNvSpPr>
          <p:nvPr/>
        </p:nvSpPr>
        <p:spPr>
          <a:xfrm>
            <a:off x="2171700" y="4800600"/>
            <a:ext cx="3333750" cy="266700"/>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sz="1500" b="0" i="0" dirty="0">
                <a:solidFill>
                  <a:srgbClr val="667174"/>
                </a:solidFill>
                <a:latin typeface="Arial"/>
                <a:ea typeface="Arial"/>
                <a:cs typeface="Arial"/>
              </a:rPr>
              <a:t>Cuisine • price • location • time</a:t>
            </a:r>
          </a:p>
        </p:txBody>
      </p:sp>
      <p:sp>
        <p:nvSpPr>
          <p:cNvPr id="19" name="矩形: 圆角 18">
            <a:extLst>
              <a:ext uri="{FF2B5EF4-FFF2-40B4-BE49-F238E27FC236}">
                <a16:creationId xmlns:a16="http://schemas.microsoft.com/office/drawing/2014/main" id="{1F66D045-9E70-48B7-B0A4-F9D888A4BB59}"/>
              </a:ext>
            </a:extLst>
          </p:cNvPr>
          <p:cNvSpPr>
            <a:spLocks noGrp="1"/>
          </p:cNvSpPr>
          <p:nvPr/>
        </p:nvSpPr>
        <p:spPr>
          <a:xfrm>
            <a:off x="6724650" y="3448050"/>
            <a:ext cx="2266950" cy="1276350"/>
          </a:xfrm>
          <a:prstGeom prst="roundRect">
            <a:avLst>
              <a:gd name="adj" fmla="val 10448"/>
            </a:avLst>
          </a:prstGeom>
          <a:solidFill>
            <a:srgbClr val="E7F0EB"/>
          </a:solidFill>
          <a:ln w="13335">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LOGISTIC</a:t>
            </a:r>
          </a:p>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REGRESSION</a:t>
            </a:r>
          </a:p>
        </p:txBody>
      </p:sp>
      <p:sp>
        <p:nvSpPr>
          <p:cNvPr id="20" name="矩形: 圆角 19">
            <a:extLst>
              <a:ext uri="{FF2B5EF4-FFF2-40B4-BE49-F238E27FC236}">
                <a16:creationId xmlns:a16="http://schemas.microsoft.com/office/drawing/2014/main" id="{7DE022AF-2FF8-44A6-BB8F-EC2DA9D17A28}"/>
              </a:ext>
            </a:extLst>
          </p:cNvPr>
          <p:cNvSpPr>
            <a:spLocks noGrp="1"/>
          </p:cNvSpPr>
          <p:nvPr/>
        </p:nvSpPr>
        <p:spPr>
          <a:xfrm>
            <a:off x="9582150" y="3449336"/>
            <a:ext cx="1943100" cy="1276350"/>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sz="1725" b="1">
                <a:solidFill>
                  <a:srgbClr val="B86143"/>
                </a:solidFill>
                <a:latin typeface="Arial"/>
                <a:ea typeface="Arial"/>
                <a:cs typeface="Arial"/>
              </a:rPr>
              <a:t>ACCEPTANCE</a:t>
            </a:r>
          </a:p>
          <a:p>
            <a:pPr algn="ctr">
              <a:lnSpc>
                <a:spcPct val="100000"/>
              </a:lnSpc>
              <a:buNone/>
              <a:defRPr sz="1725" b="1">
                <a:solidFill>
                  <a:srgbClr val="B86143"/>
                </a:solidFill>
                <a:latin typeface="Arial"/>
                <a:ea typeface="Arial"/>
                <a:cs typeface="Arial"/>
              </a:defRPr>
            </a:pPr>
            <a:r>
              <a:rPr sz="1725" b="1">
                <a:solidFill>
                  <a:srgbClr val="B86143"/>
                </a:solidFill>
                <a:latin typeface="Arial"/>
                <a:ea typeface="Arial"/>
                <a:cs typeface="Arial"/>
              </a:rPr>
              <a:t>PROBABILITY</a:t>
            </a:r>
          </a:p>
        </p:txBody>
      </p:sp>
      <p:cxnSp>
        <p:nvCxnSpPr>
          <p:cNvPr id="89" name="直接箭头连接符 44"/>
          <p:cNvCxnSpPr>
            <a:stCxn id="9" idx="3"/>
            <a:endCxn id="19" idx="1"/>
          </p:cNvCxnSpPr>
          <p:nvPr/>
        </p:nvCxnSpPr>
        <p:spPr>
          <a:xfrm>
            <a:off x="5962650" y="4086225"/>
            <a:ext cx="762000" cy="0"/>
          </a:xfrm>
          <a:prstGeom prst="straightConnector1">
            <a:avLst/>
          </a:prstGeom>
          <a:ln w="19050">
            <a:solidFill>
              <a:srgbClr val="4F806B"/>
            </a:solidFill>
            <a:prstDash val="solid"/>
            <a:tailEnd type="arrow" w="sm" len="sm"/>
          </a:ln>
        </p:spPr>
      </p:cxnSp>
      <p:cxnSp>
        <p:nvCxnSpPr>
          <p:cNvPr id="90" name="直接箭头连接符 45"/>
          <p:cNvCxnSpPr>
            <a:stCxn id="19" idx="3"/>
            <a:endCxn id="20" idx="1"/>
          </p:cNvCxnSpPr>
          <p:nvPr/>
        </p:nvCxnSpPr>
        <p:spPr>
          <a:xfrm>
            <a:off x="8991600" y="4086225"/>
            <a:ext cx="590550" cy="1286"/>
          </a:xfrm>
          <a:prstGeom prst="straightConnector1">
            <a:avLst/>
          </a:prstGeom>
          <a:ln w="20955">
            <a:solidFill>
              <a:srgbClr val="B86143"/>
            </a:solidFill>
            <a:prstDash val="solid"/>
            <a:tailEnd type="arrow" w="sm" len="sm"/>
          </a:ln>
        </p:spPr>
      </p:cxnSp>
      <p:sp>
        <p:nvSpPr>
          <p:cNvPr id="23" name="矩形: 圆角 22">
            <a:extLst>
              <a:ext uri="{FF2B5EF4-FFF2-40B4-BE49-F238E27FC236}">
                <a16:creationId xmlns:a16="http://schemas.microsoft.com/office/drawing/2014/main" id="{FF9AD598-DE59-4A7A-B349-03A9D8969546}"/>
              </a:ext>
            </a:extLst>
          </p:cNvPr>
          <p:cNvSpPr>
            <a:spLocks noGrp="1"/>
          </p:cNvSpPr>
          <p:nvPr/>
        </p:nvSpPr>
        <p:spPr>
          <a:xfrm>
            <a:off x="666750" y="5524500"/>
            <a:ext cx="521970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defRPr sz="1350" b="0">
                <a:solidFill>
                  <a:srgbClr val="667174"/>
                </a:solidFill>
                <a:latin typeface="Arial"/>
                <a:ea typeface="Arial"/>
                <a:cs typeface="Arial"/>
              </a:defRPr>
            </a:pPr>
            <a:r>
              <a:rPr lang="en-US" sz="1350" dirty="0">
                <a:solidFill>
                  <a:srgbClr val="667174"/>
                </a:solidFill>
                <a:latin typeface="Arial"/>
                <a:ea typeface="Arial"/>
                <a:cs typeface="Arial"/>
              </a:rPr>
              <a:t>Start dataset</a:t>
            </a:r>
            <a:r>
              <a:rPr sz="1350" b="0" dirty="0">
                <a:solidFill>
                  <a:srgbClr val="667174"/>
                </a:solidFill>
                <a:latin typeface="Arial"/>
                <a:ea typeface="Arial"/>
                <a:cs typeface="Arial"/>
              </a:rPr>
              <a:t>.</a:t>
            </a:r>
            <a:r>
              <a:rPr lang="en-US" sz="1350" b="0" dirty="0">
                <a:solidFill>
                  <a:srgbClr val="667174"/>
                </a:solidFill>
                <a:latin typeface="Arial"/>
                <a:ea typeface="Arial"/>
                <a:cs typeface="Arial"/>
              </a:rPr>
              <a:t> </a:t>
            </a:r>
            <a:r>
              <a:rPr lang="en-US" sz="1350" dirty="0"/>
              <a:t>Yelp Open Dataset</a:t>
            </a:r>
            <a:r>
              <a:rPr lang="en-SG" sz="1350" dirty="0"/>
              <a:t> </a:t>
            </a:r>
            <a:endParaRPr sz="1350" b="0" dirty="0">
              <a:solidFill>
                <a:srgbClr val="667174"/>
              </a:solidFill>
              <a:latin typeface="Arial"/>
              <a:ea typeface="Arial"/>
              <a:cs typeface="Arial"/>
            </a:endParaRPr>
          </a:p>
        </p:txBody>
      </p:sp>
      <p:sp>
        <p:nvSpPr>
          <p:cNvPr id="24" name="矩形: 圆角 23">
            <a:extLst>
              <a:ext uri="{FF2B5EF4-FFF2-40B4-BE49-F238E27FC236}">
                <a16:creationId xmlns:a16="http://schemas.microsoft.com/office/drawing/2014/main" id="{59F18F94-AA8C-4FAD-BD46-29DE2EB908B1}"/>
              </a:ext>
            </a:extLst>
          </p:cNvPr>
          <p:cNvSpPr>
            <a:spLocks noGrp="1"/>
          </p:cNvSpPr>
          <p:nvPr/>
        </p:nvSpPr>
        <p:spPr>
          <a:xfrm>
            <a:off x="6305550" y="5524500"/>
            <a:ext cx="523875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lgn="l">
              <a:lnSpc>
                <a:spcPct val="100000"/>
              </a:lnSpc>
              <a:buNone/>
              <a:defRPr sz="1350" b="0">
                <a:solidFill>
                  <a:srgbClr val="667174"/>
                </a:solidFill>
                <a:latin typeface="Arial"/>
                <a:ea typeface="Arial"/>
                <a:cs typeface="Arial"/>
              </a:defRPr>
            </a:pPr>
            <a:r>
              <a:rPr sz="1350" b="0">
                <a:solidFill>
                  <a:srgbClr val="667174"/>
                </a:solidFill>
                <a:latin typeface="Arial"/>
                <a:ea typeface="Arial"/>
                <a:cs typeface="Arial"/>
              </a:rPr>
              <a:t>Explanation: verified reason codes only.</a:t>
            </a:r>
          </a:p>
          <a:p>
            <a:pPr algn="l">
              <a:lnSpc>
                <a:spcPct val="100000"/>
              </a:lnSpc>
              <a:buNone/>
              <a:defRPr sz="1350" b="0">
                <a:solidFill>
                  <a:srgbClr val="667174"/>
                </a:solidFill>
                <a:latin typeface="Arial"/>
                <a:ea typeface="Arial"/>
                <a:cs typeface="Arial"/>
              </a:defRPr>
            </a:pPr>
            <a:r>
              <a:rPr sz="1350" b="0">
                <a:solidFill>
                  <a:srgbClr val="667174"/>
                </a:solidFill>
                <a:latin typeface="Arial"/>
                <a:ea typeface="Arial"/>
                <a:cs typeface="Arial"/>
              </a:rPr>
              <a:t>The Agent cannot invent evidence.</a:t>
            </a:r>
          </a:p>
        </p:txBody>
      </p:sp>
    </p:spTree>
    <p:extLst>
      <p:ext uri="{BB962C8B-B14F-4D97-AF65-F5344CB8AC3E}">
        <p14:creationId xmlns:p14="http://schemas.microsoft.com/office/powerpoint/2010/main" val="1393030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6691D2B-365E-4B32-B199-68D5AC0148FF}"/>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8-title">
            <a:extLst>
              <a:ext uri="{FF2B5EF4-FFF2-40B4-BE49-F238E27FC236}">
                <a16:creationId xmlns:a16="http://schemas.microsoft.com/office/drawing/2014/main" id="{6A6D6418-72D1-4ACA-9566-EF14A145E39C}"/>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4800" b="1" i="0" dirty="0">
                <a:solidFill>
                  <a:srgbClr val="192526"/>
                </a:solidFill>
                <a:latin typeface="Arial"/>
                <a:ea typeface="Arial"/>
                <a:cs typeface="Arial"/>
              </a:rPr>
              <a:t>Android</a:t>
            </a:r>
            <a:r>
              <a:rPr sz="3450" b="1" i="0" dirty="0">
                <a:solidFill>
                  <a:srgbClr val="192526"/>
                </a:solidFill>
                <a:latin typeface="Arial"/>
                <a:ea typeface="Arial"/>
                <a:cs typeface="Arial"/>
              </a:rPr>
              <a:t> and </a:t>
            </a:r>
            <a:r>
              <a:rPr lang="en-GB" sz="4800" b="1">
                <a:solidFill>
                  <a:srgbClr val="192526"/>
                </a:solidFill>
                <a:latin typeface="Arial"/>
                <a:cs typeface="Arial"/>
              </a:rPr>
              <a:t>Web</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A358C5DE-9DE2-4F54-BCA5-486A439C8963}"/>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D7E00DD6-8B21-4D48-A084-6262D2EBB3C7}"/>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FBF24911-4A84-4D76-BEAD-10152BE0DC67}"/>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09</a:t>
            </a:r>
          </a:p>
        </p:txBody>
      </p:sp>
      <p:sp>
        <p:nvSpPr>
          <p:cNvPr id="6" name="矩形: 圆角 5">
            <a:extLst>
              <a:ext uri="{FF2B5EF4-FFF2-40B4-BE49-F238E27FC236}">
                <a16:creationId xmlns:a16="http://schemas.microsoft.com/office/drawing/2014/main" id="{63484CC2-7A61-4C55-968B-0A70A0D29FDA}"/>
              </a:ext>
            </a:extLst>
          </p:cNvPr>
          <p:cNvSpPr>
            <a:spLocks noGrp="1"/>
          </p:cNvSpPr>
          <p:nvPr/>
        </p:nvSpPr>
        <p:spPr>
          <a:xfrm>
            <a:off x="666750" y="1752600"/>
            <a:ext cx="2057400" cy="914400"/>
          </a:xfrm>
          <a:prstGeom prst="roundRect">
            <a:avLst>
              <a:gd name="adj" fmla="val 14583"/>
            </a:avLst>
          </a:prstGeom>
          <a:solidFill>
            <a:srgbClr val="FFFFFF"/>
          </a:solidFill>
          <a:ln w="12383">
            <a:solidFill>
              <a:srgbClr val="D8DDD9"/>
            </a:solidFill>
            <a:prstDash val="solid"/>
          </a:ln>
        </p:spPr>
        <p:txBody>
          <a:bodyPr wrap="square" lIns="114300" tIns="95250" rIns="114300" bIns="95250" anchor="ctr">
            <a:noAutofit/>
          </a:bodyPr>
          <a:lstStyle/>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Android</a:t>
            </a:r>
          </a:p>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Kotlin + Compose</a:t>
            </a:r>
          </a:p>
        </p:txBody>
      </p:sp>
      <p:sp>
        <p:nvSpPr>
          <p:cNvPr id="7" name="矩形: 圆角 6">
            <a:extLst>
              <a:ext uri="{FF2B5EF4-FFF2-40B4-BE49-F238E27FC236}">
                <a16:creationId xmlns:a16="http://schemas.microsoft.com/office/drawing/2014/main" id="{10373676-D6D3-46B4-8150-DEBA5D475016}"/>
              </a:ext>
            </a:extLst>
          </p:cNvPr>
          <p:cNvSpPr>
            <a:spLocks noGrp="1"/>
          </p:cNvSpPr>
          <p:nvPr/>
        </p:nvSpPr>
        <p:spPr>
          <a:xfrm>
            <a:off x="666750" y="3067050"/>
            <a:ext cx="2057400" cy="914400"/>
          </a:xfrm>
          <a:prstGeom prst="roundRect">
            <a:avLst>
              <a:gd name="adj" fmla="val 14583"/>
            </a:avLst>
          </a:prstGeom>
          <a:solidFill>
            <a:srgbClr val="FFFFFF"/>
          </a:solidFill>
          <a:ln w="12383">
            <a:solidFill>
              <a:srgbClr val="D8DDD9"/>
            </a:solidFill>
            <a:prstDash val="solid"/>
          </a:ln>
        </p:spPr>
        <p:txBody>
          <a:bodyPr wrap="square" lIns="114300" tIns="95250" rIns="114300" bIns="95250" anchor="ctr">
            <a:noAutofit/>
          </a:bodyPr>
          <a:lstStyle/>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Web</a:t>
            </a:r>
          </a:p>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React + TypeScript</a:t>
            </a:r>
          </a:p>
        </p:txBody>
      </p:sp>
      <p:sp>
        <p:nvSpPr>
          <p:cNvPr id="8" name="矩形: 圆角 7">
            <a:extLst>
              <a:ext uri="{FF2B5EF4-FFF2-40B4-BE49-F238E27FC236}">
                <a16:creationId xmlns:a16="http://schemas.microsoft.com/office/drawing/2014/main" id="{7F77626D-5472-45E5-ACC7-878C365DD30B}"/>
              </a:ext>
            </a:extLst>
          </p:cNvPr>
          <p:cNvSpPr>
            <a:spLocks noGrp="1"/>
          </p:cNvSpPr>
          <p:nvPr/>
        </p:nvSpPr>
        <p:spPr>
          <a:xfrm>
            <a:off x="3638550" y="2209800"/>
            <a:ext cx="3238500" cy="1390650"/>
          </a:xfrm>
          <a:prstGeom prst="roundRect">
            <a:avLst>
              <a:gd name="adj" fmla="val 9589"/>
            </a:avLst>
          </a:prstGeom>
          <a:solidFill>
            <a:srgbClr val="E7F0EB"/>
          </a:solidFill>
          <a:ln w="14288">
            <a:solidFill>
              <a:srgbClr val="4F806B"/>
            </a:solidFill>
            <a:prstDash val="solid"/>
          </a:ln>
        </p:spPr>
        <p:txBody>
          <a:bodyPr wrap="square" lIns="114300" tIns="95250" rIns="114300" bIns="95250" anchor="ctr">
            <a:noAutofit/>
          </a:bodyPr>
          <a:lstStyle/>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SpringBoot REST API</a:t>
            </a:r>
          </a:p>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Authentication • permissions</a:t>
            </a:r>
          </a:p>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business rules • validation • writes</a:t>
            </a:r>
          </a:p>
        </p:txBody>
      </p:sp>
      <p:sp>
        <p:nvSpPr>
          <p:cNvPr id="9" name="矩形: 圆角 8">
            <a:extLst>
              <a:ext uri="{FF2B5EF4-FFF2-40B4-BE49-F238E27FC236}">
                <a16:creationId xmlns:a16="http://schemas.microsoft.com/office/drawing/2014/main" id="{03D1E896-E34C-4A86-95F2-072A8F6B8C1D}"/>
              </a:ext>
            </a:extLst>
          </p:cNvPr>
          <p:cNvSpPr>
            <a:spLocks noGrp="1"/>
          </p:cNvSpPr>
          <p:nvPr/>
        </p:nvSpPr>
        <p:spPr>
          <a:xfrm>
            <a:off x="7810500" y="1600200"/>
            <a:ext cx="3295650" cy="1009650"/>
          </a:xfrm>
          <a:prstGeom prst="roundRect">
            <a:avLst>
              <a:gd name="adj" fmla="val 13208"/>
            </a:avLst>
          </a:prstGeom>
          <a:solidFill>
            <a:srgbClr val="F1F6F3"/>
          </a:solidFill>
          <a:ln w="12383">
            <a:solidFill>
              <a:srgbClr val="4F806B"/>
            </a:solidFill>
            <a:prstDash val="solid"/>
          </a:ln>
        </p:spPr>
        <p:txBody>
          <a:bodyPr wrap="square" lIns="114300" tIns="95250" rIns="114300" bIns="95250" anchor="ctr">
            <a:noAutofit/>
          </a:bodyPr>
          <a:lstStyle/>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Private FastAPI</a:t>
            </a:r>
          </a:p>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Five Agents + Hybrid ML</a:t>
            </a:r>
          </a:p>
        </p:txBody>
      </p:sp>
      <p:sp>
        <p:nvSpPr>
          <p:cNvPr id="10" name="矩形: 圆角 9">
            <a:extLst>
              <a:ext uri="{FF2B5EF4-FFF2-40B4-BE49-F238E27FC236}">
                <a16:creationId xmlns:a16="http://schemas.microsoft.com/office/drawing/2014/main" id="{1A330449-D606-4817-89A4-893D94185C6C}"/>
              </a:ext>
            </a:extLst>
          </p:cNvPr>
          <p:cNvSpPr>
            <a:spLocks noGrp="1"/>
          </p:cNvSpPr>
          <p:nvPr/>
        </p:nvSpPr>
        <p:spPr>
          <a:xfrm>
            <a:off x="7810500" y="3162300"/>
            <a:ext cx="3295650" cy="1009650"/>
          </a:xfrm>
          <a:prstGeom prst="roundRect">
            <a:avLst>
              <a:gd name="adj" fmla="val 13208"/>
            </a:avLst>
          </a:prstGeom>
          <a:solidFill>
            <a:srgbClr val="F4E8E1"/>
          </a:solidFill>
          <a:ln w="12383">
            <a:solidFill>
              <a:srgbClr val="B86143"/>
            </a:solidFill>
            <a:prstDash val="solid"/>
          </a:ln>
        </p:spPr>
        <p:txBody>
          <a:bodyPr wrap="square" lIns="114300" tIns="95250" rIns="114300" bIns="95250" anchor="ctr">
            <a:noAutofit/>
          </a:bodyPr>
          <a:lstStyle/>
          <a:p>
            <a:pPr algn="ctr">
              <a:lnSpc>
                <a:spcPct val="100000"/>
              </a:lnSpc>
              <a:buNone/>
              <a:defRPr sz="1650" b="1">
                <a:solidFill>
                  <a:srgbClr val="B86143"/>
                </a:solidFill>
                <a:latin typeface="Arial"/>
                <a:ea typeface="Arial"/>
                <a:cs typeface="Arial"/>
              </a:defRPr>
            </a:pPr>
            <a:r>
              <a:rPr sz="1650" b="1">
                <a:solidFill>
                  <a:srgbClr val="B86143"/>
                </a:solidFill>
                <a:latin typeface="Arial"/>
                <a:ea typeface="Arial"/>
                <a:cs typeface="Arial"/>
              </a:rPr>
              <a:t>PostgreSQL</a:t>
            </a:r>
          </a:p>
        </p:txBody>
      </p:sp>
      <p:cxnSp>
        <p:nvCxnSpPr>
          <p:cNvPr id="58" name="连接符: 肘形 29"/>
          <p:cNvCxnSpPr>
            <a:stCxn id="6" idx="3"/>
            <a:endCxn id="8" idx="1"/>
          </p:cNvCxnSpPr>
          <p:nvPr/>
        </p:nvCxnSpPr>
        <p:spPr>
          <a:xfrm>
            <a:off x="2724150" y="2209800"/>
            <a:ext cx="914400" cy="695325"/>
          </a:xfrm>
          <a:prstGeom prst="bentConnector3">
            <a:avLst>
              <a:gd name="adj1" fmla="val 50000"/>
            </a:avLst>
          </a:prstGeom>
          <a:ln w="19050">
            <a:solidFill>
              <a:srgbClr val="4F806B"/>
            </a:solidFill>
            <a:prstDash val="solid"/>
            <a:tailEnd type="arrow" w="sm" len="sm"/>
          </a:ln>
        </p:spPr>
      </p:cxnSp>
      <p:cxnSp>
        <p:nvCxnSpPr>
          <p:cNvPr id="59" name="连接符: 肘形 30"/>
          <p:cNvCxnSpPr>
            <a:stCxn id="7" idx="3"/>
            <a:endCxn id="8" idx="1"/>
          </p:cNvCxnSpPr>
          <p:nvPr/>
        </p:nvCxnSpPr>
        <p:spPr>
          <a:xfrm flipV="1">
            <a:off x="2724150" y="2905125"/>
            <a:ext cx="914400" cy="619125"/>
          </a:xfrm>
          <a:prstGeom prst="bentConnector3">
            <a:avLst>
              <a:gd name="adj1" fmla="val 50000"/>
            </a:avLst>
          </a:prstGeom>
          <a:ln w="19050">
            <a:solidFill>
              <a:srgbClr val="4F806B"/>
            </a:solidFill>
            <a:prstDash val="solid"/>
            <a:tailEnd type="arrow" w="sm" len="sm"/>
          </a:ln>
        </p:spPr>
      </p:cxnSp>
      <p:cxnSp>
        <p:nvCxnSpPr>
          <p:cNvPr id="60" name="连接符: 肘形 31"/>
          <p:cNvCxnSpPr>
            <a:stCxn id="8" idx="3"/>
            <a:endCxn id="9" idx="1"/>
          </p:cNvCxnSpPr>
          <p:nvPr/>
        </p:nvCxnSpPr>
        <p:spPr>
          <a:xfrm flipV="1">
            <a:off x="6877050" y="2105025"/>
            <a:ext cx="933450" cy="800100"/>
          </a:xfrm>
          <a:prstGeom prst="bentConnector3">
            <a:avLst>
              <a:gd name="adj1" fmla="val 50000"/>
            </a:avLst>
          </a:prstGeom>
          <a:ln w="19050">
            <a:solidFill>
              <a:srgbClr val="4F806B"/>
            </a:solidFill>
            <a:prstDash val="solid"/>
            <a:tailEnd type="arrow" w="sm" len="sm"/>
          </a:ln>
        </p:spPr>
      </p:cxnSp>
      <p:cxnSp>
        <p:nvCxnSpPr>
          <p:cNvPr id="61" name="连接符: 肘形 32"/>
          <p:cNvCxnSpPr>
            <a:stCxn id="8" idx="3"/>
            <a:endCxn id="10" idx="1"/>
          </p:cNvCxnSpPr>
          <p:nvPr/>
        </p:nvCxnSpPr>
        <p:spPr>
          <a:xfrm>
            <a:off x="6877050" y="2905125"/>
            <a:ext cx="933450" cy="762000"/>
          </a:xfrm>
          <a:prstGeom prst="bentConnector3">
            <a:avLst>
              <a:gd name="adj1" fmla="val 50000"/>
            </a:avLst>
          </a:prstGeom>
          <a:ln w="19050">
            <a:solidFill>
              <a:srgbClr val="B86143"/>
            </a:solidFill>
            <a:prstDash val="solid"/>
            <a:tailEnd type="arrow" w="sm" len="sm"/>
          </a:ln>
        </p:spPr>
      </p:cxnSp>
      <p:sp>
        <p:nvSpPr>
          <p:cNvPr id="15" name="矩形 14">
            <a:extLst>
              <a:ext uri="{FF2B5EF4-FFF2-40B4-BE49-F238E27FC236}">
                <a16:creationId xmlns:a16="http://schemas.microsoft.com/office/drawing/2014/main" id="{6397FA86-440F-45F2-8D03-B3B7C0813528}"/>
              </a:ext>
            </a:extLst>
          </p:cNvPr>
          <p:cNvSpPr>
            <a:spLocks noGrp="1"/>
          </p:cNvSpPr>
          <p:nvPr/>
        </p:nvSpPr>
        <p:spPr>
          <a:xfrm>
            <a:off x="666750" y="4762500"/>
            <a:ext cx="1714500" cy="2857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192526"/>
                </a:solidFill>
                <a:latin typeface="Arial"/>
                <a:ea typeface="Arial"/>
                <a:cs typeface="Arial"/>
              </a:defRPr>
            </a:pPr>
            <a:r>
              <a:rPr sz="1650" b="1" i="0">
                <a:solidFill>
                  <a:srgbClr val="192526"/>
                </a:solidFill>
                <a:latin typeface="Arial"/>
                <a:ea typeface="Arial"/>
                <a:cs typeface="Arial"/>
              </a:rPr>
              <a:t>Guardrails</a:t>
            </a:r>
          </a:p>
        </p:txBody>
      </p:sp>
      <p:sp>
        <p:nvSpPr>
          <p:cNvPr id="16" name="矩形 15">
            <a:extLst>
              <a:ext uri="{FF2B5EF4-FFF2-40B4-BE49-F238E27FC236}">
                <a16:creationId xmlns:a16="http://schemas.microsoft.com/office/drawing/2014/main" id="{B9D5D3AB-411B-4786-A847-A6AA5F538962}"/>
              </a:ext>
            </a:extLst>
          </p:cNvPr>
          <p:cNvSpPr>
            <a:spLocks noGrp="1"/>
          </p:cNvSpPr>
          <p:nvPr/>
        </p:nvSpPr>
        <p:spPr>
          <a:xfrm>
            <a:off x="666750" y="5143500"/>
            <a:ext cx="5334000" cy="933450"/>
          </a:xfrm>
          <a:prstGeom prst="rect">
            <a:avLst/>
          </a:prstGeom>
          <a:noFill/>
          <a:ln w="0">
            <a:noFill/>
            <a:prstDash val="solid"/>
          </a:ln>
        </p:spPr>
        <p:txBody>
          <a:bodyPr wrap="square" lIns="0" tIns="0" rIns="0" bIns="0" anchor="t">
            <a:noAutofit/>
          </a:bodyPr>
          <a:lstStyle/>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Spring Boot authorises every context</a:t>
            </a:r>
          </a:p>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Agents use allow-listed tools</a:t>
            </a:r>
          </a:p>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No direct Agent-to-database access</a:t>
            </a:r>
          </a:p>
        </p:txBody>
      </p:sp>
      <p:sp>
        <p:nvSpPr>
          <p:cNvPr id="17" name="矩形 16">
            <a:extLst>
              <a:ext uri="{FF2B5EF4-FFF2-40B4-BE49-F238E27FC236}">
                <a16:creationId xmlns:a16="http://schemas.microsoft.com/office/drawing/2014/main" id="{A30A1EE4-2CA3-47D6-883C-A8D401AAC1EC}"/>
              </a:ext>
            </a:extLst>
          </p:cNvPr>
          <p:cNvSpPr>
            <a:spLocks noGrp="1"/>
          </p:cNvSpPr>
          <p:nvPr/>
        </p:nvSpPr>
        <p:spPr>
          <a:xfrm>
            <a:off x="6838950" y="4762500"/>
            <a:ext cx="1714500" cy="2857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192526"/>
                </a:solidFill>
                <a:latin typeface="Arial"/>
                <a:ea typeface="Arial"/>
                <a:cs typeface="Arial"/>
              </a:defRPr>
            </a:pPr>
            <a:r>
              <a:rPr sz="1650" b="1" i="0">
                <a:solidFill>
                  <a:srgbClr val="192526"/>
                </a:solidFill>
                <a:latin typeface="Arial"/>
                <a:ea typeface="Arial"/>
                <a:cs typeface="Arial"/>
              </a:rPr>
              <a:t>Deployment</a:t>
            </a:r>
          </a:p>
        </p:txBody>
      </p:sp>
      <p:sp>
        <p:nvSpPr>
          <p:cNvPr id="18" name="矩形 17">
            <a:extLst>
              <a:ext uri="{FF2B5EF4-FFF2-40B4-BE49-F238E27FC236}">
                <a16:creationId xmlns:a16="http://schemas.microsoft.com/office/drawing/2014/main" id="{CC5091CA-090F-44C8-84B4-59C645802CE4}"/>
              </a:ext>
            </a:extLst>
          </p:cNvPr>
          <p:cNvSpPr>
            <a:spLocks noGrp="1"/>
          </p:cNvSpPr>
          <p:nvPr/>
        </p:nvSpPr>
        <p:spPr>
          <a:xfrm>
            <a:off x="6838950" y="5219700"/>
            <a:ext cx="42672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356B56"/>
                </a:solidFill>
                <a:latin typeface="Arial"/>
                <a:ea typeface="Arial"/>
                <a:cs typeface="Arial"/>
              </a:defRPr>
            </a:pPr>
            <a:r>
              <a:rPr sz="1650" b="1" i="0" dirty="0" err="1">
                <a:solidFill>
                  <a:srgbClr val="356B56"/>
                </a:solidFill>
                <a:latin typeface="Arial"/>
                <a:ea typeface="Arial"/>
                <a:cs typeface="Arial"/>
              </a:rPr>
              <a:t>Vercel</a:t>
            </a:r>
            <a:r>
              <a:rPr sz="1650" b="1" i="0" dirty="0">
                <a:solidFill>
                  <a:srgbClr val="356B56"/>
                </a:solidFill>
                <a:latin typeface="Arial"/>
                <a:ea typeface="Arial"/>
                <a:cs typeface="Arial"/>
              </a:rPr>
              <a:t>  •  ECS Fargate  •  RDS</a:t>
            </a:r>
          </a:p>
        </p:txBody>
      </p:sp>
      <p:sp>
        <p:nvSpPr>
          <p:cNvPr id="19" name="矩形 18">
            <a:extLst>
              <a:ext uri="{FF2B5EF4-FFF2-40B4-BE49-F238E27FC236}">
                <a16:creationId xmlns:a16="http://schemas.microsoft.com/office/drawing/2014/main" id="{C8D86B1E-3B8B-458D-A9F9-E1D2E602078B}"/>
              </a:ext>
            </a:extLst>
          </p:cNvPr>
          <p:cNvSpPr>
            <a:spLocks noGrp="1"/>
          </p:cNvSpPr>
          <p:nvPr/>
        </p:nvSpPr>
        <p:spPr>
          <a:xfrm>
            <a:off x="6838950" y="5619750"/>
            <a:ext cx="3143250" cy="266700"/>
          </a:xfrm>
          <a:prstGeom prst="rect">
            <a:avLst/>
          </a:prstGeom>
          <a:noFill/>
          <a:ln w="0">
            <a:noFill/>
            <a:prstDash val="solid"/>
          </a:ln>
        </p:spPr>
        <p:txBody>
          <a:bodyPr wrap="square" lIns="0" tIns="0" rIns="0" bIns="0" anchor="t">
            <a:noAutofit/>
          </a:bodyPr>
          <a:lstStyle/>
          <a:p>
            <a:pPr algn="l">
              <a:lnSpc>
                <a:spcPct val="105000"/>
              </a:lnSpc>
              <a:buNone/>
              <a:defRPr sz="1425" b="0" i="0">
                <a:solidFill>
                  <a:srgbClr val="667174"/>
                </a:solidFill>
                <a:latin typeface="Arial"/>
                <a:ea typeface="Arial"/>
                <a:cs typeface="Arial"/>
              </a:defRPr>
            </a:pPr>
            <a:r>
              <a:rPr sz="1425" b="0" i="0">
                <a:solidFill>
                  <a:srgbClr val="667174"/>
                </a:solidFill>
                <a:latin typeface="Arial"/>
                <a:ea typeface="Arial"/>
                <a:cs typeface="Arial"/>
              </a:rPr>
              <a:t>FastAPI remains private.</a:t>
            </a:r>
          </a:p>
        </p:txBody>
      </p:sp>
    </p:spTree>
    <p:extLst>
      <p:ext uri="{BB962C8B-B14F-4D97-AF65-F5344CB8AC3E}">
        <p14:creationId xmlns:p14="http://schemas.microsoft.com/office/powerpoint/2010/main" val="374037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E29A328-5DA3-43DB-BAEF-7AFFD4949947}"/>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3-title">
            <a:extLst>
              <a:ext uri="{FF2B5EF4-FFF2-40B4-BE49-F238E27FC236}">
                <a16:creationId xmlns:a16="http://schemas.microsoft.com/office/drawing/2014/main" id="{34D552F7-8950-438A-8772-EA5E7DF09267}"/>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lang="en-US" sz="3450" b="1" i="0">
                <a:solidFill>
                  <a:srgbClr val="192526"/>
                </a:solidFill>
                <a:latin typeface="Arial"/>
                <a:ea typeface="Arial"/>
                <a:cs typeface="Arial"/>
              </a:rPr>
              <a:t>Architecture</a:t>
            </a:r>
            <a:endParaRPr sz="3450" b="1" i="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4D5C249A-DDDE-48FC-B268-8250027B1410}"/>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7FB79DA-64F7-4600-88A3-51CA2DEC0914}"/>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D6B0823B-A8C4-4740-97F5-A96B465FD9EA}"/>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11</a:t>
            </a:r>
          </a:p>
        </p:txBody>
      </p:sp>
      <p:pic>
        <p:nvPicPr>
          <p:cNvPr id="14" name="FoodMind architecture diagram"/>
          <p:cNvPicPr>
            <a:picLocks noChangeAspect="1"/>
          </p:cNvPicPr>
          <p:nvPr/>
        </p:nvPicPr>
        <p:blipFill>
          <a:blip r:embed="rId3"/>
          <a:stretch/>
        </p:blipFill>
        <p:spPr>
          <a:xfrm>
            <a:off x="3548648" y="116006"/>
            <a:ext cx="7347122" cy="6608642"/>
          </a:xfrm>
          <a:prstGeom prst="rect">
            <a:avLst/>
          </a:prstGeom>
        </p:spPr>
      </p:pic>
    </p:spTree>
    <p:extLst>
      <p:ext uri="{BB962C8B-B14F-4D97-AF65-F5344CB8AC3E}">
        <p14:creationId xmlns:p14="http://schemas.microsoft.com/office/powerpoint/2010/main" val="599530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2CD2F2D8-1AAB-4552-908F-1FCC85729818}"/>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10-title">
            <a:extLst>
              <a:ext uri="{FF2B5EF4-FFF2-40B4-BE49-F238E27FC236}">
                <a16:creationId xmlns:a16="http://schemas.microsoft.com/office/drawing/2014/main" id="{2644E1FD-5389-4755-82AE-D391E79E8072}"/>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dirty="0">
                <a:solidFill>
                  <a:srgbClr val="192526"/>
                </a:solidFill>
                <a:latin typeface="Arial"/>
                <a:ea typeface="Arial"/>
                <a:cs typeface="Arial"/>
              </a:rPr>
              <a:t>MVP </a:t>
            </a:r>
            <a:r>
              <a:rPr lang="en-US" sz="3450" b="1" i="0" dirty="0">
                <a:solidFill>
                  <a:srgbClr val="192526"/>
                </a:solidFill>
                <a:latin typeface="Arial"/>
                <a:ea typeface="Arial"/>
                <a:cs typeface="Arial"/>
              </a:rPr>
              <a:t>4-</a:t>
            </a:r>
            <a:r>
              <a:rPr sz="3450" b="1" i="0" dirty="0">
                <a:solidFill>
                  <a:srgbClr val="192526"/>
                </a:solidFill>
                <a:latin typeface="Arial"/>
                <a:ea typeface="Arial"/>
                <a:cs typeface="Arial"/>
              </a:rPr>
              <a:t>week </a:t>
            </a:r>
            <a:r>
              <a:rPr lang="en-GB" sz="3450" b="1" i="0" dirty="0">
                <a:solidFill>
                  <a:srgbClr val="192526"/>
                </a:solidFill>
                <a:latin typeface="Arial"/>
                <a:ea typeface="Arial"/>
                <a:cs typeface="Arial"/>
              </a:rPr>
              <a:t>plan</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E3873F53-C173-442A-A94F-017720B86F1E}"/>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15F826D5-D858-4820-BF73-D68411287B59}"/>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2A34062A-DCD4-401F-8EE4-C4630FA38750}"/>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12</a:t>
            </a:r>
          </a:p>
        </p:txBody>
      </p:sp>
      <p:sp>
        <p:nvSpPr>
          <p:cNvPr id="6" name="矩形 5">
            <a:extLst>
              <a:ext uri="{FF2B5EF4-FFF2-40B4-BE49-F238E27FC236}">
                <a16:creationId xmlns:a16="http://schemas.microsoft.com/office/drawing/2014/main" id="{31BE72FB-49DD-4610-95F9-932F6A8F290D}"/>
              </a:ext>
            </a:extLst>
          </p:cNvPr>
          <p:cNvSpPr>
            <a:spLocks noGrp="1"/>
          </p:cNvSpPr>
          <p:nvPr/>
        </p:nvSpPr>
        <p:spPr>
          <a:xfrm>
            <a:off x="666750" y="1600200"/>
            <a:ext cx="2190750" cy="266700"/>
          </a:xfrm>
          <a:prstGeom prst="rect">
            <a:avLst/>
          </a:prstGeom>
          <a:noFill/>
          <a:ln w="0">
            <a:noFill/>
            <a:prstDash val="solid"/>
          </a:ln>
        </p:spPr>
        <p:txBody>
          <a:bodyPr wrap="square" lIns="0" tIns="0" rIns="0" bIns="0" anchor="t">
            <a:noAutofit/>
          </a:bodyPr>
          <a:lstStyle/>
          <a:p>
            <a:pPr algn="l">
              <a:lnSpc>
                <a:spcPct val="105000"/>
              </a:lnSpc>
              <a:buNone/>
              <a:defRPr sz="1350" b="1" i="0">
                <a:solidFill>
                  <a:srgbClr val="356B56"/>
                </a:solidFill>
                <a:latin typeface="Arial"/>
                <a:ea typeface="Arial"/>
                <a:cs typeface="Arial"/>
              </a:defRPr>
            </a:pPr>
            <a:r>
              <a:rPr sz="1350" b="1" i="0">
                <a:solidFill>
                  <a:srgbClr val="356B56"/>
                </a:solidFill>
                <a:latin typeface="Arial"/>
                <a:ea typeface="Arial"/>
                <a:cs typeface="Arial"/>
              </a:rPr>
              <a:t>WEEK 1</a:t>
            </a:r>
          </a:p>
        </p:txBody>
      </p:sp>
      <p:sp>
        <p:nvSpPr>
          <p:cNvPr id="7" name="矩形 6">
            <a:extLst>
              <a:ext uri="{FF2B5EF4-FFF2-40B4-BE49-F238E27FC236}">
                <a16:creationId xmlns:a16="http://schemas.microsoft.com/office/drawing/2014/main" id="{7591BD9E-0D59-4E21-B290-C996CA7C19F0}"/>
              </a:ext>
            </a:extLst>
          </p:cNvPr>
          <p:cNvSpPr>
            <a:spLocks noGrp="1"/>
          </p:cNvSpPr>
          <p:nvPr/>
        </p:nvSpPr>
        <p:spPr>
          <a:xfrm>
            <a:off x="666750" y="2076450"/>
            <a:ext cx="2247900" cy="685800"/>
          </a:xfrm>
          <a:prstGeom prst="rect">
            <a:avLst/>
          </a:prstGeom>
          <a:noFill/>
          <a:ln w="0">
            <a:noFill/>
            <a:prstDash val="solid"/>
          </a:ln>
        </p:spPr>
        <p:txBody>
          <a:bodyPr wrap="square" lIns="0" tIns="0" rIns="0" bIns="0" anchor="t">
            <a:noAutofit/>
          </a:bodyPr>
          <a:lstStyle/>
          <a:p>
            <a:pPr algn="l">
              <a:lnSpc>
                <a:spcPct val="108000"/>
              </a:lnSpc>
              <a:buNone/>
              <a:defRPr sz="1875" b="1" i="0">
                <a:solidFill>
                  <a:srgbClr val="192526"/>
                </a:solidFill>
                <a:latin typeface="Arial"/>
                <a:ea typeface="Arial"/>
                <a:cs typeface="Arial"/>
              </a:defRPr>
            </a:pPr>
            <a:r>
              <a:rPr sz="1875" b="1" i="0">
                <a:solidFill>
                  <a:srgbClr val="192526"/>
                </a:solidFill>
                <a:latin typeface="Arial"/>
                <a:ea typeface="Arial"/>
                <a:cs typeface="Arial"/>
              </a:rPr>
              <a:t>Design &amp; contracts</a:t>
            </a:r>
          </a:p>
        </p:txBody>
      </p:sp>
      <p:sp>
        <p:nvSpPr>
          <p:cNvPr id="8" name="直接连接符 7">
            <a:extLst>
              <a:ext uri="{FF2B5EF4-FFF2-40B4-BE49-F238E27FC236}">
                <a16:creationId xmlns:a16="http://schemas.microsoft.com/office/drawing/2014/main" id="{5EC5E85C-739C-4CB2-9AAF-B325EA26DE7B}"/>
              </a:ext>
            </a:extLst>
          </p:cNvPr>
          <p:cNvSpPr>
            <a:spLocks noGrp="1"/>
          </p:cNvSpPr>
          <p:nvPr/>
        </p:nvSpPr>
        <p:spPr>
          <a:xfrm>
            <a:off x="666750" y="2914650"/>
            <a:ext cx="2114550" cy="0"/>
          </a:xfrm>
          <a:prstGeom prst="line">
            <a:avLst/>
          </a:prstGeom>
          <a:noFill/>
          <a:ln w="28575">
            <a:solidFill>
              <a:srgbClr val="4F806B"/>
            </a:solidFill>
            <a:prstDash val="solid"/>
          </a:ln>
        </p:spPr>
        <p:txBody>
          <a:bodyPr/>
          <a:lstStyle/>
          <a:p>
            <a:endParaRPr/>
          </a:p>
        </p:txBody>
      </p:sp>
      <p:sp>
        <p:nvSpPr>
          <p:cNvPr id="9" name="矩形 8">
            <a:extLst>
              <a:ext uri="{FF2B5EF4-FFF2-40B4-BE49-F238E27FC236}">
                <a16:creationId xmlns:a16="http://schemas.microsoft.com/office/drawing/2014/main" id="{6CFDE5DB-59C0-4BA0-A770-FD35ACF87678}"/>
              </a:ext>
            </a:extLst>
          </p:cNvPr>
          <p:cNvSpPr>
            <a:spLocks noGrp="1"/>
          </p:cNvSpPr>
          <p:nvPr/>
        </p:nvSpPr>
        <p:spPr>
          <a:xfrm>
            <a:off x="666750" y="3181350"/>
            <a:ext cx="2247900" cy="1085850"/>
          </a:xfrm>
          <a:prstGeom prst="rect">
            <a:avLst/>
          </a:prstGeom>
          <a:noFill/>
          <a:ln w="0">
            <a:noFill/>
            <a:prstDash val="solid"/>
          </a:ln>
        </p:spPr>
        <p:txBody>
          <a:bodyPr wrap="square" lIns="0" tIns="0" rIns="0" bIns="0" anchor="t">
            <a:noAutofit/>
          </a:bodyPr>
          <a:lstStyle/>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Data model</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API contracts</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UX flows</a:t>
            </a:r>
          </a:p>
        </p:txBody>
      </p:sp>
      <p:sp>
        <p:nvSpPr>
          <p:cNvPr id="10" name="矩形 9">
            <a:extLst>
              <a:ext uri="{FF2B5EF4-FFF2-40B4-BE49-F238E27FC236}">
                <a16:creationId xmlns:a16="http://schemas.microsoft.com/office/drawing/2014/main" id="{677340F4-49EB-4D70-AFC6-5F93367E1D68}"/>
              </a:ext>
            </a:extLst>
          </p:cNvPr>
          <p:cNvSpPr>
            <a:spLocks noGrp="1"/>
          </p:cNvSpPr>
          <p:nvPr/>
        </p:nvSpPr>
        <p:spPr>
          <a:xfrm>
            <a:off x="3009900" y="2381250"/>
            <a:ext cx="323850" cy="457200"/>
          </a:xfrm>
          <a:prstGeom prst="rect">
            <a:avLst/>
          </a:prstGeom>
          <a:noFill/>
          <a:ln w="0">
            <a:noFill/>
            <a:prstDash val="solid"/>
          </a:ln>
        </p:spPr>
        <p:txBody>
          <a:bodyPr wrap="square" lIns="0" tIns="0" rIns="0" bIns="0" anchor="ctr">
            <a:noAutofit/>
          </a:bodyPr>
          <a:lstStyle/>
          <a:p>
            <a:pPr algn="ctr">
              <a:lnSpc>
                <a:spcPct val="105000"/>
              </a:lnSpc>
              <a:buNone/>
              <a:defRPr sz="3150" b="0" i="0">
                <a:solidFill>
                  <a:srgbClr val="D8DDD9"/>
                </a:solidFill>
                <a:latin typeface="Arial"/>
                <a:ea typeface="Arial"/>
                <a:cs typeface="Arial"/>
              </a:defRPr>
            </a:pPr>
            <a:r>
              <a:rPr sz="3150" b="0" i="0">
                <a:solidFill>
                  <a:srgbClr val="D8DDD9"/>
                </a:solidFill>
                <a:latin typeface="Arial"/>
                <a:ea typeface="Arial"/>
                <a:cs typeface="Arial"/>
              </a:rPr>
              <a:t>›</a:t>
            </a:r>
          </a:p>
        </p:txBody>
      </p:sp>
      <p:sp>
        <p:nvSpPr>
          <p:cNvPr id="11" name="矩形 10">
            <a:extLst>
              <a:ext uri="{FF2B5EF4-FFF2-40B4-BE49-F238E27FC236}">
                <a16:creationId xmlns:a16="http://schemas.microsoft.com/office/drawing/2014/main" id="{7C66F5CE-961A-40E2-BD22-6ED937141475}"/>
              </a:ext>
            </a:extLst>
          </p:cNvPr>
          <p:cNvSpPr>
            <a:spLocks noGrp="1"/>
          </p:cNvSpPr>
          <p:nvPr/>
        </p:nvSpPr>
        <p:spPr>
          <a:xfrm>
            <a:off x="3429000" y="1600200"/>
            <a:ext cx="2190750" cy="266700"/>
          </a:xfrm>
          <a:prstGeom prst="rect">
            <a:avLst/>
          </a:prstGeom>
          <a:noFill/>
          <a:ln w="0">
            <a:noFill/>
            <a:prstDash val="solid"/>
          </a:ln>
        </p:spPr>
        <p:txBody>
          <a:bodyPr wrap="square" lIns="0" tIns="0" rIns="0" bIns="0" anchor="t">
            <a:noAutofit/>
          </a:bodyPr>
          <a:lstStyle/>
          <a:p>
            <a:pPr algn="l">
              <a:lnSpc>
                <a:spcPct val="105000"/>
              </a:lnSpc>
              <a:buNone/>
              <a:defRPr sz="1350" b="1" i="0">
                <a:solidFill>
                  <a:srgbClr val="356B56"/>
                </a:solidFill>
                <a:latin typeface="Arial"/>
                <a:ea typeface="Arial"/>
                <a:cs typeface="Arial"/>
              </a:defRPr>
            </a:pPr>
            <a:r>
              <a:rPr sz="1350" b="1" i="0" dirty="0">
                <a:solidFill>
                  <a:srgbClr val="356B56"/>
                </a:solidFill>
                <a:latin typeface="Arial"/>
                <a:ea typeface="Arial"/>
                <a:cs typeface="Arial"/>
              </a:rPr>
              <a:t>WEEK 2</a:t>
            </a:r>
          </a:p>
        </p:txBody>
      </p:sp>
      <p:sp>
        <p:nvSpPr>
          <p:cNvPr id="12" name="矩形 11">
            <a:extLst>
              <a:ext uri="{FF2B5EF4-FFF2-40B4-BE49-F238E27FC236}">
                <a16:creationId xmlns:a16="http://schemas.microsoft.com/office/drawing/2014/main" id="{54DE9ED8-0C19-48D6-AD38-AB8B15EA936C}"/>
              </a:ext>
            </a:extLst>
          </p:cNvPr>
          <p:cNvSpPr>
            <a:spLocks noGrp="1"/>
          </p:cNvSpPr>
          <p:nvPr/>
        </p:nvSpPr>
        <p:spPr>
          <a:xfrm>
            <a:off x="3429000" y="2076450"/>
            <a:ext cx="2247900" cy="685800"/>
          </a:xfrm>
          <a:prstGeom prst="rect">
            <a:avLst/>
          </a:prstGeom>
          <a:noFill/>
          <a:ln w="0">
            <a:noFill/>
            <a:prstDash val="solid"/>
          </a:ln>
        </p:spPr>
        <p:txBody>
          <a:bodyPr wrap="square" lIns="0" tIns="0" rIns="0" bIns="0" anchor="t">
            <a:noAutofit/>
          </a:bodyPr>
          <a:lstStyle/>
          <a:p>
            <a:pPr algn="l">
              <a:lnSpc>
                <a:spcPct val="108000"/>
              </a:lnSpc>
              <a:buNone/>
              <a:defRPr sz="1875" b="1" i="0">
                <a:solidFill>
                  <a:srgbClr val="192526"/>
                </a:solidFill>
                <a:latin typeface="Arial"/>
                <a:ea typeface="Arial"/>
                <a:cs typeface="Arial"/>
              </a:defRPr>
            </a:pPr>
            <a:r>
              <a:rPr sz="1875" b="1" i="0">
                <a:solidFill>
                  <a:srgbClr val="192526"/>
                </a:solidFill>
                <a:latin typeface="Arial"/>
                <a:ea typeface="Arial"/>
                <a:cs typeface="Arial"/>
              </a:rPr>
              <a:t>Baseline vertical slice</a:t>
            </a:r>
          </a:p>
        </p:txBody>
      </p:sp>
      <p:sp>
        <p:nvSpPr>
          <p:cNvPr id="13" name="直接连接符 12">
            <a:extLst>
              <a:ext uri="{FF2B5EF4-FFF2-40B4-BE49-F238E27FC236}">
                <a16:creationId xmlns:a16="http://schemas.microsoft.com/office/drawing/2014/main" id="{79733EDC-445E-45D9-8A69-1F9ADB0D208D}"/>
              </a:ext>
            </a:extLst>
          </p:cNvPr>
          <p:cNvSpPr>
            <a:spLocks noGrp="1"/>
          </p:cNvSpPr>
          <p:nvPr/>
        </p:nvSpPr>
        <p:spPr>
          <a:xfrm>
            <a:off x="3429000" y="2914650"/>
            <a:ext cx="2114550" cy="0"/>
          </a:xfrm>
          <a:prstGeom prst="line">
            <a:avLst/>
          </a:prstGeom>
          <a:noFill/>
          <a:ln w="28575">
            <a:solidFill>
              <a:srgbClr val="4F806B"/>
            </a:solidFill>
            <a:prstDash val="solid"/>
          </a:ln>
        </p:spPr>
        <p:txBody>
          <a:bodyPr/>
          <a:lstStyle/>
          <a:p>
            <a:endParaRPr/>
          </a:p>
        </p:txBody>
      </p:sp>
      <p:sp>
        <p:nvSpPr>
          <p:cNvPr id="14" name="矩形 13">
            <a:extLst>
              <a:ext uri="{FF2B5EF4-FFF2-40B4-BE49-F238E27FC236}">
                <a16:creationId xmlns:a16="http://schemas.microsoft.com/office/drawing/2014/main" id="{9CD51954-3F41-4827-A25D-F96D9D136798}"/>
              </a:ext>
            </a:extLst>
          </p:cNvPr>
          <p:cNvSpPr>
            <a:spLocks noGrp="1"/>
          </p:cNvSpPr>
          <p:nvPr/>
        </p:nvSpPr>
        <p:spPr>
          <a:xfrm>
            <a:off x="3429000" y="3181350"/>
            <a:ext cx="2247900" cy="1085850"/>
          </a:xfrm>
          <a:prstGeom prst="rect">
            <a:avLst/>
          </a:prstGeom>
          <a:noFill/>
          <a:ln w="0">
            <a:noFill/>
            <a:prstDash val="solid"/>
          </a:ln>
        </p:spPr>
        <p:txBody>
          <a:bodyPr wrap="square" lIns="0" tIns="0" rIns="0" bIns="0" anchor="t">
            <a:noAutofit/>
          </a:bodyPr>
          <a:lstStyle/>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Record • share</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retrieve • recommend</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feedback</a:t>
            </a:r>
          </a:p>
        </p:txBody>
      </p:sp>
      <p:sp>
        <p:nvSpPr>
          <p:cNvPr id="15" name="矩形 14">
            <a:extLst>
              <a:ext uri="{FF2B5EF4-FFF2-40B4-BE49-F238E27FC236}">
                <a16:creationId xmlns:a16="http://schemas.microsoft.com/office/drawing/2014/main" id="{7876DBBE-32FD-4E2A-B4A9-29D035C2D25B}"/>
              </a:ext>
            </a:extLst>
          </p:cNvPr>
          <p:cNvSpPr>
            <a:spLocks noGrp="1"/>
          </p:cNvSpPr>
          <p:nvPr/>
        </p:nvSpPr>
        <p:spPr>
          <a:xfrm>
            <a:off x="5772150" y="2381250"/>
            <a:ext cx="323850" cy="457200"/>
          </a:xfrm>
          <a:prstGeom prst="rect">
            <a:avLst/>
          </a:prstGeom>
          <a:noFill/>
          <a:ln w="0">
            <a:noFill/>
            <a:prstDash val="solid"/>
          </a:ln>
        </p:spPr>
        <p:txBody>
          <a:bodyPr wrap="square" lIns="0" tIns="0" rIns="0" bIns="0" anchor="ctr">
            <a:noAutofit/>
          </a:bodyPr>
          <a:lstStyle/>
          <a:p>
            <a:pPr algn="ctr">
              <a:lnSpc>
                <a:spcPct val="105000"/>
              </a:lnSpc>
              <a:buNone/>
              <a:defRPr sz="3150" b="0" i="0">
                <a:solidFill>
                  <a:srgbClr val="D8DDD9"/>
                </a:solidFill>
                <a:latin typeface="Arial"/>
                <a:ea typeface="Arial"/>
                <a:cs typeface="Arial"/>
              </a:defRPr>
            </a:pPr>
            <a:r>
              <a:rPr sz="3150" b="0" i="0">
                <a:solidFill>
                  <a:srgbClr val="D8DDD9"/>
                </a:solidFill>
                <a:latin typeface="Arial"/>
                <a:ea typeface="Arial"/>
                <a:cs typeface="Arial"/>
              </a:rPr>
              <a:t>›</a:t>
            </a:r>
          </a:p>
        </p:txBody>
      </p:sp>
      <p:sp>
        <p:nvSpPr>
          <p:cNvPr id="16" name="矩形 15">
            <a:extLst>
              <a:ext uri="{FF2B5EF4-FFF2-40B4-BE49-F238E27FC236}">
                <a16:creationId xmlns:a16="http://schemas.microsoft.com/office/drawing/2014/main" id="{A3947F64-3856-4ACD-AB93-54AC60746CBF}"/>
              </a:ext>
            </a:extLst>
          </p:cNvPr>
          <p:cNvSpPr>
            <a:spLocks noGrp="1"/>
          </p:cNvSpPr>
          <p:nvPr/>
        </p:nvSpPr>
        <p:spPr>
          <a:xfrm>
            <a:off x="6191250" y="1600200"/>
            <a:ext cx="2190750" cy="266700"/>
          </a:xfrm>
          <a:prstGeom prst="rect">
            <a:avLst/>
          </a:prstGeom>
          <a:noFill/>
          <a:ln w="0">
            <a:noFill/>
            <a:prstDash val="solid"/>
          </a:ln>
        </p:spPr>
        <p:txBody>
          <a:bodyPr wrap="square" lIns="0" tIns="0" rIns="0" bIns="0" anchor="t">
            <a:noAutofit/>
          </a:bodyPr>
          <a:lstStyle/>
          <a:p>
            <a:pPr algn="l">
              <a:lnSpc>
                <a:spcPct val="105000"/>
              </a:lnSpc>
              <a:buNone/>
              <a:defRPr sz="1350" b="1" i="0">
                <a:solidFill>
                  <a:srgbClr val="356B56"/>
                </a:solidFill>
                <a:latin typeface="Arial"/>
                <a:ea typeface="Arial"/>
                <a:cs typeface="Arial"/>
              </a:defRPr>
            </a:pPr>
            <a:r>
              <a:rPr sz="1350" b="1" i="0" dirty="0">
                <a:solidFill>
                  <a:srgbClr val="356B56"/>
                </a:solidFill>
                <a:latin typeface="Arial"/>
                <a:ea typeface="Arial"/>
                <a:cs typeface="Arial"/>
              </a:rPr>
              <a:t>WEEK 3</a:t>
            </a:r>
          </a:p>
        </p:txBody>
      </p:sp>
      <p:sp>
        <p:nvSpPr>
          <p:cNvPr id="17" name="矩形 16">
            <a:extLst>
              <a:ext uri="{FF2B5EF4-FFF2-40B4-BE49-F238E27FC236}">
                <a16:creationId xmlns:a16="http://schemas.microsoft.com/office/drawing/2014/main" id="{48BE030B-9DC1-410A-9165-FF154FEC30B1}"/>
              </a:ext>
            </a:extLst>
          </p:cNvPr>
          <p:cNvSpPr>
            <a:spLocks noGrp="1"/>
          </p:cNvSpPr>
          <p:nvPr/>
        </p:nvSpPr>
        <p:spPr>
          <a:xfrm>
            <a:off x="6191250" y="2076450"/>
            <a:ext cx="2247900" cy="685800"/>
          </a:xfrm>
          <a:prstGeom prst="rect">
            <a:avLst/>
          </a:prstGeom>
          <a:noFill/>
          <a:ln w="0">
            <a:noFill/>
            <a:prstDash val="solid"/>
          </a:ln>
        </p:spPr>
        <p:txBody>
          <a:bodyPr wrap="square" lIns="0" tIns="0" rIns="0" bIns="0" anchor="t">
            <a:noAutofit/>
          </a:bodyPr>
          <a:lstStyle/>
          <a:p>
            <a:pPr algn="l">
              <a:lnSpc>
                <a:spcPct val="108000"/>
              </a:lnSpc>
              <a:buNone/>
              <a:defRPr sz="1875" b="1" i="0">
                <a:solidFill>
                  <a:srgbClr val="192526"/>
                </a:solidFill>
                <a:latin typeface="Arial"/>
                <a:ea typeface="Arial"/>
                <a:cs typeface="Arial"/>
              </a:defRPr>
            </a:pPr>
            <a:r>
              <a:rPr sz="1875" b="1" i="0">
                <a:solidFill>
                  <a:srgbClr val="192526"/>
                </a:solidFill>
                <a:latin typeface="Arial"/>
                <a:ea typeface="Arial"/>
                <a:cs typeface="Arial"/>
              </a:rPr>
              <a:t>Hybrid ML + five Agents</a:t>
            </a:r>
          </a:p>
        </p:txBody>
      </p:sp>
      <p:sp>
        <p:nvSpPr>
          <p:cNvPr id="18" name="直接连接符 17">
            <a:extLst>
              <a:ext uri="{FF2B5EF4-FFF2-40B4-BE49-F238E27FC236}">
                <a16:creationId xmlns:a16="http://schemas.microsoft.com/office/drawing/2014/main" id="{E2F30011-E6E5-49B5-A4F6-F412B67C60DC}"/>
              </a:ext>
            </a:extLst>
          </p:cNvPr>
          <p:cNvSpPr>
            <a:spLocks noGrp="1"/>
          </p:cNvSpPr>
          <p:nvPr/>
        </p:nvSpPr>
        <p:spPr>
          <a:xfrm>
            <a:off x="6191250" y="2914650"/>
            <a:ext cx="2114550" cy="0"/>
          </a:xfrm>
          <a:prstGeom prst="line">
            <a:avLst/>
          </a:prstGeom>
          <a:noFill/>
          <a:ln w="28575">
            <a:solidFill>
              <a:srgbClr val="4F806B"/>
            </a:solidFill>
            <a:prstDash val="solid"/>
          </a:ln>
        </p:spPr>
        <p:txBody>
          <a:bodyPr/>
          <a:lstStyle/>
          <a:p>
            <a:endParaRPr/>
          </a:p>
        </p:txBody>
      </p:sp>
      <p:sp>
        <p:nvSpPr>
          <p:cNvPr id="19" name="矩形 18">
            <a:extLst>
              <a:ext uri="{FF2B5EF4-FFF2-40B4-BE49-F238E27FC236}">
                <a16:creationId xmlns:a16="http://schemas.microsoft.com/office/drawing/2014/main" id="{20F08CC5-D86F-410E-ACEB-3C4D6E61B00C}"/>
              </a:ext>
            </a:extLst>
          </p:cNvPr>
          <p:cNvSpPr>
            <a:spLocks noGrp="1"/>
          </p:cNvSpPr>
          <p:nvPr/>
        </p:nvSpPr>
        <p:spPr>
          <a:xfrm>
            <a:off x="6191250" y="3181350"/>
            <a:ext cx="2247900" cy="1085850"/>
          </a:xfrm>
          <a:prstGeom prst="rect">
            <a:avLst/>
          </a:prstGeom>
          <a:noFill/>
          <a:ln w="0">
            <a:noFill/>
            <a:prstDash val="solid"/>
          </a:ln>
        </p:spPr>
        <p:txBody>
          <a:bodyPr wrap="square" lIns="0" tIns="0" rIns="0" bIns="0" anchor="t">
            <a:noAutofit/>
          </a:bodyPr>
          <a:lstStyle/>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UserCF • ItemCF • LR</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Agent tools</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structured outputs</a:t>
            </a:r>
          </a:p>
        </p:txBody>
      </p:sp>
      <p:sp>
        <p:nvSpPr>
          <p:cNvPr id="20" name="矩形 19">
            <a:extLst>
              <a:ext uri="{FF2B5EF4-FFF2-40B4-BE49-F238E27FC236}">
                <a16:creationId xmlns:a16="http://schemas.microsoft.com/office/drawing/2014/main" id="{51DA851D-9C9E-4269-9F9B-6FD64B9E3E22}"/>
              </a:ext>
            </a:extLst>
          </p:cNvPr>
          <p:cNvSpPr>
            <a:spLocks noGrp="1"/>
          </p:cNvSpPr>
          <p:nvPr/>
        </p:nvSpPr>
        <p:spPr>
          <a:xfrm>
            <a:off x="8534400" y="2381250"/>
            <a:ext cx="323850" cy="457200"/>
          </a:xfrm>
          <a:prstGeom prst="rect">
            <a:avLst/>
          </a:prstGeom>
          <a:noFill/>
          <a:ln w="0">
            <a:noFill/>
            <a:prstDash val="solid"/>
          </a:ln>
        </p:spPr>
        <p:txBody>
          <a:bodyPr wrap="square" lIns="0" tIns="0" rIns="0" bIns="0" anchor="ctr">
            <a:noAutofit/>
          </a:bodyPr>
          <a:lstStyle/>
          <a:p>
            <a:pPr algn="ctr">
              <a:lnSpc>
                <a:spcPct val="105000"/>
              </a:lnSpc>
              <a:buNone/>
              <a:defRPr sz="3150" b="0" i="0">
                <a:solidFill>
                  <a:srgbClr val="D8DDD9"/>
                </a:solidFill>
                <a:latin typeface="Arial"/>
                <a:ea typeface="Arial"/>
                <a:cs typeface="Arial"/>
              </a:defRPr>
            </a:pPr>
            <a:r>
              <a:rPr sz="3150" b="0" i="0">
                <a:solidFill>
                  <a:srgbClr val="D8DDD9"/>
                </a:solidFill>
                <a:latin typeface="Arial"/>
                <a:ea typeface="Arial"/>
                <a:cs typeface="Arial"/>
              </a:rPr>
              <a:t>›</a:t>
            </a:r>
          </a:p>
        </p:txBody>
      </p:sp>
      <p:sp>
        <p:nvSpPr>
          <p:cNvPr id="21" name="矩形 20">
            <a:extLst>
              <a:ext uri="{FF2B5EF4-FFF2-40B4-BE49-F238E27FC236}">
                <a16:creationId xmlns:a16="http://schemas.microsoft.com/office/drawing/2014/main" id="{D88AB33D-65F3-44D7-9030-D04ADD9857A2}"/>
              </a:ext>
            </a:extLst>
          </p:cNvPr>
          <p:cNvSpPr>
            <a:spLocks noGrp="1"/>
          </p:cNvSpPr>
          <p:nvPr/>
        </p:nvSpPr>
        <p:spPr>
          <a:xfrm>
            <a:off x="8953500" y="1600200"/>
            <a:ext cx="2190750" cy="266700"/>
          </a:xfrm>
          <a:prstGeom prst="rect">
            <a:avLst/>
          </a:prstGeom>
          <a:noFill/>
          <a:ln w="0">
            <a:noFill/>
            <a:prstDash val="solid"/>
          </a:ln>
        </p:spPr>
        <p:txBody>
          <a:bodyPr wrap="square" lIns="0" tIns="0" rIns="0" bIns="0" anchor="t">
            <a:noAutofit/>
          </a:bodyPr>
          <a:lstStyle/>
          <a:p>
            <a:pPr algn="l">
              <a:lnSpc>
                <a:spcPct val="105000"/>
              </a:lnSpc>
              <a:buNone/>
              <a:defRPr sz="1350" b="1" i="0">
                <a:solidFill>
                  <a:srgbClr val="B86143"/>
                </a:solidFill>
                <a:latin typeface="Arial"/>
                <a:ea typeface="Arial"/>
                <a:cs typeface="Arial"/>
              </a:defRPr>
            </a:pPr>
            <a:r>
              <a:rPr sz="1350" b="1" i="0">
                <a:solidFill>
                  <a:srgbClr val="B86143"/>
                </a:solidFill>
                <a:latin typeface="Arial"/>
                <a:ea typeface="Arial"/>
                <a:cs typeface="Arial"/>
              </a:rPr>
              <a:t>WEEK 4</a:t>
            </a:r>
          </a:p>
        </p:txBody>
      </p:sp>
      <p:sp>
        <p:nvSpPr>
          <p:cNvPr id="22" name="矩形 21">
            <a:extLst>
              <a:ext uri="{FF2B5EF4-FFF2-40B4-BE49-F238E27FC236}">
                <a16:creationId xmlns:a16="http://schemas.microsoft.com/office/drawing/2014/main" id="{450968A5-B209-4AC8-8C69-2F44333E6AE0}"/>
              </a:ext>
            </a:extLst>
          </p:cNvPr>
          <p:cNvSpPr>
            <a:spLocks noGrp="1"/>
          </p:cNvSpPr>
          <p:nvPr/>
        </p:nvSpPr>
        <p:spPr>
          <a:xfrm>
            <a:off x="8953500" y="2076450"/>
            <a:ext cx="2247900" cy="685800"/>
          </a:xfrm>
          <a:prstGeom prst="rect">
            <a:avLst/>
          </a:prstGeom>
          <a:noFill/>
          <a:ln w="0">
            <a:noFill/>
            <a:prstDash val="solid"/>
          </a:ln>
        </p:spPr>
        <p:txBody>
          <a:bodyPr wrap="square" lIns="0" tIns="0" rIns="0" bIns="0" anchor="t">
            <a:noAutofit/>
          </a:bodyPr>
          <a:lstStyle/>
          <a:p>
            <a:pPr algn="l">
              <a:lnSpc>
                <a:spcPct val="108000"/>
              </a:lnSpc>
              <a:buNone/>
              <a:defRPr sz="1875" b="1" i="0">
                <a:solidFill>
                  <a:srgbClr val="192526"/>
                </a:solidFill>
                <a:latin typeface="Arial"/>
                <a:ea typeface="Arial"/>
                <a:cs typeface="Arial"/>
              </a:defRPr>
            </a:pPr>
            <a:r>
              <a:rPr sz="1875" b="1" i="0">
                <a:solidFill>
                  <a:srgbClr val="192526"/>
                </a:solidFill>
                <a:latin typeface="Arial"/>
                <a:ea typeface="Arial"/>
                <a:cs typeface="Arial"/>
              </a:rPr>
              <a:t>Cloud, UAT &amp; demo</a:t>
            </a:r>
          </a:p>
        </p:txBody>
      </p:sp>
      <p:sp>
        <p:nvSpPr>
          <p:cNvPr id="23" name="直接连接符 22">
            <a:extLst>
              <a:ext uri="{FF2B5EF4-FFF2-40B4-BE49-F238E27FC236}">
                <a16:creationId xmlns:a16="http://schemas.microsoft.com/office/drawing/2014/main" id="{DD57EC3C-CED4-447E-8512-3FAE203B4EBF}"/>
              </a:ext>
            </a:extLst>
          </p:cNvPr>
          <p:cNvSpPr>
            <a:spLocks noGrp="1"/>
          </p:cNvSpPr>
          <p:nvPr/>
        </p:nvSpPr>
        <p:spPr>
          <a:xfrm>
            <a:off x="8953500" y="2914650"/>
            <a:ext cx="2114550" cy="0"/>
          </a:xfrm>
          <a:prstGeom prst="line">
            <a:avLst/>
          </a:prstGeom>
          <a:noFill/>
          <a:ln w="28575">
            <a:solidFill>
              <a:srgbClr val="B86143"/>
            </a:solidFill>
            <a:prstDash val="solid"/>
          </a:ln>
        </p:spPr>
        <p:txBody>
          <a:bodyPr/>
          <a:lstStyle/>
          <a:p>
            <a:endParaRPr/>
          </a:p>
        </p:txBody>
      </p:sp>
      <p:sp>
        <p:nvSpPr>
          <p:cNvPr id="24" name="矩形 23">
            <a:extLst>
              <a:ext uri="{FF2B5EF4-FFF2-40B4-BE49-F238E27FC236}">
                <a16:creationId xmlns:a16="http://schemas.microsoft.com/office/drawing/2014/main" id="{C194486A-C7DE-46E9-85EF-9871DF9D8D1A}"/>
              </a:ext>
            </a:extLst>
          </p:cNvPr>
          <p:cNvSpPr>
            <a:spLocks noGrp="1"/>
          </p:cNvSpPr>
          <p:nvPr/>
        </p:nvSpPr>
        <p:spPr>
          <a:xfrm>
            <a:off x="8953500" y="3181350"/>
            <a:ext cx="2247900" cy="1085850"/>
          </a:xfrm>
          <a:prstGeom prst="rect">
            <a:avLst/>
          </a:prstGeom>
          <a:noFill/>
          <a:ln w="0">
            <a:noFill/>
            <a:prstDash val="solid"/>
          </a:ln>
        </p:spPr>
        <p:txBody>
          <a:bodyPr wrap="square" lIns="0" tIns="0" rIns="0" bIns="0" anchor="t">
            <a:noAutofit/>
          </a:bodyPr>
          <a:lstStyle/>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Deployment</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integration tests</a:t>
            </a:r>
          </a:p>
          <a:p>
            <a:pPr algn="l">
              <a:lnSpc>
                <a:spcPct val="118000"/>
              </a:lnSpc>
              <a:buNone/>
              <a:defRPr sz="1500" b="0" i="0">
                <a:solidFill>
                  <a:srgbClr val="667174"/>
                </a:solidFill>
                <a:latin typeface="Arial"/>
                <a:ea typeface="Arial"/>
                <a:cs typeface="Arial"/>
              </a:defRPr>
            </a:pPr>
            <a:r>
              <a:rPr sz="1500" b="0" i="0">
                <a:solidFill>
                  <a:srgbClr val="667174"/>
                </a:solidFill>
                <a:latin typeface="Arial"/>
                <a:ea typeface="Arial"/>
                <a:cs typeface="Arial"/>
              </a:rPr>
              <a:t>final demonstration</a:t>
            </a:r>
          </a:p>
        </p:txBody>
      </p:sp>
      <p:sp>
        <p:nvSpPr>
          <p:cNvPr id="26" name="矩形: 圆角 25">
            <a:extLst>
              <a:ext uri="{FF2B5EF4-FFF2-40B4-BE49-F238E27FC236}">
                <a16:creationId xmlns:a16="http://schemas.microsoft.com/office/drawing/2014/main" id="{6DB34720-8BDA-421E-968E-9193ACC74FEF}"/>
              </a:ext>
            </a:extLst>
          </p:cNvPr>
          <p:cNvSpPr>
            <a:spLocks noGrp="1"/>
          </p:cNvSpPr>
          <p:nvPr/>
        </p:nvSpPr>
        <p:spPr>
          <a:xfrm>
            <a:off x="642937" y="4533899"/>
            <a:ext cx="5219700" cy="1200150"/>
          </a:xfrm>
          <a:prstGeom prst="roundRect">
            <a:avLst>
              <a:gd name="adj" fmla="val 11111"/>
            </a:avLst>
          </a:prstGeom>
          <a:solidFill>
            <a:srgbClr val="F4E8E1"/>
          </a:solidFill>
          <a:ln w="10478">
            <a:solidFill>
              <a:srgbClr val="B86143"/>
            </a:solidFill>
            <a:prstDash val="solid"/>
          </a:ln>
        </p:spPr>
        <p:txBody>
          <a:bodyPr wrap="square" lIns="190500" tIns="171450" rIns="190500" bIns="152400" anchor="ctr">
            <a:noAutofit/>
          </a:bodyPr>
          <a:lstStyle/>
          <a:p>
            <a:pPr algn="l">
              <a:lnSpc>
                <a:spcPct val="120000"/>
              </a:lnSpc>
              <a:buNone/>
              <a:defRPr sz="1425" b="1">
                <a:solidFill>
                  <a:srgbClr val="B86143"/>
                </a:solidFill>
                <a:latin typeface="Arial"/>
                <a:ea typeface="Arial"/>
                <a:cs typeface="Arial"/>
              </a:defRPr>
            </a:pPr>
            <a:r>
              <a:rPr sz="1425" b="1">
                <a:solidFill>
                  <a:srgbClr val="B86143"/>
                </a:solidFill>
                <a:latin typeface="Arial"/>
                <a:ea typeface="Arial"/>
                <a:cs typeface="Arial"/>
              </a:rPr>
              <a:t>FUTURE WORK</a:t>
            </a:r>
          </a:p>
          <a:p>
            <a:pPr algn="l">
              <a:lnSpc>
                <a:spcPct val="120000"/>
              </a:lnSpc>
              <a:buNone/>
              <a:defRPr sz="1425" b="1">
                <a:solidFill>
                  <a:srgbClr val="B86143"/>
                </a:solidFill>
                <a:latin typeface="Arial"/>
                <a:ea typeface="Arial"/>
                <a:cs typeface="Arial"/>
              </a:defRPr>
            </a:pPr>
            <a:r>
              <a:rPr sz="1425" b="1">
                <a:solidFill>
                  <a:srgbClr val="B86143"/>
                </a:solidFill>
                <a:latin typeface="Arial"/>
                <a:ea typeface="Arial"/>
                <a:cs typeface="Arial"/>
              </a:rPr>
              <a:t>Public search • maps • ordering • payment • advanced recommendation methods</a:t>
            </a:r>
          </a:p>
        </p:txBody>
      </p:sp>
    </p:spTree>
    <p:extLst>
      <p:ext uri="{BB962C8B-B14F-4D97-AF65-F5344CB8AC3E}">
        <p14:creationId xmlns:p14="http://schemas.microsoft.com/office/powerpoint/2010/main" val="113446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closing-title">
            <a:extLst>
              <a:ext uri="{FF2B5EF4-FFF2-40B4-BE49-F238E27FC236}">
                <a16:creationId xmlns:a16="http://schemas.microsoft.com/office/drawing/2014/main" id="{6A709F97-51D4-426F-8684-6AADFFF8CD4B}"/>
              </a:ext>
            </a:extLst>
          </p:cNvPr>
          <p:cNvSpPr>
            <a:spLocks noGrp="1"/>
          </p:cNvSpPr>
          <p:nvPr/>
        </p:nvSpPr>
        <p:spPr>
          <a:xfrm>
            <a:off x="742950" y="1447800"/>
            <a:ext cx="10001250" cy="1104900"/>
          </a:xfrm>
          <a:prstGeom prst="rect">
            <a:avLst/>
          </a:prstGeom>
          <a:noFill/>
          <a:ln w="0">
            <a:noFill/>
            <a:prstDash val="solid"/>
          </a:ln>
        </p:spPr>
        <p:txBody>
          <a:bodyPr wrap="square" lIns="0" tIns="0" rIns="0" bIns="0" anchor="t">
            <a:noAutofit/>
          </a:bodyPr>
          <a:lstStyle/>
          <a:p>
            <a:pPr algn="l">
              <a:lnSpc>
                <a:spcPct val="105000"/>
              </a:lnSpc>
              <a:buNone/>
              <a:defRPr sz="4350" b="1" i="0">
                <a:solidFill>
                  <a:srgbClr val="192526"/>
                </a:solidFill>
                <a:latin typeface="Arial"/>
                <a:ea typeface="Arial"/>
                <a:cs typeface="Arial"/>
              </a:defRPr>
            </a:pPr>
            <a:endParaRPr/>
          </a:p>
        </p:txBody>
      </p:sp>
      <p:sp>
        <p:nvSpPr>
          <p:cNvPr id="8" name="矩形 7">
            <a:extLst>
              <a:ext uri="{FF2B5EF4-FFF2-40B4-BE49-F238E27FC236}">
                <a16:creationId xmlns:a16="http://schemas.microsoft.com/office/drawing/2014/main" id="{43CC6539-46A4-4085-98CB-8C09539913C7}"/>
              </a:ext>
            </a:extLst>
          </p:cNvPr>
          <p:cNvSpPr>
            <a:spLocks noGrp="1"/>
          </p:cNvSpPr>
          <p:nvPr/>
        </p:nvSpPr>
        <p:spPr>
          <a:xfrm>
            <a:off x="4468254" y="3017108"/>
            <a:ext cx="3255491" cy="823784"/>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4800" b="1" i="0">
                <a:solidFill>
                  <a:srgbClr val="192526"/>
                </a:solidFill>
                <a:latin typeface="Arial"/>
                <a:ea typeface="Arial"/>
                <a:cs typeface="Arial"/>
              </a:rPr>
              <a:t>Thank you</a:t>
            </a:r>
          </a:p>
        </p:txBody>
      </p:sp>
      <p:sp>
        <p:nvSpPr>
          <p:cNvPr id="9" name="矩形 8">
            <a:extLst>
              <a:ext uri="{FF2B5EF4-FFF2-40B4-BE49-F238E27FC236}">
                <a16:creationId xmlns:a16="http://schemas.microsoft.com/office/drawing/2014/main" id="{078C043E-1E25-45BC-8749-40857AB918C5}"/>
              </a:ext>
            </a:extLst>
          </p:cNvPr>
          <p:cNvSpPr>
            <a:spLocks noGrp="1"/>
          </p:cNvSpPr>
          <p:nvPr/>
        </p:nvSpPr>
        <p:spPr>
          <a:xfrm>
            <a:off x="11049000" y="5981700"/>
            <a:ext cx="438150" cy="20955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13</a:t>
            </a:r>
          </a:p>
        </p:txBody>
      </p:sp>
    </p:spTree>
    <p:extLst>
      <p:ext uri="{BB962C8B-B14F-4D97-AF65-F5344CB8AC3E}">
        <p14:creationId xmlns:p14="http://schemas.microsoft.com/office/powerpoint/2010/main" val="15162849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2251</Words>
  <Application>Microsoft Macintosh PowerPoint</Application>
  <PresentationFormat>Widescreen</PresentationFormat>
  <Paragraphs>273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Chen Terrence Yaqi</cp:lastModifiedBy>
  <cp:revision>1</cp:revision>
  <dcterms:created xsi:type="dcterms:W3CDTF">2026-07-26T15:00:19Z</dcterms:created>
  <dcterms:modified xsi:type="dcterms:W3CDTF">2026-07-27T07:17:49Z</dcterms:modified>
</cp:coreProperties>
</file>