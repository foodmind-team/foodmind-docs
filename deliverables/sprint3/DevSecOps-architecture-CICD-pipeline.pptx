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7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D732F2-96BB-5049-B007-112788F5B08A}" v="2" dt="2026-08-19T05:34:35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31"/>
    <p:restoredTop sz="71360"/>
  </p:normalViewPr>
  <p:slideViewPr>
    <p:cSldViewPr snapToGrid="0">
      <p:cViewPr varScale="1">
        <p:scale>
          <a:sx n="75" d="100"/>
          <a:sy n="75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Terrence Yaqi" userId="fd0f25ab-de92-4d97-a7d9-a0180993481a" providerId="ADAL" clId="{D7ABF46B-58F9-5DFC-B5BE-4143A237EFDE}"/>
    <pc:docChg chg="addSld modSld">
      <pc:chgData name="Chen Terrence Yaqi" userId="fd0f25ab-de92-4d97-a7d9-a0180993481a" providerId="ADAL" clId="{D7ABF46B-58F9-5DFC-B5BE-4143A237EFDE}" dt="2026-08-19T06:30:21.636" v="278" actId="20577"/>
      <pc:docMkLst>
        <pc:docMk/>
      </pc:docMkLst>
      <pc:sldChg chg="addSp modSp mod modNotesTx">
        <pc:chgData name="Chen Terrence Yaqi" userId="fd0f25ab-de92-4d97-a7d9-a0180993481a" providerId="ADAL" clId="{D7ABF46B-58F9-5DFC-B5BE-4143A237EFDE}" dt="2026-08-19T05:28:36.387" v="222" actId="1076"/>
        <pc:sldMkLst>
          <pc:docMk/>
          <pc:sldMk cId="1878011474" sldId="256"/>
        </pc:sldMkLst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27" creationId="{00AF2E81-47A1-AEFC-6BBC-AA6ABF4BD93C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28" creationId="{6AC8BECC-DF9F-25AA-092D-15DF6FC0ABEA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29" creationId="{CFA76969-E6AB-6DA5-4CFF-B102BE2C1508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30" creationId="{DDC48D1E-05BD-5681-215F-020F81878B8D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31" creationId="{6B4AA515-1874-9139-93BC-90411BB5E34F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32" creationId="{1BC31640-8AE1-E536-697F-5773508FFCC0}"/>
          </ac:spMkLst>
        </pc:spChg>
        <pc:spChg chg="add mod">
          <ac:chgData name="Chen Terrence Yaqi" userId="fd0f25ab-de92-4d97-a7d9-a0180993481a" providerId="ADAL" clId="{D7ABF46B-58F9-5DFC-B5BE-4143A237EFDE}" dt="2026-08-19T05:28:36.387" v="222" actId="1076"/>
          <ac:spMkLst>
            <pc:docMk/>
            <pc:sldMk cId="1878011474" sldId="256"/>
            <ac:spMk id="33" creationId="{49E7C17D-534D-65CB-71F1-DCDB8455680E}"/>
          </ac:spMkLst>
        </pc:spChg>
      </pc:sldChg>
      <pc:sldChg chg="modNotesTx">
        <pc:chgData name="Chen Terrence Yaqi" userId="fd0f25ab-de92-4d97-a7d9-a0180993481a" providerId="ADAL" clId="{D7ABF46B-58F9-5DFC-B5BE-4143A237EFDE}" dt="2026-08-19T03:07:14.936" v="132" actId="20577"/>
        <pc:sldMkLst>
          <pc:docMk/>
          <pc:sldMk cId="2141227975" sldId="257"/>
        </pc:sldMkLst>
      </pc:sldChg>
      <pc:sldChg chg="modNotesTx">
        <pc:chgData name="Chen Terrence Yaqi" userId="fd0f25ab-de92-4d97-a7d9-a0180993481a" providerId="ADAL" clId="{D7ABF46B-58F9-5DFC-B5BE-4143A237EFDE}" dt="2026-08-19T03:09:19.988" v="219" actId="20577"/>
        <pc:sldMkLst>
          <pc:docMk/>
          <pc:sldMk cId="18450210" sldId="258"/>
        </pc:sldMkLst>
      </pc:sldChg>
      <pc:sldChg chg="modNotesTx">
        <pc:chgData name="Chen Terrence Yaqi" userId="fd0f25ab-de92-4d97-a7d9-a0180993481a" providerId="ADAL" clId="{D7ABF46B-58F9-5DFC-B5BE-4143A237EFDE}" dt="2026-08-19T03:12:00.791" v="220" actId="20577"/>
        <pc:sldMkLst>
          <pc:docMk/>
          <pc:sldMk cId="1563126698" sldId="260"/>
        </pc:sldMkLst>
      </pc:sldChg>
      <pc:sldChg chg="modNotesTx">
        <pc:chgData name="Chen Terrence Yaqi" userId="fd0f25ab-de92-4d97-a7d9-a0180993481a" providerId="ADAL" clId="{D7ABF46B-58F9-5DFC-B5BE-4143A237EFDE}" dt="2026-08-19T02:52:13.557" v="49" actId="20577"/>
        <pc:sldMkLst>
          <pc:docMk/>
          <pc:sldMk cId="1127860526" sldId="261"/>
        </pc:sldMkLst>
      </pc:sldChg>
      <pc:sldChg chg="modNotesTx">
        <pc:chgData name="Chen Terrence Yaqi" userId="fd0f25ab-de92-4d97-a7d9-a0180993481a" providerId="ADAL" clId="{D7ABF46B-58F9-5DFC-B5BE-4143A237EFDE}" dt="2026-08-19T06:30:21.636" v="278" actId="20577"/>
        <pc:sldMkLst>
          <pc:docMk/>
          <pc:sldMk cId="56262515" sldId="263"/>
        </pc:sldMkLst>
      </pc:sldChg>
      <pc:sldChg chg="modNotesTx">
        <pc:chgData name="Chen Terrence Yaqi" userId="fd0f25ab-de92-4d97-a7d9-a0180993481a" providerId="ADAL" clId="{D7ABF46B-58F9-5DFC-B5BE-4143A237EFDE}" dt="2026-08-19T02:56:03.669" v="130" actId="20577"/>
        <pc:sldMkLst>
          <pc:docMk/>
          <pc:sldMk cId="688936750" sldId="267"/>
        </pc:sldMkLst>
      </pc:sldChg>
      <pc:sldChg chg="addSp modSp new mod">
        <pc:chgData name="Chen Terrence Yaqi" userId="fd0f25ab-de92-4d97-a7d9-a0180993481a" providerId="ADAL" clId="{D7ABF46B-58F9-5DFC-B5BE-4143A237EFDE}" dt="2026-08-19T05:34:53.150" v="242" actId="1076"/>
        <pc:sldMkLst>
          <pc:docMk/>
          <pc:sldMk cId="909408067" sldId="268"/>
        </pc:sldMkLst>
        <pc:spChg chg="add mod">
          <ac:chgData name="Chen Terrence Yaqi" userId="fd0f25ab-de92-4d97-a7d9-a0180993481a" providerId="ADAL" clId="{D7ABF46B-58F9-5DFC-B5BE-4143A237EFDE}" dt="2026-08-19T05:34:53.150" v="242" actId="1076"/>
          <ac:spMkLst>
            <pc:docMk/>
            <pc:sldMk cId="909408067" sldId="268"/>
            <ac:spMk id="2" creationId="{5AF3C9E1-5BC5-9821-0553-E4DA604F070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Good afternoon. This is Team5 and I am Chen Yaqi. Today I will present </a:t>
            </a:r>
            <a:r>
              <a:rPr lang="en-SG" dirty="0" err="1"/>
              <a:t>DevSecOps</a:t>
            </a:r>
            <a:r>
              <a:rPr lang="en-SG" dirty="0"/>
              <a:t> pipeline of our project</a:t>
            </a:r>
            <a:r>
              <a:rPr lang="en-US" dirty="0"/>
              <a:t>.</a:t>
            </a:r>
            <a:endParaRPr lang="en-SG" dirty="0"/>
          </a:p>
          <a:p>
            <a:endParaRPr lang="en-SG" dirty="0"/>
          </a:p>
          <a:p>
            <a:r>
              <a:rPr lang="en-SG" dirty="0"/>
              <a:t>Before we start, I will trigger our </a:t>
            </a:r>
            <a:r>
              <a:rPr lang="en-SG" dirty="0" err="1"/>
              <a:t>DevSecOps</a:t>
            </a:r>
            <a:r>
              <a:rPr lang="en-SG" dirty="0"/>
              <a:t> pipeline in the background. I am going to open a Pull Request to kick off the full GitHub Actions Workflows.</a:t>
            </a:r>
          </a:p>
          <a:p>
            <a:endParaRPr lang="en-SG" dirty="0"/>
          </a:p>
          <a:p>
            <a:r>
              <a:rPr lang="en-SG" dirty="0"/>
              <a:t>Our goal is to build a working AWS pipeline, which can turn every software release into verifiable audit evidence.</a:t>
            </a:r>
          </a:p>
          <a:p>
            <a:r>
              <a:rPr lang="en-SG" dirty="0"/>
              <a:t>Three key attributes define our pipeline: </a:t>
            </a:r>
            <a:r>
              <a:rPr lang="en-SG" sz="1200" b="0" kern="1200" dirty="0">
                <a:effectLst/>
              </a:rPr>
              <a:t>Secure, Observable, and Reversible</a:t>
            </a:r>
            <a:r>
              <a:rPr lang="en-SG" dirty="0"/>
              <a:t>.</a:t>
            </a:r>
          </a:p>
          <a:p>
            <a:r>
              <a:rPr lang="en-SG" dirty="0"/>
              <a:t>The high‑level workflow follows six major phases: Commit, </a:t>
            </a:r>
            <a:r>
              <a:rPr lang="en-SG" dirty="0" err="1"/>
              <a:t>Analyze</a:t>
            </a:r>
            <a:r>
              <a:rPr lang="en-SG" dirty="0"/>
              <a:t>, Test, Package, Deploy and Monitor.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Next, let’s look at our design principle. We turned the theoretical </a:t>
            </a:r>
            <a:r>
              <a:rPr lang="en-SG" dirty="0" err="1"/>
              <a:t>DevSecOps</a:t>
            </a:r>
            <a:r>
              <a:rPr lang="en-SG" dirty="0"/>
              <a:t> model into a real‑world operating loop.</a:t>
            </a:r>
          </a:p>
          <a:p>
            <a:r>
              <a:rPr lang="en-SG" dirty="0"/>
              <a:t>When developers raise a pull request, we kick off analysis including SAST, SCA and secret scanning.</a:t>
            </a:r>
          </a:p>
          <a:p>
            <a:r>
              <a:rPr lang="en-SG" dirty="0"/>
              <a:t>Then we provision infrastructure via </a:t>
            </a:r>
            <a:r>
              <a:rPr lang="en-SG" dirty="0" err="1"/>
              <a:t>IaC</a:t>
            </a:r>
            <a:r>
              <a:rPr lang="en-SG" dirty="0"/>
              <a:t> and Docker Compose, run tests, deploy, and continuously monitor.</a:t>
            </a:r>
          </a:p>
          <a:p>
            <a:r>
              <a:rPr lang="en-SG" dirty="0"/>
              <a:t>After monitoring, all evidence flows back to our backlog for improvements, closing the loop.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We follow two important ideas. First is </a:t>
            </a:r>
            <a:r>
              <a:rPr lang="en-SG" sz="1200" b="0" kern="1200" dirty="0">
                <a:effectLst/>
              </a:rPr>
              <a:t>fast feedback</a:t>
            </a:r>
            <a:r>
              <a:rPr lang="en-SG" dirty="0"/>
              <a:t>: PR checks run early, giving developers quick feedback close to their code change.</a:t>
            </a:r>
          </a:p>
          <a:p>
            <a:r>
              <a:rPr lang="en-SG" dirty="0"/>
              <a:t>Second is </a:t>
            </a:r>
            <a:r>
              <a:rPr lang="en-SG" sz="1200" b="0" kern="1200" dirty="0">
                <a:effectLst/>
              </a:rPr>
              <a:t>release assurance</a:t>
            </a:r>
            <a:r>
              <a:rPr lang="en-SG" dirty="0"/>
              <a:t>: heavier tests like integration, DAST and performance testing run later in the pipeline, at the correct stage before release.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This diagram shows our full end‑to‑end pipeline.</a:t>
            </a:r>
          </a:p>
          <a:p>
            <a:r>
              <a:rPr lang="en-SG" dirty="0"/>
              <a:t>Everything starts when a developer opens a GitHub Pull Request.</a:t>
            </a:r>
          </a:p>
          <a:p>
            <a:r>
              <a:rPr lang="en-SG" dirty="0"/>
              <a:t>In CI part, we run multiple checks: unit tests, </a:t>
            </a:r>
            <a:r>
              <a:rPr lang="en-SG" dirty="0" err="1"/>
              <a:t>CodeQL</a:t>
            </a:r>
            <a:r>
              <a:rPr lang="en-SG" dirty="0"/>
              <a:t> static analysis, dependency scanning and secret detection. Any medium‑or‑higher vulnerability will block the merge.</a:t>
            </a:r>
          </a:p>
          <a:p>
            <a:r>
              <a:rPr lang="en-SG" dirty="0"/>
              <a:t>Next we handle infrastructure: Docker Compose and CloudFormation are validated as compliance‑as‑code.</a:t>
            </a:r>
          </a:p>
          <a:p>
            <a:r>
              <a:rPr lang="en-SG" dirty="0"/>
              <a:t>Then we build </a:t>
            </a:r>
            <a:r>
              <a:rPr lang="en-SG" sz="1200" b="0" kern="1200" dirty="0">
                <a:effectLst/>
              </a:rPr>
              <a:t>seven immutable container images</a:t>
            </a:r>
            <a:r>
              <a:rPr lang="en-SG" dirty="0"/>
              <a:t>. We generate </a:t>
            </a:r>
            <a:r>
              <a:rPr lang="en-SG" dirty="0" err="1"/>
              <a:t>CycloneDX</a:t>
            </a:r>
            <a:r>
              <a:rPr lang="en-SG" dirty="0"/>
              <a:t> SBOM to list their libraries and run </a:t>
            </a:r>
            <a:r>
              <a:rPr lang="en-SG" dirty="0" err="1"/>
              <a:t>Trivy</a:t>
            </a:r>
            <a:r>
              <a:rPr lang="en-SG" dirty="0"/>
              <a:t> vulnerability scan. Again, fixable medium‑plus issues will block this step.</a:t>
            </a:r>
          </a:p>
          <a:p>
            <a:r>
              <a:rPr lang="en-SG" dirty="0"/>
              <a:t>Safe images get pushed to Amazon ECR, tracked by SHA‑256 immutable digest.</a:t>
            </a:r>
          </a:p>
          <a:p>
            <a:r>
              <a:rPr lang="en-SG" dirty="0"/>
              <a:t>For deployment, we use GitHub OIDC to get short‑lived AWS IAM credentials, no long‑lived secrets. We deploy via AWS Systems Manager onto EC2, pinning deployment strictly to image digest.</a:t>
            </a:r>
          </a:p>
          <a:p>
            <a:r>
              <a:rPr lang="en-SG" dirty="0"/>
              <a:t>Finally we run release assurance: readiness checks, automatic rollback, ZAP dynamic security test, JMeter performance test, and CloudWatch logging and alarms.</a:t>
            </a:r>
          </a:p>
          <a:p>
            <a:r>
              <a:rPr lang="en-SG" dirty="0"/>
              <a:t>All audit evidence is permanently retained. Our security model goes Prevent, Detect, Remediate and Re‑scan, feeding insights back to developers.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kern="1200" dirty="0">
                <a:effectLst/>
              </a:rPr>
              <a:t>Let’s zoom into Continuous Integration. Our CI runs on pull requests, stopping defects before code is merged into main branch.</a:t>
            </a:r>
          </a:p>
          <a:p>
            <a:r>
              <a:rPr lang="en-SG" sz="1200" b="0" kern="1200" dirty="0">
                <a:effectLst/>
              </a:rPr>
              <a:t>We validate code correctness with linting, type checks, unit and contract tests.</a:t>
            </a:r>
          </a:p>
          <a:p>
            <a:r>
              <a:rPr lang="en-SG" sz="1200" b="0" kern="1200" dirty="0">
                <a:effectLst/>
              </a:rPr>
              <a:t>For static security analysis we use </a:t>
            </a:r>
            <a:r>
              <a:rPr lang="en-SG" sz="1200" b="0" kern="1200" dirty="0" err="1">
                <a:effectLst/>
              </a:rPr>
              <a:t>CodeQL</a:t>
            </a:r>
            <a:r>
              <a:rPr lang="en-SG" sz="1200" b="0" kern="1200" dirty="0">
                <a:effectLst/>
              </a:rPr>
              <a:t> with its security‑extended query suite.</a:t>
            </a:r>
          </a:p>
          <a:p>
            <a:r>
              <a:rPr lang="en-SG" sz="1200" b="0" kern="1200" dirty="0">
                <a:effectLst/>
              </a:rPr>
              <a:t>Dependency review blocks any medium or higher vulnerabilities from third‑party libraries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Next is secure software supply chain. After code passes CI, we build our seven container images.</a:t>
            </a:r>
          </a:p>
          <a:p>
            <a:r>
              <a:rPr lang="en-SG" dirty="0"/>
              <a:t>We follow the rule: </a:t>
            </a:r>
            <a:r>
              <a:rPr lang="en-SG" sz="1200" b="0" kern="1200" dirty="0">
                <a:effectLst/>
              </a:rPr>
              <a:t>scan before push</a:t>
            </a:r>
            <a:r>
              <a:rPr lang="en-SG" dirty="0"/>
              <a:t>. Before sending images to ECR registry, we generate </a:t>
            </a:r>
            <a:r>
              <a:rPr lang="en-SG" dirty="0" err="1"/>
              <a:t>CycloneDX</a:t>
            </a:r>
            <a:r>
              <a:rPr lang="en-SG" dirty="0"/>
              <a:t> SBOM, which lists every component inside each container.</a:t>
            </a:r>
          </a:p>
          <a:p>
            <a:r>
              <a:rPr lang="en-SG" dirty="0"/>
              <a:t>Then </a:t>
            </a:r>
            <a:r>
              <a:rPr lang="en-SG" dirty="0" err="1"/>
              <a:t>Trivy</a:t>
            </a:r>
            <a:r>
              <a:rPr lang="en-SG" dirty="0"/>
              <a:t> scans for vulnerabilities. Any medium‑plus vulnerability will block pushing to ECR.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Moving to Continuous Delivery. A critical security point: we never store static AWS credentials.</a:t>
            </a:r>
          </a:p>
          <a:p>
            <a:r>
              <a:rPr lang="en-SG" dirty="0"/>
              <a:t>GitHub Actions authenticates to AWS using OIDC federation, getting short‑lived temporary IAM roles.</a:t>
            </a:r>
          </a:p>
          <a:p>
            <a:r>
              <a:rPr lang="en-SG" dirty="0"/>
              <a:t>Deployment is controlled via AWS Systems Manager onto our staging EC2 instance. Every deployment pins to immutable image digest.</a:t>
            </a:r>
          </a:p>
          <a:p>
            <a:r>
              <a:rPr lang="en-SG" dirty="0"/>
              <a:t>After deployment, readiness health checks run. If checks pass, release stays live. If readiness fails, </a:t>
            </a:r>
            <a:r>
              <a:rPr lang="en-SG" sz="1200" b="0" kern="1200" dirty="0">
                <a:effectLst/>
              </a:rPr>
              <a:t>automatic rollback triggers and restores previous verified image set</a:t>
            </a:r>
            <a:r>
              <a:rPr lang="en-SG" dirty="0"/>
              <a:t>.</a:t>
            </a:r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Note this staging environment uses single EC2, so it is not high‑availability.</a:t>
            </a:r>
          </a:p>
          <a:p>
            <a:r>
              <a:rPr lang="en-SG" dirty="0"/>
              <a:t>CloudWatch captures logs and alarms; any issues feed back into our project backlog.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sz="1200" b="0" kern="1200" dirty="0">
                <a:effectLst/>
              </a:rPr>
              <a:t>Now our security testing results. Our initial baseline scan found 142 vulnerabilities, including 117 medium and 25 high‑risk issues across our images.</a:t>
            </a:r>
          </a:p>
          <a:p>
            <a:r>
              <a:rPr lang="en-SG" sz="1200" b="0" kern="1200" dirty="0">
                <a:effectLst/>
              </a:rPr>
              <a:t>We remediated these by pinning OS packages, locking dependency versions and slimming our container runtime tooling.</a:t>
            </a:r>
          </a:p>
          <a:p>
            <a:r>
              <a:rPr lang="en-SG" sz="1200" b="0" kern="1200" dirty="0">
                <a:effectLst/>
              </a:rPr>
              <a:t>After remediation and re‑scan, our seven release images show zero fixable medium‑or‑higher vulnerabilities.</a:t>
            </a:r>
            <a:br>
              <a:rPr lang="en-SG" sz="1200" b="0" kern="1200" dirty="0">
                <a:effectLst/>
              </a:rPr>
            </a:br>
            <a:br>
              <a:rPr lang="en-SG" sz="1200" b="0" kern="1200" dirty="0">
                <a:effectLst/>
              </a:rPr>
            </a:br>
            <a:r>
              <a:rPr lang="en-SG" sz="1200" b="0" kern="1200" dirty="0" err="1">
                <a:effectLst/>
              </a:rPr>
              <a:t>Seperate</a:t>
            </a:r>
            <a:r>
              <a:rPr lang="en-SG" sz="1200" b="0" kern="1200" dirty="0">
                <a:effectLst/>
              </a:rPr>
              <a:t> the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After deployment to staging, we run post‑release assurance tests.</a:t>
            </a:r>
          </a:p>
          <a:p>
            <a:r>
              <a:rPr lang="en-SG" dirty="0"/>
              <a:t>Our smoke test sends 20 sample requests, with zero error rate.</a:t>
            </a:r>
          </a:p>
          <a:p>
            <a:r>
              <a:rPr lang="en-SG" dirty="0"/>
              <a:t>For performance, our p95 latency is 876 milliseconds. Our performance budget threshold is 2000 </a:t>
            </a:r>
            <a:r>
              <a:rPr lang="en-SG" dirty="0" err="1"/>
              <a:t>ms</a:t>
            </a:r>
            <a:r>
              <a:rPr lang="en-SG" dirty="0"/>
              <a:t>, so this release passes performance gate.</a:t>
            </a:r>
          </a:p>
          <a:p>
            <a:r>
              <a:rPr lang="en-SG" dirty="0"/>
              <a:t>We run passive, unauthenticated ZAP DAST scan. We check HTTP security headers; any CSP or COEP policy exceptions are formally documented.</a:t>
            </a:r>
          </a:p>
          <a:p>
            <a:r>
              <a:rPr lang="en-SG" dirty="0"/>
              <a:t>All metrics go to CloudWatch for ongoing monitoring.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dirty="0"/>
              <a:t>To wrap up, let’s summarize our operating results.</a:t>
            </a:r>
          </a:p>
          <a:p>
            <a:r>
              <a:rPr lang="en-SG" dirty="0"/>
              <a:t>First, all security workflows are configured. Our next improvement is universal merge enforcement across repositories.</a:t>
            </a:r>
          </a:p>
          <a:p>
            <a:r>
              <a:rPr lang="en-SG" dirty="0"/>
              <a:t>Second: all seven container images are scanned before being pushed to ECR registry.</a:t>
            </a:r>
          </a:p>
          <a:p>
            <a:r>
              <a:rPr lang="en-SG" dirty="0"/>
              <a:t>Third: deployments are performed against immutable image digest rather than mutable tags.</a:t>
            </a:r>
          </a:p>
          <a:p>
            <a:r>
              <a:rPr lang="en-SG" dirty="0"/>
              <a:t>Fourth: automated rollback path is implemented. Our future work is to perform full rollback drill and capture drill evidence.</a:t>
            </a:r>
          </a:p>
          <a:p>
            <a:r>
              <a:rPr lang="en-SG" dirty="0"/>
              <a:t>Fifth: our passive ZAP security scan, security header checks and JMeter performance test all pass for staging.</a:t>
            </a:r>
          </a:p>
          <a:p>
            <a:r>
              <a:rPr lang="en-SG" dirty="0"/>
              <a:t>Thank you for listening.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26FF552C-9828-422A-9F7A-0155F39F4DF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C5E36E-B7F2-4E1C-B0C4-192CF01AED17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476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FoodMind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47FDBD3-01A4-4B31-8052-103C8A594FD8}"/>
              </a:ext>
            </a:extLst>
          </p:cNvPr>
          <p:cNvSpPr>
            <a:spLocks noGrp="1"/>
          </p:cNvSpPr>
          <p:nvPr/>
        </p:nvSpPr>
        <p:spPr>
          <a:xfrm>
            <a:off x="685800" y="1619250"/>
            <a:ext cx="68580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4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DevSecOps CI/CD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0A7A0C-294B-481C-AAD5-8C4FE86B7F5D}"/>
              </a:ext>
            </a:extLst>
          </p:cNvPr>
          <p:cNvSpPr>
            <a:spLocks noGrp="1"/>
          </p:cNvSpPr>
          <p:nvPr/>
        </p:nvSpPr>
        <p:spPr>
          <a:xfrm>
            <a:off x="685800" y="2400300"/>
            <a:ext cx="7810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250" b="1">
                <a:solidFill>
                  <a:srgbClr val="0F8B8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8B8D"/>
                </a:solidFill>
                <a:latin typeface="Aptos"/>
                <a:ea typeface="Aptos"/>
                <a:cs typeface="Aptos"/>
              </a:rPr>
              <a:t>Secure. Observable. Reversible.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231116-FCF9-452A-A6A7-4FA22FEB7281}"/>
              </a:ext>
            </a:extLst>
          </p:cNvPr>
          <p:cNvSpPr>
            <a:spLocks noGrp="1"/>
          </p:cNvSpPr>
          <p:nvPr/>
        </p:nvSpPr>
        <p:spPr>
          <a:xfrm>
            <a:off x="685800" y="3162300"/>
            <a:ext cx="6572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7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A running AWS pipeline that turns every release into verifiable evidence.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F9321A3-6269-4FAE-881B-DA415DFB9518}"/>
              </a:ext>
            </a:extLst>
          </p:cNvPr>
          <p:cNvSpPr>
            <a:spLocks noGrp="1"/>
          </p:cNvSpPr>
          <p:nvPr/>
        </p:nvSpPr>
        <p:spPr>
          <a:xfrm>
            <a:off x="741045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5CB363F-6F68-4AFF-B061-E7CDF95F3312}"/>
              </a:ext>
            </a:extLst>
          </p:cNvPr>
          <p:cNvSpPr>
            <a:spLocks noGrp="1"/>
          </p:cNvSpPr>
          <p:nvPr/>
        </p:nvSpPr>
        <p:spPr>
          <a:xfrm>
            <a:off x="752475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5BD0F89-C5E5-4145-8046-AD1BFC568E44}"/>
              </a:ext>
            </a:extLst>
          </p:cNvPr>
          <p:cNvSpPr>
            <a:spLocks noGrp="1"/>
          </p:cNvSpPr>
          <p:nvPr/>
        </p:nvSpPr>
        <p:spPr>
          <a:xfrm>
            <a:off x="752475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FE10176-1BA3-46E0-9F0A-71BA4B0E62FB}"/>
              </a:ext>
            </a:extLst>
          </p:cNvPr>
          <p:cNvSpPr>
            <a:spLocks noGrp="1"/>
          </p:cNvSpPr>
          <p:nvPr/>
        </p:nvSpPr>
        <p:spPr>
          <a:xfrm>
            <a:off x="876300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7C9A36C-A79A-4DC9-8CDA-5EC3FB348EE9}"/>
              </a:ext>
            </a:extLst>
          </p:cNvPr>
          <p:cNvSpPr>
            <a:spLocks noGrp="1"/>
          </p:cNvSpPr>
          <p:nvPr/>
        </p:nvSpPr>
        <p:spPr>
          <a:xfrm>
            <a:off x="887730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AC2328-E17E-433F-A64D-90EF729AD97E}"/>
              </a:ext>
            </a:extLst>
          </p:cNvPr>
          <p:cNvSpPr>
            <a:spLocks noGrp="1"/>
          </p:cNvSpPr>
          <p:nvPr/>
        </p:nvSpPr>
        <p:spPr>
          <a:xfrm>
            <a:off x="887730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5E480D62-4FC4-443E-ABAA-80548A7B12D2}"/>
              </a:ext>
            </a:extLst>
          </p:cNvPr>
          <p:cNvSpPr>
            <a:spLocks noGrp="1"/>
          </p:cNvSpPr>
          <p:nvPr/>
        </p:nvSpPr>
        <p:spPr>
          <a:xfrm>
            <a:off x="10115550" y="158115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91539B4-FD4A-461A-A26B-5BE4514F3649}"/>
              </a:ext>
            </a:extLst>
          </p:cNvPr>
          <p:cNvSpPr>
            <a:spLocks noGrp="1"/>
          </p:cNvSpPr>
          <p:nvPr/>
        </p:nvSpPr>
        <p:spPr>
          <a:xfrm>
            <a:off x="10229850" y="167640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43AE7E-E4AD-456B-8804-2C33529C6FE0}"/>
              </a:ext>
            </a:extLst>
          </p:cNvPr>
          <p:cNvSpPr>
            <a:spLocks noGrp="1"/>
          </p:cNvSpPr>
          <p:nvPr/>
        </p:nvSpPr>
        <p:spPr>
          <a:xfrm>
            <a:off x="10229850" y="198120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E546389-8D9F-4A55-96D5-5120C5BD1BBD}"/>
              </a:ext>
            </a:extLst>
          </p:cNvPr>
          <p:cNvSpPr>
            <a:spLocks noGrp="1"/>
          </p:cNvSpPr>
          <p:nvPr/>
        </p:nvSpPr>
        <p:spPr>
          <a:xfrm>
            <a:off x="741045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456F7E-BA1F-4FB0-B0A7-E7567691D440}"/>
              </a:ext>
            </a:extLst>
          </p:cNvPr>
          <p:cNvSpPr>
            <a:spLocks noGrp="1"/>
          </p:cNvSpPr>
          <p:nvPr/>
        </p:nvSpPr>
        <p:spPr>
          <a:xfrm>
            <a:off x="752475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97DE7F-DF98-4097-9266-2358B34556CA}"/>
              </a:ext>
            </a:extLst>
          </p:cNvPr>
          <p:cNvSpPr>
            <a:spLocks noGrp="1"/>
          </p:cNvSpPr>
          <p:nvPr/>
        </p:nvSpPr>
        <p:spPr>
          <a:xfrm>
            <a:off x="752475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Package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1EA13A4-D528-439C-9A17-ADC7BB00B544}"/>
              </a:ext>
            </a:extLst>
          </p:cNvPr>
          <p:cNvSpPr>
            <a:spLocks noGrp="1"/>
          </p:cNvSpPr>
          <p:nvPr/>
        </p:nvSpPr>
        <p:spPr>
          <a:xfrm>
            <a:off x="876300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E460D98-1CB5-465D-99BF-559AEED7C65C}"/>
              </a:ext>
            </a:extLst>
          </p:cNvPr>
          <p:cNvSpPr>
            <a:spLocks noGrp="1"/>
          </p:cNvSpPr>
          <p:nvPr/>
        </p:nvSpPr>
        <p:spPr>
          <a:xfrm>
            <a:off x="887730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DC1F086-2BDD-4A0C-AD8B-E9C5EE7F3BA9}"/>
              </a:ext>
            </a:extLst>
          </p:cNvPr>
          <p:cNvSpPr>
            <a:spLocks noGrp="1"/>
          </p:cNvSpPr>
          <p:nvPr/>
        </p:nvSpPr>
        <p:spPr>
          <a:xfrm>
            <a:off x="887730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BB5FCD93-F671-41EC-A2F8-D14397817469}"/>
              </a:ext>
            </a:extLst>
          </p:cNvPr>
          <p:cNvSpPr>
            <a:spLocks noGrp="1"/>
          </p:cNvSpPr>
          <p:nvPr/>
        </p:nvSpPr>
        <p:spPr>
          <a:xfrm>
            <a:off x="10115550" y="3009900"/>
            <a:ext cx="1123950" cy="876300"/>
          </a:xfrm>
          <a:prstGeom prst="roundRect">
            <a:avLst>
              <a:gd name="adj" fmla="val 869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C0E0448-C230-42D0-A85C-9B32A4BAFA3D}"/>
              </a:ext>
            </a:extLst>
          </p:cNvPr>
          <p:cNvSpPr>
            <a:spLocks noGrp="1"/>
          </p:cNvSpPr>
          <p:nvPr/>
        </p:nvSpPr>
        <p:spPr>
          <a:xfrm>
            <a:off x="10229850" y="3105150"/>
            <a:ext cx="2667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482FC18-1650-49CF-AAA4-C0A04862295F}"/>
              </a:ext>
            </a:extLst>
          </p:cNvPr>
          <p:cNvSpPr>
            <a:spLocks noGrp="1"/>
          </p:cNvSpPr>
          <p:nvPr/>
        </p:nvSpPr>
        <p:spPr>
          <a:xfrm>
            <a:off x="10229850" y="3409950"/>
            <a:ext cx="8953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F15F017-FA02-4F9C-819C-911769DC2197}"/>
              </a:ext>
            </a:extLst>
          </p:cNvPr>
          <p:cNvSpPr>
            <a:spLocks noGrp="1"/>
          </p:cNvSpPr>
          <p:nvPr/>
        </p:nvSpPr>
        <p:spPr>
          <a:xfrm>
            <a:off x="685800" y="5810250"/>
            <a:ext cx="2571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19 AUGUST 2026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6311DFF-AB8B-48A4-8BBA-C0EDCCEFF045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2571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SA4106 • AD Project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0AF2E81-47A1-AEFC-6BBC-AA6ABF4BD93C}"/>
              </a:ext>
            </a:extLst>
          </p:cNvPr>
          <p:cNvSpPr txBox="1"/>
          <p:nvPr/>
        </p:nvSpPr>
        <p:spPr>
          <a:xfrm>
            <a:off x="2316480" y="414866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 dirty="0">
                <a:solidFill>
                  <a:srgbClr val="1F2937"/>
                </a:solidFill>
                <a:latin typeface="Calibri"/>
              </a:rPr>
              <a:t>Chen Yaqi</a:t>
            </a:r>
            <a:r>
              <a:rPr sz="1400" b="0" i="0" dirty="0">
                <a:solidFill>
                  <a:srgbClr val="5B6472"/>
                </a:solidFill>
                <a:latin typeface="Calibri"/>
              </a:rPr>
              <a:t>   A0335050U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AC8BECC-DF9F-25AA-092D-15DF6FC0ABEA}"/>
              </a:ext>
            </a:extLst>
          </p:cNvPr>
          <p:cNvSpPr txBox="1"/>
          <p:nvPr/>
        </p:nvSpPr>
        <p:spPr>
          <a:xfrm>
            <a:off x="2316480" y="478874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Wu Aomo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A0335088X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FA76969-E6AB-6DA5-4CFF-B102BE2C1508}"/>
              </a:ext>
            </a:extLst>
          </p:cNvPr>
          <p:cNvSpPr txBox="1"/>
          <p:nvPr/>
        </p:nvSpPr>
        <p:spPr>
          <a:xfrm>
            <a:off x="2316480" y="542882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Huang Qijun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A0335061N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C48D1E-05BD-5681-215F-020F81878B8D}"/>
              </a:ext>
            </a:extLst>
          </p:cNvPr>
          <p:cNvSpPr txBox="1"/>
          <p:nvPr/>
        </p:nvSpPr>
        <p:spPr>
          <a:xfrm>
            <a:off x="2316480" y="606890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Luo Yuxiang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A0335071M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B4AA515-1874-9139-93BC-90411BB5E34F}"/>
              </a:ext>
            </a:extLst>
          </p:cNvPr>
          <p:cNvSpPr txBox="1"/>
          <p:nvPr/>
        </p:nvSpPr>
        <p:spPr>
          <a:xfrm>
            <a:off x="5516880" y="414866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Lei Tianyou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A0335067A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C31640-8AE1-E536-697F-5773508FFCC0}"/>
              </a:ext>
            </a:extLst>
          </p:cNvPr>
          <p:cNvSpPr txBox="1"/>
          <p:nvPr/>
        </p:nvSpPr>
        <p:spPr>
          <a:xfrm>
            <a:off x="5516880" y="478874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Chen Chen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A0335082J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E7C17D-534D-65CB-71F1-DCDB8455680E}"/>
              </a:ext>
            </a:extLst>
          </p:cNvPr>
          <p:cNvSpPr txBox="1"/>
          <p:nvPr/>
        </p:nvSpPr>
        <p:spPr>
          <a:xfrm>
            <a:off x="5516880" y="5428827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Deng Yunke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A0335081L</a:t>
            </a:r>
          </a:p>
        </p:txBody>
      </p:sp>
    </p:spTree>
    <p:extLst>
      <p:ext uri="{BB962C8B-B14F-4D97-AF65-F5344CB8AC3E}">
        <p14:creationId xmlns:p14="http://schemas.microsoft.com/office/powerpoint/2010/main" val="18780114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3D981C70-7452-498C-9698-69ED5A94DD70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DESIGN PRINCIPLE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F2CA48D-B5BE-424E-AED5-C67AC024BC7E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course model becomes an operating loop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018CF2F-9E5F-4F7E-8E96-E3D7BF6DE10A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42B78F1-ED3B-46E3-A03C-BBE030804851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C722EF-1C05-4358-B3FC-3528BB5A50E8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B45B74F-8912-4F70-A041-7156A9D78B97}"/>
              </a:ext>
            </a:extLst>
          </p:cNvPr>
          <p:cNvSpPr>
            <a:spLocks noGrp="1"/>
          </p:cNvSpPr>
          <p:nvPr/>
        </p:nvSpPr>
        <p:spPr>
          <a:xfrm>
            <a:off x="6286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Commit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ABBCB73-14A8-45F0-8F2F-0CFC7F43D1DE}"/>
              </a:ext>
            </a:extLst>
          </p:cNvPr>
          <p:cNvSpPr>
            <a:spLocks noGrp="1"/>
          </p:cNvSpPr>
          <p:nvPr/>
        </p:nvSpPr>
        <p:spPr>
          <a:xfrm>
            <a:off x="5715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Reviewable change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2949BD-A0F4-4BFD-AA40-472372191E2D}"/>
              </a:ext>
            </a:extLst>
          </p:cNvPr>
          <p:cNvSpPr>
            <a:spLocks noGrp="1"/>
          </p:cNvSpPr>
          <p:nvPr/>
        </p:nvSpPr>
        <p:spPr>
          <a:xfrm>
            <a:off x="19240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DE7041-8D30-4525-BDDB-75ED67413177}"/>
              </a:ext>
            </a:extLst>
          </p:cNvPr>
          <p:cNvSpPr>
            <a:spLocks noGrp="1"/>
          </p:cNvSpPr>
          <p:nvPr/>
        </p:nvSpPr>
        <p:spPr>
          <a:xfrm>
            <a:off x="20002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97F7D03-E4C5-47C0-9AA0-2D0E0F2FE0B3}"/>
              </a:ext>
            </a:extLst>
          </p:cNvPr>
          <p:cNvSpPr>
            <a:spLocks noGrp="1"/>
          </p:cNvSpPr>
          <p:nvPr/>
        </p:nvSpPr>
        <p:spPr>
          <a:xfrm>
            <a:off x="22098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Analyze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D7AC8E-2CB5-443F-A1D3-E6392C4186FA}"/>
              </a:ext>
            </a:extLst>
          </p:cNvPr>
          <p:cNvSpPr>
            <a:spLocks noGrp="1"/>
          </p:cNvSpPr>
          <p:nvPr/>
        </p:nvSpPr>
        <p:spPr>
          <a:xfrm>
            <a:off x="21526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SAST • SCA • repository-specific secret checks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D4126B-C4C4-4611-8491-217519C5FF6C}"/>
              </a:ext>
            </a:extLst>
          </p:cNvPr>
          <p:cNvSpPr>
            <a:spLocks noGrp="1"/>
          </p:cNvSpPr>
          <p:nvPr/>
        </p:nvSpPr>
        <p:spPr>
          <a:xfrm>
            <a:off x="35052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AFCA20F-D62C-48FA-8B7B-F9E8CA9BB0EC}"/>
              </a:ext>
            </a:extLst>
          </p:cNvPr>
          <p:cNvSpPr>
            <a:spLocks noGrp="1"/>
          </p:cNvSpPr>
          <p:nvPr/>
        </p:nvSpPr>
        <p:spPr>
          <a:xfrm>
            <a:off x="35814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9D0A2DC-28D8-44A4-A547-47D9BA5B2E84}"/>
              </a:ext>
            </a:extLst>
          </p:cNvPr>
          <p:cNvSpPr>
            <a:spLocks noGrp="1"/>
          </p:cNvSpPr>
          <p:nvPr/>
        </p:nvSpPr>
        <p:spPr>
          <a:xfrm>
            <a:off x="37909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Set up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0DB9D1A-E83C-400D-9339-DE2236C1932E}"/>
              </a:ext>
            </a:extLst>
          </p:cNvPr>
          <p:cNvSpPr>
            <a:spLocks noGrp="1"/>
          </p:cNvSpPr>
          <p:nvPr/>
        </p:nvSpPr>
        <p:spPr>
          <a:xfrm>
            <a:off x="37338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Compose • IaC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0496B48-7797-4FF0-8373-04E3A0124ACB}"/>
              </a:ext>
            </a:extLst>
          </p:cNvPr>
          <p:cNvSpPr>
            <a:spLocks noGrp="1"/>
          </p:cNvSpPr>
          <p:nvPr/>
        </p:nvSpPr>
        <p:spPr>
          <a:xfrm>
            <a:off x="50863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AC52C1D-84BA-4A44-B020-D4BA5E65641F}"/>
              </a:ext>
            </a:extLst>
          </p:cNvPr>
          <p:cNvSpPr>
            <a:spLocks noGrp="1"/>
          </p:cNvSpPr>
          <p:nvPr/>
        </p:nvSpPr>
        <p:spPr>
          <a:xfrm>
            <a:off x="51625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B56371E-3F9D-474A-8E46-DA30282BAD69}"/>
              </a:ext>
            </a:extLst>
          </p:cNvPr>
          <p:cNvSpPr>
            <a:spLocks noGrp="1"/>
          </p:cNvSpPr>
          <p:nvPr/>
        </p:nvSpPr>
        <p:spPr>
          <a:xfrm>
            <a:off x="53721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1AE4ED8-181C-4549-B545-7476D52007F2}"/>
              </a:ext>
            </a:extLst>
          </p:cNvPr>
          <p:cNvSpPr>
            <a:spLocks noGrp="1"/>
          </p:cNvSpPr>
          <p:nvPr/>
        </p:nvSpPr>
        <p:spPr>
          <a:xfrm>
            <a:off x="53149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Unit • integration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7CDD2A3-B073-47CC-A3B0-678187699838}"/>
              </a:ext>
            </a:extLst>
          </p:cNvPr>
          <p:cNvSpPr>
            <a:spLocks noGrp="1"/>
          </p:cNvSpPr>
          <p:nvPr/>
        </p:nvSpPr>
        <p:spPr>
          <a:xfrm>
            <a:off x="66675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1A600B0-E2F3-4630-983F-C54CF72BCB6C}"/>
              </a:ext>
            </a:extLst>
          </p:cNvPr>
          <p:cNvSpPr>
            <a:spLocks noGrp="1"/>
          </p:cNvSpPr>
          <p:nvPr/>
        </p:nvSpPr>
        <p:spPr>
          <a:xfrm>
            <a:off x="67437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974B04D-36C3-44AA-8624-376FCA72B675}"/>
              </a:ext>
            </a:extLst>
          </p:cNvPr>
          <p:cNvSpPr>
            <a:spLocks noGrp="1"/>
          </p:cNvSpPr>
          <p:nvPr/>
        </p:nvSpPr>
        <p:spPr>
          <a:xfrm>
            <a:off x="69532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Deploy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5E895FA-2E27-4A2A-A601-8EDE6E9604F2}"/>
              </a:ext>
            </a:extLst>
          </p:cNvPr>
          <p:cNvSpPr>
            <a:spLocks noGrp="1"/>
          </p:cNvSpPr>
          <p:nvPr/>
        </p:nvSpPr>
        <p:spPr>
          <a:xfrm>
            <a:off x="68961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Digest • OIDC • SSM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5A88592-16C0-48D5-8855-B7EF945A7215}"/>
              </a:ext>
            </a:extLst>
          </p:cNvPr>
          <p:cNvSpPr>
            <a:spLocks noGrp="1"/>
          </p:cNvSpPr>
          <p:nvPr/>
        </p:nvSpPr>
        <p:spPr>
          <a:xfrm>
            <a:off x="824865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7B316B9-C5DD-442C-8FE2-14F5273689BA}"/>
              </a:ext>
            </a:extLst>
          </p:cNvPr>
          <p:cNvSpPr>
            <a:spLocks noGrp="1"/>
          </p:cNvSpPr>
          <p:nvPr/>
        </p:nvSpPr>
        <p:spPr>
          <a:xfrm>
            <a:off x="832485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36E11035-03CE-43DF-8E5E-ECC1273D65D2}"/>
              </a:ext>
            </a:extLst>
          </p:cNvPr>
          <p:cNvSpPr>
            <a:spLocks noGrp="1"/>
          </p:cNvSpPr>
          <p:nvPr/>
        </p:nvSpPr>
        <p:spPr>
          <a:xfrm>
            <a:off x="853440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Monitor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4E45F1C-F9C9-48DF-8D8A-EFD024107F5C}"/>
              </a:ext>
            </a:extLst>
          </p:cNvPr>
          <p:cNvSpPr>
            <a:spLocks noGrp="1"/>
          </p:cNvSpPr>
          <p:nvPr/>
        </p:nvSpPr>
        <p:spPr>
          <a:xfrm>
            <a:off x="847725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ZAP • JMeter • logs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C3BC2FB-625D-4277-B60D-BA2104C1041C}"/>
              </a:ext>
            </a:extLst>
          </p:cNvPr>
          <p:cNvSpPr>
            <a:spLocks noGrp="1"/>
          </p:cNvSpPr>
          <p:nvPr/>
        </p:nvSpPr>
        <p:spPr>
          <a:xfrm>
            <a:off x="9829800" y="2438400"/>
            <a:ext cx="152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D3BD889-0C4A-47B9-A022-3238704E08FC}"/>
              </a:ext>
            </a:extLst>
          </p:cNvPr>
          <p:cNvSpPr>
            <a:spLocks noGrp="1"/>
          </p:cNvSpPr>
          <p:nvPr/>
        </p:nvSpPr>
        <p:spPr>
          <a:xfrm>
            <a:off x="9906000" y="22860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DC1B600B-508E-49FD-958A-BC28CD4B8AB2}"/>
              </a:ext>
            </a:extLst>
          </p:cNvPr>
          <p:cNvSpPr>
            <a:spLocks noGrp="1"/>
          </p:cNvSpPr>
          <p:nvPr/>
        </p:nvSpPr>
        <p:spPr>
          <a:xfrm>
            <a:off x="10115550" y="2190750"/>
            <a:ext cx="1257300" cy="571500"/>
          </a:xfrm>
          <a:prstGeom prst="roundRect">
            <a:avLst>
              <a:gd name="adj" fmla="val 1333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Repeat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0207C7B-3DBE-4DBD-A01F-FBA5A9F3BD95}"/>
              </a:ext>
            </a:extLst>
          </p:cNvPr>
          <p:cNvSpPr>
            <a:spLocks noGrp="1"/>
          </p:cNvSpPr>
          <p:nvPr/>
        </p:nvSpPr>
        <p:spPr>
          <a:xfrm>
            <a:off x="10058400" y="2933700"/>
            <a:ext cx="13716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Evidence → backlog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6711801-69D1-433A-A5D8-0E30BBDE16B5}"/>
              </a:ext>
            </a:extLst>
          </p:cNvPr>
          <p:cNvSpPr>
            <a:spLocks noGrp="1"/>
          </p:cNvSpPr>
          <p:nvPr/>
        </p:nvSpPr>
        <p:spPr>
          <a:xfrm>
            <a:off x="781050" y="4238625"/>
            <a:ext cx="106299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8674F69-5CAD-4424-8989-8A5CA19F3482}"/>
              </a:ext>
            </a:extLst>
          </p:cNvPr>
          <p:cNvSpPr>
            <a:spLocks noGrp="1"/>
          </p:cNvSpPr>
          <p:nvPr/>
        </p:nvSpPr>
        <p:spPr>
          <a:xfrm>
            <a:off x="914400" y="4552950"/>
            <a:ext cx="2286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Fast feedback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2FE9F5-9F47-4466-AE47-C9D6FE4B6F4B}"/>
              </a:ext>
            </a:extLst>
          </p:cNvPr>
          <p:cNvSpPr>
            <a:spLocks noGrp="1"/>
          </p:cNvSpPr>
          <p:nvPr/>
        </p:nvSpPr>
        <p:spPr>
          <a:xfrm>
            <a:off x="914400" y="4914900"/>
            <a:ext cx="3810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PR checks finish early and close to the developer.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C42D460-5367-4C17-8B99-B3719DC16FC8}"/>
              </a:ext>
            </a:extLst>
          </p:cNvPr>
          <p:cNvSpPr>
            <a:spLocks noGrp="1"/>
          </p:cNvSpPr>
          <p:nvPr/>
        </p:nvSpPr>
        <p:spPr>
          <a:xfrm>
            <a:off x="6400800" y="4552950"/>
            <a:ext cx="2667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8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Release assurance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19819EC-D6E0-4F7D-B72A-20BD9BB0A9DA}"/>
              </a:ext>
            </a:extLst>
          </p:cNvPr>
          <p:cNvSpPr>
            <a:spLocks noGrp="1"/>
          </p:cNvSpPr>
          <p:nvPr/>
        </p:nvSpPr>
        <p:spPr>
          <a:xfrm>
            <a:off x="6400800" y="4914900"/>
            <a:ext cx="4286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Integration, DAST and performance run at the correct later stage.</a:t>
            </a:r>
          </a:p>
        </p:txBody>
      </p:sp>
    </p:spTree>
    <p:extLst>
      <p:ext uri="{BB962C8B-B14F-4D97-AF65-F5344CB8AC3E}">
        <p14:creationId xmlns:p14="http://schemas.microsoft.com/office/powerpoint/2010/main" val="21412279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DD3AC69B-E774-4124-B57C-BD9B63C4C5F2}"/>
              </a:ext>
            </a:extLst>
          </p:cNvPr>
          <p:cNvSpPr>
            <a:spLocks noGrp="1"/>
          </p:cNvSpPr>
          <p:nvPr/>
        </p:nvSpPr>
        <p:spPr>
          <a:xfrm>
            <a:off x="11334750" y="6534150"/>
            <a:ext cx="4000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7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450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6A109682-D597-4337-8C11-6E915889C6A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CONTINUOUS INTEGRATION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BDDB1C6-9E99-4956-8521-20CD1051BF6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Pull requests stop defects before integration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F0B01C4-4A59-48F1-9F39-D30614DFF915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3393FA1-05EB-4EA1-96F3-46BC048AF36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455733-FB6B-40DD-AD84-A1B57437D536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606EEB-3105-472F-BB9C-60E0B8E4D0F8}"/>
              </a:ext>
            </a:extLst>
          </p:cNvPr>
          <p:cNvSpPr>
            <a:spLocks noGrp="1"/>
          </p:cNvSpPr>
          <p:nvPr/>
        </p:nvSpPr>
        <p:spPr>
          <a:xfrm>
            <a:off x="762000" y="17907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Correctness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30DE89-D24F-4DE6-B150-49CC4BD8CC4F}"/>
              </a:ext>
            </a:extLst>
          </p:cNvPr>
          <p:cNvSpPr>
            <a:spLocks noGrp="1"/>
          </p:cNvSpPr>
          <p:nvPr/>
        </p:nvSpPr>
        <p:spPr>
          <a:xfrm>
            <a:off x="3505200" y="204787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1258EAE-2EAB-41F0-A711-521E0B642439}"/>
              </a:ext>
            </a:extLst>
          </p:cNvPr>
          <p:cNvSpPr>
            <a:spLocks noGrp="1"/>
          </p:cNvSpPr>
          <p:nvPr/>
        </p:nvSpPr>
        <p:spPr>
          <a:xfrm>
            <a:off x="3790950" y="189547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7DB380F-8F04-4018-88E4-C9A8A289E434}"/>
              </a:ext>
            </a:extLst>
          </p:cNvPr>
          <p:cNvSpPr>
            <a:spLocks noGrp="1"/>
          </p:cNvSpPr>
          <p:nvPr/>
        </p:nvSpPr>
        <p:spPr>
          <a:xfrm>
            <a:off x="4267200" y="18288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Lint • type • unit • contract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33B7AA34-352B-4310-9888-5882AE6EB130}"/>
              </a:ext>
            </a:extLst>
          </p:cNvPr>
          <p:cNvSpPr>
            <a:spLocks noGrp="1"/>
          </p:cNvSpPr>
          <p:nvPr/>
        </p:nvSpPr>
        <p:spPr>
          <a:xfrm>
            <a:off x="762000" y="26479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CodeQL SAST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A22BBD1-7A4F-40C9-8974-5DF7055CCB65}"/>
              </a:ext>
            </a:extLst>
          </p:cNvPr>
          <p:cNvSpPr>
            <a:spLocks noGrp="1"/>
          </p:cNvSpPr>
          <p:nvPr/>
        </p:nvSpPr>
        <p:spPr>
          <a:xfrm>
            <a:off x="3505200" y="29051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4E4D9BD-3B51-4EFC-B723-50B6F61A0A0A}"/>
              </a:ext>
            </a:extLst>
          </p:cNvPr>
          <p:cNvSpPr>
            <a:spLocks noGrp="1"/>
          </p:cNvSpPr>
          <p:nvPr/>
        </p:nvSpPr>
        <p:spPr>
          <a:xfrm>
            <a:off x="3790950" y="27527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5C21DE-A141-40A8-B080-5FC5CEBFBB9A}"/>
              </a:ext>
            </a:extLst>
          </p:cNvPr>
          <p:cNvSpPr>
            <a:spLocks noGrp="1"/>
          </p:cNvSpPr>
          <p:nvPr/>
        </p:nvSpPr>
        <p:spPr>
          <a:xfrm>
            <a:off x="4267200" y="268605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security-extended queries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368433D-F6D0-4508-901F-C39DF9803426}"/>
              </a:ext>
            </a:extLst>
          </p:cNvPr>
          <p:cNvSpPr>
            <a:spLocks noGrp="1"/>
          </p:cNvSpPr>
          <p:nvPr/>
        </p:nvSpPr>
        <p:spPr>
          <a:xfrm>
            <a:off x="762000" y="350520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F3EE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6B46A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6B46A1"/>
                </a:solidFill>
                <a:latin typeface="Aptos"/>
                <a:ea typeface="Aptos"/>
                <a:cs typeface="Aptos"/>
              </a:rPr>
              <a:t>Dependency Review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E080F5E-D6F3-42A8-AAC3-3273DDD889EF}"/>
              </a:ext>
            </a:extLst>
          </p:cNvPr>
          <p:cNvSpPr>
            <a:spLocks noGrp="1"/>
          </p:cNvSpPr>
          <p:nvPr/>
        </p:nvSpPr>
        <p:spPr>
          <a:xfrm>
            <a:off x="3505200" y="376237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AE6524-35CB-48D9-8267-B1F9790E0ECB}"/>
              </a:ext>
            </a:extLst>
          </p:cNvPr>
          <p:cNvSpPr>
            <a:spLocks noGrp="1"/>
          </p:cNvSpPr>
          <p:nvPr/>
        </p:nvSpPr>
        <p:spPr>
          <a:xfrm>
            <a:off x="3790950" y="360997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17022BF-36C2-4DB0-8A93-9BDAC4CCD5ED}"/>
              </a:ext>
            </a:extLst>
          </p:cNvPr>
          <p:cNvSpPr>
            <a:spLocks noGrp="1"/>
          </p:cNvSpPr>
          <p:nvPr/>
        </p:nvSpPr>
        <p:spPr>
          <a:xfrm>
            <a:off x="4267200" y="354330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Medium+ policy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2099C21D-DFF2-4B71-9573-C7601743C699}"/>
              </a:ext>
            </a:extLst>
          </p:cNvPr>
          <p:cNvSpPr>
            <a:spLocks noGrp="1"/>
          </p:cNvSpPr>
          <p:nvPr/>
        </p:nvSpPr>
        <p:spPr>
          <a:xfrm>
            <a:off x="762000" y="4362450"/>
            <a:ext cx="2476500" cy="590550"/>
          </a:xfrm>
          <a:prstGeom prst="roundRect">
            <a:avLst>
              <a:gd name="adj" fmla="val 12903"/>
            </a:avLst>
          </a:prstGeom>
          <a:solidFill>
            <a:srgbClr val="F2F4F7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4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A031E3C-0A63-402B-AEDC-D733FC4A284B}"/>
              </a:ext>
            </a:extLst>
          </p:cNvPr>
          <p:cNvSpPr>
            <a:spLocks noGrp="1"/>
          </p:cNvSpPr>
          <p:nvPr/>
        </p:nvSpPr>
        <p:spPr>
          <a:xfrm>
            <a:off x="3505200" y="46196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033D0F1-B78D-482D-B830-83BAF732AEF4}"/>
              </a:ext>
            </a:extLst>
          </p:cNvPr>
          <p:cNvSpPr>
            <a:spLocks noGrp="1"/>
          </p:cNvSpPr>
          <p:nvPr/>
        </p:nvSpPr>
        <p:spPr>
          <a:xfrm>
            <a:off x="3790950" y="44672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60272BB-8DB7-48BC-9EAF-AC24AA3E426B}"/>
              </a:ext>
            </a:extLst>
          </p:cNvPr>
          <p:cNvSpPr>
            <a:spLocks noGrp="1"/>
          </p:cNvSpPr>
          <p:nvPr/>
        </p:nvSpPr>
        <p:spPr>
          <a:xfrm>
            <a:off x="4267200" y="4400550"/>
            <a:ext cx="43815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SARIF • tests • artifacts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266684DE-9878-45CF-B795-F997064F5189}"/>
              </a:ext>
            </a:extLst>
          </p:cNvPr>
          <p:cNvSpPr>
            <a:spLocks noGrp="1"/>
          </p:cNvSpPr>
          <p:nvPr/>
        </p:nvSpPr>
        <p:spPr>
          <a:xfrm>
            <a:off x="8991600" y="1809750"/>
            <a:ext cx="2381250" cy="3028950"/>
          </a:xfrm>
          <a:prstGeom prst="roundRect">
            <a:avLst>
              <a:gd name="adj" fmla="val 3200"/>
            </a:avLst>
          </a:prstGeom>
          <a:solidFill>
            <a:srgbClr val="FDECEC"/>
          </a:solidFill>
          <a:ln w="9525">
            <a:solidFill>
              <a:srgbClr val="E6B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1A90099-5B8B-440F-B1EC-EE34348048A6}"/>
              </a:ext>
            </a:extLst>
          </p:cNvPr>
          <p:cNvSpPr>
            <a:spLocks noGrp="1"/>
          </p:cNvSpPr>
          <p:nvPr/>
        </p:nvSpPr>
        <p:spPr>
          <a:xfrm>
            <a:off x="9334500" y="2133600"/>
            <a:ext cx="1714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BLOCK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EF72AAC-DA9D-4EBA-8867-45B874144A48}"/>
              </a:ext>
            </a:extLst>
          </p:cNvPr>
          <p:cNvSpPr>
            <a:spLocks noGrp="1"/>
          </p:cNvSpPr>
          <p:nvPr/>
        </p:nvSpPr>
        <p:spPr>
          <a:xfrm>
            <a:off x="9220200" y="2724150"/>
            <a:ext cx="19240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270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Medium+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4FCC699-29E5-4046-A3FA-C34562A0FCE4}"/>
              </a:ext>
            </a:extLst>
          </p:cNvPr>
          <p:cNvSpPr>
            <a:spLocks noGrp="1"/>
          </p:cNvSpPr>
          <p:nvPr/>
        </p:nvSpPr>
        <p:spPr>
          <a:xfrm>
            <a:off x="9353550" y="3390900"/>
            <a:ext cx="16764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RELEVANT CHECKS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AF18408-1556-4552-B906-1660F6744CC8}"/>
              </a:ext>
            </a:extLst>
          </p:cNvPr>
          <p:cNvSpPr>
            <a:spLocks noGrp="1"/>
          </p:cNvSpPr>
          <p:nvPr/>
        </p:nvSpPr>
        <p:spPr>
          <a:xfrm>
            <a:off x="9277350" y="3905250"/>
            <a:ext cx="18097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75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Relevant workflows fail at their policy threshold.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7E41E2D-201E-4A00-9E85-B18143AC2439}"/>
              </a:ext>
            </a:extLst>
          </p:cNvPr>
          <p:cNvSpPr>
            <a:spLocks noGrp="1"/>
          </p:cNvSpPr>
          <p:nvPr/>
        </p:nvSpPr>
        <p:spPr>
          <a:xfrm>
            <a:off x="781050" y="5572125"/>
            <a:ext cx="100965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Controls vary by repository; Android has no workflow secret scan.</a:t>
            </a:r>
          </a:p>
        </p:txBody>
      </p:sp>
    </p:spTree>
    <p:extLst>
      <p:ext uri="{BB962C8B-B14F-4D97-AF65-F5344CB8AC3E}">
        <p14:creationId xmlns:p14="http://schemas.microsoft.com/office/powerpoint/2010/main" val="1608657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F669B5C2-35E3-4BB6-88BB-B9FFCEC8B338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SECURE SUPPLY CHAIN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9F3FC49-80FF-4C86-81B8-79D21F96D05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release is scanned before it reaches the registry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50D76E0-A4BE-4D3A-A50B-DDF4452CDE66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2A62456-385A-4753-BB76-5F5AFCD7E68D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2B4A1F5-9C0F-4DE3-B9D0-77513672D792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AF71E09-BD77-45EF-8DB7-4091961D993A}"/>
              </a:ext>
            </a:extLst>
          </p:cNvPr>
          <p:cNvSpPr>
            <a:spLocks noGrp="1"/>
          </p:cNvSpPr>
          <p:nvPr/>
        </p:nvSpPr>
        <p:spPr>
          <a:xfrm>
            <a:off x="76200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758E224-8871-4F8B-BFC7-FBDE7D01F3A3}"/>
              </a:ext>
            </a:extLst>
          </p:cNvPr>
          <p:cNvSpPr>
            <a:spLocks noGrp="1"/>
          </p:cNvSpPr>
          <p:nvPr/>
        </p:nvSpPr>
        <p:spPr>
          <a:xfrm>
            <a:off x="7620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7 images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0860998-D2DF-486F-9A19-A103692096A1}"/>
              </a:ext>
            </a:extLst>
          </p:cNvPr>
          <p:cNvSpPr>
            <a:spLocks noGrp="1"/>
          </p:cNvSpPr>
          <p:nvPr/>
        </p:nvSpPr>
        <p:spPr>
          <a:xfrm>
            <a:off x="295275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DDC75E-363B-46B8-9AB9-DAC4D8C159AB}"/>
              </a:ext>
            </a:extLst>
          </p:cNvPr>
          <p:cNvSpPr>
            <a:spLocks noGrp="1"/>
          </p:cNvSpPr>
          <p:nvPr/>
        </p:nvSpPr>
        <p:spPr>
          <a:xfrm>
            <a:off x="323850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14EFE06-F148-4386-A23B-22C0DEC178D2}"/>
              </a:ext>
            </a:extLst>
          </p:cNvPr>
          <p:cNvSpPr>
            <a:spLocks noGrp="1"/>
          </p:cNvSpPr>
          <p:nvPr/>
        </p:nvSpPr>
        <p:spPr>
          <a:xfrm>
            <a:off x="356235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SBOM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DD0EA22-6BB4-4F10-AAF3-9A17F8634694}"/>
              </a:ext>
            </a:extLst>
          </p:cNvPr>
          <p:cNvSpPr>
            <a:spLocks noGrp="1"/>
          </p:cNvSpPr>
          <p:nvPr/>
        </p:nvSpPr>
        <p:spPr>
          <a:xfrm>
            <a:off x="356235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CycloneDX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37D0166-8198-403E-B284-8A73E0247252}"/>
              </a:ext>
            </a:extLst>
          </p:cNvPr>
          <p:cNvSpPr>
            <a:spLocks noGrp="1"/>
          </p:cNvSpPr>
          <p:nvPr/>
        </p:nvSpPr>
        <p:spPr>
          <a:xfrm>
            <a:off x="575310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2F844B-1376-4657-8CF2-20974998FA8F}"/>
              </a:ext>
            </a:extLst>
          </p:cNvPr>
          <p:cNvSpPr>
            <a:spLocks noGrp="1"/>
          </p:cNvSpPr>
          <p:nvPr/>
        </p:nvSpPr>
        <p:spPr>
          <a:xfrm>
            <a:off x="603885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EF6138BB-7874-4201-9308-1873E94B7060}"/>
              </a:ext>
            </a:extLst>
          </p:cNvPr>
          <p:cNvSpPr>
            <a:spLocks noGrp="1"/>
          </p:cNvSpPr>
          <p:nvPr/>
        </p:nvSpPr>
        <p:spPr>
          <a:xfrm>
            <a:off x="636270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FDECEC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TRIVY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4078BF-3EEA-49D1-851B-CE61F898E41F}"/>
              </a:ext>
            </a:extLst>
          </p:cNvPr>
          <p:cNvSpPr>
            <a:spLocks noGrp="1"/>
          </p:cNvSpPr>
          <p:nvPr/>
        </p:nvSpPr>
        <p:spPr>
          <a:xfrm>
            <a:off x="636270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Fixable Medium+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0EB156-D47E-4314-9642-5F56886D5B35}"/>
              </a:ext>
            </a:extLst>
          </p:cNvPr>
          <p:cNvSpPr>
            <a:spLocks noGrp="1"/>
          </p:cNvSpPr>
          <p:nvPr/>
        </p:nvSpPr>
        <p:spPr>
          <a:xfrm>
            <a:off x="8553450" y="2371725"/>
            <a:ext cx="3619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50AD274-2048-4524-8CB5-97EF564B97DF}"/>
              </a:ext>
            </a:extLst>
          </p:cNvPr>
          <p:cNvSpPr>
            <a:spLocks noGrp="1"/>
          </p:cNvSpPr>
          <p:nvPr/>
        </p:nvSpPr>
        <p:spPr>
          <a:xfrm>
            <a:off x="8839200" y="22193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3B0107C-B977-4E84-8D50-A7B5532199CF}"/>
              </a:ext>
            </a:extLst>
          </p:cNvPr>
          <p:cNvSpPr>
            <a:spLocks noGrp="1"/>
          </p:cNvSpPr>
          <p:nvPr/>
        </p:nvSpPr>
        <p:spPr>
          <a:xfrm>
            <a:off x="9163050" y="2038350"/>
            <a:ext cx="2095500" cy="762000"/>
          </a:xfrm>
          <a:prstGeom prst="roundRect">
            <a:avLst>
              <a:gd name="adj" fmla="val 10000"/>
            </a:avLst>
          </a:prstGeom>
          <a:solidFill>
            <a:srgbClr val="EEF3E8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800" b="1">
                <a:solidFill>
                  <a:srgbClr val="527A2C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27A2C"/>
                </a:solidFill>
                <a:latin typeface="Aptos"/>
                <a:ea typeface="Aptos"/>
                <a:cs typeface="Aptos"/>
              </a:rPr>
              <a:t>ECR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EF3874-9532-4B48-91BC-1854269140FD}"/>
              </a:ext>
            </a:extLst>
          </p:cNvPr>
          <p:cNvSpPr>
            <a:spLocks noGrp="1"/>
          </p:cNvSpPr>
          <p:nvPr/>
        </p:nvSpPr>
        <p:spPr>
          <a:xfrm>
            <a:off x="9163050" y="2990850"/>
            <a:ext cx="209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SHA-256 digest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9B8D751-4B6F-49A3-B737-D48352DBD7C1}"/>
              </a:ext>
            </a:extLst>
          </p:cNvPr>
          <p:cNvSpPr>
            <a:spLocks noGrp="1"/>
          </p:cNvSpPr>
          <p:nvPr/>
        </p:nvSpPr>
        <p:spPr>
          <a:xfrm>
            <a:off x="7620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E3FEBD9-F0C7-47A6-9DA8-352225F37EDA}"/>
              </a:ext>
            </a:extLst>
          </p:cNvPr>
          <p:cNvSpPr>
            <a:spLocks noGrp="1"/>
          </p:cNvSpPr>
          <p:nvPr/>
        </p:nvSpPr>
        <p:spPr>
          <a:xfrm>
            <a:off x="9906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Backend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88502191-8553-4B9A-BBCE-FE81630D1A26}"/>
              </a:ext>
            </a:extLst>
          </p:cNvPr>
          <p:cNvSpPr>
            <a:spLocks noGrp="1"/>
          </p:cNvSpPr>
          <p:nvPr/>
        </p:nvSpPr>
        <p:spPr>
          <a:xfrm>
            <a:off x="23050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44A59E-9184-458D-9311-A0C0EA2708BC}"/>
              </a:ext>
            </a:extLst>
          </p:cNvPr>
          <p:cNvSpPr>
            <a:spLocks noGrp="1"/>
          </p:cNvSpPr>
          <p:nvPr/>
        </p:nvSpPr>
        <p:spPr>
          <a:xfrm>
            <a:off x="25336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Web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1FCF490-4F9A-4F67-A37C-56D12AB6244D}"/>
              </a:ext>
            </a:extLst>
          </p:cNvPr>
          <p:cNvSpPr>
            <a:spLocks noGrp="1"/>
          </p:cNvSpPr>
          <p:nvPr/>
        </p:nvSpPr>
        <p:spPr>
          <a:xfrm>
            <a:off x="38481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8E641CF-A17C-4309-80E4-B2BCABE03591}"/>
              </a:ext>
            </a:extLst>
          </p:cNvPr>
          <p:cNvSpPr>
            <a:spLocks noGrp="1"/>
          </p:cNvSpPr>
          <p:nvPr/>
        </p:nvSpPr>
        <p:spPr>
          <a:xfrm>
            <a:off x="40767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Inference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7D3402-2215-4E1B-8CBD-8E357DB21B91}"/>
              </a:ext>
            </a:extLst>
          </p:cNvPr>
          <p:cNvSpPr>
            <a:spLocks noGrp="1"/>
          </p:cNvSpPr>
          <p:nvPr/>
        </p:nvSpPr>
        <p:spPr>
          <a:xfrm>
            <a:off x="53911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841C305-ACDF-4E18-B688-74DB67A655F1}"/>
              </a:ext>
            </a:extLst>
          </p:cNvPr>
          <p:cNvSpPr>
            <a:spLocks noGrp="1"/>
          </p:cNvSpPr>
          <p:nvPr/>
        </p:nvSpPr>
        <p:spPr>
          <a:xfrm>
            <a:off x="56197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Recommendation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4BDB13E-5D7C-404E-B7B1-D74AB6316711}"/>
              </a:ext>
            </a:extLst>
          </p:cNvPr>
          <p:cNvSpPr>
            <a:spLocks noGrp="1"/>
          </p:cNvSpPr>
          <p:nvPr/>
        </p:nvSpPr>
        <p:spPr>
          <a:xfrm>
            <a:off x="69342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C2A43A-C355-4575-8923-3DA950F594F9}"/>
              </a:ext>
            </a:extLst>
          </p:cNvPr>
          <p:cNvSpPr>
            <a:spLocks noGrp="1"/>
          </p:cNvSpPr>
          <p:nvPr/>
        </p:nvSpPr>
        <p:spPr>
          <a:xfrm>
            <a:off x="71628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Cooking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D0C80CA-0D2D-4093-BC28-343035C0F4F0}"/>
              </a:ext>
            </a:extLst>
          </p:cNvPr>
          <p:cNvSpPr>
            <a:spLocks noGrp="1"/>
          </p:cNvSpPr>
          <p:nvPr/>
        </p:nvSpPr>
        <p:spPr>
          <a:xfrm>
            <a:off x="847725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800B4A-3E82-418A-B866-51E54CD930D8}"/>
              </a:ext>
            </a:extLst>
          </p:cNvPr>
          <p:cNvSpPr>
            <a:spLocks noGrp="1"/>
          </p:cNvSpPr>
          <p:nvPr/>
        </p:nvSpPr>
        <p:spPr>
          <a:xfrm>
            <a:off x="870585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Chatbot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6B09A47-352E-4EC5-95EE-FBAA17ECCEFC}"/>
              </a:ext>
            </a:extLst>
          </p:cNvPr>
          <p:cNvSpPr>
            <a:spLocks noGrp="1"/>
          </p:cNvSpPr>
          <p:nvPr/>
        </p:nvSpPr>
        <p:spPr>
          <a:xfrm>
            <a:off x="10020300" y="4191000"/>
            <a:ext cx="228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9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8405C32-3FFB-48F1-B1A1-A55BE3F8FF41}"/>
              </a:ext>
            </a:extLst>
          </p:cNvPr>
          <p:cNvSpPr>
            <a:spLocks noGrp="1"/>
          </p:cNvSpPr>
          <p:nvPr/>
        </p:nvSpPr>
        <p:spPr>
          <a:xfrm>
            <a:off x="10248900" y="4143375"/>
            <a:ext cx="12192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Model Package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1C8529-1BFB-433C-BFB0-EC04669A198E}"/>
              </a:ext>
            </a:extLst>
          </p:cNvPr>
          <p:cNvSpPr>
            <a:spLocks noGrp="1"/>
          </p:cNvSpPr>
          <p:nvPr/>
        </p:nvSpPr>
        <p:spPr>
          <a:xfrm>
            <a:off x="781050" y="4972050"/>
            <a:ext cx="1057275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1050CF5-BCAA-4CAC-98FB-418EDE669F8F}"/>
              </a:ext>
            </a:extLst>
          </p:cNvPr>
          <p:cNvSpPr>
            <a:spLocks noGrp="1"/>
          </p:cNvSpPr>
          <p:nvPr/>
        </p:nvSpPr>
        <p:spPr>
          <a:xfrm>
            <a:off x="781050" y="5219700"/>
            <a:ext cx="2095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Ordering guarantee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603651B-7EC4-4425-BA44-08E10B2E9324}"/>
              </a:ext>
            </a:extLst>
          </p:cNvPr>
          <p:cNvSpPr>
            <a:spLocks noGrp="1"/>
          </p:cNvSpPr>
          <p:nvPr/>
        </p:nvSpPr>
        <p:spPr>
          <a:xfrm>
            <a:off x="3143250" y="5181600"/>
            <a:ext cx="7953375" cy="438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Scan before push: blocks fixable Medium+; SBOM + Trivy JSON retained.</a:t>
            </a:r>
          </a:p>
        </p:txBody>
      </p:sp>
    </p:spTree>
    <p:extLst>
      <p:ext uri="{BB962C8B-B14F-4D97-AF65-F5344CB8AC3E}">
        <p14:creationId xmlns:p14="http://schemas.microsoft.com/office/powerpoint/2010/main" val="1563126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ACF778EA-18BE-486A-A315-47B4A44369D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CONTINUOUS DELIVERY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DD6B154-2071-492A-8A50-5BB8AC366B51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credentials are temporary; a rollback path is automated.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6FDA1D-1901-40F1-AC76-23107728BCCD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7307AC-7EB0-4850-B6E3-653C4BBA8952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37F077-2116-4A54-A8DC-77E4C5D18C6B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63074AA-9FC4-4836-A90E-5815FA8B4BB0}"/>
              </a:ext>
            </a:extLst>
          </p:cNvPr>
          <p:cNvSpPr>
            <a:spLocks noGrp="1"/>
          </p:cNvSpPr>
          <p:nvPr/>
        </p:nvSpPr>
        <p:spPr>
          <a:xfrm>
            <a:off x="7048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GitHub OIDC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1ED302-C332-48B3-AD6B-C27968437F37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Identity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2EB2CE7-7EEA-4972-8B2D-D94B48C87BFD}"/>
              </a:ext>
            </a:extLst>
          </p:cNvPr>
          <p:cNvSpPr>
            <a:spLocks noGrp="1"/>
          </p:cNvSpPr>
          <p:nvPr/>
        </p:nvSpPr>
        <p:spPr>
          <a:xfrm>
            <a:off x="29337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5F81DAC-2175-4AE3-BAB0-5E1526057942}"/>
              </a:ext>
            </a:extLst>
          </p:cNvPr>
          <p:cNvSpPr>
            <a:spLocks noGrp="1"/>
          </p:cNvSpPr>
          <p:nvPr/>
        </p:nvSpPr>
        <p:spPr>
          <a:xfrm>
            <a:off x="31813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ED69DEE-4E3C-4B6E-AF4C-F1D06FA3AE76}"/>
              </a:ext>
            </a:extLst>
          </p:cNvPr>
          <p:cNvSpPr>
            <a:spLocks noGrp="1"/>
          </p:cNvSpPr>
          <p:nvPr/>
        </p:nvSpPr>
        <p:spPr>
          <a:xfrm>
            <a:off x="34861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AWS IAM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1753A37-74FF-4590-AFF0-1403EBA773FC}"/>
              </a:ext>
            </a:extLst>
          </p:cNvPr>
          <p:cNvSpPr>
            <a:spLocks noGrp="1"/>
          </p:cNvSpPr>
          <p:nvPr/>
        </p:nvSpPr>
        <p:spPr>
          <a:xfrm>
            <a:off x="34861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Short-lived role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80AA7DB-3C4D-4571-991E-808F83E88576}"/>
              </a:ext>
            </a:extLst>
          </p:cNvPr>
          <p:cNvSpPr>
            <a:spLocks noGrp="1"/>
          </p:cNvSpPr>
          <p:nvPr/>
        </p:nvSpPr>
        <p:spPr>
          <a:xfrm>
            <a:off x="57150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414A443-C34E-471E-83CB-EFF4F3FA7A7F}"/>
              </a:ext>
            </a:extLst>
          </p:cNvPr>
          <p:cNvSpPr>
            <a:spLocks noGrp="1"/>
          </p:cNvSpPr>
          <p:nvPr/>
        </p:nvSpPr>
        <p:spPr>
          <a:xfrm>
            <a:off x="59626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1F5B419-EBED-4847-B318-DF75DEC0B1C3}"/>
              </a:ext>
            </a:extLst>
          </p:cNvPr>
          <p:cNvSpPr>
            <a:spLocks noGrp="1"/>
          </p:cNvSpPr>
          <p:nvPr/>
        </p:nvSpPr>
        <p:spPr>
          <a:xfrm>
            <a:off x="62674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F3EEFA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Systems Manager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17F658-46D3-4F66-B7E6-AB5B171AEF49}"/>
              </a:ext>
            </a:extLst>
          </p:cNvPr>
          <p:cNvSpPr>
            <a:spLocks noGrp="1"/>
          </p:cNvSpPr>
          <p:nvPr/>
        </p:nvSpPr>
        <p:spPr>
          <a:xfrm>
            <a:off x="62674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Controlled deploy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449D38-AE7E-4F59-A414-884830810091}"/>
              </a:ext>
            </a:extLst>
          </p:cNvPr>
          <p:cNvSpPr>
            <a:spLocks noGrp="1"/>
          </p:cNvSpPr>
          <p:nvPr/>
        </p:nvSpPr>
        <p:spPr>
          <a:xfrm>
            <a:off x="8496300" y="2286000"/>
            <a:ext cx="32385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7B493D-9ED2-4159-B5DF-62D9B94E317D}"/>
              </a:ext>
            </a:extLst>
          </p:cNvPr>
          <p:cNvSpPr>
            <a:spLocks noGrp="1"/>
          </p:cNvSpPr>
          <p:nvPr/>
        </p:nvSpPr>
        <p:spPr>
          <a:xfrm>
            <a:off x="8743950" y="2133600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AB8991E-8011-4F36-8182-B5FAC51FA855}"/>
              </a:ext>
            </a:extLst>
          </p:cNvPr>
          <p:cNvSpPr>
            <a:spLocks noGrp="1"/>
          </p:cNvSpPr>
          <p:nvPr/>
        </p:nvSpPr>
        <p:spPr>
          <a:xfrm>
            <a:off x="9048750" y="1962150"/>
            <a:ext cx="2152650" cy="723900"/>
          </a:xfrm>
          <a:prstGeom prst="roundRect">
            <a:avLst>
              <a:gd name="adj" fmla="val 10526"/>
            </a:avLst>
          </a:prstGeom>
          <a:solidFill>
            <a:srgbClr val="EEF3E8"/>
          </a:solidFill>
          <a:ln w="9525">
            <a:solidFill>
              <a:srgbClr val="D9E3DE"/>
            </a:solidFill>
            <a:prstDash val="solid"/>
          </a:ln>
        </p:spPr>
        <p:txBody>
          <a:bodyPr lIns="95250" tIns="76200" rIns="95250" bIns="76200" anchor="ctr">
            <a:normAutofit/>
          </a:bodyPr>
          <a:lstStyle/>
          <a:p>
            <a:pPr algn="ctr">
              <a:buNone/>
              <a:defRPr sz="15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EC2 Compose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8D7178-D2B2-46C4-8448-1473A248FBF0}"/>
              </a:ext>
            </a:extLst>
          </p:cNvPr>
          <p:cNvSpPr>
            <a:spLocks noGrp="1"/>
          </p:cNvSpPr>
          <p:nvPr/>
        </p:nvSpPr>
        <p:spPr>
          <a:xfrm>
            <a:off x="9048750" y="2857500"/>
            <a:ext cx="21526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Digest-pinned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487088EB-3FC4-4A9A-8B91-EB1F3CE93FF3}"/>
              </a:ext>
            </a:extLst>
          </p:cNvPr>
          <p:cNvSpPr>
            <a:spLocks noGrp="1"/>
          </p:cNvSpPr>
          <p:nvPr/>
        </p:nvSpPr>
        <p:spPr>
          <a:xfrm>
            <a:off x="742950" y="3886200"/>
            <a:ext cx="4591050" cy="1028700"/>
          </a:xfrm>
          <a:prstGeom prst="roundRect">
            <a:avLst>
              <a:gd name="adj" fmla="val 7407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D25DD0A-7F8D-454D-A0AF-819FA4190228}"/>
              </a:ext>
            </a:extLst>
          </p:cNvPr>
          <p:cNvSpPr>
            <a:spLocks noGrp="1"/>
          </p:cNvSpPr>
          <p:nvPr/>
        </p:nvSpPr>
        <p:spPr>
          <a:xfrm>
            <a:off x="990600" y="40957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Readiness passes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0386AB-8836-4015-A77D-A692F99DB479}"/>
              </a:ext>
            </a:extLst>
          </p:cNvPr>
          <p:cNvSpPr>
            <a:spLocks noGrp="1"/>
          </p:cNvSpPr>
          <p:nvPr/>
        </p:nvSpPr>
        <p:spPr>
          <a:xfrm>
            <a:off x="990600" y="4476750"/>
            <a:ext cx="2476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Release remains active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8F8C8D4B-5033-406B-8727-FC83779B3E36}"/>
              </a:ext>
            </a:extLst>
          </p:cNvPr>
          <p:cNvSpPr>
            <a:spLocks noGrp="1"/>
          </p:cNvSpPr>
          <p:nvPr/>
        </p:nvSpPr>
        <p:spPr>
          <a:xfrm>
            <a:off x="6134100" y="3886200"/>
            <a:ext cx="4591050" cy="1028700"/>
          </a:xfrm>
          <a:prstGeom prst="roundRect">
            <a:avLst>
              <a:gd name="adj" fmla="val 7407"/>
            </a:avLst>
          </a:prstGeom>
          <a:solidFill>
            <a:srgbClr val="FDECEC"/>
          </a:solidFill>
          <a:ln w="9525">
            <a:solidFill>
              <a:srgbClr val="E6B8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906BF29-3BC3-40E0-8F55-8A9E44DCAB4A}"/>
              </a:ext>
            </a:extLst>
          </p:cNvPr>
          <p:cNvSpPr>
            <a:spLocks noGrp="1"/>
          </p:cNvSpPr>
          <p:nvPr/>
        </p:nvSpPr>
        <p:spPr>
          <a:xfrm>
            <a:off x="6381750" y="4095750"/>
            <a:ext cx="20193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6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Readiness fails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360A728-3AD5-4A65-A46A-1F9C8363E93B}"/>
              </a:ext>
            </a:extLst>
          </p:cNvPr>
          <p:cNvSpPr>
            <a:spLocks noGrp="1"/>
          </p:cNvSpPr>
          <p:nvPr/>
        </p:nvSpPr>
        <p:spPr>
          <a:xfrm>
            <a:off x="6381750" y="4476750"/>
            <a:ext cx="285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350" b="0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5A6571"/>
                </a:solidFill>
                <a:latin typeface="Aptos"/>
                <a:ea typeface="Aptos"/>
                <a:cs typeface="Aptos"/>
              </a:rPr>
              <a:t>Restore captured image set</a:t>
            </a:r>
          </a:p>
        </p:txBody>
      </p:sp>
    </p:spTree>
    <p:extLst>
      <p:ext uri="{BB962C8B-B14F-4D97-AF65-F5344CB8AC3E}">
        <p14:creationId xmlns:p14="http://schemas.microsoft.com/office/powerpoint/2010/main" val="1127860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970A78F5-10A1-442E-AC3E-C12D966C1815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SECURITY TESTING REPORT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37A2CA9-ACEA-49A5-8C62-89B5D5710EA4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lang="en-SG" sz="2850" dirty="0">
                <a:solidFill>
                  <a:srgbClr val="0B2545"/>
                </a:solidFill>
                <a:latin typeface="Aptos"/>
              </a:rPr>
              <a:t>Security testing report</a:t>
            </a:r>
            <a:r>
              <a:rPr sz="2850" b="1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, fix, and re-scan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FA58E3E-3740-40E6-A525-367127FBC3A0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D8A231C-915E-4D08-B7CC-9328B4D5D6E7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21B092-1E64-4B54-A79B-31FE4B317385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3C325F-27CF-4D59-8A70-AB7D72BF7462}"/>
              </a:ext>
            </a:extLst>
          </p:cNvPr>
          <p:cNvSpPr>
            <a:spLocks noGrp="1"/>
          </p:cNvSpPr>
          <p:nvPr/>
        </p:nvSpPr>
        <p:spPr>
          <a:xfrm>
            <a:off x="91440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B3261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3261E"/>
                </a:solidFill>
                <a:latin typeface="Aptos"/>
                <a:ea typeface="Aptos"/>
                <a:cs typeface="Aptos"/>
              </a:rPr>
              <a:t>HISTORICAL BASELINE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4C2F14-B2F0-447A-A95F-E8F79B64F756}"/>
              </a:ext>
            </a:extLst>
          </p:cNvPr>
          <p:cNvSpPr>
            <a:spLocks noGrp="1"/>
          </p:cNvSpPr>
          <p:nvPr/>
        </p:nvSpPr>
        <p:spPr>
          <a:xfrm>
            <a:off x="1257300" y="2324100"/>
            <a:ext cx="1390650" cy="2552700"/>
          </a:xfrm>
          <a:prstGeom prst="rect">
            <a:avLst/>
          </a:prstGeom>
          <a:solidFill>
            <a:srgbClr val="B3261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3737076-09BF-469E-AA15-7A0B1FB40069}"/>
              </a:ext>
            </a:extLst>
          </p:cNvPr>
          <p:cNvSpPr>
            <a:spLocks noGrp="1"/>
          </p:cNvSpPr>
          <p:nvPr/>
        </p:nvSpPr>
        <p:spPr>
          <a:xfrm>
            <a:off x="1257300" y="2952750"/>
            <a:ext cx="1390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142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899E97-4CC6-4C0B-8027-9B47838C4AFA}"/>
              </a:ext>
            </a:extLst>
          </p:cNvPr>
          <p:cNvSpPr>
            <a:spLocks noGrp="1"/>
          </p:cNvSpPr>
          <p:nvPr/>
        </p:nvSpPr>
        <p:spPr>
          <a:xfrm>
            <a:off x="1257300" y="3790950"/>
            <a:ext cx="1390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117 Medium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25 High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71663-C7A8-4319-AC8F-481AA8B38612}"/>
              </a:ext>
            </a:extLst>
          </p:cNvPr>
          <p:cNvSpPr>
            <a:spLocks noGrp="1"/>
          </p:cNvSpPr>
          <p:nvPr/>
        </p:nvSpPr>
        <p:spPr>
          <a:xfrm>
            <a:off x="501015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FIX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2F3116-0BDF-4EF8-A8FE-15E40A207EE2}"/>
              </a:ext>
            </a:extLst>
          </p:cNvPr>
          <p:cNvSpPr>
            <a:spLocks noGrp="1"/>
          </p:cNvSpPr>
          <p:nvPr/>
        </p:nvSpPr>
        <p:spPr>
          <a:xfrm>
            <a:off x="4933950" y="23812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OS packages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E0316A5-67CF-482B-8D75-2460E9E4BDE4}"/>
              </a:ext>
            </a:extLst>
          </p:cNvPr>
          <p:cNvSpPr>
            <a:spLocks noGrp="1"/>
          </p:cNvSpPr>
          <p:nvPr/>
        </p:nvSpPr>
        <p:spPr>
          <a:xfrm>
            <a:off x="4933950" y="30289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Pinned dependencies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48E22D-6836-4C95-A2E3-CD37676A2C14}"/>
              </a:ext>
            </a:extLst>
          </p:cNvPr>
          <p:cNvSpPr>
            <a:spLocks noGrp="1"/>
          </p:cNvSpPr>
          <p:nvPr/>
        </p:nvSpPr>
        <p:spPr>
          <a:xfrm>
            <a:off x="4933950" y="3676650"/>
            <a:ext cx="22479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Lean runtime tooling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EA8937-2219-487E-AD57-8A7912C5AECF}"/>
              </a:ext>
            </a:extLst>
          </p:cNvPr>
          <p:cNvSpPr>
            <a:spLocks noGrp="1"/>
          </p:cNvSpPr>
          <p:nvPr/>
        </p:nvSpPr>
        <p:spPr>
          <a:xfrm>
            <a:off x="3162300" y="3438525"/>
            <a:ext cx="914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5456508-EDF4-4C8E-B75E-AC7D3BD239D8}"/>
              </a:ext>
            </a:extLst>
          </p:cNvPr>
          <p:cNvSpPr>
            <a:spLocks noGrp="1"/>
          </p:cNvSpPr>
          <p:nvPr/>
        </p:nvSpPr>
        <p:spPr>
          <a:xfrm>
            <a:off x="4000500" y="32861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66B5BFB-1177-4E56-9E20-D2EF316B8EF2}"/>
              </a:ext>
            </a:extLst>
          </p:cNvPr>
          <p:cNvSpPr>
            <a:spLocks noGrp="1"/>
          </p:cNvSpPr>
          <p:nvPr/>
        </p:nvSpPr>
        <p:spPr>
          <a:xfrm>
            <a:off x="7524750" y="3438525"/>
            <a:ext cx="914400" cy="38100"/>
          </a:xfrm>
          <a:prstGeom prst="rect">
            <a:avLst/>
          </a:prstGeom>
          <a:solidFill>
            <a:srgbClr val="0B254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910525-8F56-4A91-A5FB-038174467943}"/>
              </a:ext>
            </a:extLst>
          </p:cNvPr>
          <p:cNvSpPr>
            <a:spLocks noGrp="1"/>
          </p:cNvSpPr>
          <p:nvPr/>
        </p:nvSpPr>
        <p:spPr>
          <a:xfrm>
            <a:off x="8362950" y="3286125"/>
            <a:ext cx="20955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85931" lnSpcReduction="10000"/>
          </a:bodyPr>
          <a:lstStyle/>
          <a:p>
            <a:pPr algn="r">
              <a:buNone/>
              <a:defRPr sz="25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›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793BA32-6390-4225-869D-B87CE4B5D929}"/>
              </a:ext>
            </a:extLst>
          </p:cNvPr>
          <p:cNvSpPr>
            <a:spLocks noGrp="1"/>
          </p:cNvSpPr>
          <p:nvPr/>
        </p:nvSpPr>
        <p:spPr>
          <a:xfrm>
            <a:off x="9010650" y="1752600"/>
            <a:ext cx="2095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0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RE-SCAN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387B0B3-05AF-4FB9-865C-A5989E6C066C}"/>
              </a:ext>
            </a:extLst>
          </p:cNvPr>
          <p:cNvSpPr>
            <a:spLocks noGrp="1"/>
          </p:cNvSpPr>
          <p:nvPr/>
        </p:nvSpPr>
        <p:spPr>
          <a:xfrm>
            <a:off x="9353550" y="2324100"/>
            <a:ext cx="1390650" cy="2552700"/>
          </a:xfrm>
          <a:prstGeom prst="rect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9B64E73-4DDF-43C3-A33C-8475A77E0224}"/>
              </a:ext>
            </a:extLst>
          </p:cNvPr>
          <p:cNvSpPr>
            <a:spLocks noGrp="1"/>
          </p:cNvSpPr>
          <p:nvPr/>
        </p:nvSpPr>
        <p:spPr>
          <a:xfrm>
            <a:off x="9353550" y="2952750"/>
            <a:ext cx="13906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AF0A7CE-DCA3-4232-A2AE-603AA8644680}"/>
              </a:ext>
            </a:extLst>
          </p:cNvPr>
          <p:cNvSpPr>
            <a:spLocks noGrp="1"/>
          </p:cNvSpPr>
          <p:nvPr/>
        </p:nvSpPr>
        <p:spPr>
          <a:xfrm>
            <a:off x="9353550" y="3790950"/>
            <a:ext cx="13906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Fixable</a:t>
            </a:r>
          </a:p>
          <a:p>
            <a:pPr algn="ctr"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Medium+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04A2D9-0E19-4462-81EB-3362136EDCEF}"/>
              </a:ext>
            </a:extLst>
          </p:cNvPr>
          <p:cNvSpPr>
            <a:spLocks noGrp="1"/>
          </p:cNvSpPr>
          <p:nvPr/>
        </p:nvSpPr>
        <p:spPr>
          <a:xfrm>
            <a:off x="914400" y="5105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Six baseline images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EFED0DC-F13E-4FD9-8F87-C7FEFC494C34}"/>
              </a:ext>
            </a:extLst>
          </p:cNvPr>
          <p:cNvSpPr>
            <a:spLocks noGrp="1"/>
          </p:cNvSpPr>
          <p:nvPr/>
        </p:nvSpPr>
        <p:spPr>
          <a:xfrm>
            <a:off x="9010650" y="5105400"/>
            <a:ext cx="2095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Seven release images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FF5EDAA-9A70-4D76-B2CF-3BF9AC527356}"/>
              </a:ext>
            </a:extLst>
          </p:cNvPr>
          <p:cNvSpPr>
            <a:spLocks noGrp="1"/>
          </p:cNvSpPr>
          <p:nvPr/>
        </p:nvSpPr>
        <p:spPr>
          <a:xfrm>
            <a:off x="2952750" y="5829300"/>
            <a:ext cx="628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96225"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Seven release images: 0 fixable Medium+ under declared policy — not zero risk.</a:t>
            </a:r>
          </a:p>
        </p:txBody>
      </p:sp>
    </p:spTree>
    <p:extLst>
      <p:ext uri="{BB962C8B-B14F-4D97-AF65-F5344CB8AC3E}">
        <p14:creationId xmlns:p14="http://schemas.microsoft.com/office/powerpoint/2010/main" val="56262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24B7804D-153A-456E-86CC-68D1FA5F8E9D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DAST • PERFORMANCE • MONITORING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607E071-7D56-4ED8-9E5B-DE45E23567E7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Latest staging smoke passes post-deployment assurance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9EFA743-9AC8-4406-B2FF-FE78046FFC1B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96EB86-5862-4211-A0A4-32A0F1419AD0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9529D06-F72C-4325-B326-2A7227E411C1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EAA51FA-ADF0-4021-B209-5216355924A6}"/>
              </a:ext>
            </a:extLst>
          </p:cNvPr>
          <p:cNvSpPr>
            <a:spLocks noGrp="1"/>
          </p:cNvSpPr>
          <p:nvPr/>
        </p:nvSpPr>
        <p:spPr>
          <a:xfrm>
            <a:off x="80010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C78B93-84CA-4411-A081-AA01E68714F6}"/>
              </a:ext>
            </a:extLst>
          </p:cNvPr>
          <p:cNvSpPr>
            <a:spLocks noGrp="1"/>
          </p:cNvSpPr>
          <p:nvPr/>
        </p:nvSpPr>
        <p:spPr>
          <a:xfrm>
            <a:off x="80010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request smoke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845653-2391-4289-B2F0-E59BE43CE64B}"/>
              </a:ext>
            </a:extLst>
          </p:cNvPr>
          <p:cNvSpPr>
            <a:spLocks noGrp="1"/>
          </p:cNvSpPr>
          <p:nvPr/>
        </p:nvSpPr>
        <p:spPr>
          <a:xfrm>
            <a:off x="3448050" y="2019300"/>
            <a:ext cx="19050" cy="8191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04A8F85-48DA-4AE0-961B-D3FBD00E6645}"/>
              </a:ext>
            </a:extLst>
          </p:cNvPr>
          <p:cNvSpPr>
            <a:spLocks noGrp="1"/>
          </p:cNvSpPr>
          <p:nvPr/>
        </p:nvSpPr>
        <p:spPr>
          <a:xfrm>
            <a:off x="375285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0%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9BF4474-D16E-49EF-887F-A685BF788F67}"/>
              </a:ext>
            </a:extLst>
          </p:cNvPr>
          <p:cNvSpPr>
            <a:spLocks noGrp="1"/>
          </p:cNvSpPr>
          <p:nvPr/>
        </p:nvSpPr>
        <p:spPr>
          <a:xfrm>
            <a:off x="375285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error rate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87D1C3-DC1C-40DF-99E2-CF49F1EF85AB}"/>
              </a:ext>
            </a:extLst>
          </p:cNvPr>
          <p:cNvSpPr>
            <a:spLocks noGrp="1"/>
          </p:cNvSpPr>
          <p:nvPr/>
        </p:nvSpPr>
        <p:spPr>
          <a:xfrm>
            <a:off x="6400800" y="2019300"/>
            <a:ext cx="19050" cy="8191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4DDC882-BBD6-4633-808D-97F002059B0B}"/>
              </a:ext>
            </a:extLst>
          </p:cNvPr>
          <p:cNvSpPr>
            <a:spLocks noGrp="1"/>
          </p:cNvSpPr>
          <p:nvPr/>
        </p:nvSpPr>
        <p:spPr>
          <a:xfrm>
            <a:off x="6705600" y="1885950"/>
            <a:ext cx="238125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330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876 ms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825B21-B06B-4A63-94D5-1C1227A51829}"/>
              </a:ext>
            </a:extLst>
          </p:cNvPr>
          <p:cNvSpPr>
            <a:spLocks noGrp="1"/>
          </p:cNvSpPr>
          <p:nvPr/>
        </p:nvSpPr>
        <p:spPr>
          <a:xfrm>
            <a:off x="6705600" y="2609850"/>
            <a:ext cx="2381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latency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B31C992-5E3E-41DE-B5BC-C4E2B3C7F556}"/>
              </a:ext>
            </a:extLst>
          </p:cNvPr>
          <p:cNvSpPr>
            <a:spLocks noGrp="1"/>
          </p:cNvSpPr>
          <p:nvPr/>
        </p:nvSpPr>
        <p:spPr>
          <a:xfrm>
            <a:off x="9525000" y="1866900"/>
            <a:ext cx="1790700" cy="1066800"/>
          </a:xfrm>
          <a:prstGeom prst="roundRect">
            <a:avLst>
              <a:gd name="adj" fmla="val 714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09A0EA-A165-43C2-A16F-CC38F822AB0D}"/>
              </a:ext>
            </a:extLst>
          </p:cNvPr>
          <p:cNvSpPr>
            <a:spLocks noGrp="1"/>
          </p:cNvSpPr>
          <p:nvPr/>
        </p:nvSpPr>
        <p:spPr>
          <a:xfrm>
            <a:off x="9696450" y="2076450"/>
            <a:ext cx="14478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8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PASS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327C7CF-915E-48A5-A2C9-EB0B4CF07B19}"/>
              </a:ext>
            </a:extLst>
          </p:cNvPr>
          <p:cNvSpPr>
            <a:spLocks noGrp="1"/>
          </p:cNvSpPr>
          <p:nvPr/>
        </p:nvSpPr>
        <p:spPr>
          <a:xfrm>
            <a:off x="9639300" y="2476500"/>
            <a:ext cx="15621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1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≤ 2,000 ms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F37D3B8-12DA-45F7-926C-AA1769932CCD}"/>
              </a:ext>
            </a:extLst>
          </p:cNvPr>
          <p:cNvSpPr>
            <a:spLocks noGrp="1"/>
          </p:cNvSpPr>
          <p:nvPr/>
        </p:nvSpPr>
        <p:spPr>
          <a:xfrm>
            <a:off x="781050" y="3657600"/>
            <a:ext cx="2095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20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p95 budget used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13FE1C30-1130-42D8-811C-EF3BDC2CB78B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10287000" cy="228600"/>
          </a:xfrm>
          <a:prstGeom prst="roundRect">
            <a:avLst>
              <a:gd name="adj" fmla="val 33333"/>
            </a:avLst>
          </a:prstGeom>
          <a:solidFill>
            <a:srgbClr val="E5E9E7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8DA5AF52-635B-484C-A293-2E635B849A42}"/>
              </a:ext>
            </a:extLst>
          </p:cNvPr>
          <p:cNvSpPr>
            <a:spLocks noGrp="1"/>
          </p:cNvSpPr>
          <p:nvPr/>
        </p:nvSpPr>
        <p:spPr>
          <a:xfrm>
            <a:off x="781050" y="4019550"/>
            <a:ext cx="4505706" cy="228600"/>
          </a:xfrm>
          <a:prstGeom prst="roundRect">
            <a:avLst>
              <a:gd name="adj" fmla="val 33333"/>
            </a:avLst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C7DA6F9-EB4A-4D00-9379-DD350A32165D}"/>
              </a:ext>
            </a:extLst>
          </p:cNvPr>
          <p:cNvSpPr>
            <a:spLocks noGrp="1"/>
          </p:cNvSpPr>
          <p:nvPr/>
        </p:nvSpPr>
        <p:spPr>
          <a:xfrm>
            <a:off x="781050" y="4333875"/>
            <a:ext cx="1143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0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876 ms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5C90DA-5FD6-486D-85C4-A1AF769FCC99}"/>
              </a:ext>
            </a:extLst>
          </p:cNvPr>
          <p:cNvSpPr>
            <a:spLocks noGrp="1"/>
          </p:cNvSpPr>
          <p:nvPr/>
        </p:nvSpPr>
        <p:spPr>
          <a:xfrm>
            <a:off x="9810750" y="4333875"/>
            <a:ext cx="1257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1050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2,000 ms gate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8E4DFCA1-CC46-4A41-A620-DFDEDF28273E}"/>
              </a:ext>
            </a:extLst>
          </p:cNvPr>
          <p:cNvSpPr>
            <a:spLocks noGrp="1"/>
          </p:cNvSpPr>
          <p:nvPr/>
        </p:nvSpPr>
        <p:spPr>
          <a:xfrm>
            <a:off x="781050" y="5105400"/>
            <a:ext cx="3143250" cy="552450"/>
          </a:xfrm>
          <a:prstGeom prst="roundRect">
            <a:avLst>
              <a:gd name="adj" fmla="val 13793"/>
            </a:avLst>
          </a:prstGeom>
          <a:solidFill>
            <a:srgbClr val="EAF2FA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2C51A72-9EFD-4B44-8831-818AD2462792}"/>
              </a:ext>
            </a:extLst>
          </p:cNvPr>
          <p:cNvSpPr>
            <a:spLocks noGrp="1"/>
          </p:cNvSpPr>
          <p:nvPr/>
        </p:nvSpPr>
        <p:spPr>
          <a:xfrm>
            <a:off x="971550" y="5257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2E74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E74B5"/>
                </a:solidFill>
                <a:latin typeface="Aptos"/>
                <a:ea typeface="Aptos"/>
                <a:cs typeface="Aptos"/>
              </a:rPr>
              <a:t>Passive unauthenticated ZAP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380E7130-CD4A-419D-A95B-DDF1E3449C57}"/>
              </a:ext>
            </a:extLst>
          </p:cNvPr>
          <p:cNvSpPr>
            <a:spLocks noGrp="1"/>
          </p:cNvSpPr>
          <p:nvPr/>
        </p:nvSpPr>
        <p:spPr>
          <a:xfrm>
            <a:off x="4495800" y="5105400"/>
            <a:ext cx="3143250" cy="552450"/>
          </a:xfrm>
          <a:prstGeom prst="roundRect">
            <a:avLst>
              <a:gd name="adj" fmla="val 13793"/>
            </a:avLst>
          </a:prstGeom>
          <a:solidFill>
            <a:srgbClr val="E9F6EF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6AB8427-5B10-40CB-8E87-56D4C1D77500}"/>
              </a:ext>
            </a:extLst>
          </p:cNvPr>
          <p:cNvSpPr>
            <a:spLocks noGrp="1"/>
          </p:cNvSpPr>
          <p:nvPr/>
        </p:nvSpPr>
        <p:spPr>
          <a:xfrm>
            <a:off x="4686300" y="5257800"/>
            <a:ext cx="2762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 fontScale="74869" lnSpcReduction="20000"/>
          </a:bodyPr>
          <a:lstStyle/>
          <a:p>
            <a:pPr algn="ctr">
              <a:buNone/>
              <a:defRPr sz="1350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Headers; CSP/COEP exceptions documented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B28F9680-2856-411E-9A55-54FA0EEFA86D}"/>
              </a:ext>
            </a:extLst>
          </p:cNvPr>
          <p:cNvSpPr>
            <a:spLocks noGrp="1"/>
          </p:cNvSpPr>
          <p:nvPr/>
        </p:nvSpPr>
        <p:spPr>
          <a:xfrm>
            <a:off x="8210550" y="5105400"/>
            <a:ext cx="2857500" cy="552450"/>
          </a:xfrm>
          <a:prstGeom prst="roundRect">
            <a:avLst>
              <a:gd name="adj" fmla="val 13793"/>
            </a:avLst>
          </a:prstGeom>
          <a:solidFill>
            <a:srgbClr val="F2F4F7"/>
          </a:solidFill>
          <a:ln w="9525">
            <a:solidFill>
              <a:srgbClr val="D9E3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5C0CC37-DF8D-4279-9E4E-C6F6139B032E}"/>
              </a:ext>
            </a:extLst>
          </p:cNvPr>
          <p:cNvSpPr>
            <a:spLocks noGrp="1"/>
          </p:cNvSpPr>
          <p:nvPr/>
        </p:nvSpPr>
        <p:spPr>
          <a:xfrm>
            <a:off x="8401050" y="5257800"/>
            <a:ext cx="2476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3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CloudWatch feedback</a:t>
            </a:r>
          </a:p>
        </p:txBody>
      </p:sp>
    </p:spTree>
    <p:extLst>
      <p:ext uri="{BB962C8B-B14F-4D97-AF65-F5344CB8AC3E}">
        <p14:creationId xmlns:p14="http://schemas.microsoft.com/office/powerpoint/2010/main" val="1026449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>
            <a:extLst>
              <a:ext uri="{FF2B5EF4-FFF2-40B4-BE49-F238E27FC236}">
                <a16:creationId xmlns:a16="http://schemas.microsoft.com/office/drawing/2014/main" id="{3C20E05A-5126-4837-93EC-73446F615572}"/>
              </a:ext>
            </a:extLst>
          </p:cNvPr>
          <p:cNvSpPr>
            <a:spLocks noGrp="1"/>
          </p:cNvSpPr>
          <p:nvPr/>
        </p:nvSpPr>
        <p:spPr>
          <a:xfrm>
            <a:off x="609600" y="342900"/>
            <a:ext cx="6667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975" b="1">
                <a:solidFill>
                  <a:srgbClr val="11854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854F"/>
                </a:solidFill>
                <a:latin typeface="Aptos"/>
                <a:ea typeface="Aptos"/>
                <a:cs typeface="Aptos"/>
              </a:rPr>
              <a:t>OPERATING RESULT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FB1529-2242-4E9B-BD14-492C16510F35}"/>
              </a:ext>
            </a:extLst>
          </p:cNvPr>
          <p:cNvSpPr>
            <a:spLocks noGrp="1"/>
          </p:cNvSpPr>
          <p:nvPr/>
        </p:nvSpPr>
        <p:spPr>
          <a:xfrm>
            <a:off x="609600" y="647700"/>
            <a:ext cx="1076325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2850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staging release path is implemented and evidenced.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0BC20-240F-47D7-ACD6-D23730644B0F}"/>
              </a:ext>
            </a:extLst>
          </p:cNvPr>
          <p:cNvSpPr>
            <a:spLocks noGrp="1"/>
          </p:cNvSpPr>
          <p:nvPr/>
        </p:nvSpPr>
        <p:spPr>
          <a:xfrm>
            <a:off x="609600" y="1323975"/>
            <a:ext cx="10972800" cy="19050"/>
          </a:xfrm>
          <a:prstGeom prst="rect">
            <a:avLst/>
          </a:prstGeom>
          <a:solidFill>
            <a:srgbClr val="D9E3DE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08FE904-8C48-4246-8429-CD7FACE19F6F}"/>
              </a:ext>
            </a:extLst>
          </p:cNvPr>
          <p:cNvSpPr>
            <a:spLocks noGrp="1"/>
          </p:cNvSpPr>
          <p:nvPr/>
        </p:nvSpPr>
        <p:spPr>
          <a:xfrm>
            <a:off x="609600" y="6496050"/>
            <a:ext cx="33337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FOODMIND  •  DEVSECOPS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4AC322E-CF7E-4537-B9E7-64F9063DA160}"/>
              </a:ext>
            </a:extLst>
          </p:cNvPr>
          <p:cNvSpPr>
            <a:spLocks noGrp="1"/>
          </p:cNvSpPr>
          <p:nvPr/>
        </p:nvSpPr>
        <p:spPr>
          <a:xfrm>
            <a:off x="11049000" y="6496050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r">
              <a:buNone/>
              <a:defRPr sz="8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BD6C0FD-74EA-4816-ACC7-E332E87AE7BA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C07CA6-71C9-4AC5-BBFC-64F64A372D0A}"/>
              </a:ext>
            </a:extLst>
          </p:cNvPr>
          <p:cNvSpPr>
            <a:spLocks noGrp="1"/>
          </p:cNvSpPr>
          <p:nvPr/>
        </p:nvSpPr>
        <p:spPr>
          <a:xfrm>
            <a:off x="781050" y="17716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81C6420-2E89-4C24-9CE4-F0078CFF0FF8}"/>
              </a:ext>
            </a:extLst>
          </p:cNvPr>
          <p:cNvSpPr>
            <a:spLocks noGrp="1"/>
          </p:cNvSpPr>
          <p:nvPr/>
        </p:nvSpPr>
        <p:spPr>
          <a:xfrm>
            <a:off x="1390650" y="17526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Security workflows configured; universal merge enforcement next.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9D62951-A041-4953-8B97-CBE4C71B1FD3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9585FD-E1FA-4091-B21F-B936D7814931}"/>
              </a:ext>
            </a:extLst>
          </p:cNvPr>
          <p:cNvSpPr>
            <a:spLocks noGrp="1"/>
          </p:cNvSpPr>
          <p:nvPr/>
        </p:nvSpPr>
        <p:spPr>
          <a:xfrm>
            <a:off x="781050" y="24574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D64DCF8-1025-4542-A808-90B08283137D}"/>
              </a:ext>
            </a:extLst>
          </p:cNvPr>
          <p:cNvSpPr>
            <a:spLocks noGrp="1"/>
          </p:cNvSpPr>
          <p:nvPr/>
        </p:nvSpPr>
        <p:spPr>
          <a:xfrm>
            <a:off x="1390650" y="24384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Seven images are scanned before ECR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CA210BE-4265-40D7-B05B-2EC74EB9B4EA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361950" cy="361950"/>
          </a:xfrm>
          <a:prstGeom prst="ellipse">
            <a:avLst/>
          </a:prstGeom>
          <a:solidFill>
            <a:srgbClr val="11854F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9E6FDA8-9B47-4C49-AC89-B45BA20303ED}"/>
              </a:ext>
            </a:extLst>
          </p:cNvPr>
          <p:cNvSpPr>
            <a:spLocks noGrp="1"/>
          </p:cNvSpPr>
          <p:nvPr/>
        </p:nvSpPr>
        <p:spPr>
          <a:xfrm>
            <a:off x="781050" y="31432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9AE7F62-74F9-4D2D-A4D7-3AD3B0FBE12A}"/>
              </a:ext>
            </a:extLst>
          </p:cNvPr>
          <p:cNvSpPr>
            <a:spLocks noGrp="1"/>
          </p:cNvSpPr>
          <p:nvPr/>
        </p:nvSpPr>
        <p:spPr>
          <a:xfrm>
            <a:off x="1390650" y="31242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1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1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The release is deployed by immutable digest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65B5B1E-F385-4E3F-A768-A52BE3831476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361950" cy="361950"/>
          </a:xfrm>
          <a:prstGeom prst="ellipse">
            <a:avLst/>
          </a:prstGeom>
          <a:solidFill>
            <a:srgbClr val="2E74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30B03E-5E02-4B4C-8668-00253F6B4234}"/>
              </a:ext>
            </a:extLst>
          </p:cNvPr>
          <p:cNvSpPr>
            <a:spLocks noGrp="1"/>
          </p:cNvSpPr>
          <p:nvPr/>
        </p:nvSpPr>
        <p:spPr>
          <a:xfrm>
            <a:off x="781050" y="38290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3ED94DA-00F6-4646-8AEC-651A4BABA8BE}"/>
              </a:ext>
            </a:extLst>
          </p:cNvPr>
          <p:cNvSpPr>
            <a:spLocks noGrp="1"/>
          </p:cNvSpPr>
          <p:nvPr/>
        </p:nvSpPr>
        <p:spPr>
          <a:xfrm>
            <a:off x="1390650" y="38100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 dirty="0">
                <a:solidFill>
                  <a:srgbClr val="0B2545"/>
                </a:solidFill>
                <a:latin typeface="Aptos"/>
                <a:ea typeface="Aptos"/>
                <a:cs typeface="Aptos"/>
              </a:rPr>
              <a:t>Rollback path implemented; drill evidence next.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F45EEA-D447-4B23-A7C5-CE900F695789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361950" cy="361950"/>
          </a:xfrm>
          <a:prstGeom prst="ellipse">
            <a:avLst/>
          </a:prstGeom>
          <a:solidFill>
            <a:srgbClr val="2E74B5"/>
          </a:solidFill>
          <a:ln w="0">
            <a:noFill/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B1CF22-000B-46A6-962C-BBB42A0B4F6E}"/>
              </a:ext>
            </a:extLst>
          </p:cNvPr>
          <p:cNvSpPr>
            <a:spLocks noGrp="1"/>
          </p:cNvSpPr>
          <p:nvPr/>
        </p:nvSpPr>
        <p:spPr>
          <a:xfrm>
            <a:off x="781050" y="45148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ctr">
              <a:buNone/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5D97196-627E-4723-904F-2AFD2CB4A216}"/>
              </a:ext>
            </a:extLst>
          </p:cNvPr>
          <p:cNvSpPr>
            <a:spLocks noGrp="1"/>
          </p:cNvSpPr>
          <p:nvPr/>
        </p:nvSpPr>
        <p:spPr>
          <a:xfrm>
            <a:off x="1390650" y="4495800"/>
            <a:ext cx="6667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575" b="0">
                <a:solidFill>
                  <a:srgbClr val="0B254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0B2545"/>
                </a:solidFill>
                <a:latin typeface="Aptos"/>
                <a:ea typeface="Aptos"/>
                <a:cs typeface="Aptos"/>
              </a:rPr>
              <a:t>ZAP, headers and JMeter pass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C2BB258-4E46-4D67-ACDF-8E2420347132}"/>
              </a:ext>
            </a:extLst>
          </p:cNvPr>
          <p:cNvSpPr>
            <a:spLocks noGrp="1"/>
          </p:cNvSpPr>
          <p:nvPr/>
        </p:nvSpPr>
        <p:spPr>
          <a:xfrm>
            <a:off x="781050" y="5695950"/>
            <a:ext cx="8572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 anchor="ctr">
            <a:normAutofit/>
          </a:bodyPr>
          <a:lstStyle/>
          <a:p>
            <a:pPr algn="l">
              <a:buNone/>
              <a:defRPr sz="1425" b="1">
                <a:solidFill>
                  <a:srgbClr val="5A657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5A6571"/>
                </a:solidFill>
                <a:latin typeface="Aptos"/>
                <a:ea typeface="Aptos"/>
                <a:cs typeface="Aptos"/>
              </a:rPr>
              <a:t>Latest: staging-b7ef36cdb57b-31977105758-1</a:t>
            </a:r>
          </a:p>
        </p:txBody>
      </p:sp>
    </p:spTree>
    <p:extLst>
      <p:ext uri="{BB962C8B-B14F-4D97-AF65-F5344CB8AC3E}">
        <p14:creationId xmlns:p14="http://schemas.microsoft.com/office/powerpoint/2010/main" val="6889367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F3C9E1-5BC5-9821-0553-E4DA604F0709}"/>
              </a:ext>
            </a:extLst>
          </p:cNvPr>
          <p:cNvSpPr txBox="1"/>
          <p:nvPr/>
        </p:nvSpPr>
        <p:spPr>
          <a:xfrm>
            <a:off x="4905962" y="2921168"/>
            <a:ext cx="238007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9094080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1450</Words>
  <Application>Microsoft Macintosh PowerPoint</Application>
  <DocSecurity>0</DocSecurity>
  <PresentationFormat>Widescreen</PresentationFormat>
  <Paragraphs>234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Chen Terrence Yaqi</cp:lastModifiedBy>
  <cp:revision>5</cp:revision>
  <dcterms:created xsi:type="dcterms:W3CDTF">2026-08-17T16:52:28Z</dcterms:created>
  <dcterms:modified xsi:type="dcterms:W3CDTF">2026-08-19T06:30:24Z</dcterms:modified>
</cp:coreProperties>
</file>