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29"/>
  </p:normalViewPr>
  <p:slideViewPr>
    <p:cSldViewPr snapToGrid="0" snapToObjects="1">
      <p:cViewPr varScale="1">
        <p:scale>
          <a:sx n="102" d="100"/>
          <a:sy n="102" d="100"/>
        </p:scale>
        <p:origin x="216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Internal: foodmind-docs README — canonical scope and repository topology.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Internal: presentation narrative derived from the current six repositories.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Internal: foodmind-docs README — recommendation-first UX clarification.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Internal: foodmind-docs README — product-experience clarification.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Internal: foodmind-web README — recommendation context, ordered candidates, feedback and re-recommendation.</a:t>
            </a:r>
          </a:p>
          <a:p>
            <a:r>
              <a:t>Internal: foodmind-backend README — product-experience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Internal: foodmind-web README — included capabilities.</a:t>
            </a:r>
          </a:p>
          <a:p>
            <a:r>
              <a:t>Internal: foodmind-android README — 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Internal screenshot: foodmind-web/docs/ux/today-dashboard-web.png.</a:t>
            </a:r>
          </a:p>
          <a:p>
            <a:r>
              <a:t>Internal: foodmind-web README — responsive recommendation-first decision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Internal screenshot: foodmind-web/docs/ux/today-dashboard-mobile-web.png.</a:t>
            </a:r>
          </a:p>
          <a:p>
            <a:r>
              <a:t>Internal: foodmind-backend README — public and private system boundary.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Internal screenshot: foodmind-web/docs/ux/explore-feed-web.png.</a:t>
            </a:r>
          </a:p>
          <a:p>
            <a:r>
              <a:t>Internal: foodmind-web README — authorised Explore and 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Internal: foodmind-ml README — hybrid model and project-stage limitation.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Internal source: foodmind-backend/src/main/java/com/foodmind/foodmindbackend/recommendation/domain/filter/HardFilterPipeline.java:16-34.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Internal source: foodmind-ml/src/foodmind_ml/pipeline.py:449-495.</a:t>
            </a:r>
          </a:p>
          <a:p>
            <a:r>
              <a:t>Internal: foodmind-ml README — feature contract and explanation boundary.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Internal data: foodmind-ml/reports/metrics/hybrid_lr_metrics.json.</a:t>
            </a:r>
          </a:p>
          <a:p>
            <a:r>
              <a:t>Internal data: foodmind-ml/data/processed/foodcom_summary.json.</a:t>
            </a:r>
          </a:p>
          <a:p>
            <a:r>
              <a:t>Internal: foodmind-ml README — project-stage and evaluation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Internal: foodmind-intelligence/agent-service/app/agents/README.md.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Internal source: foodmind-intelligence/agent-service/app/agents/recommendation/src/recommendation_agent/workflow/graph.py:17-75.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Internal source: foodmind-intelligence/agent-service/app/agents/recommendation/src/recommendation_agent/application/service.py:21-49.</a:t>
            </a:r>
          </a:p>
          <a:p>
            <a:r>
              <a:t>Internal source: foodmind-intelligence/agent-service/app/agents/recommendation/src/recommendation_agent/workflow/graph.py:93-160.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Internal: foodmind-backend README — public business API and system-of-record boundary.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Internal: foodmind-backend README — Spring Boot authorisation, persistence and private integrations.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Internal source: foodmind-backend/src/main/java/com/foodmind/foodmindbackend/recommendation/application/GenerateRecommendation.java:58-116.</a:t>
            </a:r>
          </a:p>
          <a:p>
            <a:r>
              <a:t>Internal: foodmind-backend README — system boundary.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Internal source: foodmind-android/build.gradle.kts:136-182.</a:t>
            </a:r>
          </a:p>
          <a:p>
            <a:r>
              <a:t>Internal: foodmind-web README — API check and coverage gate.</a:t>
            </a:r>
          </a:p>
          <a:p>
            <a:r>
              <a:t>Internal: foodmind-android/contracts/backend-openapi-v1.lock — 84 operations.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Internal: foodmind-web README — dashboard metrics and weekly recaps.</a:t>
            </a:r>
          </a:p>
          <a:p>
            <a:r>
              <a:t>Internal source: foodmind-backend/src/main/java/com/foodmind/foodmindbackend/analytics/api/DashboardController.java.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Internal: foodmind-docs README — required delivery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Internal: foodmind-web README — validation commands.</a:t>
            </a:r>
          </a:p>
          <a:p>
            <a:r>
              <a:t>Internal: foodmind-android README — API generation and coverage gates.</a:t>
            </a:r>
          </a:p>
          <a:p>
            <a:r>
              <a:t>Internal: foodmind-intelligence agent README — private service topology.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Internal source: foodmind-intelligence/inference-service/app/model.py:31-74.</a:t>
            </a:r>
          </a:p>
          <a:p>
            <a:r>
              <a:t>Internal: foodmind-backend README — security and private integration boundary.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Internal source: foodmind-backend/.../HardFilterPipeline.java:16-34.</a:t>
            </a:r>
          </a:p>
          <a:p>
            <a:r>
              <a:t>Internal source: foodmind-ml/src/foodmind_ml/pipeline.py:449-495.</a:t>
            </a:r>
          </a:p>
          <a:p>
            <a:r>
              <a:t>Internal source: foodmind-android/build.gradle.kts:136-182.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Internal: foodmind-docs README — confirmed six-repository topology.</a:t>
            </a:r>
          </a:p>
          <a:p>
            <a:r>
              <a:t>Internal: foodmind-backend README — public/private system boundary.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Internal: synthesis of current FoodMind repositories and source evidence cited throughout this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11E7D-A96E-4CCA-A830-BE413FAD31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727667-C73C-4448-83A1-3AC9E9986F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97021E-058A-4BC8-8D4D-5BDDF825AC3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8/16/26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9F5798-94CA-4E62-8483-3B220556D1B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5158B5-CB49-4F3B-BA47-0F820408ED3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A3A0D-B7F5-4342-BF13-83B8820B8C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2B5C5-43D4-41F7-A2CE-DE4D51C80C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28048C-6BED-4D18-B614-F069C70B5BD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8/16/26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1BA9D4-73BE-4AC2-ACDA-39A58BEDCE2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824B92-9E32-49D4-AE9A-02BFFDE1D17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D42F5-9BCF-4BA3-9562-9F7C0A0A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buNone/>
              <a:defRPr sz="4000" b="1" cap="all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A2F524-35EB-4155-93B7-4EF9E378CA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636E29-02A9-41E2-AA4A-0E51DA62481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8/16/26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F1B895-78C3-4015-9422-97D6DD762CA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D00D45-7C94-47AF-9292-B4285D739CE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A96AE-A6B8-45F0-A1FA-4E4633DF4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3761A0-C747-4EF7-B482-BBB969D5BA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8DC0E0-7926-4CEE-84CC-7BD56D0092F1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9734B5-2512-4959-B01D-8C874EDB648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8/16/26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B2BAA9-7F28-42D2-931E-B16A09B3693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10B7F0-2913-458C-BE27-83C23CAEF5B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5902AE-03ED-4BCA-9B73-3885CAC4C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D716A4-8A07-4E78-916E-794A84A1B4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B44164-A846-422A-B706-2B582C7324BD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90F41B-4A29-4B56-97E3-A8396A0CAA02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B2EB5B-0B3D-474E-9C96-C502E1984666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65B9A3B-7101-423C-93CC-FCE93D06B62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8/16/26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5BE3CF-37FF-4744-8E85-5B165E2F5C7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80B0EAB-4AE1-4B7A-BAB1-6E7649AA0BA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8A9C37-C094-408B-A546-D1C6A8790C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AD3B07-E429-48B7-A3DA-CD582F97B60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8/16/26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8A3F1EB-D7D4-44A9-8096-6A2F63C08D2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ECEE6F-157A-4968-8239-546496EA0EE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3D080C5-5627-4101-96D9-95A92A5BC4B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8/16/26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F3FAB0-B554-4C4C-A5D7-70FEEEC6CA7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80D0B5-BA84-4F8D-80BE-907A14D403F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835B5-465B-4C2B-B138-5A95044A71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BAD051-E155-47A8-86FC-81D519C11A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B1D63A-98D9-4781-BD34-C50B4CD1570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BB4303-0445-469E-8A52-972E7C3406B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8/16/26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13A04C-F9F8-445F-9475-67166F19F0C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7DA598-D4B5-4A7E-8357-53610835C14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E94087-69C3-43FB-9F29-7E135CCF5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F1F2481-5EBA-44B7-907C-5D2933F050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545F6A-5879-4E93-9A83-4A131E94BE4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BE488C-0036-46DF-8DD7-C7F725E155E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8/16/26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E2C593-5583-4C33-A9C8-50709BC4F7A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F90EDF-7042-44C0-B3B9-EC046BB22B5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029EA6-8576-4232-A95B-6FE7C0A091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58150F-103E-4FA2-9B8A-121110BC3A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27D0C4-F9E2-49E6-BB19-EF10132B420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8/16/26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F525FF-83D1-4559-9895-B3978DAA618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24C68D-66B3-4CA1-B9B6-78F9EB2D7C9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463BEA8-19CD-4039-8B59-5B1E39A45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83DEE8-EE6F-4114-8A20-299945EA33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90B82D-7D7C-4B85-99C4-13BBB84491C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8/16/26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8FAB45-EC4B-41F3-9F06-7FD9F61B64F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227C9F-CC75-42FB-BC14-EA0AD40C1F6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818CB61-9412-494B-A03A-7918A0516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DC1C0B-C095-45CC-8A3C-4F432B6D7C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5BEE7D-04FE-407B-9FBF-EEA7C7E72481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t>8/16/26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ADCBD8-57A3-4506-9C4B-973D2DDDEEA5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46CF58-7507-44A0-92A5-B6E2653722A2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441381D-5DE4-43BD-8BFD-B1F1DE2863A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EFEC2C5-8414-43D0-A6F0-E99633EE027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E85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20060C-CDA4-41FB-9ED5-EBFB9DEC5BE1}"/>
              </a:ext>
            </a:extLst>
          </p:cNvPr>
          <p:cNvSpPr>
            <a:spLocks noGrp="1"/>
          </p:cNvSpPr>
          <p:nvPr/>
        </p:nvSpPr>
        <p:spPr>
          <a:xfrm>
            <a:off x="822960" y="960120"/>
            <a:ext cx="105156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60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FoodMind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1E5D9C-EEEC-4CE5-A9B1-EF7E5BACF489}"/>
              </a:ext>
            </a:extLst>
          </p:cNvPr>
          <p:cNvSpPr>
            <a:spLocks noGrp="1"/>
          </p:cNvSpPr>
          <p:nvPr/>
        </p:nvSpPr>
        <p:spPr>
          <a:xfrm>
            <a:off x="850392" y="21488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400" b="1" i="0">
                <a:solidFill>
                  <a:srgbClr val="C44607"/>
                </a:solidFill>
                <a:latin typeface="Calibri"/>
                <a:ea typeface="Calibri"/>
                <a:cs typeface="Calibri"/>
              </a:rPr>
              <a:t>Decide dinner with confidence.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4C3BA5-F202-4E55-BA4D-6EAB38C05FFC}"/>
              </a:ext>
            </a:extLst>
          </p:cNvPr>
          <p:cNvSpPr>
            <a:spLocks noGrp="1"/>
          </p:cNvSpPr>
          <p:nvPr/>
        </p:nvSpPr>
        <p:spPr>
          <a:xfrm>
            <a:off x="850392" y="274320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6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AD Project  ·  Team 5  ·  Final Project Presentation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ACC63F-840D-440B-B48B-82275E51F494}"/>
              </a:ext>
            </a:extLst>
          </p:cNvPr>
          <p:cNvSpPr>
            <a:spLocks noGrp="1"/>
          </p:cNvSpPr>
          <p:nvPr/>
        </p:nvSpPr>
        <p:spPr>
          <a:xfrm>
            <a:off x="822960" y="3657600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6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Chen Yaqi</a:t>
            </a:r>
            <a:r>
              <a:rPr sz="14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   A0335050U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B1FE31-C6CF-4BD7-8B2A-5C7FDB0E2D14}"/>
              </a:ext>
            </a:extLst>
          </p:cNvPr>
          <p:cNvSpPr>
            <a:spLocks noGrp="1"/>
          </p:cNvSpPr>
          <p:nvPr/>
        </p:nvSpPr>
        <p:spPr>
          <a:xfrm>
            <a:off x="822960" y="4297680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6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Wu Aomo</a:t>
            </a:r>
            <a:r>
              <a:rPr sz="14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   A0335088X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9E334B-BE33-431A-B6F3-9A406CF9CAB5}"/>
              </a:ext>
            </a:extLst>
          </p:cNvPr>
          <p:cNvSpPr>
            <a:spLocks noGrp="1"/>
          </p:cNvSpPr>
          <p:nvPr/>
        </p:nvSpPr>
        <p:spPr>
          <a:xfrm>
            <a:off x="822960" y="4937760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6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Huang Qijun</a:t>
            </a:r>
            <a:r>
              <a:rPr sz="14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   A0335061N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237D68-9B39-494A-A3A2-0727F26F261F}"/>
              </a:ext>
            </a:extLst>
          </p:cNvPr>
          <p:cNvSpPr>
            <a:spLocks noGrp="1"/>
          </p:cNvSpPr>
          <p:nvPr/>
        </p:nvSpPr>
        <p:spPr>
          <a:xfrm>
            <a:off x="822960" y="5577840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6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Luo Yuxiang</a:t>
            </a:r>
            <a:r>
              <a:rPr sz="14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   A0335071M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7923C5-2286-4B2E-A519-31803AA15596}"/>
              </a:ext>
            </a:extLst>
          </p:cNvPr>
          <p:cNvSpPr>
            <a:spLocks noGrp="1"/>
          </p:cNvSpPr>
          <p:nvPr/>
        </p:nvSpPr>
        <p:spPr>
          <a:xfrm>
            <a:off x="4023360" y="3657600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6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Lei Tianyou</a:t>
            </a:r>
            <a:r>
              <a:rPr sz="14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   A0335067A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58CFDD6-7C6B-443F-BBAD-D5DCA363EFA6}"/>
              </a:ext>
            </a:extLst>
          </p:cNvPr>
          <p:cNvSpPr>
            <a:spLocks noGrp="1"/>
          </p:cNvSpPr>
          <p:nvPr/>
        </p:nvSpPr>
        <p:spPr>
          <a:xfrm>
            <a:off x="4023360" y="4297680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6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Chen Chen</a:t>
            </a:r>
            <a:r>
              <a:rPr sz="14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   A0335082J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9610FB-51AC-409B-BBE2-8FE5C253E8E1}"/>
              </a:ext>
            </a:extLst>
          </p:cNvPr>
          <p:cNvSpPr>
            <a:spLocks noGrp="1"/>
          </p:cNvSpPr>
          <p:nvPr/>
        </p:nvSpPr>
        <p:spPr>
          <a:xfrm>
            <a:off x="4023360" y="4937760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6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Deng Yunke</a:t>
            </a:r>
            <a:r>
              <a:rPr sz="14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   A0335081L</a:t>
            </a:r>
          </a:p>
        </p:txBody>
      </p:sp>
    </p:spTree>
    <p:extLst>
      <p:ext uri="{BB962C8B-B14F-4D97-AF65-F5344CB8AC3E}">
        <p14:creationId xmlns:p14="http://schemas.microsoft.com/office/powerpoint/2010/main" val="6020726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1AA7E1C-0B93-4138-B27C-04A58EB5E7E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19F5FB-7259-45B1-B844-2414EF4B527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5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28200D-3098-412C-A264-B4456102EB5A}"/>
              </a:ext>
            </a:extLst>
          </p:cNvPr>
          <p:cNvSpPr>
            <a:spLocks noGrp="1"/>
          </p:cNvSpPr>
          <p:nvPr/>
        </p:nvSpPr>
        <p:spPr>
          <a:xfrm>
            <a:off x="502920" y="347472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7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The FoodMind story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DF6BF3-F754-4EF8-8F4F-09623B90518F}"/>
              </a:ext>
            </a:extLst>
          </p:cNvPr>
          <p:cNvSpPr>
            <a:spLocks noGrp="1"/>
          </p:cNvSpPr>
          <p:nvPr/>
        </p:nvSpPr>
        <p:spPr>
          <a:xfrm>
            <a:off x="530352" y="1024128"/>
            <a:ext cx="1280160" cy="45720"/>
          </a:xfrm>
          <a:prstGeom prst="rect">
            <a:avLst/>
          </a:prstGeom>
          <a:solidFill>
            <a:srgbClr val="E85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85B6E21-1F75-4B7D-9FB7-B25A8DAC2975}"/>
              </a:ext>
            </a:extLst>
          </p:cNvPr>
          <p:cNvSpPr>
            <a:spLocks noGrp="1"/>
          </p:cNvSpPr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FoodMind · Team 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2758BE-9467-4F27-903C-4194BB0ABF06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032072-DF7C-448F-8829-446A16225095}"/>
              </a:ext>
            </a:extLst>
          </p:cNvPr>
          <p:cNvSpPr>
            <a:spLocks noGrp="1"/>
          </p:cNvSpPr>
          <p:nvPr/>
        </p:nvSpPr>
        <p:spPr>
          <a:xfrm>
            <a:off x="1097280" y="1554480"/>
            <a:ext cx="9601200" cy="38985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sz="2000" b="1" i="0">
                <a:solidFill>
                  <a:srgbClr val="E8590C"/>
                </a:solidFill>
                <a:latin typeface="Calibri"/>
                <a:ea typeface="Calibri"/>
                <a:cs typeface="Calibri"/>
              </a:rPr>
              <a:t>01  The user experience</a:t>
            </a:r>
            <a:endParaRPr sz="2000" b="0" i="0">
              <a:solidFill>
                <a:srgbClr val="1F2937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sz="2000" b="1" i="0">
                <a:solidFill>
                  <a:srgbClr val="E8590C"/>
                </a:solidFill>
                <a:latin typeface="Calibri"/>
                <a:ea typeface="Calibri"/>
                <a:cs typeface="Calibri"/>
              </a:rPr>
              <a:t>02  Trust &amp; ranking</a:t>
            </a:r>
            <a:endParaRPr sz="2000" b="0" i="0">
              <a:solidFill>
                <a:srgbClr val="1F2937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sz="2000" b="1" i="0">
                <a:solidFill>
                  <a:srgbClr val="E8590C"/>
                </a:solidFill>
                <a:latin typeface="Calibri"/>
                <a:ea typeface="Calibri"/>
                <a:cs typeface="Calibri"/>
              </a:rPr>
              <a:t>03  Bounded agents</a:t>
            </a:r>
            <a:endParaRPr sz="2000" b="0" i="0">
              <a:solidFill>
                <a:srgbClr val="1F2937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sz="2000" b="1" i="0">
                <a:solidFill>
                  <a:srgbClr val="E8590C"/>
                </a:solidFill>
                <a:latin typeface="Calibri"/>
                <a:ea typeface="Calibri"/>
                <a:cs typeface="Calibri"/>
              </a:rPr>
              <a:t>04  Backend &amp; client parity</a:t>
            </a:r>
            <a:endParaRPr sz="2000" b="0" i="0">
              <a:solidFill>
                <a:srgbClr val="1F2937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sz="2000" b="1" i="0">
                <a:solidFill>
                  <a:srgbClr val="E8590C"/>
                </a:solidFill>
                <a:latin typeface="Calibri"/>
                <a:ea typeface="Calibri"/>
                <a:cs typeface="Calibri"/>
              </a:rPr>
              <a:t>05  Delivery &amp; security</a:t>
            </a:r>
            <a:endParaRPr sz="2000" b="0" i="0">
              <a:solidFill>
                <a:srgbClr val="1F2937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62300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A6A850F-9530-3B3C-C121-AC983E98CF38}"/>
              </a:ext>
            </a:extLst>
          </p:cNvPr>
          <p:cNvSpPr>
            <a:spLocks noGrp="1"/>
          </p:cNvSpPr>
          <p:nvPr/>
        </p:nvSpPr>
        <p:spPr>
          <a:xfrm>
            <a:off x="4522973" y="2921168"/>
            <a:ext cx="3146054" cy="10156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0"/>
              <a:t>The user experience</a:t>
            </a:r>
          </a:p>
        </p:txBody>
      </p:sp>
    </p:spTree>
    <p:extLst>
      <p:ext uri="{BB962C8B-B14F-4D97-AF65-F5344CB8AC3E}">
        <p14:creationId xmlns:p14="http://schemas.microsoft.com/office/powerpoint/2010/main" val="33445431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C29080F-146B-439B-A601-8685C97FCE3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3985E75-A395-4188-A6E2-8AEFABCBEBA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5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6ECEC1-2089-4817-8CFC-78260AE212A2}"/>
              </a:ext>
            </a:extLst>
          </p:cNvPr>
          <p:cNvSpPr>
            <a:spLocks noGrp="1"/>
          </p:cNvSpPr>
          <p:nvPr/>
        </p:nvSpPr>
        <p:spPr>
          <a:xfrm>
            <a:off x="502920" y="347472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7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Dinner should not be a research project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01CFB7E-F624-4F10-9CCE-B24CD091149A}"/>
              </a:ext>
            </a:extLst>
          </p:cNvPr>
          <p:cNvSpPr>
            <a:spLocks noGrp="1"/>
          </p:cNvSpPr>
          <p:nvPr/>
        </p:nvSpPr>
        <p:spPr>
          <a:xfrm>
            <a:off x="530352" y="1024128"/>
            <a:ext cx="1280160" cy="45720"/>
          </a:xfrm>
          <a:prstGeom prst="rect">
            <a:avLst/>
          </a:prstGeom>
          <a:solidFill>
            <a:srgbClr val="E85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C17785-5E46-4469-B1E7-B8F1DB9B5399}"/>
              </a:ext>
            </a:extLst>
          </p:cNvPr>
          <p:cNvSpPr>
            <a:spLocks noGrp="1"/>
          </p:cNvSpPr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FoodMind · Team 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736AA5-A3B3-4B33-AC9B-AE39F140A6DC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C00D3A-BD04-450E-B53E-3EBA36C5D013}"/>
              </a:ext>
            </a:extLst>
          </p:cNvPr>
          <p:cNvSpPr>
            <a:spLocks noGrp="1"/>
          </p:cNvSpPr>
          <p:nvPr/>
        </p:nvSpPr>
        <p:spPr>
          <a:xfrm>
            <a:off x="502920" y="1325880"/>
            <a:ext cx="1115568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sz="16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A meal decision often starts with scattered memories, changing constraints and a group chat that never reaches an answer.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3291A7-4368-4AA0-8E81-9570F8210218}"/>
              </a:ext>
            </a:extLst>
          </p:cNvPr>
          <p:cNvSpPr>
            <a:spLocks noGrp="1"/>
          </p:cNvSpPr>
          <p:nvPr/>
        </p:nvSpPr>
        <p:spPr>
          <a:xfrm>
            <a:off x="502920" y="3246120"/>
            <a:ext cx="3611880" cy="2286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EDEFC88-9870-43A7-9706-727DC5FF4A70}"/>
              </a:ext>
            </a:extLst>
          </p:cNvPr>
          <p:cNvSpPr>
            <a:spLocks noGrp="1"/>
          </p:cNvSpPr>
          <p:nvPr/>
        </p:nvSpPr>
        <p:spPr>
          <a:xfrm>
            <a:off x="502920" y="3246120"/>
            <a:ext cx="3611880" cy="82296"/>
          </a:xfrm>
          <a:prstGeom prst="rect">
            <a:avLst/>
          </a:prstGeom>
          <a:solidFill>
            <a:srgbClr val="E85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272D50-8BB1-42A9-92DD-3A6BFC86CF43}"/>
              </a:ext>
            </a:extLst>
          </p:cNvPr>
          <p:cNvSpPr>
            <a:spLocks noGrp="1"/>
          </p:cNvSpPr>
          <p:nvPr/>
        </p:nvSpPr>
        <p:spPr>
          <a:xfrm>
            <a:off x="731520" y="352044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200" b="1" i="0">
                <a:solidFill>
                  <a:srgbClr val="E8590C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7990C4-3D3D-4D8E-978F-E50101627274}"/>
              </a:ext>
            </a:extLst>
          </p:cNvPr>
          <p:cNvSpPr>
            <a:spLocks noGrp="1"/>
          </p:cNvSpPr>
          <p:nvPr/>
        </p:nvSpPr>
        <p:spPr>
          <a:xfrm>
            <a:off x="731520" y="406908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9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Decision fatigue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64FD62-6387-4443-9485-3BF17ACAADC6}"/>
              </a:ext>
            </a:extLst>
          </p:cNvPr>
          <p:cNvSpPr>
            <a:spLocks noGrp="1"/>
          </p:cNvSpPr>
          <p:nvPr/>
        </p:nvSpPr>
        <p:spPr>
          <a:xfrm>
            <a:off x="731520" y="4617720"/>
            <a:ext cx="3154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Searching, comparing and coordinating consumes the moment meant for eating.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E68366A-C209-42BC-8B3A-F1DBB153045B}"/>
              </a:ext>
            </a:extLst>
          </p:cNvPr>
          <p:cNvSpPr>
            <a:spLocks noGrp="1"/>
          </p:cNvSpPr>
          <p:nvPr/>
        </p:nvSpPr>
        <p:spPr>
          <a:xfrm>
            <a:off x="4297680" y="3246120"/>
            <a:ext cx="3611880" cy="2286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C55F718-9F56-49A8-ACAE-A1ADF30B8D01}"/>
              </a:ext>
            </a:extLst>
          </p:cNvPr>
          <p:cNvSpPr>
            <a:spLocks noGrp="1"/>
          </p:cNvSpPr>
          <p:nvPr/>
        </p:nvSpPr>
        <p:spPr>
          <a:xfrm>
            <a:off x="4297680" y="3246120"/>
            <a:ext cx="3611880" cy="82296"/>
          </a:xfrm>
          <a:prstGeom prst="rect">
            <a:avLst/>
          </a:prstGeom>
          <a:solidFill>
            <a:srgbClr val="E85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777787B-F1AE-485B-808C-0A7FE5A10C80}"/>
              </a:ext>
            </a:extLst>
          </p:cNvPr>
          <p:cNvSpPr>
            <a:spLocks noGrp="1"/>
          </p:cNvSpPr>
          <p:nvPr/>
        </p:nvSpPr>
        <p:spPr>
          <a:xfrm>
            <a:off x="4526280" y="352044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200" b="1" i="0">
                <a:solidFill>
                  <a:srgbClr val="E8590C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79C7593-99E4-4108-9848-B38C6AEC4BB6}"/>
              </a:ext>
            </a:extLst>
          </p:cNvPr>
          <p:cNvSpPr>
            <a:spLocks noGrp="1"/>
          </p:cNvSpPr>
          <p:nvPr/>
        </p:nvSpPr>
        <p:spPr>
          <a:xfrm>
            <a:off x="4526280" y="406908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9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Context is fragmented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2E594B-B3AA-4898-A8FA-DC91DF81FFD9}"/>
              </a:ext>
            </a:extLst>
          </p:cNvPr>
          <p:cNvSpPr>
            <a:spLocks noGrp="1"/>
          </p:cNvSpPr>
          <p:nvPr/>
        </p:nvSpPr>
        <p:spPr>
          <a:xfrm>
            <a:off x="4526280" y="4617720"/>
            <a:ext cx="3154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History, dietary needs, budget, distance and trusted group signals live apart.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5FB2DD4-4F84-4EFD-A4A1-30B0CA406E4B}"/>
              </a:ext>
            </a:extLst>
          </p:cNvPr>
          <p:cNvSpPr>
            <a:spLocks noGrp="1"/>
          </p:cNvSpPr>
          <p:nvPr/>
        </p:nvSpPr>
        <p:spPr>
          <a:xfrm>
            <a:off x="8092440" y="3246120"/>
            <a:ext cx="3611880" cy="2286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3358A0B-354D-4165-8B48-33ED88192930}"/>
              </a:ext>
            </a:extLst>
          </p:cNvPr>
          <p:cNvSpPr>
            <a:spLocks noGrp="1"/>
          </p:cNvSpPr>
          <p:nvPr/>
        </p:nvSpPr>
        <p:spPr>
          <a:xfrm>
            <a:off x="8092440" y="3246120"/>
            <a:ext cx="3611880" cy="82296"/>
          </a:xfrm>
          <a:prstGeom prst="rect">
            <a:avLst/>
          </a:prstGeom>
          <a:solidFill>
            <a:srgbClr val="E85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DFCBCD0-553B-4DC2-B413-95208CA2DD6E}"/>
              </a:ext>
            </a:extLst>
          </p:cNvPr>
          <p:cNvSpPr>
            <a:spLocks noGrp="1"/>
          </p:cNvSpPr>
          <p:nvPr/>
        </p:nvSpPr>
        <p:spPr>
          <a:xfrm>
            <a:off x="8321040" y="352044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200" b="1" i="0">
                <a:solidFill>
                  <a:srgbClr val="E8590C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3DF227B-2609-4F23-B5B7-628EF57C883E}"/>
              </a:ext>
            </a:extLst>
          </p:cNvPr>
          <p:cNvSpPr>
            <a:spLocks noGrp="1"/>
          </p:cNvSpPr>
          <p:nvPr/>
        </p:nvSpPr>
        <p:spPr>
          <a:xfrm>
            <a:off x="8321040" y="406908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9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No accountable answer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B5A149E-AF1E-4364-9FCE-526D2F68273E}"/>
              </a:ext>
            </a:extLst>
          </p:cNvPr>
          <p:cNvSpPr>
            <a:spLocks noGrp="1"/>
          </p:cNvSpPr>
          <p:nvPr/>
        </p:nvSpPr>
        <p:spPr>
          <a:xfrm>
            <a:off x="8321040" y="4617720"/>
            <a:ext cx="3154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Most discovery products still leave the final decision to the user.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CB07F74-A75A-4ECB-B0C2-5211DE5B7F09}"/>
              </a:ext>
            </a:extLst>
          </p:cNvPr>
          <p:cNvSpPr>
            <a:spLocks noGrp="1"/>
          </p:cNvSpPr>
          <p:nvPr/>
        </p:nvSpPr>
        <p:spPr>
          <a:xfrm>
            <a:off x="502920" y="5806440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700" b="1" i="0">
                <a:solidFill>
                  <a:srgbClr val="C44607"/>
                </a:solidFill>
                <a:latin typeface="Calibri"/>
                <a:ea typeface="Calibri"/>
                <a:cs typeface="Calibri"/>
              </a:rPr>
              <a:t>FoodMind turns trusted context into a clear next step.</a:t>
            </a:r>
          </a:p>
        </p:txBody>
      </p:sp>
    </p:spTree>
    <p:extLst>
      <p:ext uri="{BB962C8B-B14F-4D97-AF65-F5344CB8AC3E}">
        <p14:creationId xmlns:p14="http://schemas.microsoft.com/office/powerpoint/2010/main" val="7715175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1B3FDC7-E9FF-4B86-A4A5-E7362D4541F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40B6373-D8BF-400D-BEB6-F929B2E9CF3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5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BDF1904-6E80-4053-A071-BD0DFFCEE763}"/>
              </a:ext>
            </a:extLst>
          </p:cNvPr>
          <p:cNvSpPr>
            <a:spLocks noGrp="1"/>
          </p:cNvSpPr>
          <p:nvPr/>
        </p:nvSpPr>
        <p:spPr>
          <a:xfrm>
            <a:off x="502920" y="347472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7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A decision loop, not another feed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8FDB00-18BC-4A42-8067-3F0E7BB7B085}"/>
              </a:ext>
            </a:extLst>
          </p:cNvPr>
          <p:cNvSpPr>
            <a:spLocks noGrp="1"/>
          </p:cNvSpPr>
          <p:nvPr/>
        </p:nvSpPr>
        <p:spPr>
          <a:xfrm>
            <a:off x="530352" y="1024128"/>
            <a:ext cx="1280160" cy="45720"/>
          </a:xfrm>
          <a:prstGeom prst="rect">
            <a:avLst/>
          </a:prstGeom>
          <a:solidFill>
            <a:srgbClr val="E85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D96FC9-8C98-48D6-B0F5-D8710CDA89D6}"/>
              </a:ext>
            </a:extLst>
          </p:cNvPr>
          <p:cNvSpPr>
            <a:spLocks noGrp="1"/>
          </p:cNvSpPr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FoodMind · Team 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5274A4-F500-424C-9C1C-187CFA24936C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7753E43-C2EE-4DF5-9E88-C51A278F7C7F}"/>
              </a:ext>
            </a:extLst>
          </p:cNvPr>
          <p:cNvSpPr>
            <a:spLocks noGrp="1"/>
          </p:cNvSpPr>
          <p:nvPr/>
        </p:nvSpPr>
        <p:spPr>
          <a:xfrm>
            <a:off x="417423" y="1737360"/>
            <a:ext cx="1481328" cy="9144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8C87E0-2D8D-4E5E-AD9D-447C24FE6CC5}"/>
              </a:ext>
            </a:extLst>
          </p:cNvPr>
          <p:cNvSpPr>
            <a:spLocks noGrp="1"/>
          </p:cNvSpPr>
          <p:nvPr/>
        </p:nvSpPr>
        <p:spPr>
          <a:xfrm>
            <a:off x="417423" y="2086838"/>
            <a:ext cx="1481328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Remember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DE1B29B-18B1-4C03-B599-A4FD21E7E3B2}"/>
              </a:ext>
            </a:extLst>
          </p:cNvPr>
          <p:cNvSpPr>
            <a:spLocks noGrp="1"/>
          </p:cNvSpPr>
          <p:nvPr/>
        </p:nvSpPr>
        <p:spPr>
          <a:xfrm>
            <a:off x="1898751" y="1737360"/>
            <a:ext cx="164592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000" b="1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›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7DE487A-AB0C-471D-8417-CEC01F2D460D}"/>
              </a:ext>
            </a:extLst>
          </p:cNvPr>
          <p:cNvSpPr>
            <a:spLocks noGrp="1"/>
          </p:cNvSpPr>
          <p:nvPr/>
        </p:nvSpPr>
        <p:spPr>
          <a:xfrm>
            <a:off x="2063343" y="1737360"/>
            <a:ext cx="1481328" cy="914400"/>
          </a:xfrm>
          <a:prstGeom prst="rect">
            <a:avLst/>
          </a:prstGeom>
          <a:solidFill>
            <a:srgbClr val="E85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0B5AB0-A2EB-4180-B7C7-E6DEE8494FD0}"/>
              </a:ext>
            </a:extLst>
          </p:cNvPr>
          <p:cNvSpPr>
            <a:spLocks noGrp="1"/>
          </p:cNvSpPr>
          <p:nvPr/>
        </p:nvSpPr>
        <p:spPr>
          <a:xfrm>
            <a:off x="2063343" y="1737360"/>
            <a:ext cx="148132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Ask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544F79-AF84-4972-B9ED-EF3C7AE5FD7B}"/>
              </a:ext>
            </a:extLst>
          </p:cNvPr>
          <p:cNvSpPr>
            <a:spLocks noGrp="1"/>
          </p:cNvSpPr>
          <p:nvPr/>
        </p:nvSpPr>
        <p:spPr>
          <a:xfrm>
            <a:off x="3544671" y="1737360"/>
            <a:ext cx="164592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000" b="1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›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AA94827-91B1-405C-AC74-B167647B79A2}"/>
              </a:ext>
            </a:extLst>
          </p:cNvPr>
          <p:cNvSpPr>
            <a:spLocks noGrp="1"/>
          </p:cNvSpPr>
          <p:nvPr/>
        </p:nvSpPr>
        <p:spPr>
          <a:xfrm>
            <a:off x="3709263" y="1737360"/>
            <a:ext cx="1481328" cy="914400"/>
          </a:xfrm>
          <a:prstGeom prst="rect">
            <a:avLst/>
          </a:prstGeom>
          <a:solidFill>
            <a:srgbClr val="E85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469F03D-AC3D-451D-A812-0A271A3157B5}"/>
              </a:ext>
            </a:extLst>
          </p:cNvPr>
          <p:cNvSpPr>
            <a:spLocks noGrp="1"/>
          </p:cNvSpPr>
          <p:nvPr/>
        </p:nvSpPr>
        <p:spPr>
          <a:xfrm>
            <a:off x="3709263" y="1737360"/>
            <a:ext cx="148132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Protect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192883C-F943-4D4D-B73D-2A340B8CC090}"/>
              </a:ext>
            </a:extLst>
          </p:cNvPr>
          <p:cNvSpPr>
            <a:spLocks noGrp="1"/>
          </p:cNvSpPr>
          <p:nvPr/>
        </p:nvSpPr>
        <p:spPr>
          <a:xfrm>
            <a:off x="5190591" y="1737360"/>
            <a:ext cx="164592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000" b="1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›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8A89297-C03C-4DA1-B5C7-97EBB3590D7F}"/>
              </a:ext>
            </a:extLst>
          </p:cNvPr>
          <p:cNvSpPr>
            <a:spLocks noGrp="1"/>
          </p:cNvSpPr>
          <p:nvPr/>
        </p:nvSpPr>
        <p:spPr>
          <a:xfrm>
            <a:off x="5355183" y="1737360"/>
            <a:ext cx="1481328" cy="9144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FCC6F19-111A-4A7A-8506-134D6FBC1843}"/>
              </a:ext>
            </a:extLst>
          </p:cNvPr>
          <p:cNvSpPr>
            <a:spLocks noGrp="1"/>
          </p:cNvSpPr>
          <p:nvPr/>
        </p:nvSpPr>
        <p:spPr>
          <a:xfrm>
            <a:off x="5355183" y="1737360"/>
            <a:ext cx="148132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Explain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27A94B6-6422-4D38-AB0E-B16BEEC7AC8D}"/>
              </a:ext>
            </a:extLst>
          </p:cNvPr>
          <p:cNvSpPr>
            <a:spLocks noGrp="1"/>
          </p:cNvSpPr>
          <p:nvPr/>
        </p:nvSpPr>
        <p:spPr>
          <a:xfrm>
            <a:off x="6836511" y="1737360"/>
            <a:ext cx="164592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000" b="1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›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AB57C3F-D310-4BB6-9BE5-5CE399381877}"/>
              </a:ext>
            </a:extLst>
          </p:cNvPr>
          <p:cNvSpPr>
            <a:spLocks noGrp="1"/>
          </p:cNvSpPr>
          <p:nvPr/>
        </p:nvSpPr>
        <p:spPr>
          <a:xfrm>
            <a:off x="7001103" y="1737360"/>
            <a:ext cx="1481328" cy="9144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EA1A278-63EE-47DD-9B79-68D9B0A1A0B6}"/>
              </a:ext>
            </a:extLst>
          </p:cNvPr>
          <p:cNvSpPr>
            <a:spLocks noGrp="1"/>
          </p:cNvSpPr>
          <p:nvPr/>
        </p:nvSpPr>
        <p:spPr>
          <a:xfrm>
            <a:off x="7001103" y="1737360"/>
            <a:ext cx="148132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Decide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3F0FCE2-91B4-4341-8CF7-CB196B2CD6C7}"/>
              </a:ext>
            </a:extLst>
          </p:cNvPr>
          <p:cNvSpPr>
            <a:spLocks noGrp="1"/>
          </p:cNvSpPr>
          <p:nvPr/>
        </p:nvSpPr>
        <p:spPr>
          <a:xfrm>
            <a:off x="8482431" y="1737360"/>
            <a:ext cx="164592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000" b="1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›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CB7D316-829C-425C-BA79-875D848613AB}"/>
              </a:ext>
            </a:extLst>
          </p:cNvPr>
          <p:cNvSpPr>
            <a:spLocks noGrp="1"/>
          </p:cNvSpPr>
          <p:nvPr/>
        </p:nvSpPr>
        <p:spPr>
          <a:xfrm>
            <a:off x="8647023" y="1737360"/>
            <a:ext cx="1481328" cy="9144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A9B2CDF-E2A2-4B64-A29B-F5E5FC8BB4CC}"/>
              </a:ext>
            </a:extLst>
          </p:cNvPr>
          <p:cNvSpPr>
            <a:spLocks noGrp="1"/>
          </p:cNvSpPr>
          <p:nvPr/>
        </p:nvSpPr>
        <p:spPr>
          <a:xfrm>
            <a:off x="8647023" y="1737360"/>
            <a:ext cx="148132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Learn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A113133-7B4A-45CF-B3AD-62E61FE21BA9}"/>
              </a:ext>
            </a:extLst>
          </p:cNvPr>
          <p:cNvSpPr>
            <a:spLocks noGrp="1"/>
          </p:cNvSpPr>
          <p:nvPr/>
        </p:nvSpPr>
        <p:spPr>
          <a:xfrm>
            <a:off x="10128351" y="1737360"/>
            <a:ext cx="164592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000" b="1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›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3E503F0-4C53-4C3D-8926-450812676FF0}"/>
              </a:ext>
            </a:extLst>
          </p:cNvPr>
          <p:cNvSpPr>
            <a:spLocks noGrp="1"/>
          </p:cNvSpPr>
          <p:nvPr/>
        </p:nvSpPr>
        <p:spPr>
          <a:xfrm>
            <a:off x="10292943" y="1737360"/>
            <a:ext cx="1481328" cy="9144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D5D4AB3-6605-4DA6-9E46-9FA1D676DFB0}"/>
              </a:ext>
            </a:extLst>
          </p:cNvPr>
          <p:cNvSpPr>
            <a:spLocks noGrp="1"/>
          </p:cNvSpPr>
          <p:nvPr/>
        </p:nvSpPr>
        <p:spPr>
          <a:xfrm>
            <a:off x="10292943" y="1737360"/>
            <a:ext cx="148132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Reflect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4760ACC-814B-4E28-8F23-D3F9D2C0175E}"/>
              </a:ext>
            </a:extLst>
          </p:cNvPr>
          <p:cNvSpPr>
            <a:spLocks noGrp="1"/>
          </p:cNvSpPr>
          <p:nvPr/>
        </p:nvSpPr>
        <p:spPr>
          <a:xfrm>
            <a:off x="838047" y="3132900"/>
            <a:ext cx="10515600" cy="24468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4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Authorised history and group evidence create the context. Hard constraints protect the choice; ranking orders the safe candidates; verified reasons explain the lead result; explicit feedback improves the next decision.</a:t>
            </a:r>
          </a:p>
        </p:txBody>
      </p:sp>
    </p:spTree>
    <p:extLst>
      <p:ext uri="{BB962C8B-B14F-4D97-AF65-F5344CB8AC3E}">
        <p14:creationId xmlns:p14="http://schemas.microsoft.com/office/powerpoint/2010/main" val="12793343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5DC5AA8-CDDB-4BFC-A0C8-9FE5A9480C1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2EA6A15-7218-435B-99D9-7A46FF4E746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5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5109B8-3C6D-4D95-BEF5-6B56AD605167}"/>
              </a:ext>
            </a:extLst>
          </p:cNvPr>
          <p:cNvSpPr>
            <a:spLocks noGrp="1"/>
          </p:cNvSpPr>
          <p:nvPr/>
        </p:nvSpPr>
        <p:spPr>
          <a:xfrm>
            <a:off x="502920" y="347472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7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A complete decision experience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DEE64D-9869-42D9-A484-C6CE240C2DCC}"/>
              </a:ext>
            </a:extLst>
          </p:cNvPr>
          <p:cNvSpPr>
            <a:spLocks noGrp="1"/>
          </p:cNvSpPr>
          <p:nvPr/>
        </p:nvSpPr>
        <p:spPr>
          <a:xfrm>
            <a:off x="530352" y="1024128"/>
            <a:ext cx="1280160" cy="45720"/>
          </a:xfrm>
          <a:prstGeom prst="rect">
            <a:avLst/>
          </a:prstGeom>
          <a:solidFill>
            <a:srgbClr val="E85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3552EC-B6E7-4A6E-B28D-C25D2D6B22A9}"/>
              </a:ext>
            </a:extLst>
          </p:cNvPr>
          <p:cNvSpPr>
            <a:spLocks noGrp="1"/>
          </p:cNvSpPr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FoodMind · Team 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7BA53E-0EDF-4380-8FF3-47F2CE98A868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="502920" y="1325880"/>
          <a:ext cx="11155680" cy="48463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69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3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463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Moment</a:t>
                      </a:r>
                    </a:p>
                  </a:txBody>
                  <a:tcPr marT="38100" marB="38100">
                    <a:solidFill>
                      <a:srgbClr val="E8590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What FoodMind enables</a:t>
                      </a:r>
                    </a:p>
                  </a:txBody>
                  <a:tcPr marT="38100" marB="38100">
                    <a:solidFill>
                      <a:srgbClr val="E8590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Evidence</a:t>
                      </a:r>
                    </a:p>
                  </a:txBody>
                  <a:tcPr marT="38100" marB="38100">
                    <a:solidFill>
                      <a:srgbClr val="E8590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Start with context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Preferences, history and constraints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 marT="25400" marB="254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Choose together</a:t>
                      </a:r>
                    </a:p>
                  </a:txBody>
                  <a:tcPr marT="25400" marB="254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Trusted groups, feeds and Want to Try</a:t>
                      </a:r>
                    </a:p>
                  </a:txBody>
                  <a:tcPr marT="25400" marB="25400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Receive one lead answer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Ordered recommendations + Try another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 marT="25400" marB="254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Know why</a:t>
                      </a:r>
                    </a:p>
                  </a:txBody>
                  <a:tcPr marT="25400" marB="254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Verified reason codes and fallback disclosure</a:t>
                      </a:r>
                    </a:p>
                  </a:txBody>
                  <a:tcPr marT="25400" marB="25400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Switch to cooking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Manual ingredients, plan and history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6</a:t>
                      </a:r>
                    </a:p>
                  </a:txBody>
                  <a:tcPr marT="25400" marB="254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Ask grounded questions</a:t>
                      </a:r>
                    </a:p>
                  </a:txBody>
                  <a:tcPr marT="25400" marB="254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Chat references, comparison and summary</a:t>
                      </a:r>
                    </a:p>
                  </a:txBody>
                  <a:tcPr marT="25400" marB="25400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7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See the pattern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Backend-owned dashboard and weekly recap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8</a:t>
                      </a:r>
                    </a:p>
                  </a:txBody>
                  <a:tcPr marT="25400" marB="254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Stay in control</a:t>
                      </a:r>
                    </a:p>
                  </a:txBody>
                  <a:tcPr marT="25400" marB="254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Permission-safe Explore and search</a:t>
                      </a:r>
                    </a:p>
                  </a:txBody>
                  <a:tcPr marT="25400" marB="25400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UC-09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Dashboard &amp; weekly recap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Vico / Recharts, Spring Boot aggregation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D49B5D59-1DDF-4EDF-99AF-2332AEBD2CD4}"/>
              </a:ext>
            </a:extLst>
          </p:cNvPr>
          <p:cNvSpPr>
            <a:spLocks noGrp="1"/>
          </p:cNvSpPr>
          <p:nvPr/>
        </p:nvSpPr>
        <p:spPr>
          <a:xfrm>
            <a:off x="502920" y="6263640"/>
            <a:ext cx="11155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300" b="0" i="1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The same public contract powers Web and Android; each client keeps the interaction native to its platform.</a:t>
            </a:r>
          </a:p>
        </p:txBody>
      </p:sp>
    </p:spTree>
    <p:extLst>
      <p:ext uri="{BB962C8B-B14F-4D97-AF65-F5344CB8AC3E}">
        <p14:creationId xmlns:p14="http://schemas.microsoft.com/office/powerpoint/2010/main" val="6443897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E8D7081-AB68-4B32-BEE6-F6E1BC333E3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BD0FE2-B3C7-4CD7-992A-022DF20A909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5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33CDC7-0AF8-4AF0-A98F-BC4F61D80C31}"/>
              </a:ext>
            </a:extLst>
          </p:cNvPr>
          <p:cNvSpPr>
            <a:spLocks noGrp="1"/>
          </p:cNvSpPr>
          <p:nvPr/>
        </p:nvSpPr>
        <p:spPr>
          <a:xfrm>
            <a:off x="502920" y="347472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7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A decision in one calm minute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A9C142-0B7A-48E4-8EF6-72352E2DF1DD}"/>
              </a:ext>
            </a:extLst>
          </p:cNvPr>
          <p:cNvSpPr>
            <a:spLocks noGrp="1"/>
          </p:cNvSpPr>
          <p:nvPr/>
        </p:nvSpPr>
        <p:spPr>
          <a:xfrm>
            <a:off x="530352" y="1024128"/>
            <a:ext cx="1280160" cy="45720"/>
          </a:xfrm>
          <a:prstGeom prst="rect">
            <a:avLst/>
          </a:prstGeom>
          <a:solidFill>
            <a:srgbClr val="E85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84F400-5AA0-4D5A-AEC2-E57DB900CF85}"/>
              </a:ext>
            </a:extLst>
          </p:cNvPr>
          <p:cNvSpPr>
            <a:spLocks noGrp="1"/>
          </p:cNvSpPr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FoodMind · Team 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436AC8-B81E-4895-8056-246654FFA5DB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pic>
        <p:nvPicPr>
          <p:cNvPr id="15" name="Picture 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382818" y="1234440"/>
            <a:ext cx="7395882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72526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6513247-1050-42DE-8F08-5686FD05356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DDD91B8-3259-4249-A130-6B790598539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5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364FF6-008B-47E5-88B8-F1E2E9550084}"/>
              </a:ext>
            </a:extLst>
          </p:cNvPr>
          <p:cNvSpPr>
            <a:spLocks noGrp="1"/>
          </p:cNvSpPr>
          <p:nvPr/>
        </p:nvSpPr>
        <p:spPr>
          <a:xfrm>
            <a:off x="502920" y="347472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7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One experience across devices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4FB5290-8B99-4A33-8AB8-F84C405CFBAC}"/>
              </a:ext>
            </a:extLst>
          </p:cNvPr>
          <p:cNvSpPr>
            <a:spLocks noGrp="1"/>
          </p:cNvSpPr>
          <p:nvPr/>
        </p:nvSpPr>
        <p:spPr>
          <a:xfrm>
            <a:off x="530352" y="1024128"/>
            <a:ext cx="1280160" cy="45720"/>
          </a:xfrm>
          <a:prstGeom prst="rect">
            <a:avLst/>
          </a:prstGeom>
          <a:solidFill>
            <a:srgbClr val="E85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EB17A3-0C39-4D93-8336-D600DFA3D0B7}"/>
              </a:ext>
            </a:extLst>
          </p:cNvPr>
          <p:cNvSpPr>
            <a:spLocks noGrp="1"/>
          </p:cNvSpPr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FoodMind · Team 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F9373F-13A2-439D-8C9A-3DB79310A687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015B12-FB6A-421E-A0DB-259CB2B2A93F}"/>
              </a:ext>
            </a:extLst>
          </p:cNvPr>
          <p:cNvSpPr>
            <a:spLocks noGrp="1"/>
          </p:cNvSpPr>
          <p:nvPr/>
        </p:nvSpPr>
        <p:spPr>
          <a:xfrm>
            <a:off x="7726679" y="1463040"/>
            <a:ext cx="402336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3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Web and Android call the same /api/v1 contract. The backend owns authorisation and business rules; private Agent and inference services never become browser or mobile endpoints.</a:t>
            </a:r>
          </a:p>
        </p:txBody>
      </p:sp>
      <p:pic>
        <p:nvPicPr>
          <p:cNvPr id="18" name="FoodMind architecture diagram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528140" y="698264"/>
            <a:ext cx="2755549" cy="6121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6849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A0280F1-960A-4BE3-A868-C09469EAD26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9715FDE-FBCC-44FA-9F29-3FC5803C174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5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D9A1ED-2B08-4B9B-A068-A4D05757F45E}"/>
              </a:ext>
            </a:extLst>
          </p:cNvPr>
          <p:cNvSpPr>
            <a:spLocks noGrp="1"/>
          </p:cNvSpPr>
          <p:nvPr/>
        </p:nvSpPr>
        <p:spPr>
          <a:xfrm>
            <a:off x="502920" y="347472"/>
            <a:ext cx="1051560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700" b="1" i="0">
                <a:solidFill>
                  <a:srgbClr val="1F2937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</a:rPr>
              <a:t>Trust belongs in the product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684736-3A7D-45BE-A064-CBEE42C1AFCD}"/>
              </a:ext>
            </a:extLst>
          </p:cNvPr>
          <p:cNvSpPr>
            <a:spLocks noGrp="1"/>
          </p:cNvSpPr>
          <p:nvPr/>
        </p:nvSpPr>
        <p:spPr>
          <a:xfrm>
            <a:off x="530352" y="1024128"/>
            <a:ext cx="1280160" cy="45720"/>
          </a:xfrm>
          <a:prstGeom prst="rect">
            <a:avLst/>
          </a:prstGeom>
          <a:solidFill>
            <a:srgbClr val="E85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B4D924-5008-4C34-A76B-E96ABCE779A2}"/>
              </a:ext>
            </a:extLst>
          </p:cNvPr>
          <p:cNvSpPr>
            <a:spLocks noGrp="1"/>
          </p:cNvSpPr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FoodMind · Team 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9DF9DE-0AAE-4573-B99E-A45A39C5BC98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>
        <p:nvPicPr>
          <p:cNvPr id="15" name="Picture 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627871" y="1069847"/>
            <a:ext cx="6867575" cy="4669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07372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413599A-8933-1501-8677-2D4FEAAE9127}"/>
              </a:ext>
            </a:extLst>
          </p:cNvPr>
          <p:cNvSpPr>
            <a:spLocks noGrp="1"/>
          </p:cNvSpPr>
          <p:nvPr/>
        </p:nvSpPr>
        <p:spPr>
          <a:xfrm>
            <a:off x="3212037" y="2921168"/>
            <a:ext cx="3705438" cy="10156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0" dirty="0"/>
              <a:t>Technology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3841373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20D9A2E1-E88C-4CD7-A1F2-31591B67242C}"/>
              </a:ext>
            </a:extLst>
          </p:cNvPr>
          <p:cNvSpPr>
            <a:spLocks noGrp="1"/>
          </p:cNvSpPr>
          <p:nvPr/>
        </p:nvSpPr>
        <p:spPr>
          <a:xfrm>
            <a:off x="609600" y="476250"/>
            <a:ext cx="66675" cy="457200"/>
          </a:xfrm>
          <a:prstGeom prst="rect">
            <a:avLst/>
          </a:prstGeom>
          <a:solidFill>
            <a:srgbClr val="356B56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slide-6-title">
            <a:extLst>
              <a:ext uri="{FF2B5EF4-FFF2-40B4-BE49-F238E27FC236}">
                <a16:creationId xmlns:a16="http://schemas.microsoft.com/office/drawing/2014/main" id="{1CD4F976-F6EC-44DF-A807-6C4723A99DF5}"/>
              </a:ext>
            </a:extLst>
          </p:cNvPr>
          <p:cNvSpPr>
            <a:spLocks noGrp="1"/>
          </p:cNvSpPr>
          <p:nvPr/>
        </p:nvSpPr>
        <p:spPr>
          <a:xfrm>
            <a:off x="838200" y="457200"/>
            <a:ext cx="10572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3450" b="1" i="0">
                <a:solidFill>
                  <a:srgbClr val="192526"/>
                </a:solidFill>
                <a:latin typeface="Arial"/>
                <a:ea typeface="Arial"/>
                <a:cs typeface="Arial"/>
              </a:defRPr>
            </a:pPr>
            <a:r>
              <a:rPr sz="3450" b="1" i="0">
                <a:solidFill>
                  <a:srgbClr val="192526"/>
                </a:solidFill>
                <a:latin typeface="Arial"/>
                <a:ea typeface="Arial"/>
                <a:cs typeface="Arial"/>
              </a:rPr>
              <a:t>Safety comes before ranking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64BDC852-FFF9-4B14-9524-41E98C54B4D5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10972800" cy="0"/>
          </a:xfrm>
          <a:prstGeom prst="line">
            <a:avLst/>
          </a:prstGeom>
          <a:noFill/>
          <a:ln w="9525">
            <a:solidFill>
              <a:srgbClr val="D8DD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47B87D9-1A84-4FCE-A6DF-C153C65CB3AF}"/>
              </a:ext>
            </a:extLst>
          </p:cNvPr>
          <p:cNvSpPr>
            <a:spLocks noGrp="1"/>
          </p:cNvSpPr>
          <p:nvPr/>
        </p:nvSpPr>
        <p:spPr>
          <a:xfrm>
            <a:off x="609600" y="6553200"/>
            <a:ext cx="238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975" b="1" i="0">
                <a:solidFill>
                  <a:srgbClr val="667174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67174"/>
                </a:solidFill>
                <a:latin typeface="Arial"/>
                <a:ea typeface="Arial"/>
                <a:cs typeface="Arial"/>
              </a:rPr>
              <a:t>FOODMIND  •  TEAM 5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AAD4A59-037F-44E1-B97D-64D01F56FA86}"/>
              </a:ext>
            </a:extLst>
          </p:cNvPr>
          <p:cNvSpPr>
            <a:spLocks noGrp="1"/>
          </p:cNvSpPr>
          <p:nvPr/>
        </p:nvSpPr>
        <p:spPr>
          <a:xfrm>
            <a:off x="11144250" y="653415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5000"/>
              </a:lnSpc>
              <a:buNone/>
              <a:defRPr sz="1050" b="0" i="0">
                <a:solidFill>
                  <a:srgbClr val="667174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174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D39B4821-DF72-4F57-8014-DFCF4D69EC74}"/>
              </a:ext>
            </a:extLst>
          </p:cNvPr>
          <p:cNvSpPr>
            <a:spLocks noGrp="1"/>
          </p:cNvSpPr>
          <p:nvPr/>
        </p:nvSpPr>
        <p:spPr>
          <a:xfrm>
            <a:off x="666750" y="1504950"/>
            <a:ext cx="2095500" cy="685800"/>
          </a:xfrm>
          <a:prstGeom prst="roundRect">
            <a:avLst>
              <a:gd name="adj" fmla="val 19444"/>
            </a:avLst>
          </a:prstGeom>
          <a:solidFill>
            <a:srgbClr val="F4E8E1"/>
          </a:solidFill>
          <a:ln w="13335">
            <a:solidFill>
              <a:srgbClr val="B86143"/>
            </a:solidFill>
            <a:prstDash val="solid"/>
          </a:ln>
        </p:spPr>
        <p:txBody>
          <a:bodyPr wrap="square" lIns="114300" tIns="95250" rIns="114300" bIns="95250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800" b="1">
                <a:solidFill>
                  <a:srgbClr val="B8614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B86143"/>
                </a:solidFill>
                <a:latin typeface="Arial"/>
                <a:ea typeface="Arial"/>
                <a:cs typeface="Arial"/>
              </a:rPr>
              <a:t>HARD FILTERS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3194691-C257-434B-BE46-B9BA9B7E2D8B}"/>
              </a:ext>
            </a:extLst>
          </p:cNvPr>
          <p:cNvSpPr>
            <a:spLocks noGrp="1"/>
          </p:cNvSpPr>
          <p:nvPr/>
        </p:nvSpPr>
        <p:spPr>
          <a:xfrm>
            <a:off x="3105150" y="1676400"/>
            <a:ext cx="79248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buNone/>
              <a:defRPr sz="1575" b="0" i="0">
                <a:solidFill>
                  <a:srgbClr val="667174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667174"/>
                </a:solidFill>
                <a:latin typeface="Arial"/>
                <a:ea typeface="Arial"/>
                <a:cs typeface="Arial"/>
              </a:rPr>
              <a:t>allergy · diet · budget · spice · repetition · distance</a:t>
            </a:r>
          </a:p>
        </p:txBody>
      </p:sp>
      <p:sp>
        <p:nvSpPr>
          <p:cNvPr id="8" name="直接连接符 7">
            <a:extLst>
              <a:ext uri="{FF2B5EF4-FFF2-40B4-BE49-F238E27FC236}">
                <a16:creationId xmlns:a16="http://schemas.microsoft.com/office/drawing/2014/main" id="{E760F973-9230-422D-8A49-332BEC24B114}"/>
              </a:ext>
            </a:extLst>
          </p:cNvPr>
          <p:cNvSpPr>
            <a:spLocks noGrp="1"/>
          </p:cNvSpPr>
          <p:nvPr/>
        </p:nvSpPr>
        <p:spPr>
          <a:xfrm>
            <a:off x="666750" y="2400300"/>
            <a:ext cx="10363200" cy="0"/>
          </a:xfrm>
          <a:prstGeom prst="line">
            <a:avLst/>
          </a:prstGeom>
          <a:noFill/>
          <a:ln w="11430">
            <a:solidFill>
              <a:srgbClr val="D8DD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05163E14-23F6-464C-8A79-C281D2026393}"/>
              </a:ext>
            </a:extLst>
          </p:cNvPr>
          <p:cNvSpPr>
            <a:spLocks noGrp="1"/>
          </p:cNvSpPr>
          <p:nvPr/>
        </p:nvSpPr>
        <p:spPr>
          <a:xfrm>
            <a:off x="666750" y="3009900"/>
            <a:ext cx="5295900" cy="2152650"/>
          </a:xfrm>
          <a:prstGeom prst="roundRect">
            <a:avLst>
              <a:gd name="adj" fmla="val 7080"/>
            </a:avLst>
          </a:prstGeom>
          <a:solidFill>
            <a:srgbClr val="FFFFFF"/>
          </a:solidFill>
          <a:ln w="12383">
            <a:solidFill>
              <a:srgbClr val="4F80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FF74F85-90D6-4288-8D8E-B211DAC6627C}"/>
              </a:ext>
            </a:extLst>
          </p:cNvPr>
          <p:cNvSpPr>
            <a:spLocks noGrp="1"/>
          </p:cNvSpPr>
          <p:nvPr/>
        </p:nvSpPr>
        <p:spPr>
          <a:xfrm>
            <a:off x="933450" y="3219450"/>
            <a:ext cx="228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1425" b="1" i="0">
                <a:solidFill>
                  <a:srgbClr val="356B56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356B56"/>
                </a:solidFill>
                <a:latin typeface="Arial"/>
                <a:ea typeface="Arial"/>
                <a:cs typeface="Arial"/>
              </a:rPr>
              <a:t>SOURCE CODE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B8C57AB-E7F7-4555-A106-59714108791D}"/>
              </a:ext>
            </a:extLst>
          </p:cNvPr>
          <p:cNvSpPr>
            <a:spLocks noGrp="1"/>
          </p:cNvSpPr>
          <p:nvPr/>
        </p:nvSpPr>
        <p:spPr>
          <a:xfrm>
            <a:off x="933450" y="3695700"/>
            <a:ext cx="1162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1725" b="1" i="0">
                <a:solidFill>
                  <a:srgbClr val="192526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92526"/>
                </a:solidFill>
                <a:latin typeface="Arial"/>
                <a:ea typeface="Arial"/>
                <a:cs typeface="Arial"/>
              </a:rPr>
              <a:t>for (HardFilterPolicy policy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7C116C2-9859-4E90-B40D-2174FCE2D00C}"/>
              </a:ext>
            </a:extLst>
          </p:cNvPr>
          <p:cNvSpPr>
            <a:spLocks noGrp="1"/>
          </p:cNvSpPr>
          <p:nvPr/>
        </p:nvSpPr>
        <p:spPr>
          <a:xfrm>
            <a:off x="2171700" y="3714750"/>
            <a:ext cx="3143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1575" b="0" i="0">
                <a:solidFill>
                  <a:srgbClr val="667174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667174"/>
                </a:solidFill>
                <a:latin typeface="Arial"/>
                <a:ea typeface="Arial"/>
                <a:cs typeface="Arial"/>
              </a:rPr>
              <a:t>  : policies) {</a:t>
            </a:r>
          </a:p>
        </p:txBody>
      </p:sp>
      <p:sp>
        <p:nvSpPr>
          <p:cNvPr id="13" name="直接连接符 12">
            <a:extLst>
              <a:ext uri="{FF2B5EF4-FFF2-40B4-BE49-F238E27FC236}">
                <a16:creationId xmlns:a16="http://schemas.microsoft.com/office/drawing/2014/main" id="{8C5394DC-9D02-4416-A1E6-1B71359CC4A4}"/>
              </a:ext>
            </a:extLst>
          </p:cNvPr>
          <p:cNvSpPr>
            <a:spLocks noGrp="1"/>
          </p:cNvSpPr>
          <p:nvPr/>
        </p:nvSpPr>
        <p:spPr>
          <a:xfrm>
            <a:off x="933450" y="4095750"/>
            <a:ext cx="4705350" cy="0"/>
          </a:xfrm>
          <a:prstGeom prst="line">
            <a:avLst/>
          </a:prstGeom>
          <a:noFill/>
          <a:ln w="9525">
            <a:solidFill>
              <a:srgbClr val="D8DD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4A13D41-5F83-40A4-8F58-D399176412D5}"/>
              </a:ext>
            </a:extLst>
          </p:cNvPr>
          <p:cNvSpPr>
            <a:spLocks noGrp="1"/>
          </p:cNvSpPr>
          <p:nvPr/>
        </p:nvSpPr>
        <p:spPr>
          <a:xfrm>
            <a:off x="933450" y="4248150"/>
            <a:ext cx="1162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1725" b="1" i="0">
                <a:solidFill>
                  <a:srgbClr val="192526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92526"/>
                </a:solidFill>
                <a:latin typeface="Arial"/>
                <a:ea typeface="Arial"/>
                <a:cs typeface="Arial"/>
              </a:rPr>
              <a:t>  decision = policy.apply(...);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AE61713-32F9-46F0-9472-F464AC6AB9E6}"/>
              </a:ext>
            </a:extLst>
          </p:cNvPr>
          <p:cNvSpPr>
            <a:spLocks noGrp="1"/>
          </p:cNvSpPr>
          <p:nvPr/>
        </p:nvSpPr>
        <p:spPr>
          <a:xfrm>
            <a:off x="2171700" y="4267200"/>
            <a:ext cx="3143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1575" b="0" i="0">
                <a:solidFill>
                  <a:srgbClr val="667174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667174"/>
                </a:solidFill>
                <a:latin typeface="Arial"/>
                <a:ea typeface="Arial"/>
                <a:cs typeface="Arial"/>
              </a:rPr>
              <a:t>  if (!decision.allowed())</a:t>
            </a:r>
          </a:p>
        </p:txBody>
      </p:sp>
      <p:sp>
        <p:nvSpPr>
          <p:cNvPr id="16" name="直接连接符 15">
            <a:extLst>
              <a:ext uri="{FF2B5EF4-FFF2-40B4-BE49-F238E27FC236}">
                <a16:creationId xmlns:a16="http://schemas.microsoft.com/office/drawing/2014/main" id="{73B86C44-783F-4A39-BFE2-545214D0B052}"/>
              </a:ext>
            </a:extLst>
          </p:cNvPr>
          <p:cNvSpPr>
            <a:spLocks noGrp="1"/>
          </p:cNvSpPr>
          <p:nvPr/>
        </p:nvSpPr>
        <p:spPr>
          <a:xfrm>
            <a:off x="933450" y="4648200"/>
            <a:ext cx="4705350" cy="0"/>
          </a:xfrm>
          <a:prstGeom prst="line">
            <a:avLst/>
          </a:prstGeom>
          <a:noFill/>
          <a:ln w="9525">
            <a:solidFill>
              <a:srgbClr val="D8DD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ACDEC88-DDCB-4283-A3EC-CF3BA1197722}"/>
              </a:ext>
            </a:extLst>
          </p:cNvPr>
          <p:cNvSpPr>
            <a:spLocks noGrp="1"/>
          </p:cNvSpPr>
          <p:nvPr/>
        </p:nvSpPr>
        <p:spPr>
          <a:xfrm>
            <a:off x="933450" y="4781550"/>
            <a:ext cx="1162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1725" b="1" i="0">
                <a:solidFill>
                  <a:srgbClr val="192526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92526"/>
                </a:solidFill>
                <a:latin typeface="Arial"/>
                <a:ea typeface="Arial"/>
                <a:cs typeface="Arial"/>
              </a:rPr>
              <a:t>    return rejected;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50061F2-86E4-468B-9AF4-2CFE1E2DBD3C}"/>
              </a:ext>
            </a:extLst>
          </p:cNvPr>
          <p:cNvSpPr>
            <a:spLocks noGrp="1"/>
          </p:cNvSpPr>
          <p:nvPr/>
        </p:nvSpPr>
        <p:spPr>
          <a:xfrm>
            <a:off x="2171700" y="4800600"/>
            <a:ext cx="3333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1500" b="0" i="0">
                <a:solidFill>
                  <a:srgbClr val="667174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67174"/>
                </a:solidFill>
                <a:latin typeface="Arial"/>
                <a:ea typeface="Arial"/>
                <a:cs typeface="Arial"/>
              </a:rPr>
              <a:t>}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1F66D045-9E70-48B7-B0A4-F9D888A4BB59}"/>
              </a:ext>
            </a:extLst>
          </p:cNvPr>
          <p:cNvSpPr>
            <a:spLocks noGrp="1"/>
          </p:cNvSpPr>
          <p:nvPr/>
        </p:nvSpPr>
        <p:spPr>
          <a:xfrm>
            <a:off x="6724650" y="3448050"/>
            <a:ext cx="2266950" cy="1276350"/>
          </a:xfrm>
          <a:prstGeom prst="roundRect">
            <a:avLst>
              <a:gd name="adj" fmla="val 10448"/>
            </a:avLst>
          </a:prstGeom>
          <a:solidFill>
            <a:srgbClr val="E7F0EB"/>
          </a:solidFill>
          <a:ln w="13335">
            <a:solidFill>
              <a:srgbClr val="4F806B"/>
            </a:solidFill>
            <a:prstDash val="solid"/>
          </a:ln>
        </p:spPr>
        <p:txBody>
          <a:bodyPr wrap="square" lIns="114300" tIns="95250" rIns="114300" bIns="95250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875" b="1">
                <a:solidFill>
                  <a:srgbClr val="356B56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56B56"/>
                </a:solidFill>
                <a:latin typeface="Arial"/>
                <a:ea typeface="Arial"/>
                <a:cs typeface="Arial"/>
              </a:rPr>
              <a:t>SAFE CANDIDATES</a:t>
            </a: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7DE022AF-2FF8-44A6-BB8F-EC2DA9D17A28}"/>
              </a:ext>
            </a:extLst>
          </p:cNvPr>
          <p:cNvSpPr>
            <a:spLocks noGrp="1"/>
          </p:cNvSpPr>
          <p:nvPr/>
        </p:nvSpPr>
        <p:spPr>
          <a:xfrm>
            <a:off x="9582150" y="3449336"/>
            <a:ext cx="1943100" cy="1276350"/>
          </a:xfrm>
          <a:prstGeom prst="roundRect">
            <a:avLst>
              <a:gd name="adj" fmla="val 10448"/>
            </a:avLst>
          </a:prstGeom>
          <a:solidFill>
            <a:srgbClr val="F4E8E1"/>
          </a:solidFill>
          <a:ln w="13335">
            <a:solidFill>
              <a:srgbClr val="B86143"/>
            </a:solidFill>
            <a:prstDash val="solid"/>
          </a:ln>
        </p:spPr>
        <p:txBody>
          <a:bodyPr wrap="square" lIns="114300" tIns="95250" rIns="114300" bIns="95250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725" b="1">
                <a:solidFill>
                  <a:srgbClr val="B8614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B86143"/>
                </a:solidFill>
                <a:latin typeface="Arial"/>
                <a:ea typeface="Arial"/>
                <a:cs typeface="Arial"/>
              </a:rPr>
              <a:t>RANKED RESULTS</a:t>
            </a:r>
          </a:p>
        </p:txBody>
      </p:sp>
      <p:cxnSp>
        <p:nvCxnSpPr>
          <p:cNvPr id="133" name="直接箭头连接符 44"/>
          <p:cNvCxnSpPr>
            <a:stCxn id="9" idx="3"/>
            <a:endCxn id="19" idx="1"/>
          </p:cNvCxnSpPr>
          <p:nvPr/>
        </p:nvCxnSpPr>
        <p:spPr>
          <a:xfrm>
            <a:off x="5962650" y="4086225"/>
            <a:ext cx="762000" cy="0"/>
          </a:xfrm>
          <a:prstGeom prst="straightConnector1">
            <a:avLst/>
          </a:prstGeom>
          <a:ln w="19050">
            <a:solidFill>
              <a:srgbClr val="4F806B"/>
            </a:solidFill>
            <a:prstDash val="solid"/>
            <a:tailEnd type="arrow" w="sm" len="sm"/>
          </a:ln>
        </p:spPr>
      </p:cxnSp>
      <p:cxnSp>
        <p:nvCxnSpPr>
          <p:cNvPr id="134" name="直接箭头连接符 45"/>
          <p:cNvCxnSpPr>
            <a:stCxn id="19" idx="3"/>
            <a:endCxn id="20" idx="1"/>
          </p:cNvCxnSpPr>
          <p:nvPr/>
        </p:nvCxnSpPr>
        <p:spPr>
          <a:xfrm>
            <a:off x="8991600" y="4086225"/>
            <a:ext cx="590550" cy="1286"/>
          </a:xfrm>
          <a:prstGeom prst="straightConnector1">
            <a:avLst/>
          </a:prstGeom>
          <a:ln w="20955">
            <a:solidFill>
              <a:srgbClr val="B86143"/>
            </a:solidFill>
            <a:prstDash val="solid"/>
            <a:tailEnd type="arrow" w="sm" len="sm"/>
          </a:ln>
        </p:spPr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FF9AD598-DE59-4A7A-B349-03A9D8969546}"/>
              </a:ext>
            </a:extLst>
          </p:cNvPr>
          <p:cNvSpPr>
            <a:spLocks noGrp="1"/>
          </p:cNvSpPr>
          <p:nvPr/>
        </p:nvSpPr>
        <p:spPr>
          <a:xfrm>
            <a:off x="666750" y="5524500"/>
            <a:ext cx="5219700" cy="685800"/>
          </a:xfrm>
          <a:prstGeom prst="roundRect">
            <a:avLst>
              <a:gd name="adj" fmla="val 19444"/>
            </a:avLst>
          </a:prstGeom>
          <a:solidFill>
            <a:srgbClr val="F0F1EE"/>
          </a:solidFill>
          <a:ln w="9525">
            <a:solidFill>
              <a:srgbClr val="D8DDD9"/>
            </a:solidFill>
            <a:prstDash val="solid"/>
          </a:ln>
        </p:spPr>
        <p:txBody>
          <a:bodyPr wrap="square" lIns="152400" tIns="104775" rIns="152400" bIns="95250" anchor="ctr">
            <a:noAutofit/>
          </a:bodyPr>
          <a:lstStyle/>
          <a:p>
            <a:pPr>
              <a:buNone/>
              <a:defRPr sz="1350" b="0">
                <a:solidFill>
                  <a:srgbClr val="667174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667174"/>
                </a:solidFill>
                <a:latin typeface="Arial"/>
                <a:ea typeface="Arial"/>
                <a:cs typeface="Arial"/>
              </a:rPr>
              <a:t>HardFilterPipeline.java · lines 16–34</a:t>
            </a:r>
            <a:endParaRPr sz="1350" b="0">
              <a:solidFill>
                <a:srgbClr val="667174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9F18F94-AA8C-4FAD-BD46-29DE2EB908B1}"/>
              </a:ext>
            </a:extLst>
          </p:cNvPr>
          <p:cNvSpPr>
            <a:spLocks noGrp="1"/>
          </p:cNvSpPr>
          <p:nvPr/>
        </p:nvSpPr>
        <p:spPr>
          <a:xfrm>
            <a:off x="6305550" y="5524500"/>
            <a:ext cx="5238750" cy="685800"/>
          </a:xfrm>
          <a:prstGeom prst="roundRect">
            <a:avLst>
              <a:gd name="adj" fmla="val 19444"/>
            </a:avLst>
          </a:prstGeom>
          <a:solidFill>
            <a:srgbClr val="F0F1EE"/>
          </a:solidFill>
          <a:ln w="9525">
            <a:solidFill>
              <a:srgbClr val="D8DDD9"/>
            </a:solidFill>
            <a:prstDash val="solid"/>
          </a:ln>
        </p:spPr>
        <p:txBody>
          <a:bodyPr wrap="square" lIns="152400" tIns="104775" rIns="152400" bIns="95250" anchor="ctr">
            <a:no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66717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7174"/>
                </a:solidFill>
                <a:latin typeface="Arial"/>
                <a:ea typeface="Arial"/>
                <a:cs typeface="Arial"/>
              </a:rPr>
              <a:t>A prediction never overrides a hard constraint.</a:t>
            </a:r>
          </a:p>
        </p:txBody>
      </p:sp>
    </p:spTree>
    <p:extLst>
      <p:ext uri="{BB962C8B-B14F-4D97-AF65-F5344CB8AC3E}">
        <p14:creationId xmlns:p14="http://schemas.microsoft.com/office/powerpoint/2010/main" val="13930301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16FAB31-39A7-4C71-B717-A82ECC3D609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E2B012-F29F-4E55-8F90-F564181C238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5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E3B6E9-48E7-40E2-8729-279A10E0664C}"/>
              </a:ext>
            </a:extLst>
          </p:cNvPr>
          <p:cNvSpPr>
            <a:spLocks noGrp="1"/>
          </p:cNvSpPr>
          <p:nvPr/>
        </p:nvSpPr>
        <p:spPr>
          <a:xfrm>
            <a:off x="502920" y="347472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7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Ranking learns from evidence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6913DE3-9CAA-4BB6-B44D-D4AEF4AF2F3A}"/>
              </a:ext>
            </a:extLst>
          </p:cNvPr>
          <p:cNvSpPr>
            <a:spLocks noGrp="1"/>
          </p:cNvSpPr>
          <p:nvPr/>
        </p:nvSpPr>
        <p:spPr>
          <a:xfrm>
            <a:off x="530352" y="1024128"/>
            <a:ext cx="1280160" cy="45720"/>
          </a:xfrm>
          <a:prstGeom prst="rect">
            <a:avLst/>
          </a:prstGeom>
          <a:solidFill>
            <a:srgbClr val="E85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CA6266-AF96-453E-8227-7C3A2477B772}"/>
              </a:ext>
            </a:extLst>
          </p:cNvPr>
          <p:cNvSpPr>
            <a:spLocks noGrp="1"/>
          </p:cNvSpPr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FoodMind · Team 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B3B2A2-BE76-4BBD-BDBF-091314861CE5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pic>
        <p:nvPicPr>
          <p:cNvPr id="1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529" y="1234440"/>
            <a:ext cx="10406461" cy="246888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10029FC-C3DA-41FF-85F7-153BF0691057}"/>
              </a:ext>
            </a:extLst>
          </p:cNvPr>
          <p:cNvSpPr>
            <a:spLocks noGrp="1"/>
          </p:cNvSpPr>
          <p:nvPr/>
        </p:nvSpPr>
        <p:spPr>
          <a:xfrm>
            <a:off x="822960" y="3977639"/>
            <a:ext cx="1051560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200">
                <a:solidFill>
                  <a:srgbClr val="24313A"/>
                </a:solidFill>
              </a:defRPr>
            </a:pPr>
            <a:r>
              <a:rPr sz="1200" b="1" i="0">
                <a:solidFill>
                  <a:srgbClr val="24313A"/>
                </a:solidFill>
                <a:latin typeface="Calibri"/>
                <a:ea typeface="Calibri"/>
                <a:cs typeface="Calibri"/>
              </a:rPr>
              <a:t>model = NumpyLogisticRegression()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200">
                <a:solidFill>
                  <a:srgbClr val="24313A"/>
                </a:solidFill>
              </a:defRPr>
            </a:pPr>
            <a:r>
              <a:rPr sz="1200" b="1" i="0">
                <a:solidFill>
                  <a:srgbClr val="24313A"/>
                </a:solidFill>
                <a:latin typeface="Calibri"/>
                <a:ea typeface="Calibri"/>
                <a:cs typeface="Calibri"/>
              </a:rPr>
              <a:t>model.fit(x_train, y_train)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sz="1200" b="1" i="0">
              <a:solidFill>
                <a:srgbClr val="24313A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200">
                <a:solidFill>
                  <a:srgbClr val="24313A"/>
                </a:solidFill>
              </a:defRPr>
            </a:pPr>
            <a:r>
              <a:rPr sz="1200" b="1" i="0">
                <a:solidFill>
                  <a:srgbClr val="24313A"/>
                </a:solidFill>
                <a:latin typeface="Calibri"/>
                <a:ea typeface="Calibri"/>
                <a:cs typeface="Calibri"/>
              </a:rPr>
              <a:t>Features combine UserCF, ItemCF, preference, context, price, distance and history. Availability flags keep missing collaborative signals neutral.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sz="1200" b="1" i="0">
              <a:solidFill>
                <a:srgbClr val="24313A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200">
                <a:solidFill>
                  <a:srgbClr val="24313A"/>
                </a:solidFill>
              </a:defRPr>
            </a:pPr>
            <a:r>
              <a:rPr sz="1200" b="1" i="0">
                <a:solidFill>
                  <a:srgbClr val="24313A"/>
                </a:solidFill>
                <a:latin typeface="Calibri"/>
                <a:ea typeface="Calibri"/>
                <a:cs typeface="Calibri"/>
              </a:rPr>
              <a:t>The returned score ranks safe candidates; verified reason codes—not the score—explain the result.</a:t>
            </a:r>
          </a:p>
        </p:txBody>
      </p:sp>
    </p:spTree>
    <p:extLst>
      <p:ext uri="{BB962C8B-B14F-4D97-AF65-F5344CB8AC3E}">
        <p14:creationId xmlns:p14="http://schemas.microsoft.com/office/powerpoint/2010/main" val="17725851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C66C149-1244-4B41-9A20-627C982FE9B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9BA9CBE-FBB9-483C-B816-DD3148703F2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5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3E8EAC-1F90-44D5-8326-D836E0AA8B8F}"/>
              </a:ext>
            </a:extLst>
          </p:cNvPr>
          <p:cNvSpPr>
            <a:spLocks noGrp="1"/>
          </p:cNvSpPr>
          <p:nvPr/>
        </p:nvSpPr>
        <p:spPr>
          <a:xfrm>
            <a:off x="502920" y="347472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7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What the current evidence can—and cannot—say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6BADF56-5940-434A-B7FF-9DCA50729019}"/>
              </a:ext>
            </a:extLst>
          </p:cNvPr>
          <p:cNvSpPr>
            <a:spLocks noGrp="1"/>
          </p:cNvSpPr>
          <p:nvPr/>
        </p:nvSpPr>
        <p:spPr>
          <a:xfrm>
            <a:off x="530352" y="1024128"/>
            <a:ext cx="1280160" cy="45720"/>
          </a:xfrm>
          <a:prstGeom prst="rect">
            <a:avLst/>
          </a:prstGeom>
          <a:solidFill>
            <a:srgbClr val="E85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21BA7F-75C0-4969-BC86-369926C08F33}"/>
              </a:ext>
            </a:extLst>
          </p:cNvPr>
          <p:cNvSpPr>
            <a:spLocks noGrp="1"/>
          </p:cNvSpPr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FoodMind · Team 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E81156-3A47-4B82-87B1-72AFE6E0C7F8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  <p:graphicFrame>
        <p:nvGraphicFramePr>
          <p:cNvPr id="18" name="Table 7"/>
          <p:cNvGraphicFramePr/>
          <p:nvPr/>
        </p:nvGraphicFramePr>
        <p:xfrm>
          <a:off x="502920" y="1371600"/>
          <a:ext cx="7498080" cy="31089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81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Metric</a:t>
                      </a:r>
                    </a:p>
                  </a:txBody>
                  <a:tcPr marT="38100" marB="38100">
                    <a:solidFill>
                      <a:srgbClr val="E8590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Majority (val)</a:t>
                      </a:r>
                    </a:p>
                  </a:txBody>
                  <a:tcPr marT="38100" marB="38100">
                    <a:solidFill>
                      <a:srgbClr val="E8590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Hybrid LR (val)</a:t>
                      </a:r>
                    </a:p>
                  </a:txBody>
                  <a:tcPr marT="38100" marB="38100">
                    <a:solidFill>
                      <a:srgbClr val="E8590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Hybrid LR (test)</a:t>
                      </a:r>
                    </a:p>
                  </a:txBody>
                  <a:tcPr marT="38100" marB="38100">
                    <a:solidFill>
                      <a:srgbClr val="E8590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Accuracy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0.9925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0.9925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0.9815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Precision</a:t>
                      </a:r>
                    </a:p>
                  </a:txBody>
                  <a:tcPr marT="25400" marB="254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0.9925</a:t>
                      </a:r>
                    </a:p>
                  </a:txBody>
                  <a:tcPr marT="25400" marB="254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0.9925</a:t>
                      </a:r>
                    </a:p>
                  </a:txBody>
                  <a:tcPr marT="25400" marB="254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0.9815</a:t>
                      </a:r>
                    </a:p>
                  </a:txBody>
                  <a:tcPr marT="25400" marB="25400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Recall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1.0000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1.0000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1.0000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F1</a:t>
                      </a:r>
                    </a:p>
                  </a:txBody>
                  <a:tcPr marT="25400" marB="254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0.9962</a:t>
                      </a:r>
                    </a:p>
                  </a:txBody>
                  <a:tcPr marT="25400" marB="254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0.9962</a:t>
                      </a:r>
                    </a:p>
                  </a:txBody>
                  <a:tcPr marT="25400" marB="254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0.9907</a:t>
                      </a:r>
                    </a:p>
                  </a:txBody>
                  <a:tcPr marT="25400" marB="25400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ROC-AUC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0.5000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0.5568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0.8068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7273CDD-7685-4211-BDE7-00974F3A9899}"/>
              </a:ext>
            </a:extLst>
          </p:cNvPr>
          <p:cNvSpPr>
            <a:spLocks noGrp="1"/>
          </p:cNvSpPr>
          <p:nvPr/>
        </p:nvSpPr>
        <p:spPr>
          <a:xfrm>
            <a:off x="8321040" y="1371600"/>
            <a:ext cx="3383280" cy="3108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5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Offline experiment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3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Train: 48,379 rows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3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Validation: 266 rows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3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Test: 270 rows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3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19 engineered features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sz="1300" b="0" i="0">
              <a:solidFill>
                <a:srgbClr val="5B6472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100" b="0" i="1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Food.com source summary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100" b="0" i="1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231,637 recipes · 538,139 interactions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4F5E12-5D9C-4F7D-AB7D-6038924BFAE1}"/>
              </a:ext>
            </a:extLst>
          </p:cNvPr>
          <p:cNvSpPr>
            <a:spLocks noGrp="1"/>
          </p:cNvSpPr>
          <p:nvPr/>
        </p:nvSpPr>
        <p:spPr>
          <a:xfrm>
            <a:off x="502920" y="4663440"/>
            <a:ext cx="111556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500" b="1" i="0">
                <a:solidFill>
                  <a:srgbClr val="C44607"/>
                </a:solidFill>
                <a:latin typeface="Calibri"/>
                <a:ea typeface="Calibri"/>
                <a:cs typeface="Calibri"/>
              </a:rPr>
              <a:t>Project-stage candidate, not production-validated.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endParaRPr sz="1500" b="1" i="0">
              <a:solidFill>
                <a:srgbClr val="C44607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3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The label distribution is strongly positive; validation has no true negatives. Report ROC-AUC beside accuracy, and retain deterministic preference/context fallback for cold start or unavailable collaborative signals.</a:t>
            </a:r>
          </a:p>
        </p:txBody>
      </p:sp>
    </p:spTree>
    <p:extLst>
      <p:ext uri="{BB962C8B-B14F-4D97-AF65-F5344CB8AC3E}">
        <p14:creationId xmlns:p14="http://schemas.microsoft.com/office/powerpoint/2010/main" val="6140538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22B6D802-FCC3-89BF-4160-CE30FA945652}"/>
              </a:ext>
            </a:extLst>
          </p:cNvPr>
          <p:cNvSpPr>
            <a:spLocks noGrp="1"/>
          </p:cNvSpPr>
          <p:nvPr/>
        </p:nvSpPr>
        <p:spPr>
          <a:xfrm>
            <a:off x="5083896" y="2921168"/>
            <a:ext cx="2024208" cy="10156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0"/>
              <a:t>Bounded agents</a:t>
            </a:r>
          </a:p>
        </p:txBody>
      </p:sp>
    </p:spTree>
    <p:extLst>
      <p:ext uri="{BB962C8B-B14F-4D97-AF65-F5344CB8AC3E}">
        <p14:creationId xmlns:p14="http://schemas.microsoft.com/office/powerpoint/2010/main" val="12870273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6B956062-6872-41BE-9D6C-5CF227C9207B}"/>
              </a:ext>
            </a:extLst>
          </p:cNvPr>
          <p:cNvSpPr>
            <a:spLocks noGrp="1"/>
          </p:cNvSpPr>
          <p:nvPr/>
        </p:nvSpPr>
        <p:spPr>
          <a:xfrm>
            <a:off x="609600" y="476250"/>
            <a:ext cx="66675" cy="457200"/>
          </a:xfrm>
          <a:prstGeom prst="rect">
            <a:avLst/>
          </a:prstGeom>
          <a:solidFill>
            <a:srgbClr val="356B56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slide-7-title">
            <a:extLst>
              <a:ext uri="{FF2B5EF4-FFF2-40B4-BE49-F238E27FC236}">
                <a16:creationId xmlns:a16="http://schemas.microsoft.com/office/drawing/2014/main" id="{4ED1C83C-7EF4-4EF0-8AC1-E96BD87B962A}"/>
              </a:ext>
            </a:extLst>
          </p:cNvPr>
          <p:cNvSpPr>
            <a:spLocks noGrp="1"/>
          </p:cNvSpPr>
          <p:nvPr/>
        </p:nvSpPr>
        <p:spPr>
          <a:xfrm>
            <a:off x="838200" y="457200"/>
            <a:ext cx="10572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3450" b="1" i="0">
                <a:solidFill>
                  <a:srgbClr val="192526"/>
                </a:solidFill>
                <a:latin typeface="Arial"/>
                <a:ea typeface="Arial"/>
                <a:cs typeface="Arial"/>
              </a:defRPr>
            </a:pPr>
            <a:r>
              <a:rPr sz="4800" b="1" i="0">
                <a:solidFill>
                  <a:srgbClr val="192526"/>
                </a:solidFill>
                <a:latin typeface="Arial"/>
                <a:ea typeface="Arial"/>
                <a:cs typeface="Arial"/>
              </a:rPr>
              <a:t>One fixed graph. One scoring call.</a:t>
            </a:r>
            <a:endParaRPr sz="3450" b="1" i="0">
              <a:solidFill>
                <a:srgbClr val="19252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A341B89E-F124-426E-A5F9-B5AFBBA3E267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10972800" cy="0"/>
          </a:xfrm>
          <a:prstGeom prst="line">
            <a:avLst/>
          </a:prstGeom>
          <a:noFill/>
          <a:ln w="9525">
            <a:solidFill>
              <a:srgbClr val="D8DD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C0E0A4C-F0D9-46E6-B046-A8537669BB22}"/>
              </a:ext>
            </a:extLst>
          </p:cNvPr>
          <p:cNvSpPr>
            <a:spLocks noGrp="1"/>
          </p:cNvSpPr>
          <p:nvPr/>
        </p:nvSpPr>
        <p:spPr>
          <a:xfrm>
            <a:off x="609600" y="6553200"/>
            <a:ext cx="238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975" b="1" i="0">
                <a:solidFill>
                  <a:srgbClr val="667174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67174"/>
                </a:solidFill>
                <a:latin typeface="Arial"/>
                <a:ea typeface="Arial"/>
                <a:cs typeface="Arial"/>
              </a:rPr>
              <a:t>FOODMIND  •  TEAM 5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CD27802-8175-4425-9FE4-0C8AE9E9911C}"/>
              </a:ext>
            </a:extLst>
          </p:cNvPr>
          <p:cNvSpPr>
            <a:spLocks noGrp="1"/>
          </p:cNvSpPr>
          <p:nvPr/>
        </p:nvSpPr>
        <p:spPr>
          <a:xfrm>
            <a:off x="11144250" y="653415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5000"/>
              </a:lnSpc>
              <a:buNone/>
              <a:defRPr sz="1050" b="0" i="0">
                <a:solidFill>
                  <a:srgbClr val="667174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174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352B7F0-DFF8-4F9D-8DB0-4E665B91A6C4}"/>
              </a:ext>
            </a:extLst>
          </p:cNvPr>
          <p:cNvSpPr>
            <a:spLocks noGrp="1"/>
          </p:cNvSpPr>
          <p:nvPr/>
        </p:nvSpPr>
        <p:spPr>
          <a:xfrm>
            <a:off x="666750" y="1676400"/>
            <a:ext cx="7048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2925" b="1" i="0">
                <a:solidFill>
                  <a:srgbClr val="356B56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356B5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FDCAFDD-857B-4537-B17A-7D0A76A984DA}"/>
              </a:ext>
            </a:extLst>
          </p:cNvPr>
          <p:cNvSpPr>
            <a:spLocks noGrp="1"/>
          </p:cNvSpPr>
          <p:nvPr/>
        </p:nvSpPr>
        <p:spPr>
          <a:xfrm>
            <a:off x="666750" y="2266950"/>
            <a:ext cx="3028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1650" b="1" i="0">
                <a:solidFill>
                  <a:srgbClr val="667174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667174"/>
                </a:solidFill>
                <a:latin typeface="Arial"/>
                <a:ea typeface="Arial"/>
                <a:cs typeface="Arial"/>
              </a:rPr>
              <a:t>RECOMMENDATION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CDF3DD6-B010-49CC-BF4F-F385485C684B}"/>
              </a:ext>
            </a:extLst>
          </p:cNvPr>
          <p:cNvSpPr>
            <a:spLocks noGrp="1"/>
          </p:cNvSpPr>
          <p:nvPr/>
        </p:nvSpPr>
        <p:spPr>
          <a:xfrm>
            <a:off x="272955" y="2838450"/>
            <a:ext cx="382279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2100" b="1" i="0">
                <a:solidFill>
                  <a:srgbClr val="192526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192526"/>
                </a:solidFill>
                <a:latin typeface="Arial"/>
                <a:ea typeface="Arial"/>
                <a:cs typeface="Arial"/>
              </a:rPr>
              <a:t>Validate → score once → select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87C9841-FF88-4D4E-AA6C-8A193C4723D4}"/>
              </a:ext>
            </a:extLst>
          </p:cNvPr>
          <p:cNvSpPr>
            <a:spLocks noGrp="1"/>
          </p:cNvSpPr>
          <p:nvPr/>
        </p:nvSpPr>
        <p:spPr>
          <a:xfrm>
            <a:off x="666750" y="3352800"/>
            <a:ext cx="31432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1575" b="0" i="0">
                <a:solidFill>
                  <a:srgbClr val="667174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667174"/>
                </a:solidFill>
                <a:latin typeface="Arial"/>
                <a:ea typeface="Arial"/>
                <a:cs typeface="Arial"/>
              </a:rPr>
              <a:t>A fixed acyclic graph produces up to three ordered results.</a:t>
            </a:r>
          </a:p>
        </p:txBody>
      </p:sp>
      <p:sp>
        <p:nvSpPr>
          <p:cNvPr id="10" name="直接连接符 9">
            <a:extLst>
              <a:ext uri="{FF2B5EF4-FFF2-40B4-BE49-F238E27FC236}">
                <a16:creationId xmlns:a16="http://schemas.microsoft.com/office/drawing/2014/main" id="{1C56C701-8F82-47CD-BDD7-ED96EB72BBEF}"/>
              </a:ext>
            </a:extLst>
          </p:cNvPr>
          <p:cNvSpPr>
            <a:spLocks noGrp="1"/>
          </p:cNvSpPr>
          <p:nvPr/>
        </p:nvSpPr>
        <p:spPr>
          <a:xfrm>
            <a:off x="4095750" y="1600200"/>
            <a:ext cx="0" cy="0"/>
          </a:xfrm>
          <a:prstGeom prst="line">
            <a:avLst/>
          </a:prstGeom>
          <a:noFill/>
          <a:ln w="9525">
            <a:solidFill>
              <a:srgbClr val="D8DD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直接连接符 10">
            <a:extLst>
              <a:ext uri="{FF2B5EF4-FFF2-40B4-BE49-F238E27FC236}">
                <a16:creationId xmlns:a16="http://schemas.microsoft.com/office/drawing/2014/main" id="{2D84C2BF-56E8-4F78-9260-8D7216B8A4DD}"/>
              </a:ext>
            </a:extLst>
          </p:cNvPr>
          <p:cNvSpPr>
            <a:spLocks noGrp="1"/>
          </p:cNvSpPr>
          <p:nvPr/>
        </p:nvSpPr>
        <p:spPr>
          <a:xfrm>
            <a:off x="4095750" y="1600200"/>
            <a:ext cx="0" cy="3810000"/>
          </a:xfrm>
          <a:prstGeom prst="line">
            <a:avLst/>
          </a:prstGeom>
          <a:noFill/>
          <a:ln w="11430">
            <a:solidFill>
              <a:srgbClr val="D8DD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125D16E-14AC-4F58-A313-9B437B19D038}"/>
              </a:ext>
            </a:extLst>
          </p:cNvPr>
          <p:cNvSpPr>
            <a:spLocks noGrp="1"/>
          </p:cNvSpPr>
          <p:nvPr/>
        </p:nvSpPr>
        <p:spPr>
          <a:xfrm>
            <a:off x="4514850" y="1676400"/>
            <a:ext cx="7048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2925" b="1" i="0">
                <a:solidFill>
                  <a:srgbClr val="356B56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356B5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4B7B59B-775D-4C90-AB48-7B4D31F8B11F}"/>
              </a:ext>
            </a:extLst>
          </p:cNvPr>
          <p:cNvSpPr>
            <a:spLocks noGrp="1"/>
          </p:cNvSpPr>
          <p:nvPr/>
        </p:nvSpPr>
        <p:spPr>
          <a:xfrm>
            <a:off x="4514850" y="2266950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1650" b="1" i="0">
                <a:solidFill>
                  <a:srgbClr val="667174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667174"/>
                </a:solidFill>
                <a:latin typeface="Arial"/>
                <a:ea typeface="Arial"/>
                <a:cs typeface="Arial"/>
              </a:rPr>
              <a:t>COOKING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FA48AD0-07F9-423D-9CDB-C34041D9C641}"/>
              </a:ext>
            </a:extLst>
          </p:cNvPr>
          <p:cNvSpPr>
            <a:spLocks noGrp="1"/>
          </p:cNvSpPr>
          <p:nvPr/>
        </p:nvSpPr>
        <p:spPr>
          <a:xfrm>
            <a:off x="4514850" y="2838450"/>
            <a:ext cx="3143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2100" b="1" i="0">
                <a:solidFill>
                  <a:srgbClr val="192526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192526"/>
                </a:solidFill>
                <a:latin typeface="Arial"/>
                <a:ea typeface="Arial"/>
                <a:cs typeface="Arial"/>
              </a:rPr>
              <a:t>Controlled recipe planning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645B9F1-427D-473B-89A2-6C755197386B}"/>
              </a:ext>
            </a:extLst>
          </p:cNvPr>
          <p:cNvSpPr>
            <a:spLocks noGrp="1"/>
          </p:cNvSpPr>
          <p:nvPr/>
        </p:nvSpPr>
        <p:spPr>
          <a:xfrm>
            <a:off x="4514850" y="3619500"/>
            <a:ext cx="31432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1575" b="0" i="0">
                <a:solidFill>
                  <a:srgbClr val="667174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667174"/>
                </a:solidFill>
                <a:latin typeface="Arial"/>
                <a:ea typeface="Arial"/>
                <a:cs typeface="Arial"/>
              </a:rPr>
              <a:t>Manual/authorised inputs; time, budget and dietary rules are validated.</a:t>
            </a:r>
          </a:p>
        </p:txBody>
      </p:sp>
      <p:sp>
        <p:nvSpPr>
          <p:cNvPr id="16" name="直接连接符 15">
            <a:extLst>
              <a:ext uri="{FF2B5EF4-FFF2-40B4-BE49-F238E27FC236}">
                <a16:creationId xmlns:a16="http://schemas.microsoft.com/office/drawing/2014/main" id="{F7CB57B3-C620-473C-8229-D4D3BFD6B310}"/>
              </a:ext>
            </a:extLst>
          </p:cNvPr>
          <p:cNvSpPr>
            <a:spLocks noGrp="1"/>
          </p:cNvSpPr>
          <p:nvPr/>
        </p:nvSpPr>
        <p:spPr>
          <a:xfrm>
            <a:off x="7953375" y="1600200"/>
            <a:ext cx="0" cy="3810000"/>
          </a:xfrm>
          <a:prstGeom prst="line">
            <a:avLst/>
          </a:prstGeom>
          <a:noFill/>
          <a:ln w="11430">
            <a:solidFill>
              <a:srgbClr val="D8DD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A73F909-54A6-4C1A-AC4B-014176F3325C}"/>
              </a:ext>
            </a:extLst>
          </p:cNvPr>
          <p:cNvSpPr>
            <a:spLocks noGrp="1"/>
          </p:cNvSpPr>
          <p:nvPr/>
        </p:nvSpPr>
        <p:spPr>
          <a:xfrm>
            <a:off x="8382000" y="1676400"/>
            <a:ext cx="7048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2925" b="1" i="0">
                <a:solidFill>
                  <a:srgbClr val="B86143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B86143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AB93A56-DB33-4691-A7A1-B4EF2202AE05}"/>
              </a:ext>
            </a:extLst>
          </p:cNvPr>
          <p:cNvSpPr>
            <a:spLocks noGrp="1"/>
          </p:cNvSpPr>
          <p:nvPr/>
        </p:nvSpPr>
        <p:spPr>
          <a:xfrm>
            <a:off x="8382000" y="226695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1650" b="1" i="0">
                <a:solidFill>
                  <a:srgbClr val="667174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667174"/>
                </a:solidFill>
                <a:latin typeface="Arial"/>
                <a:ea typeface="Arial"/>
                <a:cs typeface="Arial"/>
              </a:rPr>
              <a:t>CHATBOT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CB6E57B-BBC5-4764-8E29-F4C92174A8F9}"/>
              </a:ext>
            </a:extLst>
          </p:cNvPr>
          <p:cNvSpPr>
            <a:spLocks noGrp="1"/>
          </p:cNvSpPr>
          <p:nvPr/>
        </p:nvSpPr>
        <p:spPr>
          <a:xfrm>
            <a:off x="8382000" y="2838450"/>
            <a:ext cx="3143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2025" b="1" i="0">
                <a:solidFill>
                  <a:srgbClr val="192526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192526"/>
                </a:solidFill>
                <a:latin typeface="Arial"/>
                <a:ea typeface="Arial"/>
                <a:cs typeface="Arial"/>
              </a:rPr>
              <a:t>Grounded search and summary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47C0D22-9731-46D7-9108-06E9A3AE4CF5}"/>
              </a:ext>
            </a:extLst>
          </p:cNvPr>
          <p:cNvSpPr>
            <a:spLocks noGrp="1"/>
          </p:cNvSpPr>
          <p:nvPr/>
        </p:nvSpPr>
        <p:spPr>
          <a:xfrm>
            <a:off x="8382000" y="3390900"/>
            <a:ext cx="31432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1725" b="1" i="0">
                <a:solidFill>
                  <a:srgbClr val="356B56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356B56"/>
                </a:solidFill>
                <a:latin typeface="Arial"/>
                <a:ea typeface="Arial"/>
                <a:cs typeface="Arial"/>
              </a:rPr>
              <a:t>Allow-listed backend tools only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72A8EB44-5E42-421D-B89D-6823AA8C8A25}"/>
              </a:ext>
            </a:extLst>
          </p:cNvPr>
          <p:cNvSpPr>
            <a:spLocks noGrp="1"/>
          </p:cNvSpPr>
          <p:nvPr/>
        </p:nvSpPr>
        <p:spPr>
          <a:xfrm>
            <a:off x="8382000" y="4362450"/>
            <a:ext cx="295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1500" b="0" i="0">
                <a:solidFill>
                  <a:srgbClr val="667174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67174"/>
                </a:solidFill>
                <a:latin typeface="Arial"/>
                <a:ea typeface="Arial"/>
                <a:cs typeface="Arial"/>
              </a:rPr>
              <a:t>No direct database or public-web access.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961C28F3-AD1E-4910-AAE4-66563CF2BBC2}"/>
              </a:ext>
            </a:extLst>
          </p:cNvPr>
          <p:cNvSpPr>
            <a:spLocks noGrp="1"/>
          </p:cNvSpPr>
          <p:nvPr/>
        </p:nvSpPr>
        <p:spPr>
          <a:xfrm>
            <a:off x="1562100" y="5476875"/>
            <a:ext cx="9067800" cy="609600"/>
          </a:xfrm>
          <a:prstGeom prst="roundRect">
            <a:avLst>
              <a:gd name="adj" fmla="val 18750"/>
            </a:avLst>
          </a:prstGeom>
          <a:solidFill>
            <a:srgbClr val="E7F0EB"/>
          </a:solidFill>
          <a:ln w="10478">
            <a:solidFill>
              <a:srgbClr val="4F806B"/>
            </a:solidFill>
            <a:prstDash val="solid"/>
          </a:ln>
        </p:spPr>
        <p:txBody>
          <a:bodyPr wrap="square" lIns="114300" tIns="95250" rIns="114300" bIns="95250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1D514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D5146"/>
                </a:solidFill>
                <a:latin typeface="Arial"/>
                <a:ea typeface="Arial"/>
                <a:cs typeface="Arial"/>
              </a:rPr>
              <a:t>graph.add_edge(START, "validate_envelope")</a:t>
            </a:r>
          </a:p>
          <a:p>
            <a:pPr algn="ctr">
              <a:lnSpc>
                <a:spcPct val="100000"/>
              </a:lnSpc>
              <a:buNone/>
              <a:defRPr sz="1200" b="1">
                <a:solidFill>
                  <a:srgbClr val="1D514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D5146"/>
                </a:solidFill>
                <a:latin typeface="Arial"/>
                <a:ea typeface="Arial"/>
                <a:cs typeface="Arial"/>
              </a:rPr>
              <a:t>… validate → score_once → select_results → reasons → response</a:t>
            </a:r>
          </a:p>
          <a:p>
            <a:pPr algn="ctr">
              <a:lnSpc>
                <a:spcPct val="100000"/>
              </a:lnSpc>
              <a:buNone/>
              <a:defRPr sz="1200" b="1">
                <a:solidFill>
                  <a:srgbClr val="1D514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D5146"/>
                </a:solidFill>
                <a:latin typeface="Arial"/>
                <a:ea typeface="Arial"/>
                <a:cs typeface="Arial"/>
              </a:rPr>
              <a:t>MAX_WORKFLOW_STEPS = 8</a:t>
            </a:r>
          </a:p>
        </p:txBody>
      </p:sp>
    </p:spTree>
    <p:extLst>
      <p:ext uri="{BB962C8B-B14F-4D97-AF65-F5344CB8AC3E}">
        <p14:creationId xmlns:p14="http://schemas.microsoft.com/office/powerpoint/2010/main" val="5842645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63764AD-342B-461F-B4EB-0CFBC9AD8AA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3434A62-9779-4C94-B39B-7A39AD38F35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5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01E650-A980-4A66-9D76-20DAB595D06A}"/>
              </a:ext>
            </a:extLst>
          </p:cNvPr>
          <p:cNvSpPr>
            <a:spLocks noGrp="1"/>
          </p:cNvSpPr>
          <p:nvPr/>
        </p:nvSpPr>
        <p:spPr>
          <a:xfrm>
            <a:off x="502920" y="347472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7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Every AI response remains accountable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F10311-A9E2-4B81-AFDC-0F97416B7983}"/>
              </a:ext>
            </a:extLst>
          </p:cNvPr>
          <p:cNvSpPr>
            <a:spLocks noGrp="1"/>
          </p:cNvSpPr>
          <p:nvPr/>
        </p:nvSpPr>
        <p:spPr>
          <a:xfrm>
            <a:off x="530352" y="1024128"/>
            <a:ext cx="1280160" cy="45720"/>
          </a:xfrm>
          <a:prstGeom prst="rect">
            <a:avLst/>
          </a:prstGeom>
          <a:solidFill>
            <a:srgbClr val="E85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A63753-ED1B-4A38-BB42-EA56A84CA47B}"/>
              </a:ext>
            </a:extLst>
          </p:cNvPr>
          <p:cNvSpPr>
            <a:spLocks noGrp="1"/>
          </p:cNvSpPr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FoodMind · Team 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31E846-AFB6-4F57-8276-68A34197EE1B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>
        <p:nvPicPr>
          <p:cNvPr id="1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5934" y="1188720"/>
            <a:ext cx="5829651" cy="338328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E824F7E-47A7-4DAC-9494-A0E8BDCF0B7E}"/>
              </a:ext>
            </a:extLst>
          </p:cNvPr>
          <p:cNvSpPr>
            <a:spLocks noGrp="1"/>
          </p:cNvSpPr>
          <p:nvPr/>
        </p:nvSpPr>
        <p:spPr>
          <a:xfrm>
            <a:off x="822960" y="4754880"/>
            <a:ext cx="10515600" cy="1676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200">
                <a:solidFill>
                  <a:srgbClr val="24313A"/>
                </a:solidFill>
              </a:defRPr>
            </a:pPr>
            <a:r>
              <a:rPr sz="1200" b="1" i="0">
                <a:solidFill>
                  <a:srgbClr val="24313A"/>
                </a:solidFill>
                <a:latin typeface="Calibri"/>
                <a:ea typeface="Calibri"/>
                <a:cs typeface="Calibri"/>
              </a:rPr>
              <a:t>The Agent receives only backend-authorised context, calls private inference once, derives verified reason codes, and returns a schema-validated response.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sz="1200" b="1" i="0">
              <a:solidFill>
                <a:srgbClr val="24313A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200">
                <a:solidFill>
                  <a:srgbClr val="24313A"/>
                </a:solidFill>
              </a:defRPr>
            </a:pPr>
            <a:r>
              <a:rPr sz="1200" b="1" i="0">
                <a:solidFill>
                  <a:srgbClr val="24313A"/>
                </a:solidFill>
                <a:latin typeface="Calibri"/>
                <a:ea typeface="Calibri"/>
                <a:cs typeface="Calibri"/>
              </a:rPr>
              <a:t>if outputs exceed the request candidates → reject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200">
                <a:solidFill>
                  <a:srgbClr val="24313A"/>
                </a:solidFill>
              </a:defRPr>
            </a:pPr>
            <a:r>
              <a:rPr sz="1200" b="1" i="0">
                <a:solidFill>
                  <a:srgbClr val="24313A"/>
                </a:solidFill>
                <a:latin typeface="Calibri"/>
                <a:ea typeface="Calibri"/>
                <a:cs typeface="Calibri"/>
              </a:rPr>
              <a:t>if the workflow exceeds its deadline → return a bounded failure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200">
                <a:solidFill>
                  <a:srgbClr val="24313A"/>
                </a:solidFill>
              </a:defRPr>
            </a:pPr>
            <a:r>
              <a:rPr sz="1200" b="1" i="0">
                <a:solidFill>
                  <a:srgbClr val="24313A"/>
                </a:solidFill>
                <a:latin typeface="Calibri"/>
                <a:ea typeface="Calibri"/>
                <a:cs typeface="Calibri"/>
              </a:rPr>
              <a:t>if an internal result is invalid → Backend applies deterministic fallback</a:t>
            </a:r>
          </a:p>
        </p:txBody>
      </p:sp>
    </p:spTree>
    <p:extLst>
      <p:ext uri="{BB962C8B-B14F-4D97-AF65-F5344CB8AC3E}">
        <p14:creationId xmlns:p14="http://schemas.microsoft.com/office/powerpoint/2010/main" val="14017009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E150775-A748-54F6-3925-5770DB493DC5}"/>
              </a:ext>
            </a:extLst>
          </p:cNvPr>
          <p:cNvSpPr>
            <a:spLocks noGrp="1"/>
          </p:cNvSpPr>
          <p:nvPr/>
        </p:nvSpPr>
        <p:spPr>
          <a:xfrm>
            <a:off x="4689589" y="2921168"/>
            <a:ext cx="2812821" cy="10156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0"/>
              <a:t>The system of record</a:t>
            </a:r>
          </a:p>
        </p:txBody>
      </p:sp>
    </p:spTree>
    <p:extLst>
      <p:ext uri="{BB962C8B-B14F-4D97-AF65-F5344CB8AC3E}">
        <p14:creationId xmlns:p14="http://schemas.microsoft.com/office/powerpoint/2010/main" val="12747160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A4EDAA5-983B-5BE6-68EF-615544E2D547}"/>
              </a:ext>
            </a:extLst>
          </p:cNvPr>
          <p:cNvSpPr>
            <a:spLocks noGrp="1"/>
          </p:cNvSpPr>
          <p:nvPr/>
        </p:nvSpPr>
        <p:spPr>
          <a:xfrm>
            <a:off x="3271573" y="2921168"/>
            <a:ext cx="5648854" cy="10156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0"/>
              <a:t>Backend orchestration</a:t>
            </a:r>
          </a:p>
        </p:txBody>
      </p:sp>
    </p:spTree>
    <p:extLst>
      <p:ext uri="{BB962C8B-B14F-4D97-AF65-F5344CB8AC3E}">
        <p14:creationId xmlns:p14="http://schemas.microsoft.com/office/powerpoint/2010/main" val="10678098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46691D2B-365E-4B32-B199-68D5AC0148FF}"/>
              </a:ext>
            </a:extLst>
          </p:cNvPr>
          <p:cNvSpPr>
            <a:spLocks noGrp="1"/>
          </p:cNvSpPr>
          <p:nvPr/>
        </p:nvSpPr>
        <p:spPr>
          <a:xfrm>
            <a:off x="609600" y="476250"/>
            <a:ext cx="66675" cy="457200"/>
          </a:xfrm>
          <a:prstGeom prst="rect">
            <a:avLst/>
          </a:prstGeom>
          <a:solidFill>
            <a:srgbClr val="356B56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slide-8-title">
            <a:extLst>
              <a:ext uri="{FF2B5EF4-FFF2-40B4-BE49-F238E27FC236}">
                <a16:creationId xmlns:a16="http://schemas.microsoft.com/office/drawing/2014/main" id="{6A6D6418-72D1-4ACA-9566-EF14A145E39C}"/>
              </a:ext>
            </a:extLst>
          </p:cNvPr>
          <p:cNvSpPr>
            <a:spLocks noGrp="1"/>
          </p:cNvSpPr>
          <p:nvPr/>
        </p:nvSpPr>
        <p:spPr>
          <a:xfrm>
            <a:off x="838200" y="457200"/>
            <a:ext cx="10572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3450" b="1" i="0">
                <a:solidFill>
                  <a:srgbClr val="192526"/>
                </a:solidFill>
                <a:latin typeface="Arial"/>
                <a:ea typeface="Arial"/>
                <a:cs typeface="Arial"/>
              </a:defRPr>
            </a:pPr>
            <a:r>
              <a:rPr sz="4800" b="1" i="0">
                <a:solidFill>
                  <a:srgbClr val="192526"/>
                </a:solidFill>
                <a:latin typeface="Arial"/>
                <a:ea typeface="Arial"/>
                <a:cs typeface="Arial"/>
              </a:rPr>
              <a:t>One contract. Two clients.</a:t>
            </a:r>
            <a:endParaRPr sz="3450" b="1" i="0">
              <a:solidFill>
                <a:srgbClr val="19252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A358C5DE-9DE2-4F54-BCA5-486A439C8963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10972800" cy="0"/>
          </a:xfrm>
          <a:prstGeom prst="line">
            <a:avLst/>
          </a:prstGeom>
          <a:noFill/>
          <a:ln w="9525">
            <a:solidFill>
              <a:srgbClr val="D8DD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7E00DD6-8B21-4D48-A084-6262D2EBB3C7}"/>
              </a:ext>
            </a:extLst>
          </p:cNvPr>
          <p:cNvSpPr>
            <a:spLocks noGrp="1"/>
          </p:cNvSpPr>
          <p:nvPr/>
        </p:nvSpPr>
        <p:spPr>
          <a:xfrm>
            <a:off x="609600" y="6553200"/>
            <a:ext cx="238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975" b="1" i="0">
                <a:solidFill>
                  <a:srgbClr val="667174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67174"/>
                </a:solidFill>
                <a:latin typeface="Arial"/>
                <a:ea typeface="Arial"/>
                <a:cs typeface="Arial"/>
              </a:rPr>
              <a:t>FOODMIND  •  TEAM 5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BF24911-4A84-4D76-BEAD-10152BE0DC67}"/>
              </a:ext>
            </a:extLst>
          </p:cNvPr>
          <p:cNvSpPr>
            <a:spLocks noGrp="1"/>
          </p:cNvSpPr>
          <p:nvPr/>
        </p:nvSpPr>
        <p:spPr>
          <a:xfrm>
            <a:off x="11144250" y="653415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5000"/>
              </a:lnSpc>
              <a:buNone/>
              <a:defRPr sz="1050" b="0" i="0">
                <a:solidFill>
                  <a:srgbClr val="667174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174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63484CC2-7A61-4C55-968B-0A70A0D29FDA}"/>
              </a:ext>
            </a:extLst>
          </p:cNvPr>
          <p:cNvSpPr>
            <a:spLocks noGrp="1"/>
          </p:cNvSpPr>
          <p:nvPr/>
        </p:nvSpPr>
        <p:spPr>
          <a:xfrm>
            <a:off x="666750" y="1752600"/>
            <a:ext cx="2057400" cy="914400"/>
          </a:xfrm>
          <a:prstGeom prst="roundRect">
            <a:avLst>
              <a:gd name="adj" fmla="val 14583"/>
            </a:avLst>
          </a:prstGeom>
          <a:solidFill>
            <a:srgbClr val="FFFFFF"/>
          </a:solidFill>
          <a:ln w="12383">
            <a:solidFill>
              <a:srgbClr val="D8DDD9"/>
            </a:solidFill>
            <a:prstDash val="solid"/>
          </a:ln>
        </p:spPr>
        <p:txBody>
          <a:bodyPr wrap="square" lIns="114300" tIns="95250" rIns="114300" bIns="95250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650" b="1">
                <a:solidFill>
                  <a:srgbClr val="19252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92526"/>
                </a:solidFill>
                <a:latin typeface="Arial"/>
                <a:ea typeface="Arial"/>
                <a:cs typeface="Arial"/>
              </a:rPr>
              <a:t>Android · Kotlin + Compose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0373676-D6D3-46B4-8150-DEBA5D475016}"/>
              </a:ext>
            </a:extLst>
          </p:cNvPr>
          <p:cNvSpPr>
            <a:spLocks noGrp="1"/>
          </p:cNvSpPr>
          <p:nvPr/>
        </p:nvSpPr>
        <p:spPr>
          <a:xfrm>
            <a:off x="666750" y="3067050"/>
            <a:ext cx="2057400" cy="914400"/>
          </a:xfrm>
          <a:prstGeom prst="roundRect">
            <a:avLst>
              <a:gd name="adj" fmla="val 14583"/>
            </a:avLst>
          </a:prstGeom>
          <a:solidFill>
            <a:srgbClr val="FFFFFF"/>
          </a:solidFill>
          <a:ln w="12383">
            <a:solidFill>
              <a:srgbClr val="D8DDD9"/>
            </a:solidFill>
            <a:prstDash val="solid"/>
          </a:ln>
        </p:spPr>
        <p:txBody>
          <a:bodyPr wrap="square" lIns="114300" tIns="95250" rIns="114300" bIns="95250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650" b="1">
                <a:solidFill>
                  <a:srgbClr val="19252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92526"/>
                </a:solidFill>
                <a:latin typeface="Arial"/>
                <a:ea typeface="Arial"/>
                <a:cs typeface="Arial"/>
              </a:rPr>
              <a:t>Web · React + TypeScript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7F77626D-5472-45E5-ACC7-878C365DD30B}"/>
              </a:ext>
            </a:extLst>
          </p:cNvPr>
          <p:cNvSpPr>
            <a:spLocks noGrp="1"/>
          </p:cNvSpPr>
          <p:nvPr/>
        </p:nvSpPr>
        <p:spPr>
          <a:xfrm>
            <a:off x="3638550" y="2209800"/>
            <a:ext cx="3238500" cy="1390650"/>
          </a:xfrm>
          <a:prstGeom prst="roundRect">
            <a:avLst>
              <a:gd name="adj" fmla="val 9589"/>
            </a:avLst>
          </a:prstGeom>
          <a:solidFill>
            <a:srgbClr val="E7F0EB"/>
          </a:solidFill>
          <a:ln w="14288">
            <a:solidFill>
              <a:srgbClr val="4F806B"/>
            </a:solidFill>
            <a:prstDash val="solid"/>
          </a:ln>
        </p:spPr>
        <p:txBody>
          <a:bodyPr wrap="square" lIns="114300" tIns="95250" rIns="114300" bIns="95250" anchor="ctr">
            <a:noAutofit/>
          </a:bodyPr>
          <a:lstStyle/>
          <a:p>
            <a:pPr algn="ctr">
              <a:lnSpc>
                <a:spcPct val="112000"/>
              </a:lnSpc>
              <a:buNone/>
              <a:defRPr sz="1200" b="1">
                <a:solidFill>
                  <a:srgbClr val="1D514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D5146"/>
                </a:solidFill>
                <a:latin typeface="Arial"/>
                <a:ea typeface="Arial"/>
                <a:cs typeface="Arial"/>
              </a:rPr>
              <a:t>Spring Boot /api/v1</a:t>
            </a:r>
          </a:p>
          <a:p>
            <a:pPr algn="ctr">
              <a:lnSpc>
                <a:spcPct val="112000"/>
              </a:lnSpc>
              <a:buNone/>
              <a:defRPr sz="1200" b="1">
                <a:solidFill>
                  <a:srgbClr val="1D514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D5146"/>
                </a:solidFill>
                <a:latin typeface="Arial"/>
                <a:ea typeface="Arial"/>
                <a:cs typeface="Arial"/>
              </a:rPr>
              <a:t>authorisation · business rules · validation</a:t>
            </a:r>
          </a:p>
          <a:p>
            <a:pPr algn="ctr">
              <a:lnSpc>
                <a:spcPct val="112000"/>
              </a:lnSpc>
              <a:buNone/>
              <a:defRPr sz="1650" b="1">
                <a:solidFill>
                  <a:srgbClr val="356B56"/>
                </a:solidFill>
                <a:latin typeface="Arial"/>
                <a:ea typeface="Arial"/>
                <a:cs typeface="Arial"/>
              </a:defRPr>
            </a:pPr>
            <a:endParaRPr sz="1200" b="1">
              <a:solidFill>
                <a:srgbClr val="1D5146"/>
              </a:solidFill>
              <a:latin typeface="Arial"/>
              <a:ea typeface="Arial"/>
              <a:cs typeface="Arial"/>
            </a:endParaRPr>
          </a:p>
          <a:p>
            <a:pPr algn="ctr">
              <a:lnSpc>
                <a:spcPct val="112000"/>
              </a:lnSpc>
              <a:buNone/>
              <a:defRPr sz="1200" b="1">
                <a:solidFill>
                  <a:srgbClr val="1D514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D5146"/>
                </a:solidFill>
                <a:latin typeface="Arial"/>
                <a:ea typeface="Arial"/>
                <a:cs typeface="Arial"/>
              </a:rPr>
              <a:t>idempotencyService.begin(...)</a:t>
            </a:r>
          </a:p>
          <a:p>
            <a:pPr algn="ctr">
              <a:lnSpc>
                <a:spcPct val="112000"/>
              </a:lnSpc>
              <a:buNone/>
              <a:defRPr sz="1200" b="1">
                <a:solidFill>
                  <a:srgbClr val="1D514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D5146"/>
                </a:solidFill>
                <a:latin typeface="Arial"/>
                <a:ea typeface="Arial"/>
                <a:cs typeface="Arial"/>
              </a:rPr>
              <a:t>… validate Agent output …</a:t>
            </a:r>
          </a:p>
          <a:p>
            <a:pPr algn="ctr">
              <a:lnSpc>
                <a:spcPct val="112000"/>
              </a:lnSpc>
              <a:buNone/>
              <a:defRPr sz="1200" b="1">
                <a:solidFill>
                  <a:srgbClr val="1D514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D5146"/>
                </a:solidFill>
                <a:latin typeface="Arial"/>
                <a:ea typeface="Arial"/>
                <a:cs typeface="Arial"/>
              </a:rPr>
              <a:t>completeWithFallback(...)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03D1E896-E34C-4A86-95F2-072A8F6B8C1D}"/>
              </a:ext>
            </a:extLst>
          </p:cNvPr>
          <p:cNvSpPr>
            <a:spLocks noGrp="1"/>
          </p:cNvSpPr>
          <p:nvPr/>
        </p:nvSpPr>
        <p:spPr>
          <a:xfrm>
            <a:off x="7810500" y="1600200"/>
            <a:ext cx="3295650" cy="1009650"/>
          </a:xfrm>
          <a:prstGeom prst="roundRect">
            <a:avLst>
              <a:gd name="adj" fmla="val 13208"/>
            </a:avLst>
          </a:prstGeom>
          <a:solidFill>
            <a:srgbClr val="F1F6F3"/>
          </a:solidFill>
          <a:ln w="12383">
            <a:solidFill>
              <a:srgbClr val="4F806B"/>
            </a:solidFill>
            <a:prstDash val="solid"/>
          </a:ln>
        </p:spPr>
        <p:txBody>
          <a:bodyPr wrap="square" lIns="114300" tIns="95250" rIns="114300" bIns="95250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725" b="1">
                <a:solidFill>
                  <a:srgbClr val="356B5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56B56"/>
                </a:solidFill>
                <a:latin typeface="Arial"/>
                <a:ea typeface="Arial"/>
                <a:cs typeface="Arial"/>
              </a:rPr>
              <a:t>Private FastAPI</a:t>
            </a:r>
          </a:p>
          <a:p>
            <a:pPr algn="ctr">
              <a:lnSpc>
                <a:spcPct val="100000"/>
              </a:lnSpc>
              <a:buNone/>
              <a:defRPr sz="1725" b="1">
                <a:solidFill>
                  <a:srgbClr val="356B5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56B56"/>
                </a:solidFill>
                <a:latin typeface="Arial"/>
                <a:ea typeface="Arial"/>
                <a:cs typeface="Arial"/>
              </a:rPr>
              <a:t>Recommendation Agent + inference runtime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1A330449-D606-4817-89A4-893D94185C6C}"/>
              </a:ext>
            </a:extLst>
          </p:cNvPr>
          <p:cNvSpPr>
            <a:spLocks noGrp="1"/>
          </p:cNvSpPr>
          <p:nvPr/>
        </p:nvSpPr>
        <p:spPr>
          <a:xfrm>
            <a:off x="7810500" y="3162300"/>
            <a:ext cx="3295650" cy="1009650"/>
          </a:xfrm>
          <a:prstGeom prst="roundRect">
            <a:avLst>
              <a:gd name="adj" fmla="val 13208"/>
            </a:avLst>
          </a:prstGeom>
          <a:solidFill>
            <a:srgbClr val="F4E8E1"/>
          </a:solidFill>
          <a:ln w="12383">
            <a:solidFill>
              <a:srgbClr val="B86143"/>
            </a:solidFill>
            <a:prstDash val="solid"/>
          </a:ln>
        </p:spPr>
        <p:txBody>
          <a:bodyPr wrap="square" lIns="114300" tIns="95250" rIns="114300" bIns="95250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650" b="1">
                <a:solidFill>
                  <a:srgbClr val="B8614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86143"/>
                </a:solidFill>
                <a:latin typeface="Arial"/>
                <a:ea typeface="Arial"/>
                <a:cs typeface="Arial"/>
              </a:rPr>
              <a:t>PostgreSQL</a:t>
            </a:r>
          </a:p>
          <a:p>
            <a:pPr algn="ctr">
              <a:lnSpc>
                <a:spcPct val="100000"/>
              </a:lnSpc>
              <a:buNone/>
              <a:defRPr sz="1650" b="1">
                <a:solidFill>
                  <a:srgbClr val="B8614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86143"/>
                </a:solidFill>
                <a:latin typeface="Arial"/>
                <a:ea typeface="Arial"/>
                <a:cs typeface="Arial"/>
              </a:rPr>
              <a:t>records · groups · sessions · feedback</a:t>
            </a:r>
          </a:p>
        </p:txBody>
      </p:sp>
      <p:cxnSp>
        <p:nvCxnSpPr>
          <p:cNvPr id="86" name="连接符: 肘形 29"/>
          <p:cNvCxnSpPr>
            <a:stCxn id="6" idx="3"/>
            <a:endCxn id="8" idx="1"/>
          </p:cNvCxnSpPr>
          <p:nvPr/>
        </p:nvCxnSpPr>
        <p:spPr>
          <a:xfrm>
            <a:off x="2724150" y="2209800"/>
            <a:ext cx="914400" cy="695325"/>
          </a:xfrm>
          <a:prstGeom prst="bentConnector3">
            <a:avLst>
              <a:gd name="adj1" fmla="val 50000"/>
            </a:avLst>
          </a:prstGeom>
          <a:ln w="19050">
            <a:solidFill>
              <a:srgbClr val="4F806B"/>
            </a:solidFill>
            <a:prstDash val="solid"/>
            <a:tailEnd type="arrow" w="sm" len="sm"/>
          </a:ln>
        </p:spPr>
      </p:cxnSp>
      <p:cxnSp>
        <p:nvCxnSpPr>
          <p:cNvPr id="87" name="连接符: 肘形 30"/>
          <p:cNvCxnSpPr>
            <a:stCxn id="7" idx="3"/>
            <a:endCxn id="8" idx="1"/>
          </p:cNvCxnSpPr>
          <p:nvPr/>
        </p:nvCxnSpPr>
        <p:spPr>
          <a:xfrm flipV="1">
            <a:off x="2724150" y="2905125"/>
            <a:ext cx="914400" cy="619125"/>
          </a:xfrm>
          <a:prstGeom prst="bentConnector3">
            <a:avLst>
              <a:gd name="adj1" fmla="val 50000"/>
            </a:avLst>
          </a:prstGeom>
          <a:ln w="19050">
            <a:solidFill>
              <a:srgbClr val="4F806B"/>
            </a:solidFill>
            <a:prstDash val="solid"/>
            <a:tailEnd type="arrow" w="sm" len="sm"/>
          </a:ln>
        </p:spPr>
      </p:cxnSp>
      <p:cxnSp>
        <p:nvCxnSpPr>
          <p:cNvPr id="88" name="连接符: 肘形 31"/>
          <p:cNvCxnSpPr>
            <a:stCxn id="8" idx="3"/>
            <a:endCxn id="9" idx="1"/>
          </p:cNvCxnSpPr>
          <p:nvPr/>
        </p:nvCxnSpPr>
        <p:spPr>
          <a:xfrm flipV="1">
            <a:off x="6877050" y="2105025"/>
            <a:ext cx="933450" cy="800100"/>
          </a:xfrm>
          <a:prstGeom prst="bentConnector3">
            <a:avLst>
              <a:gd name="adj1" fmla="val 50000"/>
            </a:avLst>
          </a:prstGeom>
          <a:ln w="19050">
            <a:solidFill>
              <a:srgbClr val="4F806B"/>
            </a:solidFill>
            <a:prstDash val="solid"/>
            <a:tailEnd type="arrow" w="sm" len="sm"/>
          </a:ln>
        </p:spPr>
      </p:cxnSp>
      <p:cxnSp>
        <p:nvCxnSpPr>
          <p:cNvPr id="89" name="连接符: 肘形 32"/>
          <p:cNvCxnSpPr>
            <a:stCxn id="8" idx="3"/>
            <a:endCxn id="10" idx="1"/>
          </p:cNvCxnSpPr>
          <p:nvPr/>
        </p:nvCxnSpPr>
        <p:spPr>
          <a:xfrm>
            <a:off x="6877050" y="2905125"/>
            <a:ext cx="933450" cy="762000"/>
          </a:xfrm>
          <a:prstGeom prst="bentConnector3">
            <a:avLst>
              <a:gd name="adj1" fmla="val 50000"/>
            </a:avLst>
          </a:prstGeom>
          <a:ln w="19050">
            <a:solidFill>
              <a:srgbClr val="B86143"/>
            </a:solidFill>
            <a:prstDash val="solid"/>
            <a:tailEnd type="arrow" w="sm" len="sm"/>
          </a:ln>
        </p:spPr>
      </p:cxnSp>
      <p:sp>
        <p:nvSpPr>
          <p:cNvPr id="15" name="矩形 14">
            <a:extLst>
              <a:ext uri="{FF2B5EF4-FFF2-40B4-BE49-F238E27FC236}">
                <a16:creationId xmlns:a16="http://schemas.microsoft.com/office/drawing/2014/main" id="{6397FA86-440F-45F2-8D03-B3B7C0813528}"/>
              </a:ext>
            </a:extLst>
          </p:cNvPr>
          <p:cNvSpPr>
            <a:spLocks noGrp="1"/>
          </p:cNvSpPr>
          <p:nvPr/>
        </p:nvSpPr>
        <p:spPr>
          <a:xfrm>
            <a:off x="666750" y="4762500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1650" b="1" i="0">
                <a:solidFill>
                  <a:srgbClr val="192526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92526"/>
                </a:solidFill>
                <a:latin typeface="Arial"/>
                <a:ea typeface="Arial"/>
                <a:cs typeface="Arial"/>
              </a:rPr>
              <a:t>Why the boundary matters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9D5D3AB-411B-4786-A847-A6AA5F538962}"/>
              </a:ext>
            </a:extLst>
          </p:cNvPr>
          <p:cNvSpPr>
            <a:spLocks noGrp="1"/>
          </p:cNvSpPr>
          <p:nvPr/>
        </p:nvSpPr>
        <p:spPr>
          <a:xfrm>
            <a:off x="666750" y="5143500"/>
            <a:ext cx="5334000" cy="933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1500" b="0" i="0">
                <a:solidFill>
                  <a:srgbClr val="667174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67174"/>
                </a:solidFill>
                <a:latin typeface="Arial"/>
                <a:ea typeface="Arial"/>
                <a:cs typeface="Arial"/>
              </a:rPr>
              <a:t>Only Spring Boot authenticates users, selects authorised context, validates private-service output and persists the safe result.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30A1EE4-2CA3-47D6-883C-A8D401AAC1EC}"/>
              </a:ext>
            </a:extLst>
          </p:cNvPr>
          <p:cNvSpPr>
            <a:spLocks noGrp="1"/>
          </p:cNvSpPr>
          <p:nvPr/>
        </p:nvSpPr>
        <p:spPr>
          <a:xfrm>
            <a:off x="6838950" y="4762500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1650" b="1" i="0">
                <a:solidFill>
                  <a:srgbClr val="192526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92526"/>
                </a:solidFill>
                <a:latin typeface="Arial"/>
                <a:ea typeface="Arial"/>
                <a:cs typeface="Arial"/>
              </a:rPr>
              <a:t>Traceable recovery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C5091CA-090F-44C8-84B4-59C645802CE4}"/>
              </a:ext>
            </a:extLst>
          </p:cNvPr>
          <p:cNvSpPr>
            <a:spLocks noGrp="1"/>
          </p:cNvSpPr>
          <p:nvPr/>
        </p:nvSpPr>
        <p:spPr>
          <a:xfrm>
            <a:off x="6838950" y="5219700"/>
            <a:ext cx="4267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1650" b="1" i="0">
                <a:solidFill>
                  <a:srgbClr val="356B56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356B56"/>
                </a:solidFill>
                <a:latin typeface="Arial"/>
                <a:ea typeface="Arial"/>
                <a:cs typeface="Arial"/>
              </a:rPr>
              <a:t>Schema rejection and agent failure resolve to a deterministic, auditable fallback.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8D86B1E-3B8B-458D-A9F9-E1D2E602078B}"/>
              </a:ext>
            </a:extLst>
          </p:cNvPr>
          <p:cNvSpPr>
            <a:spLocks noGrp="1"/>
          </p:cNvSpPr>
          <p:nvPr/>
        </p:nvSpPr>
        <p:spPr>
          <a:xfrm>
            <a:off x="6838950" y="5619750"/>
            <a:ext cx="3143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1200" b="0" i="0">
                <a:solidFill>
                  <a:srgbClr val="1D5146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1D5146"/>
                </a:solidFill>
                <a:latin typeface="Arial"/>
                <a:ea typeface="Arial"/>
                <a:cs typeface="Arial"/>
              </a:rPr>
              <a:t>GenerateRecommendation.java · lines 58–116</a:t>
            </a:r>
          </a:p>
        </p:txBody>
      </p:sp>
    </p:spTree>
    <p:extLst>
      <p:ext uri="{BB962C8B-B14F-4D97-AF65-F5344CB8AC3E}">
        <p14:creationId xmlns:p14="http://schemas.microsoft.com/office/powerpoint/2010/main" val="3740379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80BFF92-B03F-4006-857A-37F1CAA252D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60F29D7-5307-4976-BCF1-F11EC11398F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5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4F5221-FB84-4F9C-BF9F-3B68AFA7B6FF}"/>
              </a:ext>
            </a:extLst>
          </p:cNvPr>
          <p:cNvSpPr>
            <a:spLocks noGrp="1"/>
          </p:cNvSpPr>
          <p:nvPr/>
        </p:nvSpPr>
        <p:spPr>
          <a:xfrm>
            <a:off x="502920" y="347472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7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Parity is enforced, not assumed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3F3527-D662-45B4-A204-6FBFD2C93402}"/>
              </a:ext>
            </a:extLst>
          </p:cNvPr>
          <p:cNvSpPr>
            <a:spLocks noGrp="1"/>
          </p:cNvSpPr>
          <p:nvPr/>
        </p:nvSpPr>
        <p:spPr>
          <a:xfrm>
            <a:off x="530352" y="1024128"/>
            <a:ext cx="1280160" cy="45720"/>
          </a:xfrm>
          <a:prstGeom prst="rect">
            <a:avLst/>
          </a:prstGeom>
          <a:solidFill>
            <a:srgbClr val="E85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85C304-1F9D-4FE4-B52D-4374F19CC1B6}"/>
              </a:ext>
            </a:extLst>
          </p:cNvPr>
          <p:cNvSpPr>
            <a:spLocks noGrp="1"/>
          </p:cNvSpPr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FoodMind · Team 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F17EAA-4A24-40B4-9F9F-C5401641337D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44672D-57E9-470D-882E-431BE8791E12}"/>
              </a:ext>
            </a:extLst>
          </p:cNvPr>
          <p:cNvSpPr>
            <a:spLocks noGrp="1"/>
          </p:cNvSpPr>
          <p:nvPr/>
        </p:nvSpPr>
        <p:spPr>
          <a:xfrm>
            <a:off x="914400" y="1463040"/>
            <a:ext cx="10332720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defRPr sz="1200">
                <a:solidFill>
                  <a:srgbClr val="24313A"/>
                </a:solidFill>
              </a:defRPr>
            </a:pPr>
            <a:r>
              <a:rPr sz="1200" b="1" i="0">
                <a:solidFill>
                  <a:srgbClr val="24313A"/>
                </a:solidFill>
                <a:latin typeface="Calibri"/>
                <a:ea typeface="Calibri"/>
                <a:cs typeface="Calibri"/>
              </a:rPr>
              <a:t>val expected = operations(contractSnapshot)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defRPr sz="1200">
                <a:solidFill>
                  <a:srgbClr val="24313A"/>
                </a:solidFill>
              </a:defRPr>
            </a:pPr>
            <a:r>
              <a:rPr sz="1200" b="1" i="0">
                <a:solidFill>
                  <a:srgbClr val="24313A"/>
                </a:solidFill>
                <a:latin typeface="Calibri"/>
                <a:ea typeface="Calibri"/>
                <a:cs typeface="Calibri"/>
              </a:rPr>
              <a:t>val missing = expected - actual.toSet()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defRPr sz="1200">
                <a:solidFill>
                  <a:srgbClr val="24313A"/>
                </a:solidFill>
              </a:defRPr>
            </a:pPr>
            <a:r>
              <a:rPr sz="1200" b="1" i="0">
                <a:solidFill>
                  <a:srgbClr val="24313A"/>
                </a:solidFill>
                <a:latin typeface="Calibri"/>
                <a:ea typeface="Calibri"/>
                <a:cs typeface="Calibri"/>
              </a:rPr>
              <a:t>check(missing.isEmpty() &amp;&amp; extra.isEmpty())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defRPr sz="1200">
                <a:solidFill>
                  <a:srgbClr val="24313A"/>
                </a:solidFill>
              </a:defRPr>
            </a:pPr>
            <a:r>
              <a:rPr sz="1200" b="1" i="0">
                <a:solidFill>
                  <a:srgbClr val="24313A"/>
                </a:solidFill>
                <a:latin typeface="Calibri"/>
                <a:ea typeface="Calibri"/>
                <a:cs typeface="Calibri"/>
              </a:rPr>
              <a:t>check(expected.size == 84)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endParaRPr sz="1200" b="1" i="0">
              <a:solidFill>
                <a:srgbClr val="24313A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defRPr sz="1200">
                <a:solidFill>
                  <a:srgbClr val="24313A"/>
                </a:solidFill>
              </a:defRPr>
            </a:pPr>
            <a:r>
              <a:rPr sz="1200" b="1" i="0">
                <a:solidFill>
                  <a:srgbClr val="24313A"/>
                </a:solidFill>
                <a:latin typeface="Calibri"/>
                <a:ea typeface="Calibri"/>
                <a:cs typeface="Calibri"/>
              </a:rPr>
              <a:t>The Android build gate verifies every public backend operation is declared exactly once; Web verifies its generated OpenAPI snapshot and usage coverage.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62BC66-4B68-4CEC-A01E-D1F3E7C990C4}"/>
              </a:ext>
            </a:extLst>
          </p:cNvPr>
          <p:cNvSpPr>
            <a:spLocks noGrp="1"/>
          </p:cNvSpPr>
          <p:nvPr/>
        </p:nvSpPr>
        <p:spPr>
          <a:xfrm>
            <a:off x="914400" y="5486400"/>
            <a:ext cx="103327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300" b="0" i="1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Both clients share permission outcomes and backend-owned metric definitions—not duplicated business logic.</a:t>
            </a:r>
          </a:p>
        </p:txBody>
      </p:sp>
    </p:spTree>
    <p:extLst>
      <p:ext uri="{BB962C8B-B14F-4D97-AF65-F5344CB8AC3E}">
        <p14:creationId xmlns:p14="http://schemas.microsoft.com/office/powerpoint/2010/main" val="942182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CFA489E-9DAC-4248-8FEB-826A6CB4CEB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39CC439-4455-4E44-A77B-2C08FAEB573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5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43A7C4-9603-41A2-8C6E-B2208482500D}"/>
              </a:ext>
            </a:extLst>
          </p:cNvPr>
          <p:cNvSpPr>
            <a:spLocks noGrp="1"/>
          </p:cNvSpPr>
          <p:nvPr/>
        </p:nvSpPr>
        <p:spPr>
          <a:xfrm>
            <a:off x="502920" y="347472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7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A decision creates evidence for the next one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76E7FCD-75AF-4DB7-951F-B87AABD19D53}"/>
              </a:ext>
            </a:extLst>
          </p:cNvPr>
          <p:cNvSpPr>
            <a:spLocks noGrp="1"/>
          </p:cNvSpPr>
          <p:nvPr/>
        </p:nvSpPr>
        <p:spPr>
          <a:xfrm>
            <a:off x="530352" y="1024128"/>
            <a:ext cx="1280160" cy="45720"/>
          </a:xfrm>
          <a:prstGeom prst="rect">
            <a:avLst/>
          </a:prstGeom>
          <a:solidFill>
            <a:srgbClr val="E85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D5458C-1F63-4E88-B7C2-BA2D6D9933CE}"/>
              </a:ext>
            </a:extLst>
          </p:cNvPr>
          <p:cNvSpPr>
            <a:spLocks noGrp="1"/>
          </p:cNvSpPr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FoodMind · Team 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167063-F1DA-4610-8C2D-5423BD930AFE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29221B-92B5-44DB-A9DF-7D4467C51BDA}"/>
              </a:ext>
            </a:extLst>
          </p:cNvPr>
          <p:cNvSpPr>
            <a:spLocks noGrp="1"/>
          </p:cNvSpPr>
          <p:nvPr/>
        </p:nvSpPr>
        <p:spPr>
          <a:xfrm>
            <a:off x="502920" y="1371600"/>
            <a:ext cx="5486400" cy="4206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28ED023-5264-4B5A-842D-0BEEDDEBC35B}"/>
              </a:ext>
            </a:extLst>
          </p:cNvPr>
          <p:cNvSpPr>
            <a:spLocks noGrp="1"/>
          </p:cNvSpPr>
          <p:nvPr/>
        </p:nvSpPr>
        <p:spPr>
          <a:xfrm>
            <a:off x="502920" y="1371600"/>
            <a:ext cx="5486400" cy="82296"/>
          </a:xfrm>
          <a:prstGeom prst="rect">
            <a:avLst/>
          </a:prstGeom>
          <a:solidFill>
            <a:srgbClr val="E85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13A54D5-D7CB-40EA-9D3D-D880CF29AFD1}"/>
              </a:ext>
            </a:extLst>
          </p:cNvPr>
          <p:cNvSpPr>
            <a:spLocks noGrp="1"/>
          </p:cNvSpPr>
          <p:nvPr/>
        </p:nvSpPr>
        <p:spPr>
          <a:xfrm>
            <a:off x="777240" y="1600200"/>
            <a:ext cx="49377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9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Dashboard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4E66D5-6437-4A82-9D7A-C55946DFC3C7}"/>
              </a:ext>
            </a:extLst>
          </p:cNvPr>
          <p:cNvSpPr>
            <a:spLocks noGrp="1"/>
          </p:cNvSpPr>
          <p:nvPr/>
        </p:nvSpPr>
        <p:spPr>
          <a:xfrm>
            <a:off x="777240" y="2240280"/>
            <a:ext cx="4937760" cy="3108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Backend-owned metrics make spending, cuisine mix, recommendation outcomes and history consistent on Web and Android.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6F3E8CF-9E03-4A60-9C14-8D1F52697815}"/>
              </a:ext>
            </a:extLst>
          </p:cNvPr>
          <p:cNvSpPr>
            <a:spLocks noGrp="1"/>
          </p:cNvSpPr>
          <p:nvPr/>
        </p:nvSpPr>
        <p:spPr>
          <a:xfrm>
            <a:off x="6263640" y="1371600"/>
            <a:ext cx="5486400" cy="4206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8EA7FF2-4AF9-4148-9609-D06842362110}"/>
              </a:ext>
            </a:extLst>
          </p:cNvPr>
          <p:cNvSpPr>
            <a:spLocks noGrp="1"/>
          </p:cNvSpPr>
          <p:nvPr/>
        </p:nvSpPr>
        <p:spPr>
          <a:xfrm>
            <a:off x="6263640" y="1371600"/>
            <a:ext cx="5486400" cy="8229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FF281B4-8FA7-4167-BB8D-37A2FCD6C50C}"/>
              </a:ext>
            </a:extLst>
          </p:cNvPr>
          <p:cNvSpPr>
            <a:spLocks noGrp="1"/>
          </p:cNvSpPr>
          <p:nvPr/>
        </p:nvSpPr>
        <p:spPr>
          <a:xfrm>
            <a:off x="6537960" y="1600200"/>
            <a:ext cx="49377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9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Weekly recap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7695925-5645-4E7C-A14B-8B8587991D93}"/>
              </a:ext>
            </a:extLst>
          </p:cNvPr>
          <p:cNvSpPr>
            <a:spLocks noGrp="1"/>
          </p:cNvSpPr>
          <p:nvPr/>
        </p:nvSpPr>
        <p:spPr>
          <a:xfrm>
            <a:off x="6537960" y="2240280"/>
            <a:ext cx="4937760" cy="3108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A concise time-bounded reflection turns recent choices into a usable conversation—not another dense dashboard.</a:t>
            </a:r>
          </a:p>
        </p:txBody>
      </p:sp>
    </p:spTree>
    <p:extLst>
      <p:ext uri="{BB962C8B-B14F-4D97-AF65-F5344CB8AC3E}">
        <p14:creationId xmlns:p14="http://schemas.microsoft.com/office/powerpoint/2010/main" val="15196621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D1DF8B92-790F-965A-E032-33EA105612A9}"/>
              </a:ext>
            </a:extLst>
          </p:cNvPr>
          <p:cNvSpPr>
            <a:spLocks noGrp="1"/>
          </p:cNvSpPr>
          <p:nvPr/>
        </p:nvSpPr>
        <p:spPr>
          <a:xfrm>
            <a:off x="4266589" y="2921168"/>
            <a:ext cx="3658822" cy="10156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0"/>
              <a:t>Delivery &amp; trust</a:t>
            </a:r>
          </a:p>
        </p:txBody>
      </p:sp>
    </p:spTree>
    <p:extLst>
      <p:ext uri="{BB962C8B-B14F-4D97-AF65-F5344CB8AC3E}">
        <p14:creationId xmlns:p14="http://schemas.microsoft.com/office/powerpoint/2010/main" val="33203520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4A7325A-EF64-4963-9DD1-DA542B7F794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20876EF-2E33-458C-956B-61C32210D14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5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15EE6F-9684-43B0-B146-6D1C57A5D57E}"/>
              </a:ext>
            </a:extLst>
          </p:cNvPr>
          <p:cNvSpPr>
            <a:spLocks noGrp="1"/>
          </p:cNvSpPr>
          <p:nvPr/>
        </p:nvSpPr>
        <p:spPr>
          <a:xfrm>
            <a:off x="502920" y="347472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7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Quality gates travel with the contract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B25644-9E01-4F45-BF25-795C6B617BD5}"/>
              </a:ext>
            </a:extLst>
          </p:cNvPr>
          <p:cNvSpPr>
            <a:spLocks noGrp="1"/>
          </p:cNvSpPr>
          <p:nvPr/>
        </p:nvSpPr>
        <p:spPr>
          <a:xfrm>
            <a:off x="530352" y="1024128"/>
            <a:ext cx="1280160" cy="45720"/>
          </a:xfrm>
          <a:prstGeom prst="rect">
            <a:avLst/>
          </a:prstGeom>
          <a:solidFill>
            <a:srgbClr val="E85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4C4E5E-99A2-4EC9-92F2-E08BCEE2723E}"/>
              </a:ext>
            </a:extLst>
          </p:cNvPr>
          <p:cNvSpPr>
            <a:spLocks noGrp="1"/>
          </p:cNvSpPr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FoodMind · Team 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5DFE28-CC4F-4664-A4DB-B21C45280748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>
        <p:nvPicPr>
          <p:cNvPr id="1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3221" y="1234440"/>
            <a:ext cx="3875078" cy="310896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1C4B285-140A-4F34-A4C5-05951750D505}"/>
              </a:ext>
            </a:extLst>
          </p:cNvPr>
          <p:cNvSpPr>
            <a:spLocks noGrp="1"/>
          </p:cNvSpPr>
          <p:nvPr/>
        </p:nvSpPr>
        <p:spPr>
          <a:xfrm>
            <a:off x="822960" y="4526280"/>
            <a:ext cx="105156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3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Backend validates OpenAPI and tests the Spring Boot boundary. Web verifies API coverage, lint, types, tests and production build. Intelligence validates contracts, security tests, dependency/secret/image scans and SBOM evidence.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sz="1300" b="1" i="0">
              <a:solidFill>
                <a:srgbClr val="1F2937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3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The point is not a pipeline diagram—it is preventing cross-repository drift before it reaches a user.</a:t>
            </a:r>
          </a:p>
        </p:txBody>
      </p:sp>
    </p:spTree>
    <p:extLst>
      <p:ext uri="{BB962C8B-B14F-4D97-AF65-F5344CB8AC3E}">
        <p14:creationId xmlns:p14="http://schemas.microsoft.com/office/powerpoint/2010/main" val="12396590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3CC8141-B789-4E51-B191-19925C597BA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4302A7D-0872-4FBE-B793-B33CF5F8D87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5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D9E16D-C31C-4603-980E-30793817594F}"/>
              </a:ext>
            </a:extLst>
          </p:cNvPr>
          <p:cNvSpPr>
            <a:spLocks noGrp="1"/>
          </p:cNvSpPr>
          <p:nvPr/>
        </p:nvSpPr>
        <p:spPr>
          <a:xfrm>
            <a:off x="502920" y="347472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7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Private models must be verifiable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3E4ED19-FAE5-43F6-AB28-D2A3D7E5AD6E}"/>
              </a:ext>
            </a:extLst>
          </p:cNvPr>
          <p:cNvSpPr>
            <a:spLocks noGrp="1"/>
          </p:cNvSpPr>
          <p:nvPr/>
        </p:nvSpPr>
        <p:spPr>
          <a:xfrm>
            <a:off x="530352" y="1024128"/>
            <a:ext cx="1280160" cy="45720"/>
          </a:xfrm>
          <a:prstGeom prst="rect">
            <a:avLst/>
          </a:prstGeom>
          <a:solidFill>
            <a:srgbClr val="E85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C7CA4D-DE76-41E0-A7CF-1DE7BE64E260}"/>
              </a:ext>
            </a:extLst>
          </p:cNvPr>
          <p:cNvSpPr>
            <a:spLocks noGrp="1"/>
          </p:cNvSpPr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FoodMind · Team 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C0BBB0-6DB6-4B19-918B-C0BAFCDFD17D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4C2C33-3593-49C5-9205-F18249EAF522}"/>
              </a:ext>
            </a:extLst>
          </p:cNvPr>
          <p:cNvSpPr>
            <a:spLocks noGrp="1"/>
          </p:cNvSpPr>
          <p:nvPr/>
        </p:nvSpPr>
        <p:spPr>
          <a:xfrm>
            <a:off x="822960" y="1371600"/>
            <a:ext cx="1051560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200">
                <a:solidFill>
                  <a:srgbClr val="24313A"/>
                </a:solidFill>
              </a:defRPr>
            </a:pPr>
            <a:r>
              <a:rPr sz="1200" b="1" i="0">
                <a:solidFill>
                  <a:srgbClr val="24313A"/>
                </a:solidFill>
                <a:latin typeface="Calibri"/>
                <a:ea typeface="Calibri"/>
                <a:cs typeface="Calibri"/>
              </a:rPr>
              <a:t>Model package guard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sz="1200" b="1" i="0">
              <a:solidFill>
                <a:srgbClr val="24313A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200">
                <a:solidFill>
                  <a:srgbClr val="24313A"/>
                </a:solidFill>
              </a:defRPr>
            </a:pPr>
            <a:r>
              <a:rPr sz="1200" b="1" i="0">
                <a:solidFill>
                  <a:srgbClr val="24313A"/>
                </a:solidFill>
                <a:latin typeface="Calibri"/>
                <a:ea typeface="Calibri"/>
                <a:cs typeface="Calibri"/>
              </a:rPr>
              <a:t>digest = hashlib.sha256(artifact.read_bytes()).hexdigest()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200">
                <a:solidFill>
                  <a:srgbClr val="24313A"/>
                </a:solidFill>
              </a:defRPr>
            </a:pPr>
            <a:r>
              <a:rPr sz="1200" b="1" i="0">
                <a:solidFill>
                  <a:srgbClr val="24313A"/>
                </a:solidFill>
                <a:latin typeface="Calibri"/>
                <a:ea typeface="Calibri"/>
                <a:cs typeface="Calibri"/>
              </a:rPr>
              <a:t>if digest != manifest["artifactSha256"]: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200">
                <a:solidFill>
                  <a:srgbClr val="24313A"/>
                </a:solidFill>
              </a:defRPr>
            </a:pPr>
            <a:r>
              <a:rPr sz="1200" b="1" i="0">
                <a:solidFill>
                  <a:srgbClr val="24313A"/>
                </a:solidFill>
                <a:latin typeface="Calibri"/>
                <a:ea typeface="Calibri"/>
                <a:cs typeface="Calibri"/>
              </a:rPr>
              <a:t>    raise ModelPackageError("model artifact checksum mismatch")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sz="1200" b="1" i="0">
              <a:solidFill>
                <a:srgbClr val="24313A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200">
                <a:solidFill>
                  <a:srgbClr val="24313A"/>
                </a:solidFill>
              </a:defRPr>
            </a:pPr>
            <a:r>
              <a:rPr sz="1200" b="1" i="0">
                <a:solidFill>
                  <a:srgbClr val="24313A"/>
                </a:solidFill>
                <a:latin typeface="Calibri"/>
                <a:ea typeface="Calibri"/>
                <a:cs typeface="Calibri"/>
              </a:rPr>
              <a:t>The runtime also rejects incompatible schemas, invalid tensor shapes and non-local packages. User authorisation remains in Spring Boot; private services receive only service-scoped requests.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BE4125-E241-4654-9DF8-699288A07189}"/>
              </a:ext>
            </a:extLst>
          </p:cNvPr>
          <p:cNvSpPr>
            <a:spLocks noGrp="1"/>
          </p:cNvSpPr>
          <p:nvPr/>
        </p:nvSpPr>
        <p:spPr>
          <a:xfrm>
            <a:off x="822960" y="54864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>
                <a:solidFill>
                  <a:srgbClr val="C44607"/>
                </a:solidFill>
                <a:latin typeface="Calibri"/>
                <a:ea typeface="Calibri"/>
                <a:cs typeface="Calibri"/>
              </a:rPr>
              <a:t>Security evidence is presented as implemented controls and repository tests—not a claim of completed production certification.</a:t>
            </a:r>
          </a:p>
        </p:txBody>
      </p:sp>
    </p:spTree>
    <p:extLst>
      <p:ext uri="{BB962C8B-B14F-4D97-AF65-F5344CB8AC3E}">
        <p14:creationId xmlns:p14="http://schemas.microsoft.com/office/powerpoint/2010/main" val="3799802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BF4A6AE-6FBA-4F39-988E-F0690E777BF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7FE1CC0-D053-4BB4-8C66-B2C8550320F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5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1CDD781-6776-46C7-84DC-524C3397E3C2}"/>
              </a:ext>
            </a:extLst>
          </p:cNvPr>
          <p:cNvSpPr>
            <a:spLocks noGrp="1"/>
          </p:cNvSpPr>
          <p:nvPr/>
        </p:nvSpPr>
        <p:spPr>
          <a:xfrm>
            <a:off x="502920" y="347472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7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Six code paths. One accountable product.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00A93D2-0534-4BF3-865D-5AF90A3E0ABD}"/>
              </a:ext>
            </a:extLst>
          </p:cNvPr>
          <p:cNvSpPr>
            <a:spLocks noGrp="1"/>
          </p:cNvSpPr>
          <p:nvPr/>
        </p:nvSpPr>
        <p:spPr>
          <a:xfrm>
            <a:off x="530352" y="1024128"/>
            <a:ext cx="1280160" cy="45720"/>
          </a:xfrm>
          <a:prstGeom prst="rect">
            <a:avLst/>
          </a:prstGeom>
          <a:solidFill>
            <a:srgbClr val="E85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ACFAEA-6336-416E-B876-B1E4199CD4E4}"/>
              </a:ext>
            </a:extLst>
          </p:cNvPr>
          <p:cNvSpPr>
            <a:spLocks noGrp="1"/>
          </p:cNvSpPr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FoodMind · Team 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379870-D335-48A8-AF09-C07BBF51DE97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BB681D-9CC6-4BFF-B09B-1234C2D94FFE}"/>
              </a:ext>
            </a:extLst>
          </p:cNvPr>
          <p:cNvSpPr>
            <a:spLocks noGrp="1"/>
          </p:cNvSpPr>
          <p:nvPr/>
        </p:nvSpPr>
        <p:spPr>
          <a:xfrm>
            <a:off x="822960" y="137160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600" b="1" i="0">
                <a:solidFill>
                  <a:srgbClr val="E8590C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B86783-D6C8-4729-BE5D-E83DFD11E2B8}"/>
              </a:ext>
            </a:extLst>
          </p:cNvPr>
          <p:cNvSpPr>
            <a:spLocks noGrp="1"/>
          </p:cNvSpPr>
          <p:nvPr/>
        </p:nvSpPr>
        <p:spPr>
          <a:xfrm>
            <a:off x="1600200" y="1371600"/>
            <a:ext cx="9784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8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1  Safe candidates first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81761A-7E65-4399-A41B-FC7298007FCE}"/>
              </a:ext>
            </a:extLst>
          </p:cNvPr>
          <p:cNvSpPr>
            <a:spLocks noGrp="1"/>
          </p:cNvSpPr>
          <p:nvPr/>
        </p:nvSpPr>
        <p:spPr>
          <a:xfrm>
            <a:off x="1600200" y="1874520"/>
            <a:ext cx="97840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HardFilterPipeline evaluates each candidate against allergen, dietary, budget, spice, repeat, distance, time and cleanliness policy before ranking.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883C9F-7D0C-4BDA-80F3-569A98B9074C}"/>
              </a:ext>
            </a:extLst>
          </p:cNvPr>
          <p:cNvSpPr>
            <a:spLocks noGrp="1"/>
          </p:cNvSpPr>
          <p:nvPr/>
        </p:nvSpPr>
        <p:spPr>
          <a:xfrm>
            <a:off x="822960" y="306324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600" b="1" i="0">
                <a:solidFill>
                  <a:srgbClr val="E8590C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EE6B28-C1C7-4464-84AD-8569443768C8}"/>
              </a:ext>
            </a:extLst>
          </p:cNvPr>
          <p:cNvSpPr>
            <a:spLocks noGrp="1"/>
          </p:cNvSpPr>
          <p:nvPr/>
        </p:nvSpPr>
        <p:spPr>
          <a:xfrm>
            <a:off x="1600200" y="3063240"/>
            <a:ext cx="9784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8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2  Ranking with a boundary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7171D7-7207-436F-9067-6DF2D7F4401D}"/>
              </a:ext>
            </a:extLst>
          </p:cNvPr>
          <p:cNvSpPr>
            <a:spLocks noGrp="1"/>
          </p:cNvSpPr>
          <p:nvPr/>
        </p:nvSpPr>
        <p:spPr>
          <a:xfrm>
            <a:off x="1600200" y="3566160"/>
            <a:ext cx="97840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The ML pipeline fits a Logistic Regression over explicit feature availability; its current offline evidence stays labelled project-stage.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B1B318-1870-4450-8776-07AA5EFD20F9}"/>
              </a:ext>
            </a:extLst>
          </p:cNvPr>
          <p:cNvSpPr>
            <a:spLocks noGrp="1"/>
          </p:cNvSpPr>
          <p:nvPr/>
        </p:nvSpPr>
        <p:spPr>
          <a:xfrm>
            <a:off x="822960" y="475488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600" b="1" i="0">
                <a:solidFill>
                  <a:srgbClr val="E8590C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93BC7C9-0908-400C-AD70-FEF131F0C902}"/>
              </a:ext>
            </a:extLst>
          </p:cNvPr>
          <p:cNvSpPr>
            <a:spLocks noGrp="1"/>
          </p:cNvSpPr>
          <p:nvPr/>
        </p:nvSpPr>
        <p:spPr>
          <a:xfrm>
            <a:off x="1600200" y="4754880"/>
            <a:ext cx="9784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8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3  Contract parity by design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A05A2E-B004-495C-86A7-31536C46F16D}"/>
              </a:ext>
            </a:extLst>
          </p:cNvPr>
          <p:cNvSpPr>
            <a:spLocks noGrp="1"/>
          </p:cNvSpPr>
          <p:nvPr/>
        </p:nvSpPr>
        <p:spPr>
          <a:xfrm>
            <a:off x="1600200" y="5257800"/>
            <a:ext cx="97840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Android rejects any API drift from the committed 84-operation OpenAPI snapshot; Web applies its own snapshot and usage coverage checks.</a:t>
            </a:r>
          </a:p>
        </p:txBody>
      </p:sp>
    </p:spTree>
    <p:extLst>
      <p:ext uri="{BB962C8B-B14F-4D97-AF65-F5344CB8AC3E}">
        <p14:creationId xmlns:p14="http://schemas.microsoft.com/office/powerpoint/2010/main" val="14802133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7DB31C0-662B-45FF-A6BE-7F0DFA28C28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1A5FCF8-CC73-4606-8DE2-4055AA57722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5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44D86D-4CD6-4B65-8AFE-B31ADB06657C}"/>
              </a:ext>
            </a:extLst>
          </p:cNvPr>
          <p:cNvSpPr>
            <a:spLocks noGrp="1"/>
          </p:cNvSpPr>
          <p:nvPr/>
        </p:nvSpPr>
        <p:spPr>
          <a:xfrm>
            <a:off x="502920" y="347472"/>
            <a:ext cx="1051560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700" b="1" i="0">
                <a:solidFill>
                  <a:srgbClr val="1F2937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</a:rPr>
              <a:t>Six repositories. One delivery boundary.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F1FDBEC-FE83-43BC-B19C-52E327A43488}"/>
              </a:ext>
            </a:extLst>
          </p:cNvPr>
          <p:cNvSpPr>
            <a:spLocks noGrp="1"/>
          </p:cNvSpPr>
          <p:nvPr/>
        </p:nvSpPr>
        <p:spPr>
          <a:xfrm>
            <a:off x="530352" y="1024128"/>
            <a:ext cx="1280160" cy="45720"/>
          </a:xfrm>
          <a:prstGeom prst="rect">
            <a:avLst/>
          </a:prstGeom>
          <a:solidFill>
            <a:srgbClr val="E85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193E15-0C12-4EA5-ABD8-25E6FA6773EC}"/>
              </a:ext>
            </a:extLst>
          </p:cNvPr>
          <p:cNvSpPr>
            <a:spLocks noGrp="1"/>
          </p:cNvSpPr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FoodMind · Team 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547702-6764-4238-BB2B-79DFA76A45AA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104FDA8-7DA0-432A-BC20-3A421BC9B149}"/>
              </a:ext>
            </a:extLst>
          </p:cNvPr>
          <p:cNvSpPr>
            <a:spLocks noGrp="1"/>
          </p:cNvSpPr>
          <p:nvPr/>
        </p:nvSpPr>
        <p:spPr>
          <a:xfrm>
            <a:off x="822960" y="1463040"/>
            <a:ext cx="2377440" cy="9144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20251B-2A83-411C-ABDF-1DB48B341B62}"/>
              </a:ext>
            </a:extLst>
          </p:cNvPr>
          <p:cNvSpPr>
            <a:spLocks noGrp="1"/>
          </p:cNvSpPr>
          <p:nvPr/>
        </p:nvSpPr>
        <p:spPr>
          <a:xfrm>
            <a:off x="822960" y="1463040"/>
            <a:ext cx="237744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600" b="1" i="0">
                <a:solidFill>
                  <a:srgbClr val="C44607"/>
                </a:solidFill>
                <a:latin typeface="Calibri"/>
                <a:ea typeface="Calibri"/>
                <a:cs typeface="Calibri"/>
              </a:rPr>
              <a:t>Web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87D431-FAD7-4930-A757-A0FFDBC6EA13}"/>
              </a:ext>
            </a:extLst>
          </p:cNvPr>
          <p:cNvSpPr>
            <a:spLocks noGrp="1"/>
          </p:cNvSpPr>
          <p:nvPr/>
        </p:nvSpPr>
        <p:spPr>
          <a:xfrm>
            <a:off x="3429000" y="1804824"/>
            <a:ext cx="82296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0000"/>
                </a:solidFill>
                <a:latin typeface="Calibri"/>
                <a:ea typeface="Calibri"/>
                <a:cs typeface="Calibri"/>
              </a:rPr>
              <a:t>React · TypeScript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E427659-968B-48B5-B6E3-4C43C0BBE613}"/>
              </a:ext>
            </a:extLst>
          </p:cNvPr>
          <p:cNvSpPr>
            <a:spLocks noGrp="1"/>
          </p:cNvSpPr>
          <p:nvPr/>
        </p:nvSpPr>
        <p:spPr>
          <a:xfrm>
            <a:off x="822960" y="2606040"/>
            <a:ext cx="2377440" cy="9144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40832D-1557-4557-A494-9CB4C2D12DAF}"/>
              </a:ext>
            </a:extLst>
          </p:cNvPr>
          <p:cNvSpPr>
            <a:spLocks noGrp="1"/>
          </p:cNvSpPr>
          <p:nvPr/>
        </p:nvSpPr>
        <p:spPr>
          <a:xfrm>
            <a:off x="822960" y="2606040"/>
            <a:ext cx="237744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600" b="1" i="0">
                <a:solidFill>
                  <a:srgbClr val="C44607"/>
                </a:solidFill>
                <a:latin typeface="Calibri"/>
                <a:ea typeface="Calibri"/>
                <a:cs typeface="Calibri"/>
              </a:rPr>
              <a:t>Backend + private services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3ECB6D-7648-4D3A-A64A-43F719F96759}"/>
              </a:ext>
            </a:extLst>
          </p:cNvPr>
          <p:cNvSpPr>
            <a:spLocks noGrp="1"/>
          </p:cNvSpPr>
          <p:nvPr/>
        </p:nvSpPr>
        <p:spPr>
          <a:xfrm>
            <a:off x="3429000" y="2947824"/>
            <a:ext cx="82296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Spring Boot · FastAPI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41E5CE8-D1BA-4568-B447-538784D906CE}"/>
              </a:ext>
            </a:extLst>
          </p:cNvPr>
          <p:cNvSpPr>
            <a:spLocks noGrp="1"/>
          </p:cNvSpPr>
          <p:nvPr/>
        </p:nvSpPr>
        <p:spPr>
          <a:xfrm>
            <a:off x="822960" y="3749040"/>
            <a:ext cx="2377440" cy="9144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D0CF1C3-A4BD-452D-8404-F8FFE9EC32EC}"/>
              </a:ext>
            </a:extLst>
          </p:cNvPr>
          <p:cNvSpPr>
            <a:spLocks noGrp="1"/>
          </p:cNvSpPr>
          <p:nvPr/>
        </p:nvSpPr>
        <p:spPr>
          <a:xfrm>
            <a:off x="822960" y="3749040"/>
            <a:ext cx="237744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600" b="1" i="0">
                <a:solidFill>
                  <a:srgbClr val="C44607"/>
                </a:solidFill>
                <a:latin typeface="Calibri"/>
                <a:ea typeface="Calibri"/>
                <a:cs typeface="Calibri"/>
              </a:rPr>
              <a:t>Data + model package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3ACAB7C-3CF8-4C6C-AC9B-E547BA26DE7A}"/>
              </a:ext>
            </a:extLst>
          </p:cNvPr>
          <p:cNvSpPr>
            <a:spLocks noGrp="1"/>
          </p:cNvSpPr>
          <p:nvPr/>
        </p:nvSpPr>
        <p:spPr>
          <a:xfrm>
            <a:off x="3429000" y="4090824"/>
            <a:ext cx="82296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PostgreSQL · ML release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2D2D45E-2982-47C4-A25E-99304482216E}"/>
              </a:ext>
            </a:extLst>
          </p:cNvPr>
          <p:cNvSpPr>
            <a:spLocks noGrp="1"/>
          </p:cNvSpPr>
          <p:nvPr/>
        </p:nvSpPr>
        <p:spPr>
          <a:xfrm>
            <a:off x="822960" y="4892040"/>
            <a:ext cx="2377440" cy="9144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6E21293-5D17-494E-A8BE-D78017D17E05}"/>
              </a:ext>
            </a:extLst>
          </p:cNvPr>
          <p:cNvSpPr>
            <a:spLocks noGrp="1"/>
          </p:cNvSpPr>
          <p:nvPr/>
        </p:nvSpPr>
        <p:spPr>
          <a:xfrm>
            <a:off x="822960" y="4892040"/>
            <a:ext cx="237744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600" b="1" i="0">
                <a:solidFill>
                  <a:srgbClr val="C44607"/>
                </a:solidFill>
                <a:latin typeface="Calibri"/>
                <a:ea typeface="Calibri"/>
                <a:cs typeface="Calibri"/>
              </a:rPr>
              <a:t>Android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3B9425B-8EE5-411E-93DD-C0CC932C2B87}"/>
              </a:ext>
            </a:extLst>
          </p:cNvPr>
          <p:cNvSpPr>
            <a:spLocks noGrp="1"/>
          </p:cNvSpPr>
          <p:nvPr/>
        </p:nvSpPr>
        <p:spPr>
          <a:xfrm>
            <a:off x="3429000" y="5233824"/>
            <a:ext cx="82296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50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Kotlin · Compose</a:t>
            </a:r>
            <a:endParaRPr sz="1500" b="0" i="0">
              <a:solidFill>
                <a:srgbClr val="1F2937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1CDCFB0-5B12-489C-B566-F6456C36D363}"/>
              </a:ext>
            </a:extLst>
          </p:cNvPr>
          <p:cNvSpPr>
            <a:spLocks noGrp="1"/>
          </p:cNvSpPr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300" b="0" i="1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The architecture separates public clients, the system-of-record backend, private agents/inference and offline model development. Deployment claims remain limited to repository-backed evidence.</a:t>
            </a:r>
          </a:p>
        </p:txBody>
      </p:sp>
    </p:spTree>
    <p:extLst>
      <p:ext uri="{BB962C8B-B14F-4D97-AF65-F5344CB8AC3E}">
        <p14:creationId xmlns:p14="http://schemas.microsoft.com/office/powerpoint/2010/main" val="181930590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81368D1-607E-4A38-9DCF-3AA3A4AE286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8E1D0CE-4BFD-459E-91FF-4C94F2AFD80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5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C1EA4B-9518-4739-A311-0200E7244D9D}"/>
              </a:ext>
            </a:extLst>
          </p:cNvPr>
          <p:cNvSpPr>
            <a:spLocks noGrp="1"/>
          </p:cNvSpPr>
          <p:nvPr/>
        </p:nvSpPr>
        <p:spPr>
          <a:xfrm>
            <a:off x="502920" y="347472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7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FoodMind makes the next meal an easier yes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D68D758-1173-4EA6-B758-E633417AAA7E}"/>
              </a:ext>
            </a:extLst>
          </p:cNvPr>
          <p:cNvSpPr>
            <a:spLocks noGrp="1"/>
          </p:cNvSpPr>
          <p:nvPr/>
        </p:nvSpPr>
        <p:spPr>
          <a:xfrm>
            <a:off x="530352" y="1024128"/>
            <a:ext cx="1280160" cy="45720"/>
          </a:xfrm>
          <a:prstGeom prst="rect">
            <a:avLst/>
          </a:prstGeom>
          <a:solidFill>
            <a:srgbClr val="E85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3AEDF5-F36E-4708-A798-377C254A0EBF}"/>
              </a:ext>
            </a:extLst>
          </p:cNvPr>
          <p:cNvSpPr>
            <a:spLocks noGrp="1"/>
          </p:cNvSpPr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FoodMind · Team 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1FD8FC-520B-4F93-B293-5D3DF7B3961C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="502920" y="1325880"/>
          <a:ext cx="11155680" cy="38404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95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Promise</a:t>
                      </a:r>
                    </a:p>
                  </a:txBody>
                  <a:tcPr marT="38100" marB="38100">
                    <a:solidFill>
                      <a:srgbClr val="E8590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How we keep it accountable</a:t>
                      </a:r>
                    </a:p>
                  </a:txBody>
                  <a:tcPr marT="38100" marB="38100">
                    <a:solidFill>
                      <a:srgbClr val="E8590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A better next meal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Personal context, trusted groups and clear choices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A safer recommendation</a:t>
                      </a:r>
                    </a:p>
                  </a:txBody>
                  <a:tcPr marT="25400" marB="254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Hard filters before hybrid ranking</a:t>
                      </a:r>
                    </a:p>
                  </a:txBody>
                  <a:tcPr marT="25400" marB="25400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An explainable answer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Verified reason codes and deterministic fallback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A consistent product</a:t>
                      </a:r>
                    </a:p>
                  </a:txBody>
                  <a:tcPr marT="25400" marB="254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One OpenAPI contract across Web and Android</a:t>
                      </a:r>
                    </a:p>
                  </a:txBody>
                  <a:tcPr marT="25400" marB="25400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A responsible AI boundary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Private services, validated packages and traceability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A repeatable delivery path</a:t>
                      </a:r>
                    </a:p>
                  </a:txBody>
                  <a:tcPr marT="25400" marB="254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Six repositories with explicit ownership and quality gates</a:t>
                      </a:r>
                    </a:p>
                  </a:txBody>
                  <a:tcPr marT="25400" marB="25400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B34303A-85FD-4243-8DD4-BBF3CC5F9BEF}"/>
              </a:ext>
            </a:extLst>
          </p:cNvPr>
          <p:cNvSpPr>
            <a:spLocks noGrp="1"/>
          </p:cNvSpPr>
          <p:nvPr/>
        </p:nvSpPr>
        <p:spPr>
          <a:xfrm>
            <a:off x="502920" y="5486400"/>
            <a:ext cx="11155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600" b="1" i="0">
                <a:solidFill>
                  <a:srgbClr val="C44607"/>
                </a:solidFill>
                <a:latin typeface="Calibri"/>
                <a:ea typeface="Calibri"/>
                <a:cs typeface="Calibri"/>
              </a:rPr>
              <a:t>A trusted decision loop—designed for people, backed by accountable technology.</a:t>
            </a:r>
          </a:p>
        </p:txBody>
      </p:sp>
    </p:spTree>
    <p:extLst>
      <p:ext uri="{BB962C8B-B14F-4D97-AF65-F5344CB8AC3E}">
        <p14:creationId xmlns:p14="http://schemas.microsoft.com/office/powerpoint/2010/main" val="7356790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2195</Words>
  <Application>Microsoft Macintosh PowerPoint</Application>
  <DocSecurity>0</DocSecurity>
  <PresentationFormat>Widescreen</PresentationFormat>
  <Paragraphs>358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Chen Terrence Yaqi</cp:lastModifiedBy>
  <cp:revision>1</cp:revision>
  <dcterms:created xsi:type="dcterms:W3CDTF">2026-08-16T06:56:53Z</dcterms:created>
  <dcterms:modified xsi:type="dcterms:W3CDTF">2026-08-16T14:02:32Z</dcterms:modified>
</cp:coreProperties>
</file>