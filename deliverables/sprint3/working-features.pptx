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4.JPG" ContentType="image/jpeg"/>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2" r:id="rId6"/>
    <p:sldId id="263" r:id="rId7"/>
    <p:sldId id="264" r:id="rId8"/>
    <p:sldId id="260" r:id="rId9"/>
    <p:sldId id="265" r:id="rId10"/>
    <p:sldId id="267" r:id="rId11"/>
    <p:sldId id="266" r:id="rId12"/>
    <p:sldId id="261"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83"/>
    <p:restoredTop sz="94610"/>
  </p:normalViewPr>
  <p:slideViewPr>
    <p:cSldViewPr snapToGrid="0" snapToObjects="1">
      <p:cViewPr varScale="1">
        <p:scale>
          <a:sx n="74" d="100"/>
          <a:sy n="74" d="100"/>
        </p:scale>
        <p:origin x="126" y="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0984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FoodMind begins with a very ordinary question: what should I eat today? The problem is not a lack of options. It is the effort of turning personal taste, the current situation, and other people's suggestions into one confident choice. FoodMind brings that journey together. It helps users decide, share with people they trust, and, when they want to cook, move from a recipe to a plan they can actually follow.
[Demo cue] Keep the live product on the Home screen while this opening is delivered.
[Sources]
- Android screenshot captured from the current local product on 2026-08-20: assets/android-home.png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valuable because the decision happens repeatedly. A useful answer today can become a record, feedback, and better context for tomorrow. For users, that means less daily friction and more relevant choices. For the product, it creates a repeat habit across two common situations: eating out and cooking at home.
[Sources]
- Current FoodMind product UI and project documentation; qualitative synthesis only, with no external market claims.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FoodMind turns food and nutrition data into personalized, actionable intelligence, which creates value in three ways. First, efficiency: it cuts the time spent on manual analysis, menu planning, nutrition judgment and user matching, so teams decide faster. Second, personalization: using preferences, health goals and dietary restrictions, it delivers more precise recommendations that improve experience and retention. Third, revenue and growth: sharper recommendations and operational insight help food, health, retail and platform businesses lift conversion, repeat use and service capacity.
[Sources]
- Current FoodMind product UI and project documentation; qualitative synthesis only. No market size, revenue or conversion figures are stated or implied — those numbers are intentionally left out of the demo.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focus on the main features, this slide shows the complete product. Users can discover ideas, save a Want to Try shortlist, create Food and Drink records, share within trusted groups, request recommendations, manage recipes, generate cooking plans, and return to history, weekly insights and the Assistant.
[Demo cue] Briefly show the bottom navigation and the More or profile feature list.
[Sources]
- Current FoodMind product UI and project documentation.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main feature is recommendation. The user starts with clear context: when they want to eat, the area, and how flexible the budget is. The result still leaves the user in control — a leading choice, alternatives, and reasons that explain why each option may fit.
[Demo cue] Start a recommendation from Home, submit the context, then open Recommendation details and choose or share the result.
[Sources]
- Android screenshot captured from the current local product on 2026-08-20: assets/android-recommend-detail.png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ranking actually works. UserCF and ItemCF each contribute a similarity signal — what similar users liked, and what meals are similar to meals this user already liked. Those signals, plus context, feed a logistic-regression scorer that outputs P(accept), which is the ML score shown on screen, and results are ranked by that score. Hard rules for allergy, budget and repetition run before ranking, so the model only ever ranks options the user could actually accept. The honest technical difficulty: the training set is heavily imbalanced and thin for cold-start users, so validation ROC-AUC alone isn't a reliable signal on its own — for those cases the team falls back to a deterministic preference and context ranking rather than letting the model guess.
[Demo cue] Point back to the “ML score” and named signals already visible on the Recommendation details screen.
[Sources]
- Android screenshot captured from the current local product on 2026-08-20: assets/android-recommend-detail.png ("ML score", "cuisine match", "preference match").
- Team-authored technical reference (uploaded by the user): Final_Presentation_CodeQuality.pptx — "Hybrid Machine Learning Model" (UserCF, ItemCF, logistic regression, hard rules) and "ML Evaluation" (Train 48,379 / Validation 266 / Test 270, 19 engineered features, class imbalance and cold-start limitations) slides.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isn't just a name and a score. Each result resolves to a real OneMap location, so the user can see exactly where it is. A walking-route estimate — distance and time — is computed from the user's location on request and isn't saved without consent. Dietary and allergen context can be attached too, but it's clearly labeled as a curation observation, not an inspection or safety certification, so the app never overstates what it knows.
[Demo cue] Open a recommendation result, show the OneMap location and walking-route estimate, then point out the dietary and allergen note and its disclaimer.
[Sources]
- Android screenshot captured from the current local product on 2026-08-20: assets/android-location-safety.jpg (screen: "Serangoon Vegetarian Table", OneMap location, walking route, Dietary and allergen context).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main feature is Explore. Users can search meals, places and products directly, or browse curated places without typing anything. Anything interesting is saved straight to a Want to Try shortlist, ready to resurface later.
[Demo cue] Open Discover, search or browse a curated place, then save it to Want to Try.
[Sources]
- Android screenshot captured from the current local product on 2026-08-20: assets/android-discover.png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main feature is Cooking. It begins with a recipe the user already understands, entered in their own words. Cooking rarely goes exactly as planned — if ingredients are missing, the Cooking Agent pauses and asks rather than silently guessing. Once resolved, FoodMind produces an ordered, ready-to-cook plan.
[Demo cue] Show Add recipe, generate a plan, resolve Needs confirmation by buying missing ingredients, then open the Ready plan.
[Sources]
- Android screenshot captured from the current local product on 2026-08-20: assets/android-final-plan.png. Supporting screens shown live: recipe entry/review, shopping list, and the Ready plan.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is deliberately narrow. It opens with four suggested prompts — summarise records, compare attached sources, find a recent place, or ask a general nutrition question — so the scope is obvious before the user types anything. Every screen restates the same boundary: it can use authorised FoodMind sources or general knowledge, but it never changes data or executes a recommendation or cooking action. Source cards only appear for grounded answers, and each message states it will not reuse sources from earlier turns.
[Demo cue] Open the Assistant, tap a suggested prompt, then point out the “Read-only FoodMind assistant” banner and the sources counter.
[Sources]
- Android screenshots captured from the current local product on 2026-08-21: assets/android-chatbot-prompts.jpg (FoodMind Chat: "Read-only FoodMind assistant", "Start with a prompt", "Recent conversations"), assets/android-chatbot-compose.jpg ("Sources: 0 this turn, 0 cited earlier", "This message will not reuse sources from earlier turns.").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outside the three main features still matters. Trusted group sharing lets a user create or join a circle and choose, record by record, whether it stays private or is shared. The Assistant is a grounded chatbot that routes to search, summary or comparison over the user's own data rather than answering as an open-ended model. Records management lets a user create, edit or delete Food and Drink records directly, and Cooking, Insights and Recommendation all read from that same accurate history.
[Demo cue] Open Groups, enter FoodMind Table, then open the Assistant and Record management under Me.
[Sources]
- Android screenshot captured from the current local product on 2026-08-20: assets/android-groups-created.png.
- Referenced but not re-displayed: assets/android-more-features.png (labels: "Assistant · Continue your FoodMind conversation", "Record management · Create, view, edit, or delete meal and drink records").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 also covers Insights, and Insights makes the dashboard/report distinction directly: pictured here is the Weekly Recap tab, a snapshot anchored to one Monday date that walks through cuisine mix, recommendation outcomes and a “food story” connecting activity, spending, cuisine, rating and outcomes for the week. Right next to it is the Trends tab — the always-on dashboard view a user can open any time, reading the same underlying history without waiting for the week to end.
[Demo cue] Open Insights, show the Trends tab, then switch to Weekly recap and scroll to the relationship overview.
[Sources]
- Android screenshots captured from the current local product on 2026-08-20: assets/android-discover-2.JPG (Insights → Weekly recap tab: Cuisine mix, Recommendation outcomes), assets/android-discover-3.JPG (Insights → Weekly recap tab: “Your food story” relationship overview, Activity trend). The Trends tab is visible as a UI label on both screenshots; its own content was not separately captured.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is for technical reviewers. First, ranking is a hybrid of UserCF, ItemCF and a logistic-regression scorer, filtered by hard rules, so a result can point to the reason it was shown. Second, cooking plans come from a bounded Cooking Planner Agent orchestrated with LangGraph, solving a scheduling problem over recipes, servings and inventory. Third, the Chatbot and Recommendation Agent are routed, tool-using workflows rather than open-ended generation, so responses stay grounded in the user's own data. The team can go deeper live if reviewers want to trace any of the three.
[Sources]
- Android screenshots captured from the current local product on 2026-08-20 and 2026-08-21: assets/android-recommend-detail.png, assets/android-final-plan-ready.png, assets/android-recipe-review.png, assets/android-chatbot-compose.jpg.
- Team-authored architecture reference (uploaded by the user): Final_Presentation_CodeQuality.pptx — Hybrid Machine Learning Model, Intelligence Services Design and Recommendation/Cooking Agent Workflow slides. Descriptions here are intentionally kept high-level; implementation depth is covered verbally by the team.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summary: on the left, the main features that make up the everyday loop. On the right, the technology decisions that make those features work — hybrid ranking, agentic constraint-based planning, a grounded chatbot and recommendation agent, permission-aware sharing, and one consistent product across mobile and web.
[Sources]
- Current FoodMind product UI and project documentation; feature list matches Slide 4, technology list matches Slides 8, 12 and 13 and the team-authored Final_Presentation_CodeQuality.pptx.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00D"/>
        </a:solidFill>
        <a:effectLst/>
      </p:bgPr>
    </p:bg>
    <p:spTree>
      <p:nvGrpSpPr>
        <p:cNvPr id="1" name=""/>
        <p:cNvGrpSpPr/>
        <p:nvPr/>
      </p:nvGrpSpPr>
      <p:grpSpPr>
        <a:xfrm>
          <a:off x="0" y="0"/>
          <a:ext cx="0" cy="0"/>
          <a:chOff x="0" y="0"/>
          <a:chExt cx="0" cy="0"/>
        </a:xfrm>
      </p:grpSpPr>
      <p:sp>
        <p:nvSpPr>
          <p:cNvPr id="2" name="Text 0"/>
          <p:cNvSpPr/>
          <p:nvPr/>
        </p:nvSpPr>
        <p:spPr>
          <a:xfrm>
            <a:off x="640080" y="502920"/>
            <a:ext cx="6400800" cy="292608"/>
          </a:xfrm>
          <a:prstGeom prst="rect">
            <a:avLst/>
          </a:prstGeom>
          <a:noFill/>
          <a:ln/>
        </p:spPr>
        <p:txBody>
          <a:bodyPr wrap="square" lIns="0" tIns="0" rIns="0" bIns="0" rtlCol="0" anchor="ctr"/>
          <a:lstStyle/>
          <a:p>
            <a:pPr marL="0" indent="0">
              <a:buNone/>
            </a:pPr>
            <a:r>
              <a:rPr lang="en-US" sz="1300" b="1" kern="0" spc="150">
                <a:solidFill>
                  <a:srgbClr val="D9EF74"/>
                </a:solidFill>
                <a:latin typeface="Calibri" pitchFamily="34" charset="0"/>
                <a:ea typeface="Calibri" pitchFamily="34" charset="-122"/>
                <a:cs typeface="Calibri" pitchFamily="34" charset="-120"/>
              </a:rPr>
              <a:t>FOODMIN</a:t>
            </a:r>
            <a:r>
              <a:rPr lang="en-US" altLang="zh-CN" sz="1300" b="1" kern="0" spc="150">
                <a:solidFill>
                  <a:srgbClr val="D9EF74"/>
                </a:solidFill>
                <a:latin typeface="Calibri" pitchFamily="34" charset="0"/>
                <a:ea typeface="Calibri" pitchFamily="34" charset="-122"/>
                <a:cs typeface="Calibri" pitchFamily="34" charset="-120"/>
              </a:rPr>
              <a:t>D</a:t>
            </a:r>
            <a:endParaRPr lang="en-US" sz="1300" dirty="0"/>
          </a:p>
        </p:txBody>
      </p:sp>
      <p:sp>
        <p:nvSpPr>
          <p:cNvPr id="3" name="Text 1"/>
          <p:cNvSpPr/>
          <p:nvPr/>
        </p:nvSpPr>
        <p:spPr>
          <a:xfrm>
            <a:off x="621792" y="896112"/>
            <a:ext cx="6309360" cy="1417320"/>
          </a:xfrm>
          <a:prstGeom prst="rect">
            <a:avLst/>
          </a:prstGeom>
          <a:noFill/>
          <a:ln/>
        </p:spPr>
        <p:txBody>
          <a:bodyPr wrap="square" lIns="0" tIns="0" rIns="0" bIns="0" rtlCol="0" anchor="ctr"/>
          <a:lstStyle/>
          <a:p>
            <a:pPr marL="0" indent="0">
              <a:lnSpc>
                <a:spcPct val="102000"/>
              </a:lnSpc>
              <a:buNone/>
            </a:pPr>
            <a:r>
              <a:rPr lang="en-US" sz="4400" b="1" dirty="0">
                <a:solidFill>
                  <a:srgbClr val="FFFFFF"/>
                </a:solidFill>
                <a:latin typeface="Calibri" pitchFamily="34" charset="0"/>
                <a:ea typeface="Calibri" pitchFamily="34" charset="-122"/>
                <a:cs typeface="Calibri" pitchFamily="34" charset="-120"/>
              </a:rPr>
              <a:t>What to eat.</a:t>
            </a:r>
            <a:endParaRPr lang="en-US" sz="4400" dirty="0"/>
          </a:p>
          <a:p>
            <a:pPr marL="0" indent="0">
              <a:lnSpc>
                <a:spcPct val="102000"/>
              </a:lnSpc>
              <a:buNone/>
            </a:pPr>
            <a:r>
              <a:rPr lang="en-US" sz="4400" b="1" dirty="0">
                <a:solidFill>
                  <a:srgbClr val="FFFFFF"/>
                </a:solidFill>
                <a:latin typeface="Calibri" pitchFamily="34" charset="0"/>
                <a:ea typeface="Calibri" pitchFamily="34" charset="-122"/>
                <a:cs typeface="Calibri" pitchFamily="34" charset="-120"/>
              </a:rPr>
              <a:t>How to cook it.</a:t>
            </a:r>
            <a:endParaRPr lang="en-US" sz="4400" dirty="0"/>
          </a:p>
        </p:txBody>
      </p:sp>
      <p:sp>
        <p:nvSpPr>
          <p:cNvPr id="4" name="Text 2"/>
          <p:cNvSpPr/>
          <p:nvPr/>
        </p:nvSpPr>
        <p:spPr>
          <a:xfrm>
            <a:off x="640080" y="2377440"/>
            <a:ext cx="6035040" cy="685800"/>
          </a:xfrm>
          <a:prstGeom prst="rect">
            <a:avLst/>
          </a:prstGeom>
          <a:noFill/>
          <a:ln/>
        </p:spPr>
        <p:txBody>
          <a:bodyPr wrap="square" lIns="0" tIns="0" rIns="0" bIns="0" rtlCol="0" anchor="ctr"/>
          <a:lstStyle/>
          <a:p>
            <a:pPr marL="0" indent="0">
              <a:lnSpc>
                <a:spcPct val="125000"/>
              </a:lnSpc>
              <a:buNone/>
            </a:pPr>
            <a:r>
              <a:rPr lang="en-US" sz="1700" dirty="0">
                <a:solidFill>
                  <a:srgbClr val="AEB8AE"/>
                </a:solidFill>
                <a:latin typeface="Calibri" pitchFamily="34" charset="0"/>
                <a:ea typeface="Calibri" pitchFamily="34" charset="-122"/>
                <a:cs typeface="Calibri" pitchFamily="34" charset="-120"/>
              </a:rPr>
              <a:t>FoodMind connects personal taste, trusted groups, recommendations and guided cooking in one everyday experience.</a:t>
            </a:r>
            <a:endParaRPr lang="en-US" sz="1700" dirty="0"/>
          </a:p>
        </p:txBody>
      </p:sp>
      <p:sp>
        <p:nvSpPr>
          <p:cNvPr id="5" name="Text 3"/>
          <p:cNvSpPr/>
          <p:nvPr/>
        </p:nvSpPr>
        <p:spPr>
          <a:xfrm>
            <a:off x="640080" y="3200400"/>
            <a:ext cx="5486400" cy="274320"/>
          </a:xfrm>
          <a:prstGeom prst="rect">
            <a:avLst/>
          </a:prstGeom>
          <a:noFill/>
          <a:ln/>
        </p:spPr>
        <p:txBody>
          <a:bodyPr wrap="square" lIns="0" tIns="0" rIns="0" bIns="0" rtlCol="0" anchor="ctr"/>
          <a:lstStyle/>
          <a:p>
            <a:pPr marL="0" indent="0">
              <a:buNone/>
            </a:pPr>
            <a:r>
              <a:rPr lang="en-US" sz="1300" b="1" kern="0" spc="150" dirty="0">
                <a:solidFill>
                  <a:srgbClr val="8FA294"/>
                </a:solidFill>
                <a:latin typeface="Calibri" pitchFamily="34" charset="0"/>
                <a:ea typeface="Calibri" pitchFamily="34" charset="-122"/>
                <a:cs typeface="Calibri" pitchFamily="34" charset="-120"/>
              </a:rPr>
              <a:t>PROJECT TEAM</a:t>
            </a:r>
            <a:endParaRPr lang="en-US" sz="1300" dirty="0"/>
          </a:p>
        </p:txBody>
      </p:sp>
      <p:sp>
        <p:nvSpPr>
          <p:cNvPr id="6" name="Text 4"/>
          <p:cNvSpPr/>
          <p:nvPr/>
        </p:nvSpPr>
        <p:spPr>
          <a:xfrm>
            <a:off x="640080" y="3547872"/>
            <a:ext cx="28803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Chen Yaqi</a:t>
            </a:r>
            <a:r>
              <a:rPr lang="en-US" sz="1500" dirty="0">
                <a:solidFill>
                  <a:srgbClr val="8FA294"/>
                </a:solidFill>
                <a:latin typeface="Calibri" pitchFamily="34" charset="0"/>
                <a:ea typeface="Calibri" pitchFamily="34" charset="-122"/>
                <a:cs typeface="Calibri" pitchFamily="34" charset="-120"/>
              </a:rPr>
              <a:t>   A0335050U</a:t>
            </a:r>
            <a:endParaRPr lang="en-US" sz="1500" dirty="0"/>
          </a:p>
        </p:txBody>
      </p:sp>
      <p:sp>
        <p:nvSpPr>
          <p:cNvPr id="7" name="Text 5"/>
          <p:cNvSpPr/>
          <p:nvPr/>
        </p:nvSpPr>
        <p:spPr>
          <a:xfrm>
            <a:off x="640080" y="3913632"/>
            <a:ext cx="28803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Wu Aomo</a:t>
            </a:r>
            <a:r>
              <a:rPr lang="en-US" sz="1500" dirty="0">
                <a:solidFill>
                  <a:srgbClr val="8FA294"/>
                </a:solidFill>
                <a:latin typeface="Calibri" pitchFamily="34" charset="0"/>
                <a:ea typeface="Calibri" pitchFamily="34" charset="-122"/>
                <a:cs typeface="Calibri" pitchFamily="34" charset="-120"/>
              </a:rPr>
              <a:t>   A0335088X</a:t>
            </a:r>
            <a:endParaRPr lang="en-US" sz="1500" dirty="0"/>
          </a:p>
        </p:txBody>
      </p:sp>
      <p:sp>
        <p:nvSpPr>
          <p:cNvPr id="8" name="Text 6"/>
          <p:cNvSpPr/>
          <p:nvPr/>
        </p:nvSpPr>
        <p:spPr>
          <a:xfrm>
            <a:off x="640080" y="4279392"/>
            <a:ext cx="28803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Huang Qijun</a:t>
            </a:r>
            <a:r>
              <a:rPr lang="en-US" sz="1500" dirty="0">
                <a:solidFill>
                  <a:srgbClr val="8FA294"/>
                </a:solidFill>
                <a:latin typeface="Calibri" pitchFamily="34" charset="0"/>
                <a:ea typeface="Calibri" pitchFamily="34" charset="-122"/>
                <a:cs typeface="Calibri" pitchFamily="34" charset="-120"/>
              </a:rPr>
              <a:t>   A0335061N</a:t>
            </a:r>
            <a:endParaRPr lang="en-US" sz="1500" dirty="0"/>
          </a:p>
        </p:txBody>
      </p:sp>
      <p:sp>
        <p:nvSpPr>
          <p:cNvPr id="9" name="Text 7"/>
          <p:cNvSpPr/>
          <p:nvPr/>
        </p:nvSpPr>
        <p:spPr>
          <a:xfrm>
            <a:off x="640080" y="4645152"/>
            <a:ext cx="28803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Luo Yuxiang</a:t>
            </a:r>
            <a:r>
              <a:rPr lang="en-US" sz="1500" dirty="0">
                <a:solidFill>
                  <a:srgbClr val="8FA294"/>
                </a:solidFill>
                <a:latin typeface="Calibri" pitchFamily="34" charset="0"/>
                <a:ea typeface="Calibri" pitchFamily="34" charset="-122"/>
                <a:cs typeface="Calibri" pitchFamily="34" charset="-120"/>
              </a:rPr>
              <a:t>   A0335071M</a:t>
            </a:r>
            <a:endParaRPr lang="en-US" sz="1500" dirty="0"/>
          </a:p>
        </p:txBody>
      </p:sp>
      <p:sp>
        <p:nvSpPr>
          <p:cNvPr id="10" name="Text 8"/>
          <p:cNvSpPr/>
          <p:nvPr/>
        </p:nvSpPr>
        <p:spPr>
          <a:xfrm>
            <a:off x="3611880" y="3547872"/>
            <a:ext cx="28803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Lei Tianyou</a:t>
            </a:r>
            <a:r>
              <a:rPr lang="en-US" sz="1500" dirty="0">
                <a:solidFill>
                  <a:srgbClr val="8FA294"/>
                </a:solidFill>
                <a:latin typeface="Calibri" pitchFamily="34" charset="0"/>
                <a:ea typeface="Calibri" pitchFamily="34" charset="-122"/>
                <a:cs typeface="Calibri" pitchFamily="34" charset="-120"/>
              </a:rPr>
              <a:t>   A0335067A</a:t>
            </a:r>
            <a:endParaRPr lang="en-US" sz="1500" dirty="0"/>
          </a:p>
        </p:txBody>
      </p:sp>
      <p:sp>
        <p:nvSpPr>
          <p:cNvPr id="11" name="Text 9"/>
          <p:cNvSpPr/>
          <p:nvPr/>
        </p:nvSpPr>
        <p:spPr>
          <a:xfrm>
            <a:off x="3611880" y="3913632"/>
            <a:ext cx="28803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Chen Chen</a:t>
            </a:r>
            <a:r>
              <a:rPr lang="en-US" sz="1500" dirty="0">
                <a:solidFill>
                  <a:srgbClr val="8FA294"/>
                </a:solidFill>
                <a:latin typeface="Calibri" pitchFamily="34" charset="0"/>
                <a:ea typeface="Calibri" pitchFamily="34" charset="-122"/>
                <a:cs typeface="Calibri" pitchFamily="34" charset="-120"/>
              </a:rPr>
              <a:t>   A0335082J</a:t>
            </a:r>
            <a:endParaRPr lang="en-US" sz="1500" dirty="0"/>
          </a:p>
        </p:txBody>
      </p:sp>
      <p:sp>
        <p:nvSpPr>
          <p:cNvPr id="12" name="Text 10"/>
          <p:cNvSpPr/>
          <p:nvPr/>
        </p:nvSpPr>
        <p:spPr>
          <a:xfrm>
            <a:off x="3611880" y="4279392"/>
            <a:ext cx="288036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Deng Yunke</a:t>
            </a:r>
            <a:r>
              <a:rPr lang="en-US" sz="1500" dirty="0">
                <a:solidFill>
                  <a:srgbClr val="8FA294"/>
                </a:solidFill>
                <a:latin typeface="Calibri" pitchFamily="34" charset="0"/>
                <a:ea typeface="Calibri" pitchFamily="34" charset="-122"/>
                <a:cs typeface="Calibri" pitchFamily="34" charset="-120"/>
              </a:rPr>
              <a:t>   A0335081L</a:t>
            </a:r>
            <a:endParaRPr lang="en-US" sz="1500" dirty="0"/>
          </a:p>
        </p:txBody>
      </p:sp>
      <p:sp>
        <p:nvSpPr>
          <p:cNvPr id="13" name="Shape 11"/>
          <p:cNvSpPr/>
          <p:nvPr/>
        </p:nvSpPr>
        <p:spPr>
          <a:xfrm>
            <a:off x="640080" y="5806440"/>
            <a:ext cx="2514600" cy="365760"/>
          </a:xfrm>
          <a:prstGeom prst="roundRect">
            <a:avLst>
              <a:gd name="adj" fmla="val 50000"/>
            </a:avLst>
          </a:prstGeom>
          <a:solidFill>
            <a:srgbClr val="D9EF74"/>
          </a:solidFill>
          <a:ln/>
        </p:spPr>
        <p:txBody>
          <a:bodyPr/>
          <a:lstStyle/>
          <a:p>
            <a:endParaRPr lang="en-CN"/>
          </a:p>
        </p:txBody>
      </p:sp>
      <p:sp>
        <p:nvSpPr>
          <p:cNvPr id="14" name="Text 12"/>
          <p:cNvSpPr/>
          <p:nvPr/>
        </p:nvSpPr>
        <p:spPr>
          <a:xfrm>
            <a:off x="640080" y="5806440"/>
            <a:ext cx="2514600" cy="365760"/>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FEATURE-LED LIVE DEMO</a:t>
            </a:r>
            <a:endParaRPr lang="en-US" sz="1200" dirty="0"/>
          </a:p>
        </p:txBody>
      </p:sp>
      <p:sp>
        <p:nvSpPr>
          <p:cNvPr id="15" name="Text 13"/>
          <p:cNvSpPr/>
          <p:nvPr/>
        </p:nvSpPr>
        <p:spPr>
          <a:xfrm>
            <a:off x="640080" y="6355080"/>
            <a:ext cx="6400800" cy="292608"/>
          </a:xfrm>
          <a:prstGeom prst="rect">
            <a:avLst/>
          </a:prstGeom>
          <a:noFill/>
          <a:ln/>
        </p:spPr>
        <p:txBody>
          <a:bodyPr wrap="square" lIns="0" tIns="0" rIns="0" bIns="0" rtlCol="0" anchor="ctr"/>
          <a:lstStyle/>
          <a:p>
            <a:pPr marL="0" indent="0">
              <a:buNone/>
            </a:pPr>
            <a:r>
              <a:rPr lang="en-US" sz="1100" b="1" kern="0" spc="100" dirty="0">
                <a:solidFill>
                  <a:srgbClr val="6E7A6E"/>
                </a:solidFill>
                <a:latin typeface="Calibri" pitchFamily="34" charset="0"/>
                <a:ea typeface="Calibri" pitchFamily="34" charset="-122"/>
                <a:cs typeface="Calibri" pitchFamily="34" charset="-120"/>
              </a:rPr>
              <a:t>20 AUG 2026 · CURRENT PRODUCT</a:t>
            </a:r>
            <a:endParaRPr lang="en-US" sz="1100" dirty="0"/>
          </a:p>
        </p:txBody>
      </p:sp>
      <p:sp>
        <p:nvSpPr>
          <p:cNvPr id="16" name="Shape 14"/>
          <p:cNvSpPr/>
          <p:nvPr/>
        </p:nvSpPr>
        <p:spPr>
          <a:xfrm>
            <a:off x="8739835" y="438912"/>
            <a:ext cx="2811780" cy="5980176"/>
          </a:xfrm>
          <a:prstGeom prst="roundRect">
            <a:avLst>
              <a:gd name="adj" fmla="val 4228"/>
            </a:avLst>
          </a:prstGeom>
          <a:solidFill>
            <a:srgbClr val="FFFFFF"/>
          </a:solidFill>
          <a:ln w="9525">
            <a:solidFill>
              <a:srgbClr val="E4E4E1"/>
            </a:solidFill>
            <a:prstDash val="solid"/>
          </a:ln>
          <a:effectLst>
            <a:outerShdw blurRad="127000" dist="38100" dir="5400000" algn="bl" rotWithShape="0">
              <a:srgbClr val="111111">
                <a:alpha val="24000"/>
              </a:srgbClr>
            </a:outerShdw>
          </a:effectLst>
        </p:spPr>
        <p:txBody>
          <a:bodyPr/>
          <a:lstStyle/>
          <a:p>
            <a:endParaRPr lang="en-CN"/>
          </a:p>
        </p:txBody>
      </p:sp>
      <p:pic>
        <p:nvPicPr>
          <p:cNvPr id="17" name="Image 0" descr="/sessions/charming-upbeat-keller/mnt/ppt-design/foodmind-features/assets/android-home.png"/>
          <p:cNvPicPr>
            <a:picLocks noChangeAspect="1"/>
          </p:cNvPicPr>
          <p:nvPr/>
        </p:nvPicPr>
        <p:blipFill>
          <a:blip r:embed="rId3"/>
          <a:stretch>
            <a:fillRect/>
          </a:stretch>
        </p:blipFill>
        <p:spPr>
          <a:xfrm>
            <a:off x="8849563" y="548640"/>
            <a:ext cx="2592324" cy="5760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buNone/>
            </a:pPr>
            <a:r>
              <a:rPr lang="en-US" sz="1300" b="1" kern="0" spc="150" dirty="0">
                <a:solidFill>
                  <a:srgbClr val="62676B"/>
                </a:solidFill>
                <a:latin typeface="Calibri" pitchFamily="34" charset="0"/>
                <a:ea typeface="Calibri" pitchFamily="34" charset="-122"/>
                <a:cs typeface="Calibri" pitchFamily="34" charset="-120"/>
              </a:rPr>
              <a:t>WHY FOODMIND</a:t>
            </a:r>
            <a:endParaRPr lang="en-US" sz="1300" dirty="0"/>
          </a:p>
        </p:txBody>
      </p:sp>
      <p:sp>
        <p:nvSpPr>
          <p:cNvPr id="3" name="Text 1"/>
          <p:cNvSpPr/>
          <p:nvPr/>
        </p:nvSpPr>
        <p:spPr>
          <a:xfrm>
            <a:off x="640080" y="786384"/>
            <a:ext cx="9418320" cy="914400"/>
          </a:xfrm>
          <a:prstGeom prst="rect">
            <a:avLst/>
          </a:prstGeom>
          <a:noFill/>
          <a:ln/>
        </p:spPr>
        <p:txBody>
          <a:bodyPr wrap="square" lIns="0" tIns="0" rIns="0" bIns="0" rtlCol="0" anchor="t"/>
          <a:lstStyle/>
          <a:p>
            <a:pPr marL="0" indent="0" algn="l">
              <a:lnSpc>
                <a:spcPct val="103000"/>
              </a:lnSpc>
              <a:buNone/>
            </a:pPr>
            <a:r>
              <a:rPr lang="en-US" sz="3600" b="1" dirty="0">
                <a:solidFill>
                  <a:srgbClr val="111111"/>
                </a:solidFill>
                <a:latin typeface="Calibri" pitchFamily="34" charset="0"/>
                <a:ea typeface="Calibri" pitchFamily="34" charset="-122"/>
                <a:cs typeface="Calibri" pitchFamily="34" charset="-120"/>
              </a:rPr>
              <a:t>A daily question becomes a repeatable habit</a:t>
            </a:r>
            <a:endParaRPr lang="en-US" sz="3600" dirty="0"/>
          </a:p>
        </p:txBody>
      </p:sp>
      <p:sp>
        <p:nvSpPr>
          <p:cNvPr id="4" name="Text 2"/>
          <p:cNvSpPr/>
          <p:nvPr/>
        </p:nvSpPr>
        <p:spPr>
          <a:xfrm>
            <a:off x="640080" y="1783080"/>
            <a:ext cx="9875520" cy="548640"/>
          </a:xfrm>
          <a:prstGeom prst="rect">
            <a:avLst/>
          </a:prstGeom>
          <a:noFill/>
          <a:ln/>
        </p:spPr>
        <p:txBody>
          <a:bodyPr wrap="square" lIns="0" tIns="0" rIns="0" bIns="0" rtlCol="0" anchor="ctr"/>
          <a:lstStyle/>
          <a:p>
            <a:pPr marL="0" indent="0">
              <a:lnSpc>
                <a:spcPct val="125000"/>
              </a:lnSpc>
              <a:buNone/>
            </a:pPr>
            <a:r>
              <a:rPr lang="en-US" sz="1700" dirty="0">
                <a:solidFill>
                  <a:srgbClr val="62676B"/>
                </a:solidFill>
                <a:latin typeface="Calibri" pitchFamily="34" charset="0"/>
                <a:ea typeface="Calibri" pitchFamily="34" charset="-122"/>
                <a:cs typeface="Calibri" pitchFamily="34" charset="-120"/>
              </a:rPr>
              <a:t>Food choices are frequent, personal and easy to postpone. FoodMind turns history, trusted group context and cooking intent into one clear next step.</a:t>
            </a:r>
            <a:endParaRPr lang="en-US" sz="1700" dirty="0"/>
          </a:p>
        </p:txBody>
      </p:sp>
      <p:sp>
        <p:nvSpPr>
          <p:cNvPr id="5" name="Shape 3"/>
          <p:cNvSpPr/>
          <p:nvPr/>
        </p:nvSpPr>
        <p:spPr>
          <a:xfrm>
            <a:off x="640080" y="2514600"/>
            <a:ext cx="3429000" cy="2880360"/>
          </a:xfrm>
          <a:prstGeom prst="roundRect">
            <a:avLst>
              <a:gd name="adj" fmla="val 4444"/>
            </a:avLst>
          </a:prstGeom>
          <a:solidFill>
            <a:srgbClr val="FFFFFF"/>
          </a:solidFill>
          <a:ln w="12700">
            <a:solidFill>
              <a:srgbClr val="E4E4E1"/>
            </a:solidFill>
            <a:prstDash val="solid"/>
          </a:ln>
        </p:spPr>
        <p:txBody>
          <a:bodyPr/>
          <a:lstStyle/>
          <a:p>
            <a:endParaRPr lang="en-CN"/>
          </a:p>
        </p:txBody>
      </p:sp>
      <p:sp>
        <p:nvSpPr>
          <p:cNvPr id="6" name="Text 4"/>
          <p:cNvSpPr/>
          <p:nvPr/>
        </p:nvSpPr>
        <p:spPr>
          <a:xfrm>
            <a:off x="960120" y="2880360"/>
            <a:ext cx="2788920" cy="868680"/>
          </a:xfrm>
          <a:prstGeom prst="rect">
            <a:avLst/>
          </a:prstGeom>
          <a:noFill/>
          <a:ln/>
        </p:spPr>
        <p:txBody>
          <a:bodyPr wrap="square" lIns="0" tIns="0" rIns="0" bIns="0" rtlCol="0" anchor="ctr"/>
          <a:lstStyle/>
          <a:p>
            <a:pPr marL="0" indent="0">
              <a:buNone/>
            </a:pPr>
            <a:r>
              <a:rPr lang="en-US" sz="4000" b="1" dirty="0">
                <a:solidFill>
                  <a:srgbClr val="111111"/>
                </a:solidFill>
                <a:latin typeface="Calibri" pitchFamily="34" charset="0"/>
                <a:ea typeface="Calibri" pitchFamily="34" charset="-122"/>
                <a:cs typeface="Calibri" pitchFamily="34" charset="-120"/>
              </a:rPr>
              <a:t>LESS</a:t>
            </a:r>
            <a:endParaRPr lang="en-US" sz="4000" dirty="0"/>
          </a:p>
        </p:txBody>
      </p:sp>
      <p:sp>
        <p:nvSpPr>
          <p:cNvPr id="7" name="Text 5"/>
          <p:cNvSpPr/>
          <p:nvPr/>
        </p:nvSpPr>
        <p:spPr>
          <a:xfrm>
            <a:off x="960120" y="3794760"/>
            <a:ext cx="2788920" cy="41148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decision friction</a:t>
            </a:r>
            <a:endParaRPr lang="en-US" sz="1700" dirty="0"/>
          </a:p>
        </p:txBody>
      </p:sp>
      <p:sp>
        <p:nvSpPr>
          <p:cNvPr id="8" name="Text 6"/>
          <p:cNvSpPr/>
          <p:nvPr/>
        </p:nvSpPr>
        <p:spPr>
          <a:xfrm>
            <a:off x="960120" y="4270248"/>
            <a:ext cx="2788920" cy="914400"/>
          </a:xfrm>
          <a:prstGeom prst="rect">
            <a:avLst/>
          </a:prstGeom>
          <a:noFill/>
          <a:ln/>
        </p:spPr>
        <p:txBody>
          <a:bodyPr wrap="square" lIns="0" tIns="0" rIns="0" bIns="0" rtlCol="0" anchor="ctr"/>
          <a:lstStyle/>
          <a:p>
            <a:pPr marL="0" indent="0">
              <a:lnSpc>
                <a:spcPct val="128000"/>
              </a:lnSpc>
              <a:buNone/>
            </a:pPr>
            <a:r>
              <a:rPr lang="en-US" sz="1400" dirty="0">
                <a:solidFill>
                  <a:srgbClr val="62676B"/>
                </a:solidFill>
                <a:latin typeface="Calibri" pitchFamily="34" charset="0"/>
                <a:ea typeface="Calibri" pitchFamily="34" charset="-122"/>
                <a:cs typeface="Calibri" pitchFamily="34" charset="-120"/>
              </a:rPr>
              <a:t>From “what should I eat?” to a clear starting point.</a:t>
            </a:r>
            <a:endParaRPr lang="en-US" sz="1400" dirty="0"/>
          </a:p>
        </p:txBody>
      </p:sp>
      <p:sp>
        <p:nvSpPr>
          <p:cNvPr id="9" name="Shape 7"/>
          <p:cNvSpPr/>
          <p:nvPr/>
        </p:nvSpPr>
        <p:spPr>
          <a:xfrm>
            <a:off x="4389120" y="2514600"/>
            <a:ext cx="3429000" cy="2880360"/>
          </a:xfrm>
          <a:prstGeom prst="roundRect">
            <a:avLst>
              <a:gd name="adj" fmla="val 4444"/>
            </a:avLst>
          </a:prstGeom>
          <a:solidFill>
            <a:srgbClr val="FFFFFF"/>
          </a:solidFill>
          <a:ln w="12700">
            <a:solidFill>
              <a:srgbClr val="E4E4E1"/>
            </a:solidFill>
            <a:prstDash val="solid"/>
          </a:ln>
        </p:spPr>
        <p:txBody>
          <a:bodyPr/>
          <a:lstStyle/>
          <a:p>
            <a:endParaRPr lang="en-CN"/>
          </a:p>
        </p:txBody>
      </p:sp>
      <p:sp>
        <p:nvSpPr>
          <p:cNvPr id="10" name="Text 8"/>
          <p:cNvSpPr/>
          <p:nvPr/>
        </p:nvSpPr>
        <p:spPr>
          <a:xfrm>
            <a:off x="4709160" y="2880360"/>
            <a:ext cx="2788920" cy="868680"/>
          </a:xfrm>
          <a:prstGeom prst="rect">
            <a:avLst/>
          </a:prstGeom>
          <a:noFill/>
          <a:ln/>
        </p:spPr>
        <p:txBody>
          <a:bodyPr wrap="square" lIns="0" tIns="0" rIns="0" bIns="0" rtlCol="0" anchor="ctr"/>
          <a:lstStyle/>
          <a:p>
            <a:pPr marL="0" indent="0">
              <a:buNone/>
            </a:pPr>
            <a:r>
              <a:rPr lang="en-US" sz="4000" b="1" dirty="0">
                <a:solidFill>
                  <a:srgbClr val="111111"/>
                </a:solidFill>
                <a:latin typeface="Calibri" pitchFamily="34" charset="0"/>
                <a:ea typeface="Calibri" pitchFamily="34" charset="-122"/>
                <a:cs typeface="Calibri" pitchFamily="34" charset="-120"/>
              </a:rPr>
              <a:t>FIT</a:t>
            </a:r>
            <a:endParaRPr lang="en-US" sz="4000" dirty="0"/>
          </a:p>
        </p:txBody>
      </p:sp>
      <p:sp>
        <p:nvSpPr>
          <p:cNvPr id="11" name="Text 9"/>
          <p:cNvSpPr/>
          <p:nvPr/>
        </p:nvSpPr>
        <p:spPr>
          <a:xfrm>
            <a:off x="4709160" y="3794760"/>
            <a:ext cx="2788920" cy="41148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personal relevance</a:t>
            </a:r>
            <a:endParaRPr lang="en-US" sz="1700" dirty="0"/>
          </a:p>
        </p:txBody>
      </p:sp>
      <p:sp>
        <p:nvSpPr>
          <p:cNvPr id="12" name="Text 10"/>
          <p:cNvSpPr/>
          <p:nvPr/>
        </p:nvSpPr>
        <p:spPr>
          <a:xfrm>
            <a:off x="4709160" y="4270248"/>
            <a:ext cx="2788920" cy="914400"/>
          </a:xfrm>
          <a:prstGeom prst="rect">
            <a:avLst/>
          </a:prstGeom>
          <a:noFill/>
          <a:ln/>
        </p:spPr>
        <p:txBody>
          <a:bodyPr wrap="square" lIns="0" tIns="0" rIns="0" bIns="0" rtlCol="0" anchor="ctr"/>
          <a:lstStyle/>
          <a:p>
            <a:pPr marL="0" indent="0">
              <a:lnSpc>
                <a:spcPct val="128000"/>
              </a:lnSpc>
              <a:buNone/>
            </a:pPr>
            <a:r>
              <a:rPr lang="en-US" sz="1400" dirty="0">
                <a:solidFill>
                  <a:srgbClr val="62676B"/>
                </a:solidFill>
                <a:latin typeface="Calibri" pitchFamily="34" charset="0"/>
                <a:ea typeface="Calibri" pitchFamily="34" charset="-122"/>
                <a:cs typeface="Calibri" pitchFamily="34" charset="-120"/>
              </a:rPr>
              <a:t>Records and feedback make future choices more useful.</a:t>
            </a:r>
            <a:endParaRPr lang="en-US" sz="1400" dirty="0"/>
          </a:p>
        </p:txBody>
      </p:sp>
      <p:sp>
        <p:nvSpPr>
          <p:cNvPr id="13" name="Shape 11"/>
          <p:cNvSpPr/>
          <p:nvPr/>
        </p:nvSpPr>
        <p:spPr>
          <a:xfrm>
            <a:off x="8138160" y="2514600"/>
            <a:ext cx="3429000" cy="2880360"/>
          </a:xfrm>
          <a:prstGeom prst="roundRect">
            <a:avLst>
              <a:gd name="adj" fmla="val 4444"/>
            </a:avLst>
          </a:prstGeom>
          <a:solidFill>
            <a:srgbClr val="D9EF74"/>
          </a:solidFill>
          <a:ln w="12700">
            <a:solidFill>
              <a:srgbClr val="D9EF74"/>
            </a:solidFill>
            <a:prstDash val="solid"/>
          </a:ln>
        </p:spPr>
        <p:txBody>
          <a:bodyPr/>
          <a:lstStyle/>
          <a:p>
            <a:endParaRPr lang="en-CN"/>
          </a:p>
        </p:txBody>
      </p:sp>
      <p:sp>
        <p:nvSpPr>
          <p:cNvPr id="14" name="Text 12"/>
          <p:cNvSpPr/>
          <p:nvPr/>
        </p:nvSpPr>
        <p:spPr>
          <a:xfrm>
            <a:off x="8458200" y="2880360"/>
            <a:ext cx="2788920" cy="868680"/>
          </a:xfrm>
          <a:prstGeom prst="rect">
            <a:avLst/>
          </a:prstGeom>
          <a:noFill/>
          <a:ln/>
        </p:spPr>
        <p:txBody>
          <a:bodyPr wrap="square" lIns="0" tIns="0" rIns="0" bIns="0" rtlCol="0" anchor="ctr"/>
          <a:lstStyle/>
          <a:p>
            <a:pPr marL="0" indent="0">
              <a:buNone/>
            </a:pPr>
            <a:r>
              <a:rPr lang="en-US" sz="4000" b="1" dirty="0">
                <a:solidFill>
                  <a:srgbClr val="111111"/>
                </a:solidFill>
                <a:latin typeface="Calibri" pitchFamily="34" charset="0"/>
                <a:ea typeface="Calibri" pitchFamily="34" charset="-122"/>
                <a:cs typeface="Calibri" pitchFamily="34" charset="-120"/>
              </a:rPr>
              <a:t>LOOP</a:t>
            </a:r>
            <a:endParaRPr lang="en-US" sz="4000" dirty="0"/>
          </a:p>
        </p:txBody>
      </p:sp>
      <p:sp>
        <p:nvSpPr>
          <p:cNvPr id="15" name="Text 13"/>
          <p:cNvSpPr/>
          <p:nvPr/>
        </p:nvSpPr>
        <p:spPr>
          <a:xfrm>
            <a:off x="8458200" y="3794760"/>
            <a:ext cx="2788920" cy="41148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repeat engagement</a:t>
            </a:r>
            <a:endParaRPr lang="en-US" sz="1700" dirty="0"/>
          </a:p>
        </p:txBody>
      </p:sp>
      <p:sp>
        <p:nvSpPr>
          <p:cNvPr id="16" name="Text 14"/>
          <p:cNvSpPr/>
          <p:nvPr/>
        </p:nvSpPr>
        <p:spPr>
          <a:xfrm>
            <a:off x="8458200" y="4270248"/>
            <a:ext cx="2788920" cy="914400"/>
          </a:xfrm>
          <a:prstGeom prst="rect">
            <a:avLst/>
          </a:prstGeom>
          <a:noFill/>
          <a:ln/>
        </p:spPr>
        <p:txBody>
          <a:bodyPr wrap="square" lIns="0" tIns="0" rIns="0" bIns="0" rtlCol="0" anchor="ctr"/>
          <a:lstStyle/>
          <a:p>
            <a:pPr marL="0" indent="0">
              <a:lnSpc>
                <a:spcPct val="128000"/>
              </a:lnSpc>
              <a:buNone/>
            </a:pPr>
            <a:r>
              <a:rPr lang="en-US" sz="1400" dirty="0">
                <a:solidFill>
                  <a:srgbClr val="2E3A22"/>
                </a:solidFill>
                <a:latin typeface="Calibri" pitchFamily="34" charset="0"/>
                <a:ea typeface="Calibri" pitchFamily="34" charset="-122"/>
                <a:cs typeface="Calibri" pitchFamily="34" charset="-120"/>
              </a:rPr>
              <a:t>Discover → decide → record → learn.</a:t>
            </a:r>
            <a:endParaRPr lang="en-US" sz="1400" dirty="0"/>
          </a:p>
        </p:txBody>
      </p:sp>
      <p:sp>
        <p:nvSpPr>
          <p:cNvPr id="17" name="Text 15"/>
          <p:cNvSpPr/>
          <p:nvPr/>
        </p:nvSpPr>
        <p:spPr>
          <a:xfrm>
            <a:off x="640080" y="5623560"/>
            <a:ext cx="10908792" cy="457200"/>
          </a:xfrm>
          <a:prstGeom prst="rect">
            <a:avLst/>
          </a:prstGeom>
          <a:noFill/>
          <a:ln/>
        </p:spPr>
        <p:txBody>
          <a:bodyPr wrap="square" lIns="0" tIns="0" rIns="0" bIns="0" rtlCol="0" anchor="ctr"/>
          <a:lstStyle/>
          <a:p>
            <a:pPr marL="0" indent="0">
              <a:buNone/>
            </a:pPr>
            <a:r>
              <a:rPr lang="en-US" sz="1500" i="1" dirty="0">
                <a:solidFill>
                  <a:srgbClr val="62676B"/>
                </a:solidFill>
                <a:latin typeface="Calibri" pitchFamily="34" charset="0"/>
                <a:ea typeface="Calibri" pitchFamily="34" charset="-122"/>
                <a:cs typeface="Calibri" pitchFamily="34" charset="-120"/>
              </a:rPr>
              <a:t>That adds up to a business worth building, not just a helpful feature — more on the next page.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00D"/>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buNone/>
            </a:pPr>
            <a:r>
              <a:rPr lang="en-US" sz="1300" b="1" kern="0" spc="150" dirty="0">
                <a:solidFill>
                  <a:srgbClr val="D9EF74"/>
                </a:solidFill>
                <a:latin typeface="Calibri" pitchFamily="34" charset="0"/>
                <a:ea typeface="Calibri" pitchFamily="34" charset="-122"/>
                <a:cs typeface="Calibri" pitchFamily="34" charset="-120"/>
              </a:rPr>
              <a:t>BUSINESS VALUE</a:t>
            </a:r>
            <a:endParaRPr lang="en-US" sz="1300" dirty="0"/>
          </a:p>
        </p:txBody>
      </p:sp>
      <p:sp>
        <p:nvSpPr>
          <p:cNvPr id="3" name="Text 1"/>
          <p:cNvSpPr/>
          <p:nvPr/>
        </p:nvSpPr>
        <p:spPr>
          <a:xfrm>
            <a:off x="640080" y="786384"/>
            <a:ext cx="9418320" cy="914400"/>
          </a:xfrm>
          <a:prstGeom prst="rect">
            <a:avLst/>
          </a:prstGeom>
          <a:noFill/>
          <a:ln/>
        </p:spPr>
        <p:txBody>
          <a:bodyPr wrap="square" lIns="0" tIns="0" rIns="0" bIns="0" rtlCol="0" anchor="t"/>
          <a:lstStyle/>
          <a:p>
            <a:pPr marL="0" indent="0" algn="l">
              <a:lnSpc>
                <a:spcPct val="103000"/>
              </a:lnSpc>
              <a:buNone/>
            </a:pPr>
            <a:r>
              <a:rPr lang="en-US" sz="3600" b="1" dirty="0">
                <a:solidFill>
                  <a:srgbClr val="FFFFFF"/>
                </a:solidFill>
                <a:latin typeface="Calibri" pitchFamily="34" charset="0"/>
                <a:ea typeface="Calibri" pitchFamily="34" charset="-122"/>
                <a:cs typeface="Calibri" pitchFamily="34" charset="-120"/>
              </a:rPr>
              <a:t>Turning food data into business value</a:t>
            </a:r>
            <a:endParaRPr lang="en-US" sz="3600" dirty="0"/>
          </a:p>
        </p:txBody>
      </p:sp>
      <p:sp>
        <p:nvSpPr>
          <p:cNvPr id="4" name="Text 2"/>
          <p:cNvSpPr/>
          <p:nvPr/>
        </p:nvSpPr>
        <p:spPr>
          <a:xfrm>
            <a:off x="640080" y="1783080"/>
            <a:ext cx="9875520" cy="868680"/>
          </a:xfrm>
          <a:prstGeom prst="rect">
            <a:avLst/>
          </a:prstGeom>
          <a:noFill/>
          <a:ln/>
        </p:spPr>
        <p:txBody>
          <a:bodyPr wrap="square" lIns="0" tIns="0" rIns="0" bIns="0" rtlCol="0" anchor="ctr"/>
          <a:lstStyle/>
          <a:p>
            <a:pPr marL="0" indent="0">
              <a:lnSpc>
                <a:spcPct val="125000"/>
              </a:lnSpc>
              <a:buNone/>
            </a:pPr>
            <a:r>
              <a:rPr lang="en-US" sz="1700" dirty="0">
                <a:solidFill>
                  <a:srgbClr val="AEB8AE"/>
                </a:solidFill>
                <a:latin typeface="Calibri" pitchFamily="34" charset="0"/>
                <a:ea typeface="Calibri" pitchFamily="34" charset="-122"/>
                <a:cs typeface="Calibri" pitchFamily="34" charset="-120"/>
              </a:rPr>
              <a:t>FoodMind turns food and nutrition data into personalized, actionable intelligence — helping businesses operate more efficiently, improve user experience, and unlock new growth opportunities.</a:t>
            </a:r>
            <a:endParaRPr lang="en-US" sz="1700" dirty="0"/>
          </a:p>
        </p:txBody>
      </p:sp>
      <p:sp>
        <p:nvSpPr>
          <p:cNvPr id="5" name="Shape 3"/>
          <p:cNvSpPr/>
          <p:nvPr/>
        </p:nvSpPr>
        <p:spPr>
          <a:xfrm>
            <a:off x="640080" y="2697480"/>
            <a:ext cx="3429000" cy="3063240"/>
          </a:xfrm>
          <a:prstGeom prst="roundRect">
            <a:avLst>
              <a:gd name="adj" fmla="val 4179"/>
            </a:avLst>
          </a:prstGeom>
          <a:solidFill>
            <a:srgbClr val="171B17"/>
          </a:solidFill>
          <a:ln w="12700">
            <a:solidFill>
              <a:srgbClr val="2A302A"/>
            </a:solidFill>
            <a:prstDash val="solid"/>
          </a:ln>
        </p:spPr>
        <p:txBody>
          <a:bodyPr/>
          <a:lstStyle/>
          <a:p>
            <a:endParaRPr lang="en-CN"/>
          </a:p>
        </p:txBody>
      </p:sp>
      <p:sp>
        <p:nvSpPr>
          <p:cNvPr id="6" name="Shape 4"/>
          <p:cNvSpPr/>
          <p:nvPr/>
        </p:nvSpPr>
        <p:spPr>
          <a:xfrm>
            <a:off x="914400" y="2990088"/>
            <a:ext cx="2377440" cy="365760"/>
          </a:xfrm>
          <a:prstGeom prst="roundRect">
            <a:avLst>
              <a:gd name="adj" fmla="val 50000"/>
            </a:avLst>
          </a:prstGeom>
          <a:solidFill>
            <a:srgbClr val="D9EF74"/>
          </a:solidFill>
          <a:ln/>
        </p:spPr>
        <p:txBody>
          <a:bodyPr/>
          <a:lstStyle/>
          <a:p>
            <a:endParaRPr lang="en-CN"/>
          </a:p>
        </p:txBody>
      </p:sp>
      <p:sp>
        <p:nvSpPr>
          <p:cNvPr id="7" name="Text 5"/>
          <p:cNvSpPr/>
          <p:nvPr/>
        </p:nvSpPr>
        <p:spPr>
          <a:xfrm>
            <a:off x="914400" y="2990088"/>
            <a:ext cx="2377440" cy="365760"/>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EFFICIENCY</a:t>
            </a:r>
            <a:endParaRPr lang="en-US" sz="1200" dirty="0"/>
          </a:p>
        </p:txBody>
      </p:sp>
      <p:sp>
        <p:nvSpPr>
          <p:cNvPr id="8" name="Text 6"/>
          <p:cNvSpPr/>
          <p:nvPr/>
        </p:nvSpPr>
        <p:spPr>
          <a:xfrm>
            <a:off x="914400" y="3611880"/>
            <a:ext cx="2880360" cy="777240"/>
          </a:xfrm>
          <a:prstGeom prst="rect">
            <a:avLst/>
          </a:prstGeom>
          <a:noFill/>
          <a:ln/>
        </p:spPr>
        <p:txBody>
          <a:bodyPr wrap="square" lIns="0" tIns="0" rIns="0" bIns="0" rtlCol="0" anchor="ctr"/>
          <a:lstStyle/>
          <a:p>
            <a:pPr marL="0" indent="0">
              <a:lnSpc>
                <a:spcPct val="112000"/>
              </a:lnSpc>
              <a:buNone/>
            </a:pPr>
            <a:r>
              <a:rPr lang="en-US" sz="1700" b="1" dirty="0">
                <a:solidFill>
                  <a:srgbClr val="FFFFFF"/>
                </a:solidFill>
                <a:latin typeface="Calibri" pitchFamily="34" charset="0"/>
                <a:ea typeface="Calibri" pitchFamily="34" charset="-122"/>
                <a:cs typeface="Calibri" pitchFamily="34" charset="-120"/>
              </a:rPr>
              <a:t>Less manual work, faster decisions</a:t>
            </a:r>
            <a:endParaRPr lang="en-US" sz="1700" dirty="0"/>
          </a:p>
        </p:txBody>
      </p:sp>
      <p:sp>
        <p:nvSpPr>
          <p:cNvPr id="9" name="Text 7"/>
          <p:cNvSpPr/>
          <p:nvPr/>
        </p:nvSpPr>
        <p:spPr>
          <a:xfrm>
            <a:off x="914400" y="4389120"/>
            <a:ext cx="2880360" cy="1280160"/>
          </a:xfrm>
          <a:prstGeom prst="rect">
            <a:avLst/>
          </a:prstGeom>
          <a:noFill/>
          <a:ln/>
        </p:spPr>
        <p:txBody>
          <a:bodyPr wrap="square" lIns="0" tIns="0" rIns="0" bIns="0" rtlCol="0" anchor="ctr"/>
          <a:lstStyle/>
          <a:p>
            <a:pPr marL="0" indent="0">
              <a:lnSpc>
                <a:spcPct val="128000"/>
              </a:lnSpc>
              <a:buNone/>
            </a:pPr>
            <a:r>
              <a:rPr lang="en-US" sz="1400" dirty="0">
                <a:solidFill>
                  <a:srgbClr val="C6D0C8"/>
                </a:solidFill>
                <a:latin typeface="Calibri" pitchFamily="34" charset="0"/>
                <a:ea typeface="Calibri" pitchFamily="34" charset="-122"/>
                <a:cs typeface="Calibri" pitchFamily="34" charset="-120"/>
              </a:rPr>
              <a:t>FoodMind cuts the time spent on manual analysis, menu planning, nutrition judgment and user matching — so teams decide faster.</a:t>
            </a:r>
            <a:endParaRPr lang="en-US" sz="1400" dirty="0"/>
          </a:p>
        </p:txBody>
      </p:sp>
      <p:sp>
        <p:nvSpPr>
          <p:cNvPr id="10" name="Shape 8"/>
          <p:cNvSpPr/>
          <p:nvPr/>
        </p:nvSpPr>
        <p:spPr>
          <a:xfrm>
            <a:off x="4389120" y="2697480"/>
            <a:ext cx="3429000" cy="3063240"/>
          </a:xfrm>
          <a:prstGeom prst="roundRect">
            <a:avLst>
              <a:gd name="adj" fmla="val 4179"/>
            </a:avLst>
          </a:prstGeom>
          <a:solidFill>
            <a:srgbClr val="171B17"/>
          </a:solidFill>
          <a:ln w="12700">
            <a:solidFill>
              <a:srgbClr val="2A302A"/>
            </a:solidFill>
            <a:prstDash val="solid"/>
          </a:ln>
        </p:spPr>
        <p:txBody>
          <a:bodyPr/>
          <a:lstStyle/>
          <a:p>
            <a:endParaRPr lang="en-CN"/>
          </a:p>
        </p:txBody>
      </p:sp>
      <p:sp>
        <p:nvSpPr>
          <p:cNvPr id="11" name="Shape 9"/>
          <p:cNvSpPr/>
          <p:nvPr/>
        </p:nvSpPr>
        <p:spPr>
          <a:xfrm>
            <a:off x="4663440" y="2990088"/>
            <a:ext cx="2377440" cy="365760"/>
          </a:xfrm>
          <a:prstGeom prst="roundRect">
            <a:avLst>
              <a:gd name="adj" fmla="val 50000"/>
            </a:avLst>
          </a:prstGeom>
          <a:solidFill>
            <a:srgbClr val="D9EF74"/>
          </a:solidFill>
          <a:ln/>
        </p:spPr>
        <p:txBody>
          <a:bodyPr/>
          <a:lstStyle/>
          <a:p>
            <a:endParaRPr lang="en-CN"/>
          </a:p>
        </p:txBody>
      </p:sp>
      <p:sp>
        <p:nvSpPr>
          <p:cNvPr id="12" name="Text 10"/>
          <p:cNvSpPr/>
          <p:nvPr/>
        </p:nvSpPr>
        <p:spPr>
          <a:xfrm>
            <a:off x="4663440" y="2990088"/>
            <a:ext cx="2377440" cy="365760"/>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PERSONALIZATION</a:t>
            </a:r>
            <a:endParaRPr lang="en-US" sz="1200" dirty="0"/>
          </a:p>
        </p:txBody>
      </p:sp>
      <p:sp>
        <p:nvSpPr>
          <p:cNvPr id="13" name="Text 11"/>
          <p:cNvSpPr/>
          <p:nvPr/>
        </p:nvSpPr>
        <p:spPr>
          <a:xfrm>
            <a:off x="4663440" y="3611880"/>
            <a:ext cx="2880360" cy="777240"/>
          </a:xfrm>
          <a:prstGeom prst="rect">
            <a:avLst/>
          </a:prstGeom>
          <a:noFill/>
          <a:ln/>
        </p:spPr>
        <p:txBody>
          <a:bodyPr wrap="square" lIns="0" tIns="0" rIns="0" bIns="0" rtlCol="0" anchor="ctr"/>
          <a:lstStyle/>
          <a:p>
            <a:pPr marL="0" indent="0">
              <a:lnSpc>
                <a:spcPct val="112000"/>
              </a:lnSpc>
              <a:buNone/>
            </a:pPr>
            <a:r>
              <a:rPr lang="en-US" sz="1700" b="1" dirty="0">
                <a:solidFill>
                  <a:srgbClr val="FFFFFF"/>
                </a:solidFill>
                <a:latin typeface="Calibri" pitchFamily="34" charset="0"/>
                <a:ea typeface="Calibri" pitchFamily="34" charset="-122"/>
                <a:cs typeface="Calibri" pitchFamily="34" charset="-120"/>
              </a:rPr>
              <a:t>Recommendations tuned to each user</a:t>
            </a:r>
            <a:endParaRPr lang="en-US" sz="1700" dirty="0"/>
          </a:p>
        </p:txBody>
      </p:sp>
      <p:sp>
        <p:nvSpPr>
          <p:cNvPr id="14" name="Text 12"/>
          <p:cNvSpPr/>
          <p:nvPr/>
        </p:nvSpPr>
        <p:spPr>
          <a:xfrm>
            <a:off x="4663440" y="4389120"/>
            <a:ext cx="2880360" cy="1280160"/>
          </a:xfrm>
          <a:prstGeom prst="rect">
            <a:avLst/>
          </a:prstGeom>
          <a:noFill/>
          <a:ln/>
        </p:spPr>
        <p:txBody>
          <a:bodyPr wrap="square" lIns="0" tIns="0" rIns="0" bIns="0" rtlCol="0" anchor="ctr"/>
          <a:lstStyle/>
          <a:p>
            <a:pPr marL="0" indent="0">
              <a:lnSpc>
                <a:spcPct val="128000"/>
              </a:lnSpc>
              <a:buNone/>
            </a:pPr>
            <a:r>
              <a:rPr lang="en-US" sz="1400" dirty="0">
                <a:solidFill>
                  <a:srgbClr val="C6D0C8"/>
                </a:solidFill>
                <a:latin typeface="Calibri" pitchFamily="34" charset="0"/>
                <a:ea typeface="Calibri" pitchFamily="34" charset="-122"/>
                <a:cs typeface="Calibri" pitchFamily="34" charset="-120"/>
              </a:rPr>
              <a:t>Using preferences, health goals and dietary restrictions, FoodMind delivers more precise recommendations — improving user experience and retention.</a:t>
            </a:r>
            <a:endParaRPr lang="en-US" sz="1400" dirty="0"/>
          </a:p>
        </p:txBody>
      </p:sp>
      <p:sp>
        <p:nvSpPr>
          <p:cNvPr id="15" name="Shape 13"/>
          <p:cNvSpPr/>
          <p:nvPr/>
        </p:nvSpPr>
        <p:spPr>
          <a:xfrm>
            <a:off x="8138160" y="2697480"/>
            <a:ext cx="3429000" cy="3063240"/>
          </a:xfrm>
          <a:prstGeom prst="roundRect">
            <a:avLst>
              <a:gd name="adj" fmla="val 4179"/>
            </a:avLst>
          </a:prstGeom>
          <a:solidFill>
            <a:srgbClr val="171B17"/>
          </a:solidFill>
          <a:ln w="12700">
            <a:solidFill>
              <a:srgbClr val="2A302A"/>
            </a:solidFill>
            <a:prstDash val="solid"/>
          </a:ln>
        </p:spPr>
        <p:txBody>
          <a:bodyPr/>
          <a:lstStyle/>
          <a:p>
            <a:endParaRPr lang="en-CN"/>
          </a:p>
        </p:txBody>
      </p:sp>
      <p:sp>
        <p:nvSpPr>
          <p:cNvPr id="16" name="Shape 14"/>
          <p:cNvSpPr/>
          <p:nvPr/>
        </p:nvSpPr>
        <p:spPr>
          <a:xfrm>
            <a:off x="8412480" y="2990088"/>
            <a:ext cx="2377440" cy="365760"/>
          </a:xfrm>
          <a:prstGeom prst="roundRect">
            <a:avLst>
              <a:gd name="adj" fmla="val 50000"/>
            </a:avLst>
          </a:prstGeom>
          <a:solidFill>
            <a:srgbClr val="D9EF74"/>
          </a:solidFill>
          <a:ln/>
        </p:spPr>
        <p:txBody>
          <a:bodyPr/>
          <a:lstStyle/>
          <a:p>
            <a:endParaRPr lang="en-CN"/>
          </a:p>
        </p:txBody>
      </p:sp>
      <p:sp>
        <p:nvSpPr>
          <p:cNvPr id="17" name="Text 15"/>
          <p:cNvSpPr/>
          <p:nvPr/>
        </p:nvSpPr>
        <p:spPr>
          <a:xfrm>
            <a:off x="8412480" y="2990088"/>
            <a:ext cx="2377440" cy="365760"/>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REVENUE / GROWTH</a:t>
            </a:r>
            <a:endParaRPr lang="en-US" sz="1200" dirty="0"/>
          </a:p>
        </p:txBody>
      </p:sp>
      <p:sp>
        <p:nvSpPr>
          <p:cNvPr id="18" name="Text 16"/>
          <p:cNvSpPr/>
          <p:nvPr/>
        </p:nvSpPr>
        <p:spPr>
          <a:xfrm>
            <a:off x="8412480" y="3611880"/>
            <a:ext cx="2880360" cy="777240"/>
          </a:xfrm>
          <a:prstGeom prst="rect">
            <a:avLst/>
          </a:prstGeom>
          <a:noFill/>
          <a:ln/>
        </p:spPr>
        <p:txBody>
          <a:bodyPr wrap="square" lIns="0" tIns="0" rIns="0" bIns="0" rtlCol="0" anchor="ctr"/>
          <a:lstStyle/>
          <a:p>
            <a:pPr marL="0" indent="0">
              <a:lnSpc>
                <a:spcPct val="112000"/>
              </a:lnSpc>
              <a:buNone/>
            </a:pPr>
            <a:r>
              <a:rPr lang="en-US" sz="1700" b="1" dirty="0">
                <a:solidFill>
                  <a:srgbClr val="FFFFFF"/>
                </a:solidFill>
                <a:latin typeface="Calibri" pitchFamily="34" charset="0"/>
                <a:ea typeface="Calibri" pitchFamily="34" charset="-122"/>
                <a:cs typeface="Calibri" pitchFamily="34" charset="-120"/>
              </a:rPr>
              <a:t>Sharper recommendations, stronger returns</a:t>
            </a:r>
            <a:endParaRPr lang="en-US" sz="1700" dirty="0"/>
          </a:p>
        </p:txBody>
      </p:sp>
      <p:sp>
        <p:nvSpPr>
          <p:cNvPr id="19" name="Text 17"/>
          <p:cNvSpPr/>
          <p:nvPr/>
        </p:nvSpPr>
        <p:spPr>
          <a:xfrm>
            <a:off x="8412480" y="4389120"/>
            <a:ext cx="2880360" cy="1280160"/>
          </a:xfrm>
          <a:prstGeom prst="rect">
            <a:avLst/>
          </a:prstGeom>
          <a:noFill/>
          <a:ln/>
        </p:spPr>
        <p:txBody>
          <a:bodyPr wrap="square" lIns="0" tIns="0" rIns="0" bIns="0" rtlCol="0" anchor="ctr"/>
          <a:lstStyle/>
          <a:p>
            <a:pPr marL="0" indent="0">
              <a:lnSpc>
                <a:spcPct val="128000"/>
              </a:lnSpc>
              <a:buNone/>
            </a:pPr>
            <a:r>
              <a:rPr lang="en-US" sz="1400" dirty="0">
                <a:solidFill>
                  <a:srgbClr val="C6D0C8"/>
                </a:solidFill>
                <a:latin typeface="Calibri" pitchFamily="34" charset="0"/>
                <a:ea typeface="Calibri" pitchFamily="34" charset="-122"/>
                <a:cs typeface="Calibri" pitchFamily="34" charset="-120"/>
              </a:rPr>
              <a:t>More precise food recommendations, user insight and operational optimization help food, health, retail and platform businesses lift conversion, repeat use and service capacity.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buNone/>
            </a:pPr>
            <a:r>
              <a:rPr lang="en-US" sz="1300" b="1" kern="0" spc="150" dirty="0">
                <a:solidFill>
                  <a:srgbClr val="62676B"/>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640080" y="786384"/>
            <a:ext cx="9418320" cy="914400"/>
          </a:xfrm>
          <a:prstGeom prst="rect">
            <a:avLst/>
          </a:prstGeom>
          <a:noFill/>
          <a:ln/>
        </p:spPr>
        <p:txBody>
          <a:bodyPr wrap="square" lIns="0" tIns="0" rIns="0" bIns="0" rtlCol="0" anchor="t"/>
          <a:lstStyle/>
          <a:p>
            <a:pPr marL="0" indent="0" algn="l">
              <a:lnSpc>
                <a:spcPct val="103000"/>
              </a:lnSpc>
              <a:buNone/>
            </a:pPr>
            <a:r>
              <a:rPr lang="en-US" sz="3600" b="1" dirty="0">
                <a:solidFill>
                  <a:srgbClr val="111111"/>
                </a:solidFill>
                <a:latin typeface="Calibri" pitchFamily="34" charset="0"/>
                <a:ea typeface="Calibri" pitchFamily="34" charset="-122"/>
                <a:cs typeface="Calibri" pitchFamily="34" charset="-120"/>
              </a:rPr>
              <a:t>FoodMind supports the whole food journey</a:t>
            </a:r>
            <a:endParaRPr lang="en-US" sz="3600" dirty="0"/>
          </a:p>
        </p:txBody>
      </p:sp>
      <p:sp>
        <p:nvSpPr>
          <p:cNvPr id="4" name="Text 2"/>
          <p:cNvSpPr/>
          <p:nvPr/>
        </p:nvSpPr>
        <p:spPr>
          <a:xfrm>
            <a:off x="640080" y="1874520"/>
            <a:ext cx="1280160" cy="1691640"/>
          </a:xfrm>
          <a:prstGeom prst="rect">
            <a:avLst/>
          </a:prstGeom>
          <a:noFill/>
          <a:ln/>
        </p:spPr>
        <p:txBody>
          <a:bodyPr wrap="square" lIns="0" tIns="0" rIns="0" bIns="0" rtlCol="0" anchor="t"/>
          <a:lstStyle/>
          <a:p>
            <a:pPr marL="0" indent="0">
              <a:buNone/>
            </a:pPr>
            <a:r>
              <a:rPr lang="en-US" sz="1700" b="1" dirty="0">
                <a:solidFill>
                  <a:srgbClr val="62676B"/>
                </a:solidFill>
                <a:latin typeface="Calibri" pitchFamily="34" charset="0"/>
                <a:ea typeface="Calibri" pitchFamily="34" charset="-122"/>
                <a:cs typeface="Calibri" pitchFamily="34" charset="-120"/>
              </a:rPr>
              <a:t>DECIDE</a:t>
            </a:r>
            <a:endParaRPr lang="en-US" sz="1700" dirty="0"/>
          </a:p>
        </p:txBody>
      </p:sp>
      <p:grpSp>
        <p:nvGrpSpPr>
          <p:cNvPr id="39" name="Group 38">
            <a:extLst>
              <a:ext uri="{FF2B5EF4-FFF2-40B4-BE49-F238E27FC236}">
                <a16:creationId xmlns:a16="http://schemas.microsoft.com/office/drawing/2014/main" id="{8946BF50-2C7F-702D-3F74-3AC2E6BD0111}"/>
              </a:ext>
            </a:extLst>
          </p:cNvPr>
          <p:cNvGrpSpPr/>
          <p:nvPr/>
        </p:nvGrpSpPr>
        <p:grpSpPr>
          <a:xfrm>
            <a:off x="4128516" y="1883664"/>
            <a:ext cx="1965960" cy="1417320"/>
            <a:chOff x="1965960" y="1874520"/>
            <a:chExt cx="1965960" cy="1417320"/>
          </a:xfrm>
        </p:grpSpPr>
        <p:sp>
          <p:nvSpPr>
            <p:cNvPr id="5" name="Shape 3"/>
            <p:cNvSpPr/>
            <p:nvPr/>
          </p:nvSpPr>
          <p:spPr>
            <a:xfrm>
              <a:off x="1965960" y="1874520"/>
              <a:ext cx="1965960" cy="1417320"/>
            </a:xfrm>
            <a:prstGeom prst="roundRect">
              <a:avLst>
                <a:gd name="adj" fmla="val 6452"/>
              </a:avLst>
            </a:prstGeom>
            <a:solidFill>
              <a:srgbClr val="FFFFFF"/>
            </a:solidFill>
            <a:ln w="12700">
              <a:solidFill>
                <a:srgbClr val="E4E4E1"/>
              </a:solidFill>
              <a:prstDash val="solid"/>
            </a:ln>
          </p:spPr>
          <p:txBody>
            <a:bodyPr/>
            <a:lstStyle/>
            <a:p>
              <a:endParaRPr lang="en-CN"/>
            </a:p>
          </p:txBody>
        </p:sp>
        <p:sp>
          <p:nvSpPr>
            <p:cNvPr id="6" name="Text 4"/>
            <p:cNvSpPr/>
            <p:nvPr/>
          </p:nvSpPr>
          <p:spPr>
            <a:xfrm>
              <a:off x="2167128" y="2057400"/>
              <a:ext cx="914400" cy="320040"/>
            </a:xfrm>
            <a:prstGeom prst="rect">
              <a:avLst/>
            </a:prstGeom>
            <a:noFill/>
            <a:ln/>
          </p:spPr>
          <p:txBody>
            <a:bodyPr wrap="square" lIns="0" tIns="0" rIns="0" bIns="0" rtlCol="0" anchor="ctr"/>
            <a:lstStyle/>
            <a:p>
              <a:pPr marL="0" indent="0">
                <a:buNone/>
              </a:pPr>
              <a:r>
                <a:rPr lang="en-US" sz="1500" b="1" dirty="0">
                  <a:solidFill>
                    <a:srgbClr val="9AA0A6"/>
                  </a:solidFill>
                  <a:latin typeface="Calibri" pitchFamily="34" charset="0"/>
                  <a:ea typeface="Calibri" pitchFamily="34" charset="-122"/>
                  <a:cs typeface="Calibri" pitchFamily="34" charset="-120"/>
                </a:rPr>
                <a:t>02</a:t>
              </a:r>
              <a:endParaRPr lang="en-US" sz="1500" dirty="0"/>
            </a:p>
          </p:txBody>
        </p:sp>
        <p:sp>
          <p:nvSpPr>
            <p:cNvPr id="7" name="Text 5"/>
            <p:cNvSpPr/>
            <p:nvPr/>
          </p:nvSpPr>
          <p:spPr>
            <a:xfrm>
              <a:off x="2167128" y="2386584"/>
              <a:ext cx="1563624" cy="384048"/>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Discover</a:t>
              </a:r>
              <a:endParaRPr lang="en-US" sz="1600" dirty="0"/>
            </a:p>
          </p:txBody>
        </p:sp>
        <p:sp>
          <p:nvSpPr>
            <p:cNvPr id="8" name="Text 6"/>
            <p:cNvSpPr/>
            <p:nvPr/>
          </p:nvSpPr>
          <p:spPr>
            <a:xfrm>
              <a:off x="2167128" y="2770632"/>
              <a:ext cx="1563624" cy="457200"/>
            </a:xfrm>
            <a:prstGeom prst="rect">
              <a:avLst/>
            </a:prstGeom>
            <a:noFill/>
            <a:ln/>
          </p:spPr>
          <p:txBody>
            <a:bodyPr wrap="square" lIns="0" tIns="0" rIns="0" bIns="0" rtlCol="0" anchor="ctr"/>
            <a:lstStyle/>
            <a:p>
              <a:pPr marL="0" indent="0">
                <a:lnSpc>
                  <a:spcPct val="115000"/>
                </a:lnSpc>
                <a:buNone/>
              </a:pPr>
              <a:r>
                <a:rPr lang="en-US" sz="1250" dirty="0">
                  <a:solidFill>
                    <a:srgbClr val="62676B"/>
                  </a:solidFill>
                  <a:latin typeface="Calibri" pitchFamily="34" charset="0"/>
                  <a:ea typeface="Calibri" pitchFamily="34" charset="-122"/>
                  <a:cs typeface="Calibri" pitchFamily="34" charset="-120"/>
                </a:rPr>
                <a:t>Explore shared ideas</a:t>
              </a:r>
              <a:endParaRPr lang="en-US" sz="1250" dirty="0"/>
            </a:p>
          </p:txBody>
        </p:sp>
      </p:grpSp>
      <p:grpSp>
        <p:nvGrpSpPr>
          <p:cNvPr id="41" name="Group 40">
            <a:extLst>
              <a:ext uri="{FF2B5EF4-FFF2-40B4-BE49-F238E27FC236}">
                <a16:creationId xmlns:a16="http://schemas.microsoft.com/office/drawing/2014/main" id="{EB1DC914-1B41-0AAD-9BC2-10363932792E}"/>
              </a:ext>
            </a:extLst>
          </p:cNvPr>
          <p:cNvGrpSpPr/>
          <p:nvPr/>
        </p:nvGrpSpPr>
        <p:grpSpPr>
          <a:xfrm>
            <a:off x="6300216" y="1883664"/>
            <a:ext cx="1965960" cy="1417320"/>
            <a:chOff x="4133088" y="1874520"/>
            <a:chExt cx="1965960" cy="1417320"/>
          </a:xfrm>
        </p:grpSpPr>
        <p:sp>
          <p:nvSpPr>
            <p:cNvPr id="9" name="Shape 7"/>
            <p:cNvSpPr/>
            <p:nvPr/>
          </p:nvSpPr>
          <p:spPr>
            <a:xfrm>
              <a:off x="4133088" y="1874520"/>
              <a:ext cx="1965960" cy="1417320"/>
            </a:xfrm>
            <a:prstGeom prst="roundRect">
              <a:avLst>
                <a:gd name="adj" fmla="val 6452"/>
              </a:avLst>
            </a:prstGeom>
            <a:solidFill>
              <a:srgbClr val="FFFFFF"/>
            </a:solidFill>
            <a:ln w="12700">
              <a:solidFill>
                <a:srgbClr val="E4E4E1"/>
              </a:solidFill>
              <a:prstDash val="solid"/>
            </a:ln>
          </p:spPr>
          <p:txBody>
            <a:bodyPr/>
            <a:lstStyle/>
            <a:p>
              <a:endParaRPr lang="en-CN"/>
            </a:p>
          </p:txBody>
        </p:sp>
        <p:sp>
          <p:nvSpPr>
            <p:cNvPr id="10" name="Text 8"/>
            <p:cNvSpPr/>
            <p:nvPr/>
          </p:nvSpPr>
          <p:spPr>
            <a:xfrm>
              <a:off x="4334256" y="2057400"/>
              <a:ext cx="914400" cy="320040"/>
            </a:xfrm>
            <a:prstGeom prst="rect">
              <a:avLst/>
            </a:prstGeom>
            <a:noFill/>
            <a:ln/>
          </p:spPr>
          <p:txBody>
            <a:bodyPr wrap="square" lIns="0" tIns="0" rIns="0" bIns="0" rtlCol="0" anchor="ctr"/>
            <a:lstStyle/>
            <a:p>
              <a:pPr marL="0" indent="0">
                <a:buNone/>
              </a:pPr>
              <a:r>
                <a:rPr lang="en-US" sz="1500" b="1" dirty="0">
                  <a:solidFill>
                    <a:srgbClr val="9AA0A6"/>
                  </a:solidFill>
                  <a:latin typeface="Calibri" pitchFamily="34" charset="0"/>
                  <a:ea typeface="Calibri" pitchFamily="34" charset="-122"/>
                  <a:cs typeface="Calibri" pitchFamily="34" charset="-120"/>
                </a:rPr>
                <a:t>03</a:t>
              </a:r>
              <a:endParaRPr lang="en-US" sz="1500" dirty="0"/>
            </a:p>
          </p:txBody>
        </p:sp>
        <p:sp>
          <p:nvSpPr>
            <p:cNvPr id="11" name="Text 9"/>
            <p:cNvSpPr/>
            <p:nvPr/>
          </p:nvSpPr>
          <p:spPr>
            <a:xfrm>
              <a:off x="4334256" y="2386584"/>
              <a:ext cx="1563624" cy="384048"/>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Save</a:t>
              </a:r>
              <a:endParaRPr lang="en-US" sz="1600" dirty="0"/>
            </a:p>
          </p:txBody>
        </p:sp>
        <p:sp>
          <p:nvSpPr>
            <p:cNvPr id="12" name="Text 10"/>
            <p:cNvSpPr/>
            <p:nvPr/>
          </p:nvSpPr>
          <p:spPr>
            <a:xfrm>
              <a:off x="4334256" y="2770632"/>
              <a:ext cx="1563624" cy="457200"/>
            </a:xfrm>
            <a:prstGeom prst="rect">
              <a:avLst/>
            </a:prstGeom>
            <a:noFill/>
            <a:ln/>
          </p:spPr>
          <p:txBody>
            <a:bodyPr wrap="square" lIns="0" tIns="0" rIns="0" bIns="0" rtlCol="0" anchor="ctr"/>
            <a:lstStyle/>
            <a:p>
              <a:pPr marL="0" indent="0">
                <a:lnSpc>
                  <a:spcPct val="115000"/>
                </a:lnSpc>
                <a:buNone/>
              </a:pPr>
              <a:r>
                <a:rPr lang="en-US" sz="1250" dirty="0">
                  <a:solidFill>
                    <a:srgbClr val="62676B"/>
                  </a:solidFill>
                  <a:latin typeface="Calibri" pitchFamily="34" charset="0"/>
                  <a:ea typeface="Calibri" pitchFamily="34" charset="-122"/>
                  <a:cs typeface="Calibri" pitchFamily="34" charset="-120"/>
                </a:rPr>
                <a:t>Want to Try shortlist</a:t>
              </a:r>
              <a:endParaRPr lang="en-US" sz="1250" dirty="0"/>
            </a:p>
          </p:txBody>
        </p:sp>
      </p:grpSp>
      <p:grpSp>
        <p:nvGrpSpPr>
          <p:cNvPr id="42" name="Group 41">
            <a:extLst>
              <a:ext uri="{FF2B5EF4-FFF2-40B4-BE49-F238E27FC236}">
                <a16:creationId xmlns:a16="http://schemas.microsoft.com/office/drawing/2014/main" id="{41F7E683-AB44-5CD2-D282-F1B4CD79FAFC}"/>
              </a:ext>
            </a:extLst>
          </p:cNvPr>
          <p:cNvGrpSpPr/>
          <p:nvPr/>
        </p:nvGrpSpPr>
        <p:grpSpPr>
          <a:xfrm>
            <a:off x="8467344" y="1883664"/>
            <a:ext cx="1965960" cy="1417320"/>
            <a:chOff x="6300216" y="1874520"/>
            <a:chExt cx="1965960" cy="1417320"/>
          </a:xfrm>
        </p:grpSpPr>
        <p:sp>
          <p:nvSpPr>
            <p:cNvPr id="13" name="Shape 11"/>
            <p:cNvSpPr/>
            <p:nvPr/>
          </p:nvSpPr>
          <p:spPr>
            <a:xfrm>
              <a:off x="6300216" y="1874520"/>
              <a:ext cx="1965960" cy="1417320"/>
            </a:xfrm>
            <a:prstGeom prst="roundRect">
              <a:avLst>
                <a:gd name="adj" fmla="val 6452"/>
              </a:avLst>
            </a:prstGeom>
            <a:solidFill>
              <a:srgbClr val="FFFFFF"/>
            </a:solidFill>
            <a:ln w="12700">
              <a:solidFill>
                <a:srgbClr val="E4E4E1"/>
              </a:solidFill>
              <a:prstDash val="solid"/>
            </a:ln>
          </p:spPr>
          <p:txBody>
            <a:bodyPr/>
            <a:lstStyle/>
            <a:p>
              <a:endParaRPr lang="en-CN"/>
            </a:p>
          </p:txBody>
        </p:sp>
        <p:sp>
          <p:nvSpPr>
            <p:cNvPr id="14" name="Text 12"/>
            <p:cNvSpPr/>
            <p:nvPr/>
          </p:nvSpPr>
          <p:spPr>
            <a:xfrm>
              <a:off x="6501384" y="2057400"/>
              <a:ext cx="914400" cy="320040"/>
            </a:xfrm>
            <a:prstGeom prst="rect">
              <a:avLst/>
            </a:prstGeom>
            <a:noFill/>
            <a:ln/>
          </p:spPr>
          <p:txBody>
            <a:bodyPr wrap="square" lIns="0" tIns="0" rIns="0" bIns="0" rtlCol="0" anchor="ctr"/>
            <a:lstStyle/>
            <a:p>
              <a:pPr marL="0" indent="0">
                <a:buNone/>
              </a:pPr>
              <a:r>
                <a:rPr lang="en-US" sz="1500" b="1" dirty="0">
                  <a:solidFill>
                    <a:srgbClr val="9AA0A6"/>
                  </a:solidFill>
                  <a:latin typeface="Calibri" pitchFamily="34" charset="0"/>
                  <a:ea typeface="Calibri" pitchFamily="34" charset="-122"/>
                  <a:cs typeface="Calibri" pitchFamily="34" charset="-120"/>
                </a:rPr>
                <a:t>04</a:t>
              </a:r>
              <a:endParaRPr lang="en-US" sz="1500" dirty="0"/>
            </a:p>
          </p:txBody>
        </p:sp>
        <p:sp>
          <p:nvSpPr>
            <p:cNvPr id="15" name="Text 13"/>
            <p:cNvSpPr/>
            <p:nvPr/>
          </p:nvSpPr>
          <p:spPr>
            <a:xfrm>
              <a:off x="6501384" y="2386584"/>
              <a:ext cx="1563624" cy="384048"/>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Groups</a:t>
              </a:r>
              <a:endParaRPr lang="en-US" sz="1600" dirty="0"/>
            </a:p>
          </p:txBody>
        </p:sp>
        <p:sp>
          <p:nvSpPr>
            <p:cNvPr id="16" name="Text 14"/>
            <p:cNvSpPr/>
            <p:nvPr/>
          </p:nvSpPr>
          <p:spPr>
            <a:xfrm>
              <a:off x="6501384" y="2770632"/>
              <a:ext cx="1563624" cy="457200"/>
            </a:xfrm>
            <a:prstGeom prst="rect">
              <a:avLst/>
            </a:prstGeom>
            <a:noFill/>
            <a:ln/>
          </p:spPr>
          <p:txBody>
            <a:bodyPr wrap="square" lIns="0" tIns="0" rIns="0" bIns="0" rtlCol="0" anchor="ctr"/>
            <a:lstStyle/>
            <a:p>
              <a:pPr marL="0" indent="0">
                <a:lnSpc>
                  <a:spcPct val="115000"/>
                </a:lnSpc>
                <a:buNone/>
              </a:pPr>
              <a:r>
                <a:rPr lang="en-US" sz="1250" dirty="0">
                  <a:solidFill>
                    <a:srgbClr val="62676B"/>
                  </a:solidFill>
                  <a:latin typeface="Calibri" pitchFamily="34" charset="0"/>
                  <a:ea typeface="Calibri" pitchFamily="34" charset="-122"/>
                  <a:cs typeface="Calibri" pitchFamily="34" charset="-120"/>
                </a:rPr>
                <a:t>Trusted sharing</a:t>
              </a:r>
              <a:endParaRPr lang="en-US" sz="1250" dirty="0"/>
            </a:p>
          </p:txBody>
        </p:sp>
      </p:grpSp>
      <p:grpSp>
        <p:nvGrpSpPr>
          <p:cNvPr id="40" name="Group 39">
            <a:extLst>
              <a:ext uri="{FF2B5EF4-FFF2-40B4-BE49-F238E27FC236}">
                <a16:creationId xmlns:a16="http://schemas.microsoft.com/office/drawing/2014/main" id="{F5915A06-D6FE-B3A7-8037-3D9F67860D30}"/>
              </a:ext>
            </a:extLst>
          </p:cNvPr>
          <p:cNvGrpSpPr/>
          <p:nvPr/>
        </p:nvGrpSpPr>
        <p:grpSpPr>
          <a:xfrm>
            <a:off x="1965960" y="1883664"/>
            <a:ext cx="1965960" cy="1417320"/>
            <a:chOff x="8467344" y="1874520"/>
            <a:chExt cx="1965960" cy="1417320"/>
          </a:xfrm>
        </p:grpSpPr>
        <p:sp>
          <p:nvSpPr>
            <p:cNvPr id="17" name="Shape 15"/>
            <p:cNvSpPr/>
            <p:nvPr/>
          </p:nvSpPr>
          <p:spPr>
            <a:xfrm>
              <a:off x="8467344" y="1874520"/>
              <a:ext cx="1965960" cy="1417320"/>
            </a:xfrm>
            <a:prstGeom prst="roundRect">
              <a:avLst>
                <a:gd name="adj" fmla="val 6452"/>
              </a:avLst>
            </a:prstGeom>
            <a:solidFill>
              <a:srgbClr val="FFFFFF"/>
            </a:solidFill>
            <a:ln w="12700">
              <a:solidFill>
                <a:srgbClr val="E4E4E1"/>
              </a:solidFill>
              <a:prstDash val="solid"/>
            </a:ln>
          </p:spPr>
          <p:txBody>
            <a:bodyPr/>
            <a:lstStyle/>
            <a:p>
              <a:endParaRPr lang="en-CN"/>
            </a:p>
          </p:txBody>
        </p:sp>
        <p:sp>
          <p:nvSpPr>
            <p:cNvPr id="18" name="Text 16"/>
            <p:cNvSpPr/>
            <p:nvPr/>
          </p:nvSpPr>
          <p:spPr>
            <a:xfrm>
              <a:off x="8668512" y="2057400"/>
              <a:ext cx="914400" cy="320040"/>
            </a:xfrm>
            <a:prstGeom prst="rect">
              <a:avLst/>
            </a:prstGeom>
            <a:noFill/>
            <a:ln/>
          </p:spPr>
          <p:txBody>
            <a:bodyPr wrap="square" lIns="0" tIns="0" rIns="0" bIns="0" rtlCol="0" anchor="ctr"/>
            <a:lstStyle/>
            <a:p>
              <a:pPr marL="0" indent="0">
                <a:buNone/>
              </a:pPr>
              <a:r>
                <a:rPr lang="en-US" sz="1500" b="1" dirty="0">
                  <a:solidFill>
                    <a:srgbClr val="9AA0A6"/>
                  </a:solidFill>
                  <a:latin typeface="Calibri" pitchFamily="34" charset="0"/>
                  <a:ea typeface="Calibri" pitchFamily="34" charset="-122"/>
                  <a:cs typeface="Calibri" pitchFamily="34" charset="-120"/>
                </a:rPr>
                <a:t>01</a:t>
              </a:r>
              <a:endParaRPr lang="en-US" sz="1500" dirty="0"/>
            </a:p>
          </p:txBody>
        </p:sp>
        <p:sp>
          <p:nvSpPr>
            <p:cNvPr id="19" name="Text 17"/>
            <p:cNvSpPr/>
            <p:nvPr/>
          </p:nvSpPr>
          <p:spPr>
            <a:xfrm>
              <a:off x="8668512" y="2386584"/>
              <a:ext cx="1563624" cy="384048"/>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Recommend</a:t>
              </a:r>
              <a:endParaRPr lang="en-US" sz="1600" dirty="0"/>
            </a:p>
          </p:txBody>
        </p:sp>
        <p:sp>
          <p:nvSpPr>
            <p:cNvPr id="20" name="Text 18"/>
            <p:cNvSpPr/>
            <p:nvPr/>
          </p:nvSpPr>
          <p:spPr>
            <a:xfrm>
              <a:off x="8668512" y="2770632"/>
              <a:ext cx="1563624" cy="457200"/>
            </a:xfrm>
            <a:prstGeom prst="rect">
              <a:avLst/>
            </a:prstGeom>
            <a:noFill/>
            <a:ln/>
          </p:spPr>
          <p:txBody>
            <a:bodyPr wrap="square" lIns="0" tIns="0" rIns="0" bIns="0" rtlCol="0" anchor="ctr"/>
            <a:lstStyle/>
            <a:p>
              <a:pPr marL="0" indent="0">
                <a:lnSpc>
                  <a:spcPct val="115000"/>
                </a:lnSpc>
                <a:buNone/>
              </a:pPr>
              <a:r>
                <a:rPr lang="en-US" sz="1250" dirty="0">
                  <a:solidFill>
                    <a:srgbClr val="62676B"/>
                  </a:solidFill>
                  <a:latin typeface="Calibri" pitchFamily="34" charset="0"/>
                  <a:ea typeface="Calibri" pitchFamily="34" charset="-122"/>
                  <a:cs typeface="Calibri" pitchFamily="34" charset="-120"/>
                </a:rPr>
                <a:t>Context + reasons</a:t>
              </a:r>
              <a:endParaRPr lang="en-US" sz="1250" dirty="0"/>
            </a:p>
          </p:txBody>
        </p:sp>
      </p:grpSp>
      <p:sp>
        <p:nvSpPr>
          <p:cNvPr id="21" name="Text 19"/>
          <p:cNvSpPr/>
          <p:nvPr/>
        </p:nvSpPr>
        <p:spPr>
          <a:xfrm>
            <a:off x="640080" y="3657600"/>
            <a:ext cx="1280160" cy="1691640"/>
          </a:xfrm>
          <a:prstGeom prst="rect">
            <a:avLst/>
          </a:prstGeom>
          <a:noFill/>
          <a:ln/>
        </p:spPr>
        <p:txBody>
          <a:bodyPr wrap="square" lIns="0" tIns="0" rIns="0" bIns="0" rtlCol="0" anchor="t"/>
          <a:lstStyle/>
          <a:p>
            <a:pPr marL="0" indent="0">
              <a:buNone/>
            </a:pPr>
            <a:r>
              <a:rPr lang="en-US" sz="1700" b="1" dirty="0">
                <a:solidFill>
                  <a:srgbClr val="62676B"/>
                </a:solidFill>
                <a:latin typeface="Calibri" pitchFamily="34" charset="0"/>
                <a:ea typeface="Calibri" pitchFamily="34" charset="-122"/>
                <a:cs typeface="Calibri" pitchFamily="34" charset="-120"/>
              </a:rPr>
              <a:t>COOK</a:t>
            </a:r>
            <a:endParaRPr lang="en-US" sz="1700" dirty="0"/>
          </a:p>
        </p:txBody>
      </p:sp>
      <p:sp>
        <p:nvSpPr>
          <p:cNvPr id="22" name="Shape 20"/>
          <p:cNvSpPr/>
          <p:nvPr/>
        </p:nvSpPr>
        <p:spPr>
          <a:xfrm>
            <a:off x="1965960" y="3657600"/>
            <a:ext cx="1965960" cy="1417320"/>
          </a:xfrm>
          <a:prstGeom prst="roundRect">
            <a:avLst>
              <a:gd name="adj" fmla="val 6452"/>
            </a:avLst>
          </a:prstGeom>
          <a:solidFill>
            <a:srgbClr val="FFFFFF"/>
          </a:solidFill>
          <a:ln w="12700">
            <a:solidFill>
              <a:srgbClr val="E4E4E1"/>
            </a:solidFill>
            <a:prstDash val="solid"/>
          </a:ln>
        </p:spPr>
        <p:txBody>
          <a:bodyPr/>
          <a:lstStyle/>
          <a:p>
            <a:endParaRPr lang="en-CN"/>
          </a:p>
        </p:txBody>
      </p:sp>
      <p:sp>
        <p:nvSpPr>
          <p:cNvPr id="23" name="Text 21"/>
          <p:cNvSpPr/>
          <p:nvPr/>
        </p:nvSpPr>
        <p:spPr>
          <a:xfrm>
            <a:off x="2167128" y="3840480"/>
            <a:ext cx="914400" cy="320040"/>
          </a:xfrm>
          <a:prstGeom prst="rect">
            <a:avLst/>
          </a:prstGeom>
          <a:noFill/>
          <a:ln/>
        </p:spPr>
        <p:txBody>
          <a:bodyPr wrap="square" lIns="0" tIns="0" rIns="0" bIns="0" rtlCol="0" anchor="ctr"/>
          <a:lstStyle/>
          <a:p>
            <a:pPr marL="0" indent="0">
              <a:buNone/>
            </a:pPr>
            <a:r>
              <a:rPr lang="en-US" sz="1500" b="1" dirty="0">
                <a:solidFill>
                  <a:srgbClr val="9AA0A6"/>
                </a:solidFill>
                <a:latin typeface="Calibri" pitchFamily="34" charset="0"/>
                <a:ea typeface="Calibri" pitchFamily="34" charset="-122"/>
                <a:cs typeface="Calibri" pitchFamily="34" charset="-120"/>
              </a:rPr>
              <a:t>01</a:t>
            </a:r>
            <a:endParaRPr lang="en-US" sz="1500" dirty="0"/>
          </a:p>
        </p:txBody>
      </p:sp>
      <p:sp>
        <p:nvSpPr>
          <p:cNvPr id="24" name="Text 22"/>
          <p:cNvSpPr/>
          <p:nvPr/>
        </p:nvSpPr>
        <p:spPr>
          <a:xfrm>
            <a:off x="2167128" y="4169664"/>
            <a:ext cx="1563624" cy="384048"/>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Recipes</a:t>
            </a:r>
            <a:endParaRPr lang="en-US" sz="1600" dirty="0"/>
          </a:p>
        </p:txBody>
      </p:sp>
      <p:sp>
        <p:nvSpPr>
          <p:cNvPr id="25" name="Text 23"/>
          <p:cNvSpPr/>
          <p:nvPr/>
        </p:nvSpPr>
        <p:spPr>
          <a:xfrm>
            <a:off x="2167128" y="4553712"/>
            <a:ext cx="1563624" cy="457200"/>
          </a:xfrm>
          <a:prstGeom prst="rect">
            <a:avLst/>
          </a:prstGeom>
          <a:noFill/>
          <a:ln/>
        </p:spPr>
        <p:txBody>
          <a:bodyPr wrap="square" lIns="0" tIns="0" rIns="0" bIns="0" rtlCol="0" anchor="ctr"/>
          <a:lstStyle/>
          <a:p>
            <a:pPr marL="0" indent="0">
              <a:lnSpc>
                <a:spcPct val="115000"/>
              </a:lnSpc>
              <a:buNone/>
            </a:pPr>
            <a:r>
              <a:rPr lang="en-US" sz="1250" dirty="0">
                <a:solidFill>
                  <a:srgbClr val="62676B"/>
                </a:solidFill>
                <a:latin typeface="Calibri" pitchFamily="34" charset="0"/>
                <a:ea typeface="Calibri" pitchFamily="34" charset="-122"/>
                <a:cs typeface="Calibri" pitchFamily="34" charset="-120"/>
              </a:rPr>
              <a:t>Import and review</a:t>
            </a:r>
            <a:endParaRPr lang="en-US" sz="1250" dirty="0"/>
          </a:p>
        </p:txBody>
      </p:sp>
      <p:sp>
        <p:nvSpPr>
          <p:cNvPr id="26" name="Shape 24"/>
          <p:cNvSpPr/>
          <p:nvPr/>
        </p:nvSpPr>
        <p:spPr>
          <a:xfrm>
            <a:off x="4133088" y="3657600"/>
            <a:ext cx="1965960" cy="1417320"/>
          </a:xfrm>
          <a:prstGeom prst="roundRect">
            <a:avLst>
              <a:gd name="adj" fmla="val 6452"/>
            </a:avLst>
          </a:prstGeom>
          <a:solidFill>
            <a:srgbClr val="FFFFFF"/>
          </a:solidFill>
          <a:ln w="12700">
            <a:solidFill>
              <a:srgbClr val="E4E4E1"/>
            </a:solidFill>
            <a:prstDash val="solid"/>
          </a:ln>
        </p:spPr>
        <p:txBody>
          <a:bodyPr/>
          <a:lstStyle/>
          <a:p>
            <a:endParaRPr lang="en-CN"/>
          </a:p>
        </p:txBody>
      </p:sp>
      <p:sp>
        <p:nvSpPr>
          <p:cNvPr id="27" name="Text 25"/>
          <p:cNvSpPr/>
          <p:nvPr/>
        </p:nvSpPr>
        <p:spPr>
          <a:xfrm>
            <a:off x="4334256" y="3840480"/>
            <a:ext cx="914400" cy="320040"/>
          </a:xfrm>
          <a:prstGeom prst="rect">
            <a:avLst/>
          </a:prstGeom>
          <a:noFill/>
          <a:ln/>
        </p:spPr>
        <p:txBody>
          <a:bodyPr wrap="square" lIns="0" tIns="0" rIns="0" bIns="0" rtlCol="0" anchor="ctr"/>
          <a:lstStyle/>
          <a:p>
            <a:pPr marL="0" indent="0">
              <a:buNone/>
            </a:pPr>
            <a:r>
              <a:rPr lang="en-US" sz="1500" b="1" dirty="0">
                <a:solidFill>
                  <a:srgbClr val="9AA0A6"/>
                </a:solidFill>
                <a:latin typeface="Calibri" pitchFamily="34" charset="0"/>
                <a:ea typeface="Calibri" pitchFamily="34" charset="-122"/>
                <a:cs typeface="Calibri" pitchFamily="34" charset="-120"/>
              </a:rPr>
              <a:t>02</a:t>
            </a:r>
            <a:endParaRPr lang="en-US" sz="1500" dirty="0"/>
          </a:p>
        </p:txBody>
      </p:sp>
      <p:sp>
        <p:nvSpPr>
          <p:cNvPr id="28" name="Text 26"/>
          <p:cNvSpPr/>
          <p:nvPr/>
        </p:nvSpPr>
        <p:spPr>
          <a:xfrm>
            <a:off x="4334256" y="4169664"/>
            <a:ext cx="1563624" cy="384048"/>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Cooking</a:t>
            </a:r>
            <a:endParaRPr lang="en-US" sz="1600" dirty="0"/>
          </a:p>
        </p:txBody>
      </p:sp>
      <p:sp>
        <p:nvSpPr>
          <p:cNvPr id="29" name="Text 27"/>
          <p:cNvSpPr/>
          <p:nvPr/>
        </p:nvSpPr>
        <p:spPr>
          <a:xfrm>
            <a:off x="4334256" y="4553712"/>
            <a:ext cx="1563624" cy="457200"/>
          </a:xfrm>
          <a:prstGeom prst="rect">
            <a:avLst/>
          </a:prstGeom>
          <a:noFill/>
          <a:ln/>
        </p:spPr>
        <p:txBody>
          <a:bodyPr wrap="square" lIns="0" tIns="0" rIns="0" bIns="0" rtlCol="0" anchor="ctr"/>
          <a:lstStyle/>
          <a:p>
            <a:pPr marL="0" indent="0">
              <a:lnSpc>
                <a:spcPct val="115000"/>
              </a:lnSpc>
              <a:buNone/>
            </a:pPr>
            <a:r>
              <a:rPr lang="en-US" sz="1250" dirty="0">
                <a:solidFill>
                  <a:srgbClr val="62676B"/>
                </a:solidFill>
                <a:latin typeface="Calibri" pitchFamily="34" charset="0"/>
                <a:ea typeface="Calibri" pitchFamily="34" charset="-122"/>
                <a:cs typeface="Calibri" pitchFamily="34" charset="-120"/>
              </a:rPr>
              <a:t>Recover, plan, execute</a:t>
            </a:r>
            <a:endParaRPr lang="en-US" sz="1250" dirty="0"/>
          </a:p>
        </p:txBody>
      </p:sp>
      <p:sp>
        <p:nvSpPr>
          <p:cNvPr id="30" name="Shape 28"/>
          <p:cNvSpPr/>
          <p:nvPr/>
        </p:nvSpPr>
        <p:spPr>
          <a:xfrm>
            <a:off x="6300216" y="3657600"/>
            <a:ext cx="1965960" cy="1417320"/>
          </a:xfrm>
          <a:prstGeom prst="roundRect">
            <a:avLst>
              <a:gd name="adj" fmla="val 6452"/>
            </a:avLst>
          </a:prstGeom>
          <a:solidFill>
            <a:srgbClr val="FFFFFF"/>
          </a:solidFill>
          <a:ln w="12700">
            <a:solidFill>
              <a:srgbClr val="E4E4E1"/>
            </a:solidFill>
            <a:prstDash val="solid"/>
          </a:ln>
        </p:spPr>
        <p:txBody>
          <a:bodyPr/>
          <a:lstStyle/>
          <a:p>
            <a:endParaRPr lang="en-CN"/>
          </a:p>
        </p:txBody>
      </p:sp>
      <p:sp>
        <p:nvSpPr>
          <p:cNvPr id="31" name="Text 29"/>
          <p:cNvSpPr/>
          <p:nvPr/>
        </p:nvSpPr>
        <p:spPr>
          <a:xfrm>
            <a:off x="6501384" y="3840480"/>
            <a:ext cx="914400" cy="320040"/>
          </a:xfrm>
          <a:prstGeom prst="rect">
            <a:avLst/>
          </a:prstGeom>
          <a:noFill/>
          <a:ln/>
        </p:spPr>
        <p:txBody>
          <a:bodyPr wrap="square" lIns="0" tIns="0" rIns="0" bIns="0" rtlCol="0" anchor="ctr"/>
          <a:lstStyle/>
          <a:p>
            <a:pPr marL="0" indent="0">
              <a:buNone/>
            </a:pPr>
            <a:r>
              <a:rPr lang="en-US" sz="1500" b="1" dirty="0">
                <a:solidFill>
                  <a:srgbClr val="9AA0A6"/>
                </a:solidFill>
                <a:latin typeface="Calibri" pitchFamily="34" charset="0"/>
                <a:ea typeface="Calibri" pitchFamily="34" charset="-122"/>
                <a:cs typeface="Calibri" pitchFamily="34" charset="-120"/>
              </a:rPr>
              <a:t>03</a:t>
            </a:r>
            <a:endParaRPr lang="en-US" sz="1500" dirty="0"/>
          </a:p>
        </p:txBody>
      </p:sp>
      <p:sp>
        <p:nvSpPr>
          <p:cNvPr id="32" name="Text 30"/>
          <p:cNvSpPr/>
          <p:nvPr/>
        </p:nvSpPr>
        <p:spPr>
          <a:xfrm>
            <a:off x="6501384" y="4169664"/>
            <a:ext cx="1563624" cy="384048"/>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Records</a:t>
            </a:r>
            <a:endParaRPr lang="en-US" sz="1600" dirty="0"/>
          </a:p>
        </p:txBody>
      </p:sp>
      <p:sp>
        <p:nvSpPr>
          <p:cNvPr id="33" name="Text 31"/>
          <p:cNvSpPr/>
          <p:nvPr/>
        </p:nvSpPr>
        <p:spPr>
          <a:xfrm>
            <a:off x="6501384" y="4553712"/>
            <a:ext cx="1563624" cy="457200"/>
          </a:xfrm>
          <a:prstGeom prst="rect">
            <a:avLst/>
          </a:prstGeom>
          <a:noFill/>
          <a:ln/>
        </p:spPr>
        <p:txBody>
          <a:bodyPr wrap="square" lIns="0" tIns="0" rIns="0" bIns="0" rtlCol="0" anchor="ctr"/>
          <a:lstStyle/>
          <a:p>
            <a:pPr marL="0" indent="0">
              <a:lnSpc>
                <a:spcPct val="115000"/>
              </a:lnSpc>
              <a:buNone/>
            </a:pPr>
            <a:r>
              <a:rPr lang="en-US" sz="1250" dirty="0">
                <a:solidFill>
                  <a:srgbClr val="62676B"/>
                </a:solidFill>
                <a:latin typeface="Calibri" pitchFamily="34" charset="0"/>
                <a:ea typeface="Calibri" pitchFamily="34" charset="-122"/>
                <a:cs typeface="Calibri" pitchFamily="34" charset="-120"/>
              </a:rPr>
              <a:t>Food &amp; Drink history</a:t>
            </a:r>
            <a:endParaRPr lang="en-US" sz="1250" dirty="0"/>
          </a:p>
        </p:txBody>
      </p:sp>
      <p:sp>
        <p:nvSpPr>
          <p:cNvPr id="34" name="Shape 32"/>
          <p:cNvSpPr/>
          <p:nvPr/>
        </p:nvSpPr>
        <p:spPr>
          <a:xfrm>
            <a:off x="8467344" y="3657600"/>
            <a:ext cx="1965960" cy="1417320"/>
          </a:xfrm>
          <a:prstGeom prst="roundRect">
            <a:avLst>
              <a:gd name="adj" fmla="val 6452"/>
            </a:avLst>
          </a:prstGeom>
          <a:solidFill>
            <a:srgbClr val="FFFFFF"/>
          </a:solidFill>
          <a:ln w="12700">
            <a:solidFill>
              <a:srgbClr val="E4E4E1"/>
            </a:solidFill>
            <a:prstDash val="solid"/>
          </a:ln>
        </p:spPr>
        <p:txBody>
          <a:bodyPr/>
          <a:lstStyle/>
          <a:p>
            <a:endParaRPr lang="en-CN"/>
          </a:p>
        </p:txBody>
      </p:sp>
      <p:sp>
        <p:nvSpPr>
          <p:cNvPr id="35" name="Text 33"/>
          <p:cNvSpPr/>
          <p:nvPr/>
        </p:nvSpPr>
        <p:spPr>
          <a:xfrm>
            <a:off x="8668512" y="3840480"/>
            <a:ext cx="914400" cy="320040"/>
          </a:xfrm>
          <a:prstGeom prst="rect">
            <a:avLst/>
          </a:prstGeom>
          <a:noFill/>
          <a:ln/>
        </p:spPr>
        <p:txBody>
          <a:bodyPr wrap="square" lIns="0" tIns="0" rIns="0" bIns="0" rtlCol="0" anchor="ctr"/>
          <a:lstStyle/>
          <a:p>
            <a:pPr marL="0" indent="0">
              <a:buNone/>
            </a:pPr>
            <a:r>
              <a:rPr lang="en-US" sz="1500" b="1" dirty="0">
                <a:solidFill>
                  <a:srgbClr val="9AA0A6"/>
                </a:solidFill>
                <a:latin typeface="Calibri" pitchFamily="34" charset="0"/>
                <a:ea typeface="Calibri" pitchFamily="34" charset="-122"/>
                <a:cs typeface="Calibri" pitchFamily="34" charset="-120"/>
              </a:rPr>
              <a:t>04</a:t>
            </a:r>
            <a:endParaRPr lang="en-US" sz="1500" dirty="0"/>
          </a:p>
        </p:txBody>
      </p:sp>
      <p:sp>
        <p:nvSpPr>
          <p:cNvPr id="36" name="Text 34"/>
          <p:cNvSpPr/>
          <p:nvPr/>
        </p:nvSpPr>
        <p:spPr>
          <a:xfrm>
            <a:off x="8668512" y="4169664"/>
            <a:ext cx="1563624" cy="384048"/>
          </a:xfrm>
          <a:prstGeom prst="rect">
            <a:avLst/>
          </a:prstGeom>
          <a:noFill/>
          <a:ln/>
        </p:spPr>
        <p:txBody>
          <a:bodyPr wrap="square" lIns="0" tIns="0" rIns="0" bIns="0"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Insights</a:t>
            </a:r>
            <a:endParaRPr lang="en-US" sz="1600" dirty="0"/>
          </a:p>
        </p:txBody>
      </p:sp>
      <p:sp>
        <p:nvSpPr>
          <p:cNvPr id="37" name="Text 35"/>
          <p:cNvSpPr/>
          <p:nvPr/>
        </p:nvSpPr>
        <p:spPr>
          <a:xfrm>
            <a:off x="8668512" y="4553712"/>
            <a:ext cx="1563624" cy="457200"/>
          </a:xfrm>
          <a:prstGeom prst="rect">
            <a:avLst/>
          </a:prstGeom>
          <a:noFill/>
          <a:ln/>
        </p:spPr>
        <p:txBody>
          <a:bodyPr wrap="square" lIns="0" tIns="0" rIns="0" bIns="0" rtlCol="0" anchor="ctr"/>
          <a:lstStyle/>
          <a:p>
            <a:pPr marL="0" indent="0">
              <a:lnSpc>
                <a:spcPct val="115000"/>
              </a:lnSpc>
              <a:buNone/>
            </a:pPr>
            <a:r>
              <a:rPr lang="en-US" sz="1250" dirty="0">
                <a:solidFill>
                  <a:srgbClr val="62676B"/>
                </a:solidFill>
                <a:latin typeface="Calibri" pitchFamily="34" charset="0"/>
                <a:ea typeface="Calibri" pitchFamily="34" charset="-122"/>
                <a:cs typeface="Calibri" pitchFamily="34" charset="-120"/>
              </a:rPr>
              <a:t>Recap + Assistant</a:t>
            </a:r>
            <a:endParaRPr lang="en-US" sz="1250" dirty="0"/>
          </a:p>
        </p:txBody>
      </p:sp>
      <p:sp>
        <p:nvSpPr>
          <p:cNvPr id="38" name="Text 36"/>
          <p:cNvSpPr/>
          <p:nvPr/>
        </p:nvSpPr>
        <p:spPr>
          <a:xfrm>
            <a:off x="640080" y="5532120"/>
            <a:ext cx="10908792" cy="457200"/>
          </a:xfrm>
          <a:prstGeom prst="rect">
            <a:avLst/>
          </a:prstGeom>
          <a:noFill/>
          <a:ln/>
        </p:spPr>
        <p:txBody>
          <a:bodyPr wrap="square" lIns="0" tIns="0" rIns="0" bIns="0" rtlCol="0" anchor="ctr"/>
          <a:lstStyle/>
          <a:p>
            <a:pPr marL="0" indent="0">
              <a:buNone/>
            </a:pPr>
            <a:r>
              <a:rPr lang="en-US" sz="1500" i="1" dirty="0">
                <a:solidFill>
                  <a:srgbClr val="9AA0A6"/>
                </a:solidFill>
                <a:latin typeface="Calibri" pitchFamily="34" charset="0"/>
                <a:ea typeface="Calibri" pitchFamily="34" charset="-122"/>
                <a:cs typeface="Calibri" pitchFamily="34" charset="-120"/>
              </a:rPr>
              <a:t>The next pages walk through Explore, Recommendation, Cooking, then everything else under Feature 4.</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buNone/>
            </a:pPr>
            <a:r>
              <a:rPr lang="en-US" sz="1300" b="1" kern="0" spc="150" dirty="0">
                <a:solidFill>
                  <a:srgbClr val="62676B"/>
                </a:solidFill>
                <a:latin typeface="Calibri" pitchFamily="34" charset="0"/>
                <a:ea typeface="Calibri" pitchFamily="34" charset="-122"/>
                <a:cs typeface="Calibri" pitchFamily="34" charset="-120"/>
              </a:rPr>
              <a:t>FEATURE 1 · RECOMMEND</a:t>
            </a:r>
            <a:endParaRPr lang="en-US" sz="1300" dirty="0"/>
          </a:p>
        </p:txBody>
      </p:sp>
      <p:sp>
        <p:nvSpPr>
          <p:cNvPr id="3" name="Text 1"/>
          <p:cNvSpPr/>
          <p:nvPr/>
        </p:nvSpPr>
        <p:spPr>
          <a:xfrm>
            <a:off x="640080" y="786384"/>
            <a:ext cx="7498080" cy="1417320"/>
          </a:xfrm>
          <a:prstGeom prst="rect">
            <a:avLst/>
          </a:prstGeom>
          <a:noFill/>
          <a:ln/>
        </p:spPr>
        <p:txBody>
          <a:bodyPr wrap="square" lIns="0" tIns="0" rIns="0" bIns="0" rtlCol="0" anchor="t"/>
          <a:lstStyle/>
          <a:p>
            <a:pPr marL="0" indent="0" algn="l">
              <a:lnSpc>
                <a:spcPct val="103000"/>
              </a:lnSpc>
              <a:buNone/>
            </a:pPr>
            <a:r>
              <a:rPr lang="en-US" sz="3600" b="1" dirty="0">
                <a:solidFill>
                  <a:srgbClr val="111111"/>
                </a:solidFill>
                <a:latin typeface="Calibri" pitchFamily="34" charset="0"/>
                <a:ea typeface="Calibri" pitchFamily="34" charset="-122"/>
                <a:cs typeface="Calibri" pitchFamily="34" charset="-120"/>
              </a:rPr>
              <a:t>Tonight’s context becomes one explained choice</a:t>
            </a:r>
            <a:endParaRPr lang="en-US" sz="3600" dirty="0"/>
          </a:p>
        </p:txBody>
      </p:sp>
      <p:sp>
        <p:nvSpPr>
          <p:cNvPr id="4" name="Shape 2"/>
          <p:cNvSpPr/>
          <p:nvPr/>
        </p:nvSpPr>
        <p:spPr>
          <a:xfrm>
            <a:off x="10317175" y="502920"/>
            <a:ext cx="1234440" cy="384048"/>
          </a:xfrm>
          <a:prstGeom prst="roundRect">
            <a:avLst>
              <a:gd name="adj" fmla="val 50000"/>
            </a:avLst>
          </a:prstGeom>
          <a:solidFill>
            <a:srgbClr val="D9EF74"/>
          </a:solidFill>
          <a:ln/>
        </p:spPr>
        <p:txBody>
          <a:bodyPr/>
          <a:lstStyle/>
          <a:p>
            <a:endParaRPr lang="en-CN"/>
          </a:p>
        </p:txBody>
      </p:sp>
      <p:sp>
        <p:nvSpPr>
          <p:cNvPr id="5" name="Text 3"/>
          <p:cNvSpPr/>
          <p:nvPr/>
        </p:nvSpPr>
        <p:spPr>
          <a:xfrm>
            <a:off x="10317175" y="502920"/>
            <a:ext cx="1234440" cy="384048"/>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DECIDE</a:t>
            </a:r>
            <a:endParaRPr lang="en-US" sz="1200" dirty="0"/>
          </a:p>
        </p:txBody>
      </p:sp>
      <p:sp>
        <p:nvSpPr>
          <p:cNvPr id="6" name="Shape 4"/>
          <p:cNvSpPr/>
          <p:nvPr/>
        </p:nvSpPr>
        <p:spPr>
          <a:xfrm>
            <a:off x="640080" y="2331720"/>
            <a:ext cx="2173986" cy="4562856"/>
          </a:xfrm>
          <a:prstGeom prst="roundRect">
            <a:avLst>
              <a:gd name="adj" fmla="val 5468"/>
            </a:avLst>
          </a:prstGeom>
          <a:solidFill>
            <a:srgbClr val="0D100D"/>
          </a:solidFill>
          <a:ln w="9525">
            <a:solidFill>
              <a:srgbClr val="2A302A"/>
            </a:solidFill>
            <a:prstDash val="solid"/>
          </a:ln>
          <a:effectLst>
            <a:outerShdw blurRad="127000" dist="38100" dir="5400000" algn="bl" rotWithShape="0">
              <a:srgbClr val="111111">
                <a:alpha val="24000"/>
              </a:srgbClr>
            </a:outerShdw>
          </a:effectLst>
        </p:spPr>
        <p:txBody>
          <a:bodyPr/>
          <a:lstStyle/>
          <a:p>
            <a:endParaRPr lang="en-CN"/>
          </a:p>
        </p:txBody>
      </p:sp>
      <p:pic>
        <p:nvPicPr>
          <p:cNvPr id="7" name="Image 0" descr="/sessions/charming-upbeat-keller/mnt/ppt-design/foodmind-features/assets/android-recommend-detail.png"/>
          <p:cNvPicPr>
            <a:picLocks noChangeAspect="1"/>
          </p:cNvPicPr>
          <p:nvPr/>
        </p:nvPicPr>
        <p:blipFill>
          <a:blip r:embed="rId3"/>
          <a:stretch>
            <a:fillRect/>
          </a:stretch>
        </p:blipFill>
        <p:spPr>
          <a:xfrm>
            <a:off x="749808" y="2441448"/>
            <a:ext cx="1954530" cy="4343400"/>
          </a:xfrm>
          <a:prstGeom prst="rect">
            <a:avLst/>
          </a:prstGeom>
        </p:spPr>
      </p:pic>
      <p:sp>
        <p:nvSpPr>
          <p:cNvPr id="8" name="Text 5"/>
          <p:cNvSpPr/>
          <p:nvPr/>
        </p:nvSpPr>
        <p:spPr>
          <a:xfrm>
            <a:off x="3408426" y="2331720"/>
            <a:ext cx="1554480" cy="256032"/>
          </a:xfrm>
          <a:prstGeom prst="rect">
            <a:avLst/>
          </a:prstGeom>
          <a:noFill/>
          <a:ln/>
        </p:spPr>
        <p:txBody>
          <a:bodyPr wrap="square" lIns="0" tIns="0" rIns="0" bIns="0" rtlCol="0" anchor="ctr"/>
          <a:lstStyle/>
          <a:p>
            <a:pPr marL="0" indent="0">
              <a:buNone/>
            </a:pPr>
            <a:r>
              <a:rPr lang="en-US" sz="1100" b="1" kern="0" spc="100" dirty="0">
                <a:solidFill>
                  <a:srgbClr val="9AA0A6"/>
                </a:solidFill>
                <a:latin typeface="Calibri" pitchFamily="34" charset="0"/>
                <a:ea typeface="Calibri" pitchFamily="34" charset="-122"/>
                <a:cs typeface="Calibri" pitchFamily="34" charset="-120"/>
              </a:rPr>
              <a:t>WHEN</a:t>
            </a:r>
            <a:endParaRPr lang="en-US" sz="1100" dirty="0"/>
          </a:p>
        </p:txBody>
      </p:sp>
      <p:sp>
        <p:nvSpPr>
          <p:cNvPr id="9" name="Text 6"/>
          <p:cNvSpPr/>
          <p:nvPr/>
        </p:nvSpPr>
        <p:spPr>
          <a:xfrm>
            <a:off x="3408426" y="2587752"/>
            <a:ext cx="1554480"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Tonight</a:t>
            </a:r>
            <a:endParaRPr lang="en-US" sz="1700" dirty="0"/>
          </a:p>
        </p:txBody>
      </p:sp>
      <p:sp>
        <p:nvSpPr>
          <p:cNvPr id="10" name="Text 7"/>
          <p:cNvSpPr/>
          <p:nvPr/>
        </p:nvSpPr>
        <p:spPr>
          <a:xfrm>
            <a:off x="5100066" y="2331720"/>
            <a:ext cx="1554480" cy="256032"/>
          </a:xfrm>
          <a:prstGeom prst="rect">
            <a:avLst/>
          </a:prstGeom>
          <a:noFill/>
          <a:ln/>
        </p:spPr>
        <p:txBody>
          <a:bodyPr wrap="square" lIns="0" tIns="0" rIns="0" bIns="0" rtlCol="0" anchor="ctr"/>
          <a:lstStyle/>
          <a:p>
            <a:pPr marL="0" indent="0">
              <a:buNone/>
            </a:pPr>
            <a:r>
              <a:rPr lang="en-US" sz="1100" b="1" kern="0" spc="100" dirty="0">
                <a:solidFill>
                  <a:srgbClr val="9AA0A6"/>
                </a:solidFill>
                <a:latin typeface="Calibri" pitchFamily="34" charset="0"/>
                <a:ea typeface="Calibri" pitchFamily="34" charset="-122"/>
                <a:cs typeface="Calibri" pitchFamily="34" charset="-120"/>
              </a:rPr>
              <a:t>AREA</a:t>
            </a:r>
            <a:endParaRPr lang="en-US" sz="1100" dirty="0"/>
          </a:p>
        </p:txBody>
      </p:sp>
      <p:sp>
        <p:nvSpPr>
          <p:cNvPr id="11" name="Text 8"/>
          <p:cNvSpPr/>
          <p:nvPr/>
        </p:nvSpPr>
        <p:spPr>
          <a:xfrm>
            <a:off x="5100066" y="2587752"/>
            <a:ext cx="1554480"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Any area</a:t>
            </a:r>
            <a:endParaRPr lang="en-US" sz="1700" dirty="0"/>
          </a:p>
        </p:txBody>
      </p:sp>
      <p:sp>
        <p:nvSpPr>
          <p:cNvPr id="12" name="Text 9"/>
          <p:cNvSpPr/>
          <p:nvPr/>
        </p:nvSpPr>
        <p:spPr>
          <a:xfrm>
            <a:off x="6791706" y="2331720"/>
            <a:ext cx="1554480" cy="256032"/>
          </a:xfrm>
          <a:prstGeom prst="rect">
            <a:avLst/>
          </a:prstGeom>
          <a:noFill/>
          <a:ln/>
        </p:spPr>
        <p:txBody>
          <a:bodyPr wrap="square" lIns="0" tIns="0" rIns="0" bIns="0" rtlCol="0" anchor="ctr"/>
          <a:lstStyle/>
          <a:p>
            <a:pPr marL="0" indent="0">
              <a:buNone/>
            </a:pPr>
            <a:r>
              <a:rPr lang="en-US" sz="1100" b="1" kern="0" spc="100" dirty="0">
                <a:solidFill>
                  <a:srgbClr val="9AA0A6"/>
                </a:solidFill>
                <a:latin typeface="Calibri" pitchFamily="34" charset="0"/>
                <a:ea typeface="Calibri" pitchFamily="34" charset="-122"/>
                <a:cs typeface="Calibri" pitchFamily="34" charset="-120"/>
              </a:rPr>
              <a:t>BUDGET</a:t>
            </a:r>
            <a:endParaRPr lang="en-US" sz="1100" dirty="0"/>
          </a:p>
        </p:txBody>
      </p:sp>
      <p:sp>
        <p:nvSpPr>
          <p:cNvPr id="13" name="Text 10"/>
          <p:cNvSpPr/>
          <p:nvPr/>
        </p:nvSpPr>
        <p:spPr>
          <a:xfrm>
            <a:off x="6791706" y="2587752"/>
            <a:ext cx="1554480"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Flexible</a:t>
            </a:r>
            <a:endParaRPr lang="en-US" sz="1700" dirty="0"/>
          </a:p>
        </p:txBody>
      </p:sp>
      <p:sp>
        <p:nvSpPr>
          <p:cNvPr id="14" name="Text 11"/>
          <p:cNvSpPr/>
          <p:nvPr/>
        </p:nvSpPr>
        <p:spPr>
          <a:xfrm>
            <a:off x="3408426" y="3200400"/>
            <a:ext cx="8143189" cy="41148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Miso Soup — at Udon Don Bar · $2.80</a:t>
            </a:r>
            <a:endParaRPr lang="en-US" sz="1700" dirty="0"/>
          </a:p>
        </p:txBody>
      </p:sp>
      <p:sp>
        <p:nvSpPr>
          <p:cNvPr id="15" name="Text 12"/>
          <p:cNvSpPr/>
          <p:nvPr/>
        </p:nvSpPr>
        <p:spPr>
          <a:xfrm>
            <a:off x="3408426" y="3630168"/>
            <a:ext cx="8143189" cy="960120"/>
          </a:xfrm>
          <a:prstGeom prst="rect">
            <a:avLst/>
          </a:prstGeom>
          <a:noFill/>
          <a:ln/>
        </p:spPr>
        <p:txBody>
          <a:bodyPr wrap="square" lIns="0" tIns="0" rIns="0" bIns="0" rtlCol="0" anchor="ctr"/>
          <a:lstStyle/>
          <a:p>
            <a:pPr marL="0" indent="0">
              <a:lnSpc>
                <a:spcPct val="130000"/>
              </a:lnSpc>
              <a:buNone/>
            </a:pPr>
            <a:r>
              <a:rPr lang="en-US" sz="1500" dirty="0">
                <a:solidFill>
                  <a:srgbClr val="62676B"/>
                </a:solidFill>
                <a:latin typeface="Calibri" pitchFamily="34" charset="0"/>
                <a:ea typeface="Calibri" pitchFamily="34" charset="-122"/>
                <a:cs typeface="Calibri" pitchFamily="34" charset="-120"/>
              </a:rPr>
              <a:t>The leading pick, two alternatives, and named reasons — cuisine match, Want to Try, preference match. Choose it, say it’s not right tonight, or turn it into a saved record.</a:t>
            </a:r>
            <a:endParaRPr lang="en-US" sz="1500" dirty="0"/>
          </a:p>
        </p:txBody>
      </p:sp>
      <p:sp>
        <p:nvSpPr>
          <p:cNvPr id="16" name="Shape 13"/>
          <p:cNvSpPr/>
          <p:nvPr/>
        </p:nvSpPr>
        <p:spPr>
          <a:xfrm>
            <a:off x="3408426" y="6144768"/>
            <a:ext cx="7548829" cy="594360"/>
          </a:xfrm>
          <a:prstGeom prst="roundRect">
            <a:avLst>
              <a:gd name="adj" fmla="val 15385"/>
            </a:avLst>
          </a:prstGeom>
          <a:solidFill>
            <a:srgbClr val="EFF6F1"/>
          </a:solidFill>
          <a:ln w="12700">
            <a:solidFill>
              <a:srgbClr val="D8E8DC"/>
            </a:solidFill>
            <a:prstDash val="solid"/>
          </a:ln>
        </p:spPr>
        <p:txBody>
          <a:bodyPr/>
          <a:lstStyle/>
          <a:p>
            <a:endParaRPr lang="en-CN"/>
          </a:p>
        </p:txBody>
      </p:sp>
      <p:sp>
        <p:nvSpPr>
          <p:cNvPr id="17" name="Text 14"/>
          <p:cNvSpPr/>
          <p:nvPr/>
        </p:nvSpPr>
        <p:spPr>
          <a:xfrm>
            <a:off x="3609594" y="6144768"/>
            <a:ext cx="7146493" cy="594360"/>
          </a:xfrm>
          <a:prstGeom prst="rect">
            <a:avLst/>
          </a:prstGeom>
          <a:noFill/>
          <a:ln/>
        </p:spPr>
        <p:txBody>
          <a:bodyPr wrap="square" lIns="0" tIns="0" rIns="0" bIns="0" rtlCol="0" anchor="ctr"/>
          <a:lstStyle/>
          <a:p>
            <a:pPr marL="0" indent="0">
              <a:lnSpc>
                <a:spcPct val="115000"/>
              </a:lnSpc>
              <a:buNone/>
            </a:pPr>
            <a:r>
              <a:rPr lang="en-US" sz="1200" b="1" kern="0" spc="50" dirty="0">
                <a:solidFill>
                  <a:srgbClr val="7FB78E"/>
                </a:solidFill>
                <a:latin typeface="Calibri" pitchFamily="34" charset="0"/>
                <a:ea typeface="Calibri" pitchFamily="34" charset="-122"/>
                <a:cs typeface="Calibri" pitchFamily="34" charset="-120"/>
              </a:rPr>
              <a:t>BUSINESS VALUE   </a:t>
            </a:r>
            <a:r>
              <a:rPr lang="en-US" sz="1200" dirty="0">
                <a:solidFill>
                  <a:srgbClr val="62676B"/>
                </a:solidFill>
                <a:latin typeface="Calibri" pitchFamily="34" charset="0"/>
                <a:ea typeface="Calibri" pitchFamily="34" charset="-122"/>
                <a:cs typeface="Calibri" pitchFamily="34" charset="-120"/>
              </a:rPr>
              <a:t>every accepted or rejected result sharpens data competitors don’t have.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buNone/>
            </a:pPr>
            <a:r>
              <a:rPr lang="en-US" sz="1300" b="1" kern="0" spc="150" dirty="0">
                <a:solidFill>
                  <a:srgbClr val="62676B"/>
                </a:solidFill>
                <a:latin typeface="Calibri" pitchFamily="34" charset="0"/>
                <a:ea typeface="Calibri" pitchFamily="34" charset="-122"/>
                <a:cs typeface="Calibri" pitchFamily="34" charset="-120"/>
              </a:rPr>
              <a:t>FEATURE 1 · RECOMMEND</a:t>
            </a:r>
            <a:endParaRPr lang="en-US" sz="1300" dirty="0"/>
          </a:p>
        </p:txBody>
      </p:sp>
      <p:sp>
        <p:nvSpPr>
          <p:cNvPr id="3" name="Text 1"/>
          <p:cNvSpPr/>
          <p:nvPr/>
        </p:nvSpPr>
        <p:spPr>
          <a:xfrm>
            <a:off x="640080" y="786384"/>
            <a:ext cx="7955280" cy="1417320"/>
          </a:xfrm>
          <a:prstGeom prst="rect">
            <a:avLst/>
          </a:prstGeom>
          <a:noFill/>
          <a:ln/>
        </p:spPr>
        <p:txBody>
          <a:bodyPr wrap="square" lIns="0" tIns="0" rIns="0" bIns="0" rtlCol="0" anchor="t"/>
          <a:lstStyle/>
          <a:p>
            <a:pPr marL="0" indent="0" algn="l">
              <a:lnSpc>
                <a:spcPct val="103000"/>
              </a:lnSpc>
              <a:buNone/>
            </a:pPr>
            <a:r>
              <a:rPr lang="en-US" sz="3600" b="1" dirty="0">
                <a:solidFill>
                  <a:srgbClr val="111111"/>
                </a:solidFill>
                <a:latin typeface="Calibri" pitchFamily="34" charset="0"/>
                <a:ea typeface="Calibri" pitchFamily="34" charset="-122"/>
                <a:cs typeface="Calibri" pitchFamily="34" charset="-120"/>
              </a:rPr>
              <a:t>Under the hood: a hybrid model, not a black box</a:t>
            </a:r>
            <a:endParaRPr lang="en-US" sz="3600" dirty="0"/>
          </a:p>
        </p:txBody>
      </p:sp>
      <p:sp>
        <p:nvSpPr>
          <p:cNvPr id="4" name="Shape 2"/>
          <p:cNvSpPr/>
          <p:nvPr/>
        </p:nvSpPr>
        <p:spPr>
          <a:xfrm>
            <a:off x="10454335" y="502920"/>
            <a:ext cx="1097280" cy="384048"/>
          </a:xfrm>
          <a:prstGeom prst="roundRect">
            <a:avLst>
              <a:gd name="adj" fmla="val 50000"/>
            </a:avLst>
          </a:prstGeom>
          <a:solidFill>
            <a:srgbClr val="D9EF74"/>
          </a:solidFill>
          <a:ln/>
        </p:spPr>
        <p:txBody>
          <a:bodyPr/>
          <a:lstStyle/>
          <a:p>
            <a:endParaRPr lang="en-CN"/>
          </a:p>
        </p:txBody>
      </p:sp>
      <p:sp>
        <p:nvSpPr>
          <p:cNvPr id="5" name="Text 3"/>
          <p:cNvSpPr/>
          <p:nvPr/>
        </p:nvSpPr>
        <p:spPr>
          <a:xfrm>
            <a:off x="10454335" y="502920"/>
            <a:ext cx="1097280" cy="384048"/>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MODEL</a:t>
            </a:r>
            <a:endParaRPr lang="en-US" sz="1200" dirty="0"/>
          </a:p>
        </p:txBody>
      </p:sp>
      <p:sp>
        <p:nvSpPr>
          <p:cNvPr id="6" name="Shape 4"/>
          <p:cNvSpPr/>
          <p:nvPr/>
        </p:nvSpPr>
        <p:spPr>
          <a:xfrm>
            <a:off x="640080" y="2331720"/>
            <a:ext cx="2173986" cy="4562856"/>
          </a:xfrm>
          <a:prstGeom prst="roundRect">
            <a:avLst>
              <a:gd name="adj" fmla="val 5468"/>
            </a:avLst>
          </a:prstGeom>
          <a:solidFill>
            <a:srgbClr val="0D100D"/>
          </a:solidFill>
          <a:ln w="9525">
            <a:solidFill>
              <a:srgbClr val="2A302A"/>
            </a:solidFill>
            <a:prstDash val="solid"/>
          </a:ln>
          <a:effectLst>
            <a:outerShdw blurRad="127000" dist="38100" dir="5400000" algn="bl" rotWithShape="0">
              <a:srgbClr val="111111">
                <a:alpha val="24000"/>
              </a:srgbClr>
            </a:outerShdw>
          </a:effectLst>
        </p:spPr>
        <p:txBody>
          <a:bodyPr/>
          <a:lstStyle/>
          <a:p>
            <a:endParaRPr lang="en-CN"/>
          </a:p>
        </p:txBody>
      </p:sp>
      <p:pic>
        <p:nvPicPr>
          <p:cNvPr id="7" name="Image 0" descr="/sessions/charming-upbeat-keller/mnt/ppt-design/foodmind-features/assets/android-recommend-detail.png"/>
          <p:cNvPicPr>
            <a:picLocks noChangeAspect="1"/>
          </p:cNvPicPr>
          <p:nvPr/>
        </p:nvPicPr>
        <p:blipFill>
          <a:blip r:embed="rId3"/>
          <a:stretch>
            <a:fillRect/>
          </a:stretch>
        </p:blipFill>
        <p:spPr>
          <a:xfrm>
            <a:off x="749808" y="2441448"/>
            <a:ext cx="1954530" cy="4343400"/>
          </a:xfrm>
          <a:prstGeom prst="rect">
            <a:avLst/>
          </a:prstGeom>
        </p:spPr>
      </p:pic>
      <p:sp>
        <p:nvSpPr>
          <p:cNvPr id="20" name="Shape 17"/>
          <p:cNvSpPr/>
          <p:nvPr/>
        </p:nvSpPr>
        <p:spPr>
          <a:xfrm>
            <a:off x="7803932" y="2799335"/>
            <a:ext cx="3994588" cy="3446798"/>
          </a:xfrm>
          <a:prstGeom prst="roundRect">
            <a:avLst>
              <a:gd name="adj" fmla="val 8457"/>
            </a:avLst>
          </a:prstGeom>
          <a:solidFill>
            <a:srgbClr val="FBF1EE"/>
          </a:solidFill>
          <a:ln w="12700">
            <a:solidFill>
              <a:srgbClr val="F0D9D2"/>
            </a:solidFill>
            <a:prstDash val="solid"/>
          </a:ln>
        </p:spPr>
        <p:txBody>
          <a:bodyPr/>
          <a:lstStyle/>
          <a:p>
            <a:endParaRPr lang="en-CN" sz="2000"/>
          </a:p>
        </p:txBody>
      </p:sp>
      <p:sp>
        <p:nvSpPr>
          <p:cNvPr id="21" name="Text 18"/>
          <p:cNvSpPr/>
          <p:nvPr/>
        </p:nvSpPr>
        <p:spPr>
          <a:xfrm>
            <a:off x="8037332" y="2441448"/>
            <a:ext cx="3761188" cy="4162572"/>
          </a:xfrm>
          <a:prstGeom prst="rect">
            <a:avLst/>
          </a:prstGeom>
          <a:noFill/>
          <a:ln/>
        </p:spPr>
        <p:txBody>
          <a:bodyPr wrap="square" lIns="0" tIns="0" rIns="0" bIns="0" rtlCol="0" anchor="ctr"/>
          <a:lstStyle/>
          <a:p>
            <a:pPr marL="0" indent="0">
              <a:lnSpc>
                <a:spcPct val="115000"/>
              </a:lnSpc>
              <a:buNone/>
            </a:pPr>
            <a:r>
              <a:rPr lang="en-US" sz="1600" b="1" kern="0" spc="50" dirty="0">
                <a:solidFill>
                  <a:srgbClr val="E38A7B"/>
                </a:solidFill>
                <a:latin typeface="Calibri" pitchFamily="34" charset="0"/>
                <a:ea typeface="Calibri" pitchFamily="34" charset="-122"/>
                <a:cs typeface="Calibri" pitchFamily="34" charset="-120"/>
              </a:rPr>
              <a:t>TECHNICAL CHALLENGE   </a:t>
            </a:r>
          </a:p>
          <a:p>
            <a:pPr marL="342900" indent="-342900">
              <a:lnSpc>
                <a:spcPct val="115000"/>
              </a:lnSpc>
              <a:buAutoNum type="arabicPeriod"/>
            </a:pPr>
            <a:r>
              <a:rPr lang="en-US" sz="1600" kern="0" spc="50" dirty="0">
                <a:solidFill>
                  <a:schemeClr val="bg1">
                    <a:lumMod val="50000"/>
                  </a:schemeClr>
                </a:solidFill>
                <a:latin typeface="Calibri" pitchFamily="34" charset="0"/>
                <a:ea typeface="Calibri" pitchFamily="34" charset="-122"/>
                <a:cs typeface="Calibri" pitchFamily="34" charset="-120"/>
              </a:rPr>
              <a:t>Hybrid recommendation model combining collaborative filtering with content features to enable personalized ranking </a:t>
            </a:r>
          </a:p>
          <a:p>
            <a:pPr marL="342900" indent="-342900">
              <a:lnSpc>
                <a:spcPct val="115000"/>
              </a:lnSpc>
              <a:buAutoNum type="arabicPeriod"/>
            </a:pPr>
            <a:r>
              <a:rPr lang="en-US" sz="1600" kern="0" spc="50" dirty="0">
                <a:solidFill>
                  <a:schemeClr val="bg1">
                    <a:lumMod val="50000"/>
                  </a:schemeClr>
                </a:solidFill>
                <a:latin typeface="Calibri" pitchFamily="34" charset="0"/>
                <a:ea typeface="Calibri" pitchFamily="34" charset="-122"/>
                <a:cs typeface="Calibri" pitchFamily="34" charset="-120"/>
              </a:rPr>
              <a:t>Sparse collaborative data during cold start, while maintaining recommendation quality</a:t>
            </a:r>
          </a:p>
          <a:p>
            <a:pPr marL="342900" indent="-342900">
              <a:lnSpc>
                <a:spcPct val="115000"/>
              </a:lnSpc>
              <a:buAutoNum type="arabicPeriod"/>
            </a:pPr>
            <a:r>
              <a:rPr lang="en-US" sz="1600" kern="0" spc="50" dirty="0">
                <a:solidFill>
                  <a:schemeClr val="bg1">
                    <a:lumMod val="50000"/>
                  </a:schemeClr>
                </a:solidFill>
                <a:latin typeface="Calibri" pitchFamily="34" charset="0"/>
                <a:ea typeface="Calibri" pitchFamily="34" charset="-122"/>
                <a:cs typeface="Calibri" pitchFamily="34" charset="-120"/>
              </a:rPr>
              <a:t>Feature version consistency between training and inference, to avoid discrepancies in production results</a:t>
            </a:r>
          </a:p>
        </p:txBody>
      </p:sp>
      <p:sp>
        <p:nvSpPr>
          <p:cNvPr id="32" name="矩形: 圆角 5">
            <a:extLst>
              <a:ext uri="{FF2B5EF4-FFF2-40B4-BE49-F238E27FC236}">
                <a16:creationId xmlns:a16="http://schemas.microsoft.com/office/drawing/2014/main" id="{B85FE392-3F12-C8CC-CE4F-4B20757E3829}"/>
              </a:ext>
            </a:extLst>
          </p:cNvPr>
          <p:cNvSpPr>
            <a:spLocks noGrp="1"/>
          </p:cNvSpPr>
          <p:nvPr/>
        </p:nvSpPr>
        <p:spPr>
          <a:xfrm>
            <a:off x="3986124" y="2604008"/>
            <a:ext cx="1818638" cy="476250"/>
          </a:xfrm>
          <a:prstGeom prst="roundRect">
            <a:avLst>
              <a:gd name="adj" fmla="val 19444"/>
            </a:avLst>
          </a:prstGeom>
          <a:solidFill>
            <a:srgbClr val="F4E8E1"/>
          </a:solidFill>
          <a:ln w="13335">
            <a:solidFill>
              <a:srgbClr val="B86143"/>
            </a:solidFill>
            <a:prstDash val="solid"/>
          </a:ln>
        </p:spPr>
        <p:txBody>
          <a:bodyPr wrap="square" lIns="114300" tIns="95250" rIns="114300" bIns="95250" anchor="ctr">
            <a:noAutofit/>
          </a:bodyPr>
          <a:lstStyle/>
          <a:p>
            <a:pPr algn="ctr">
              <a:lnSpc>
                <a:spcPct val="100000"/>
              </a:lnSpc>
              <a:buNone/>
              <a:defRPr sz="1800" b="1">
                <a:solidFill>
                  <a:srgbClr val="B86143"/>
                </a:solidFill>
                <a:latin typeface="Arial"/>
                <a:ea typeface="Arial"/>
                <a:cs typeface="Arial"/>
              </a:defRPr>
            </a:pPr>
            <a:r>
              <a:rPr sz="1800" b="1" dirty="0">
                <a:solidFill>
                  <a:srgbClr val="B86143"/>
                </a:solidFill>
                <a:latin typeface="Arial"/>
                <a:ea typeface="Arial"/>
                <a:cs typeface="Arial"/>
              </a:rPr>
              <a:t>HARD RULES</a:t>
            </a:r>
          </a:p>
        </p:txBody>
      </p:sp>
      <p:sp>
        <p:nvSpPr>
          <p:cNvPr id="33" name="矩形 6">
            <a:extLst>
              <a:ext uri="{FF2B5EF4-FFF2-40B4-BE49-F238E27FC236}">
                <a16:creationId xmlns:a16="http://schemas.microsoft.com/office/drawing/2014/main" id="{0F785F43-DB01-6773-46DD-2A409538CFBA}"/>
              </a:ext>
            </a:extLst>
          </p:cNvPr>
          <p:cNvSpPr>
            <a:spLocks noGrp="1"/>
          </p:cNvSpPr>
          <p:nvPr/>
        </p:nvSpPr>
        <p:spPr>
          <a:xfrm>
            <a:off x="4995859" y="3091358"/>
            <a:ext cx="3175220" cy="361950"/>
          </a:xfrm>
          <a:prstGeom prst="rect">
            <a:avLst/>
          </a:prstGeom>
          <a:noFill/>
          <a:ln w="0">
            <a:noFill/>
            <a:prstDash val="solid"/>
          </a:ln>
        </p:spPr>
        <p:txBody>
          <a:bodyPr wrap="square" lIns="0" tIns="0" rIns="0" bIns="0" anchor="ctr">
            <a:noAutofit/>
          </a:bodyPr>
          <a:lstStyle/>
          <a:p>
            <a:pPr>
              <a:lnSpc>
                <a:spcPct val="105000"/>
              </a:lnSpc>
              <a:defRPr sz="1575" b="0" i="0">
                <a:solidFill>
                  <a:srgbClr val="667174"/>
                </a:solidFill>
                <a:latin typeface="Arial"/>
                <a:ea typeface="Arial"/>
                <a:cs typeface="Arial"/>
              </a:defRPr>
            </a:pPr>
            <a:r>
              <a:rPr lang="en-SG" sz="1400" dirty="0">
                <a:solidFill>
                  <a:srgbClr val="667174"/>
                </a:solidFill>
                <a:latin typeface="Arial"/>
                <a:ea typeface="Arial"/>
                <a:cs typeface="Arial"/>
              </a:rPr>
              <a:t>Allergy  Over-budget  Repetition</a:t>
            </a:r>
            <a:endParaRPr sz="1400" i="0" dirty="0">
              <a:solidFill>
                <a:srgbClr val="667174"/>
              </a:solidFill>
              <a:latin typeface="Arial"/>
              <a:ea typeface="Arial"/>
              <a:cs typeface="Arial"/>
            </a:endParaRPr>
          </a:p>
        </p:txBody>
      </p:sp>
      <p:sp>
        <p:nvSpPr>
          <p:cNvPr id="34" name="矩形: 圆角 18">
            <a:extLst>
              <a:ext uri="{FF2B5EF4-FFF2-40B4-BE49-F238E27FC236}">
                <a16:creationId xmlns:a16="http://schemas.microsoft.com/office/drawing/2014/main" id="{D3C5413A-E3B3-3479-5E16-0C3347331AFA}"/>
              </a:ext>
            </a:extLst>
          </p:cNvPr>
          <p:cNvSpPr>
            <a:spLocks noGrp="1"/>
          </p:cNvSpPr>
          <p:nvPr/>
        </p:nvSpPr>
        <p:spPr>
          <a:xfrm>
            <a:off x="3337077" y="4411523"/>
            <a:ext cx="3116732" cy="331454"/>
          </a:xfrm>
          <a:prstGeom prst="roundRect">
            <a:avLst>
              <a:gd name="adj" fmla="val 10448"/>
            </a:avLst>
          </a:prstGeom>
          <a:solidFill>
            <a:srgbClr val="E7F0EB"/>
          </a:solidFill>
          <a:ln w="13335">
            <a:solidFill>
              <a:srgbClr val="4F806B"/>
            </a:solidFill>
            <a:prstDash val="solid"/>
          </a:ln>
        </p:spPr>
        <p:txBody>
          <a:bodyPr wrap="square" lIns="114300" tIns="95250" rIns="114300" bIns="95250" anchor="ctr">
            <a:noAutofit/>
          </a:bodyPr>
          <a:lstStyle/>
          <a:p>
            <a:pPr algn="ctr">
              <a:lnSpc>
                <a:spcPct val="100000"/>
              </a:lnSpc>
              <a:buNone/>
              <a:defRPr sz="1875" b="1">
                <a:solidFill>
                  <a:srgbClr val="356B56"/>
                </a:solidFill>
                <a:latin typeface="Arial"/>
                <a:ea typeface="Arial"/>
                <a:cs typeface="Arial"/>
              </a:defRPr>
            </a:pPr>
            <a:r>
              <a:rPr b="1" dirty="0">
                <a:solidFill>
                  <a:srgbClr val="356B56"/>
                </a:solidFill>
                <a:latin typeface="Arial"/>
                <a:ea typeface="Arial"/>
                <a:cs typeface="Arial"/>
              </a:rPr>
              <a:t>LOGISTIC</a:t>
            </a:r>
            <a:r>
              <a:rPr lang="en-US" b="1" dirty="0">
                <a:solidFill>
                  <a:srgbClr val="356B56"/>
                </a:solidFill>
                <a:latin typeface="Arial"/>
                <a:ea typeface="Arial"/>
                <a:cs typeface="Arial"/>
              </a:rPr>
              <a:t> </a:t>
            </a:r>
            <a:r>
              <a:rPr b="1" dirty="0">
                <a:solidFill>
                  <a:srgbClr val="356B56"/>
                </a:solidFill>
                <a:latin typeface="Arial"/>
                <a:ea typeface="Arial"/>
                <a:cs typeface="Arial"/>
              </a:rPr>
              <a:t>REGRESSION</a:t>
            </a:r>
          </a:p>
        </p:txBody>
      </p:sp>
      <p:sp>
        <p:nvSpPr>
          <p:cNvPr id="35" name="矩形: 圆角 19">
            <a:extLst>
              <a:ext uri="{FF2B5EF4-FFF2-40B4-BE49-F238E27FC236}">
                <a16:creationId xmlns:a16="http://schemas.microsoft.com/office/drawing/2014/main" id="{26BFF2F3-65DD-019B-49B3-E24E7D4E04B3}"/>
              </a:ext>
            </a:extLst>
          </p:cNvPr>
          <p:cNvSpPr>
            <a:spLocks noGrp="1"/>
          </p:cNvSpPr>
          <p:nvPr/>
        </p:nvSpPr>
        <p:spPr>
          <a:xfrm>
            <a:off x="4217035" y="5207255"/>
            <a:ext cx="1356815" cy="429564"/>
          </a:xfrm>
          <a:prstGeom prst="roundRect">
            <a:avLst>
              <a:gd name="adj" fmla="val 10448"/>
            </a:avLst>
          </a:prstGeom>
          <a:solidFill>
            <a:srgbClr val="F4E8E1"/>
          </a:solidFill>
          <a:ln w="13335">
            <a:solidFill>
              <a:srgbClr val="B86143"/>
            </a:solidFill>
            <a:prstDash val="solid"/>
          </a:ln>
        </p:spPr>
        <p:txBody>
          <a:bodyPr wrap="square" lIns="114300" tIns="95250" rIns="114300" bIns="95250" anchor="ctr">
            <a:noAutofit/>
          </a:bodyPr>
          <a:lstStyle/>
          <a:p>
            <a:pPr algn="ctr">
              <a:lnSpc>
                <a:spcPct val="100000"/>
              </a:lnSpc>
              <a:buNone/>
              <a:defRPr sz="1725" b="1">
                <a:solidFill>
                  <a:srgbClr val="B86143"/>
                </a:solidFill>
                <a:latin typeface="Arial"/>
                <a:ea typeface="Arial"/>
                <a:cs typeface="Arial"/>
              </a:defRPr>
            </a:pPr>
            <a:r>
              <a:rPr lang="en-SG" b="1" dirty="0">
                <a:solidFill>
                  <a:srgbClr val="B86143"/>
                </a:solidFill>
                <a:latin typeface="Arial"/>
                <a:ea typeface="Arial"/>
                <a:cs typeface="Arial"/>
              </a:rPr>
              <a:t>P(Accept)</a:t>
            </a:r>
            <a:endParaRPr b="1" dirty="0">
              <a:solidFill>
                <a:srgbClr val="B86143"/>
              </a:solidFill>
              <a:latin typeface="Arial"/>
              <a:ea typeface="Arial"/>
              <a:cs typeface="Arial"/>
            </a:endParaRPr>
          </a:p>
        </p:txBody>
      </p:sp>
      <p:cxnSp>
        <p:nvCxnSpPr>
          <p:cNvPr id="36" name="直接箭头连接符 44">
            <a:extLst>
              <a:ext uri="{FF2B5EF4-FFF2-40B4-BE49-F238E27FC236}">
                <a16:creationId xmlns:a16="http://schemas.microsoft.com/office/drawing/2014/main" id="{8C576B0C-603B-0A0B-CAB9-2125A56B2782}"/>
              </a:ext>
            </a:extLst>
          </p:cNvPr>
          <p:cNvCxnSpPr>
            <a:cxnSpLocks/>
            <a:stCxn id="41" idx="2"/>
            <a:endCxn id="34" idx="0"/>
          </p:cNvCxnSpPr>
          <p:nvPr/>
        </p:nvCxnSpPr>
        <p:spPr>
          <a:xfrm>
            <a:off x="4895443" y="3958616"/>
            <a:ext cx="0" cy="452907"/>
          </a:xfrm>
          <a:prstGeom prst="straightConnector1">
            <a:avLst/>
          </a:prstGeom>
          <a:ln w="19050">
            <a:solidFill>
              <a:srgbClr val="4F806B"/>
            </a:solidFill>
            <a:prstDash val="solid"/>
            <a:tailEnd type="arrow" w="sm" len="sm"/>
          </a:ln>
        </p:spPr>
      </p:cxnSp>
      <p:cxnSp>
        <p:nvCxnSpPr>
          <p:cNvPr id="37" name="直接箭头连接符 45">
            <a:extLst>
              <a:ext uri="{FF2B5EF4-FFF2-40B4-BE49-F238E27FC236}">
                <a16:creationId xmlns:a16="http://schemas.microsoft.com/office/drawing/2014/main" id="{3D0D0DB3-6E90-D1F3-3BE1-2FCD52D6DD53}"/>
              </a:ext>
            </a:extLst>
          </p:cNvPr>
          <p:cNvCxnSpPr>
            <a:cxnSpLocks/>
            <a:stCxn id="34" idx="2"/>
            <a:endCxn id="35" idx="0"/>
          </p:cNvCxnSpPr>
          <p:nvPr/>
        </p:nvCxnSpPr>
        <p:spPr>
          <a:xfrm>
            <a:off x="4895443" y="4742977"/>
            <a:ext cx="0" cy="464278"/>
          </a:xfrm>
          <a:prstGeom prst="straightConnector1">
            <a:avLst/>
          </a:prstGeom>
          <a:ln w="20955">
            <a:solidFill>
              <a:srgbClr val="B86143"/>
            </a:solidFill>
            <a:prstDash val="solid"/>
            <a:tailEnd type="arrow" w="sm" len="sm"/>
          </a:ln>
        </p:spPr>
      </p:cxnSp>
      <p:cxnSp>
        <p:nvCxnSpPr>
          <p:cNvPr id="38" name="直接箭头连接符 45">
            <a:extLst>
              <a:ext uri="{FF2B5EF4-FFF2-40B4-BE49-F238E27FC236}">
                <a16:creationId xmlns:a16="http://schemas.microsoft.com/office/drawing/2014/main" id="{D3974AFC-A3A1-B6DD-0CA3-CBDFF5A1EBEA}"/>
              </a:ext>
            </a:extLst>
          </p:cNvPr>
          <p:cNvCxnSpPr>
            <a:cxnSpLocks/>
            <a:stCxn id="32" idx="2"/>
            <a:endCxn id="41" idx="0"/>
          </p:cNvCxnSpPr>
          <p:nvPr/>
        </p:nvCxnSpPr>
        <p:spPr>
          <a:xfrm>
            <a:off x="4895443" y="3080258"/>
            <a:ext cx="0" cy="402107"/>
          </a:xfrm>
          <a:prstGeom prst="straightConnector1">
            <a:avLst/>
          </a:prstGeom>
          <a:ln w="20955">
            <a:solidFill>
              <a:srgbClr val="B86143"/>
            </a:solidFill>
            <a:prstDash val="solid"/>
            <a:tailEnd type="arrow" w="sm" len="sm"/>
          </a:ln>
        </p:spPr>
      </p:cxnSp>
      <p:sp>
        <p:nvSpPr>
          <p:cNvPr id="39" name="矩形: 圆角 36">
            <a:extLst>
              <a:ext uri="{FF2B5EF4-FFF2-40B4-BE49-F238E27FC236}">
                <a16:creationId xmlns:a16="http://schemas.microsoft.com/office/drawing/2014/main" id="{7D82FD33-AD27-1263-B990-DFA07E6D5070}"/>
              </a:ext>
            </a:extLst>
          </p:cNvPr>
          <p:cNvSpPr>
            <a:spLocks noGrp="1"/>
          </p:cNvSpPr>
          <p:nvPr/>
        </p:nvSpPr>
        <p:spPr>
          <a:xfrm>
            <a:off x="3545318" y="6109243"/>
            <a:ext cx="2700248" cy="429565"/>
          </a:xfrm>
          <a:prstGeom prst="roundRect">
            <a:avLst>
              <a:gd name="adj" fmla="val 10448"/>
            </a:avLst>
          </a:prstGeom>
          <a:solidFill>
            <a:srgbClr val="F4E8E1"/>
          </a:solidFill>
          <a:ln w="13335">
            <a:solidFill>
              <a:srgbClr val="B86143"/>
            </a:solidFill>
            <a:prstDash val="solid"/>
          </a:ln>
        </p:spPr>
        <p:txBody>
          <a:bodyPr wrap="square" lIns="114300" tIns="95250" rIns="114300" bIns="95250" anchor="ctr">
            <a:noAutofit/>
          </a:bodyPr>
          <a:lstStyle/>
          <a:p>
            <a:pPr algn="ctr">
              <a:lnSpc>
                <a:spcPct val="100000"/>
              </a:lnSpc>
              <a:buNone/>
              <a:defRPr sz="1725" b="1">
                <a:solidFill>
                  <a:srgbClr val="B86143"/>
                </a:solidFill>
                <a:latin typeface="Arial"/>
                <a:ea typeface="Arial"/>
                <a:cs typeface="Arial"/>
              </a:defRPr>
            </a:pPr>
            <a:r>
              <a:rPr lang="en-SG" altLang="zh-CN" b="1" dirty="0">
                <a:solidFill>
                  <a:srgbClr val="B86143"/>
                </a:solidFill>
                <a:latin typeface="Arial"/>
                <a:ea typeface="Arial"/>
                <a:cs typeface="Arial"/>
              </a:rPr>
              <a:t>Descending </a:t>
            </a:r>
            <a:r>
              <a:rPr lang="en-SG" b="1" dirty="0">
                <a:solidFill>
                  <a:srgbClr val="B86143"/>
                </a:solidFill>
                <a:latin typeface="Arial"/>
                <a:ea typeface="Arial"/>
                <a:cs typeface="Arial"/>
              </a:rPr>
              <a:t>Ranking</a:t>
            </a:r>
          </a:p>
        </p:txBody>
      </p:sp>
      <p:cxnSp>
        <p:nvCxnSpPr>
          <p:cNvPr id="40" name="直接箭头连接符 45">
            <a:extLst>
              <a:ext uri="{FF2B5EF4-FFF2-40B4-BE49-F238E27FC236}">
                <a16:creationId xmlns:a16="http://schemas.microsoft.com/office/drawing/2014/main" id="{04ED5281-CF10-CAF3-9774-E1B1D65329F9}"/>
              </a:ext>
            </a:extLst>
          </p:cNvPr>
          <p:cNvCxnSpPr>
            <a:cxnSpLocks/>
            <a:stCxn id="35" idx="2"/>
            <a:endCxn id="39" idx="0"/>
          </p:cNvCxnSpPr>
          <p:nvPr/>
        </p:nvCxnSpPr>
        <p:spPr>
          <a:xfrm flipH="1">
            <a:off x="4895442" y="5636819"/>
            <a:ext cx="1" cy="472424"/>
          </a:xfrm>
          <a:prstGeom prst="straightConnector1">
            <a:avLst/>
          </a:prstGeom>
          <a:ln w="20955">
            <a:solidFill>
              <a:srgbClr val="B86143"/>
            </a:solidFill>
            <a:prstDash val="solid"/>
            <a:tailEnd type="arrow" w="sm" len="sm"/>
          </a:ln>
        </p:spPr>
      </p:cxnSp>
      <p:sp>
        <p:nvSpPr>
          <p:cNvPr id="41" name="矩形: 圆角 18">
            <a:extLst>
              <a:ext uri="{FF2B5EF4-FFF2-40B4-BE49-F238E27FC236}">
                <a16:creationId xmlns:a16="http://schemas.microsoft.com/office/drawing/2014/main" id="{23801F38-4477-E3B9-481C-3120746E99B2}"/>
              </a:ext>
            </a:extLst>
          </p:cNvPr>
          <p:cNvSpPr>
            <a:spLocks noGrp="1"/>
          </p:cNvSpPr>
          <p:nvPr/>
        </p:nvSpPr>
        <p:spPr>
          <a:xfrm>
            <a:off x="3056521" y="3482365"/>
            <a:ext cx="3677843" cy="476251"/>
          </a:xfrm>
          <a:prstGeom prst="roundRect">
            <a:avLst>
              <a:gd name="adj" fmla="val 10448"/>
            </a:avLst>
          </a:prstGeom>
          <a:solidFill>
            <a:srgbClr val="E7F0EB"/>
          </a:solidFill>
          <a:ln w="13335">
            <a:solidFill>
              <a:srgbClr val="4F806B"/>
            </a:solidFill>
            <a:prstDash val="solid"/>
          </a:ln>
        </p:spPr>
        <p:txBody>
          <a:bodyPr wrap="square" lIns="114300" tIns="95250" rIns="114300" bIns="95250" anchor="ctr">
            <a:noAutofit/>
          </a:bodyPr>
          <a:lstStyle/>
          <a:p>
            <a:pPr algn="ctr">
              <a:lnSpc>
                <a:spcPct val="100000"/>
              </a:lnSpc>
              <a:buNone/>
              <a:defRPr sz="1875" b="1">
                <a:solidFill>
                  <a:srgbClr val="356B56"/>
                </a:solidFill>
                <a:latin typeface="Arial"/>
                <a:ea typeface="Arial"/>
                <a:cs typeface="Arial"/>
              </a:defRPr>
            </a:pPr>
            <a:r>
              <a:rPr lang="en-US" b="1" dirty="0">
                <a:solidFill>
                  <a:srgbClr val="356B56"/>
                </a:solidFill>
                <a:latin typeface="Arial"/>
                <a:ea typeface="Arial"/>
                <a:cs typeface="Arial"/>
              </a:rPr>
              <a:t> COLLABORATIVE FILTERING</a:t>
            </a:r>
            <a:endParaRPr b="1" dirty="0">
              <a:solidFill>
                <a:srgbClr val="356B56"/>
              </a:solidFill>
              <a:latin typeface="Arial"/>
              <a:ea typeface="Arial"/>
              <a:cs typeface="Arial"/>
            </a:endParaRPr>
          </a:p>
        </p:txBody>
      </p:sp>
      <p:sp>
        <p:nvSpPr>
          <p:cNvPr id="50" name="矩形 6">
            <a:extLst>
              <a:ext uri="{FF2B5EF4-FFF2-40B4-BE49-F238E27FC236}">
                <a16:creationId xmlns:a16="http://schemas.microsoft.com/office/drawing/2014/main" id="{6A98D640-BF6C-1C56-F170-D480DDCB5A48}"/>
              </a:ext>
            </a:extLst>
          </p:cNvPr>
          <p:cNvSpPr>
            <a:spLocks noGrp="1"/>
          </p:cNvSpPr>
          <p:nvPr/>
        </p:nvSpPr>
        <p:spPr>
          <a:xfrm>
            <a:off x="4995859" y="3993002"/>
            <a:ext cx="2229962" cy="379257"/>
          </a:xfrm>
          <a:prstGeom prst="rect">
            <a:avLst/>
          </a:prstGeom>
          <a:noFill/>
          <a:ln w="0">
            <a:noFill/>
            <a:prstDash val="solid"/>
          </a:ln>
        </p:spPr>
        <p:txBody>
          <a:bodyPr wrap="square" lIns="0" tIns="0" rIns="0" bIns="0" anchor="ctr">
            <a:noAutofit/>
          </a:bodyPr>
          <a:lstStyle/>
          <a:p>
            <a:pPr>
              <a:lnSpc>
                <a:spcPct val="105000"/>
              </a:lnSpc>
              <a:defRPr sz="1575" b="0" i="0">
                <a:solidFill>
                  <a:srgbClr val="667174"/>
                </a:solidFill>
                <a:latin typeface="Arial"/>
                <a:ea typeface="Arial"/>
                <a:cs typeface="Arial"/>
              </a:defRPr>
            </a:pPr>
            <a:r>
              <a:rPr lang="en-SG" sz="1400" dirty="0" err="1">
                <a:solidFill>
                  <a:srgbClr val="667174"/>
                </a:solidFill>
                <a:latin typeface="Arial"/>
                <a:ea typeface="Arial"/>
                <a:cs typeface="Arial"/>
              </a:rPr>
              <a:t>UserCF</a:t>
            </a:r>
            <a:r>
              <a:rPr lang="en-SG" sz="1400" dirty="0">
                <a:solidFill>
                  <a:srgbClr val="667174"/>
                </a:solidFill>
                <a:latin typeface="Arial"/>
                <a:ea typeface="Arial"/>
                <a:cs typeface="Arial"/>
              </a:rPr>
              <a:t>  </a:t>
            </a:r>
            <a:r>
              <a:rPr lang="en-SG" sz="1400" dirty="0" err="1">
                <a:solidFill>
                  <a:srgbClr val="667174"/>
                </a:solidFill>
                <a:latin typeface="Arial"/>
                <a:ea typeface="Arial"/>
                <a:cs typeface="Arial"/>
              </a:rPr>
              <a:t>ItemCF</a:t>
            </a:r>
            <a:r>
              <a:rPr lang="en-SG" sz="1400" dirty="0">
                <a:solidFill>
                  <a:srgbClr val="667174"/>
                </a:solidFill>
                <a:latin typeface="Arial"/>
                <a:ea typeface="Arial"/>
                <a:cs typeface="Arial"/>
              </a:rPr>
              <a:t>  Context</a:t>
            </a:r>
            <a:endParaRPr sz="1400" i="0" dirty="0">
              <a:solidFill>
                <a:srgbClr val="667174"/>
              </a:solidFill>
              <a:latin typeface="Arial"/>
              <a:ea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buNone/>
            </a:pPr>
            <a:r>
              <a:rPr lang="en-US" sz="1300" b="1" kern="0" spc="150" dirty="0">
                <a:solidFill>
                  <a:srgbClr val="62676B"/>
                </a:solidFill>
                <a:latin typeface="Calibri" pitchFamily="34" charset="0"/>
                <a:ea typeface="Calibri" pitchFamily="34" charset="-122"/>
                <a:cs typeface="Calibri" pitchFamily="34" charset="-120"/>
              </a:rPr>
              <a:t>FEATURE 1 · RECOMMEND</a:t>
            </a:r>
            <a:endParaRPr lang="en-US" sz="1300" dirty="0"/>
          </a:p>
        </p:txBody>
      </p:sp>
      <p:sp>
        <p:nvSpPr>
          <p:cNvPr id="3" name="Text 1"/>
          <p:cNvSpPr/>
          <p:nvPr/>
        </p:nvSpPr>
        <p:spPr>
          <a:xfrm>
            <a:off x="640080" y="786384"/>
            <a:ext cx="7772400" cy="1417320"/>
          </a:xfrm>
          <a:prstGeom prst="rect">
            <a:avLst/>
          </a:prstGeom>
          <a:noFill/>
          <a:ln/>
        </p:spPr>
        <p:txBody>
          <a:bodyPr wrap="square" lIns="0" tIns="0" rIns="0" bIns="0" rtlCol="0" anchor="t"/>
          <a:lstStyle/>
          <a:p>
            <a:pPr marL="0" indent="0" algn="l">
              <a:lnSpc>
                <a:spcPct val="103000"/>
              </a:lnSpc>
              <a:buNone/>
            </a:pPr>
            <a:r>
              <a:rPr lang="en-US" sz="3600" b="1" dirty="0">
                <a:solidFill>
                  <a:srgbClr val="111111"/>
                </a:solidFill>
                <a:latin typeface="Calibri" pitchFamily="34" charset="0"/>
                <a:ea typeface="Calibri" pitchFamily="34" charset="-122"/>
                <a:cs typeface="Calibri" pitchFamily="34" charset="-120"/>
              </a:rPr>
              <a:t>Every result comes with a real route and a safety note</a:t>
            </a:r>
            <a:endParaRPr lang="en-US" sz="3600" dirty="0"/>
          </a:p>
        </p:txBody>
      </p:sp>
      <p:sp>
        <p:nvSpPr>
          <p:cNvPr id="4" name="Shape 2"/>
          <p:cNvSpPr/>
          <p:nvPr/>
        </p:nvSpPr>
        <p:spPr>
          <a:xfrm>
            <a:off x="10637215" y="502920"/>
            <a:ext cx="914400" cy="384048"/>
          </a:xfrm>
          <a:prstGeom prst="roundRect">
            <a:avLst>
              <a:gd name="adj" fmla="val 50000"/>
            </a:avLst>
          </a:prstGeom>
          <a:solidFill>
            <a:srgbClr val="D9EF74"/>
          </a:solidFill>
          <a:ln/>
        </p:spPr>
        <p:txBody>
          <a:bodyPr/>
          <a:lstStyle/>
          <a:p>
            <a:endParaRPr lang="en-CN"/>
          </a:p>
        </p:txBody>
      </p:sp>
      <p:sp>
        <p:nvSpPr>
          <p:cNvPr id="5" name="Text 3"/>
          <p:cNvSpPr/>
          <p:nvPr/>
        </p:nvSpPr>
        <p:spPr>
          <a:xfrm>
            <a:off x="10637215" y="502920"/>
            <a:ext cx="914400" cy="384048"/>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MAP</a:t>
            </a:r>
            <a:endParaRPr lang="en-US" sz="1200" dirty="0"/>
          </a:p>
        </p:txBody>
      </p:sp>
      <p:sp>
        <p:nvSpPr>
          <p:cNvPr id="6" name="Shape 4"/>
          <p:cNvSpPr/>
          <p:nvPr/>
        </p:nvSpPr>
        <p:spPr>
          <a:xfrm>
            <a:off x="640080" y="2203704"/>
            <a:ext cx="2231472" cy="4562856"/>
          </a:xfrm>
          <a:prstGeom prst="roundRect">
            <a:avLst>
              <a:gd name="adj" fmla="val 5327"/>
            </a:avLst>
          </a:prstGeom>
          <a:solidFill>
            <a:srgbClr val="0D100D"/>
          </a:solidFill>
          <a:ln w="9525">
            <a:solidFill>
              <a:srgbClr val="2A302A"/>
            </a:solidFill>
            <a:prstDash val="solid"/>
          </a:ln>
          <a:effectLst>
            <a:outerShdw blurRad="127000" dist="38100" dir="5400000" algn="bl" rotWithShape="0">
              <a:srgbClr val="111111">
                <a:alpha val="24000"/>
              </a:srgbClr>
            </a:outerShdw>
          </a:effectLst>
        </p:spPr>
        <p:txBody>
          <a:bodyPr/>
          <a:lstStyle/>
          <a:p>
            <a:endParaRPr lang="en-CN"/>
          </a:p>
        </p:txBody>
      </p:sp>
      <p:pic>
        <p:nvPicPr>
          <p:cNvPr id="7" name="Image 0" descr="/sessions/charming-upbeat-keller/mnt/ppt-design/foodmind-features/assets/android-location-safety.jpg"/>
          <p:cNvPicPr>
            <a:picLocks noChangeAspect="1"/>
          </p:cNvPicPr>
          <p:nvPr/>
        </p:nvPicPr>
        <p:blipFill>
          <a:blip r:embed="rId3"/>
          <a:stretch>
            <a:fillRect/>
          </a:stretch>
        </p:blipFill>
        <p:spPr>
          <a:xfrm>
            <a:off x="749808" y="2313432"/>
            <a:ext cx="2012016" cy="4343400"/>
          </a:xfrm>
          <a:prstGeom prst="rect">
            <a:avLst/>
          </a:prstGeom>
        </p:spPr>
      </p:pic>
      <p:sp>
        <p:nvSpPr>
          <p:cNvPr id="8" name="Text 5"/>
          <p:cNvSpPr/>
          <p:nvPr/>
        </p:nvSpPr>
        <p:spPr>
          <a:xfrm>
            <a:off x="3465908" y="3423375"/>
            <a:ext cx="8085703" cy="365760"/>
          </a:xfrm>
          <a:prstGeom prst="rect">
            <a:avLst/>
          </a:prstGeom>
          <a:noFill/>
          <a:ln/>
        </p:spPr>
        <p:txBody>
          <a:bodyPr wrap="square" lIns="0" tIns="0" rIns="0" bIns="0" rtlCol="0" anchor="ctr"/>
          <a:lstStyle/>
          <a:p>
            <a:pPr marL="0" indent="0">
              <a:buNone/>
            </a:pPr>
            <a:r>
              <a:rPr lang="en-US" b="1" dirty="0">
                <a:solidFill>
                  <a:srgbClr val="111111"/>
                </a:solidFill>
                <a:latin typeface="Calibri" pitchFamily="34" charset="0"/>
                <a:cs typeface="Calibri" pitchFamily="34" charset="-120"/>
              </a:rPr>
              <a:t>Consistence Map Experience</a:t>
            </a:r>
            <a:endParaRPr lang="en-US" dirty="0"/>
          </a:p>
        </p:txBody>
      </p:sp>
      <p:sp>
        <p:nvSpPr>
          <p:cNvPr id="9" name="Text 6"/>
          <p:cNvSpPr/>
          <p:nvPr/>
        </p:nvSpPr>
        <p:spPr>
          <a:xfrm>
            <a:off x="3465909" y="3683979"/>
            <a:ext cx="7476069" cy="685800"/>
          </a:xfrm>
          <a:prstGeom prst="rect">
            <a:avLst/>
          </a:prstGeom>
          <a:noFill/>
          <a:ln/>
        </p:spPr>
        <p:txBody>
          <a:bodyPr wrap="square" lIns="0" tIns="0" rIns="0" bIns="0" rtlCol="0" anchor="ctr"/>
          <a:lstStyle/>
          <a:p>
            <a:pPr>
              <a:lnSpc>
                <a:spcPct val="125000"/>
              </a:lnSpc>
            </a:pPr>
            <a:r>
              <a:rPr lang="en-US" sz="1400" dirty="0">
                <a:solidFill>
                  <a:srgbClr val="62676B"/>
                </a:solidFill>
                <a:latin typeface="Calibri" pitchFamily="34" charset="0"/>
                <a:ea typeface="Calibri" pitchFamily="34" charset="-122"/>
                <a:cs typeface="Calibri" pitchFamily="34" charset="-120"/>
              </a:rPr>
              <a:t>Deliver a unified map experience across Web and Android platforms, enabling seamless OneMap integration.</a:t>
            </a:r>
            <a:endParaRPr lang="en-US" sz="1400" dirty="0"/>
          </a:p>
        </p:txBody>
      </p:sp>
      <p:sp>
        <p:nvSpPr>
          <p:cNvPr id="10" name="Text 7"/>
          <p:cNvSpPr/>
          <p:nvPr/>
        </p:nvSpPr>
        <p:spPr>
          <a:xfrm>
            <a:off x="3465911" y="4456082"/>
            <a:ext cx="8085703" cy="365760"/>
          </a:xfrm>
          <a:prstGeom prst="rect">
            <a:avLst/>
          </a:prstGeom>
          <a:noFill/>
          <a:ln/>
        </p:spPr>
        <p:txBody>
          <a:bodyPr wrap="square" lIns="0" tIns="0" rIns="0" bIns="0" rtlCol="0" anchor="ctr"/>
          <a:lstStyle/>
          <a:p>
            <a:r>
              <a:rPr lang="en-CN" sz="2000" b="1" dirty="0"/>
              <a:t>Coordinate Order Conversion</a:t>
            </a:r>
            <a:endParaRPr lang="en-US" dirty="0"/>
          </a:p>
        </p:txBody>
      </p:sp>
      <p:sp>
        <p:nvSpPr>
          <p:cNvPr id="11" name="Text 8"/>
          <p:cNvSpPr/>
          <p:nvPr/>
        </p:nvSpPr>
        <p:spPr>
          <a:xfrm>
            <a:off x="3465912" y="4638962"/>
            <a:ext cx="8085703" cy="685800"/>
          </a:xfrm>
          <a:prstGeom prst="rect">
            <a:avLst/>
          </a:prstGeom>
          <a:noFill/>
          <a:ln/>
        </p:spPr>
        <p:txBody>
          <a:bodyPr wrap="square" lIns="0" tIns="0" rIns="0" bIns="0" rtlCol="0" anchor="ctr"/>
          <a:lstStyle/>
          <a:p>
            <a:pPr>
              <a:lnSpc>
                <a:spcPct val="125000"/>
              </a:lnSpc>
            </a:pPr>
            <a:r>
              <a:rPr lang="en-US" sz="1400" dirty="0">
                <a:solidFill>
                  <a:srgbClr val="62676B"/>
                </a:solidFill>
                <a:latin typeface="Calibri" pitchFamily="34" charset="0"/>
                <a:ea typeface="Calibri" pitchFamily="34" charset="-122"/>
                <a:cs typeface="Calibri" pitchFamily="34" charset="-120"/>
              </a:rPr>
              <a:t>Convert the latitude/longitude order in </a:t>
            </a:r>
            <a:r>
              <a:rPr lang="en-US" sz="1400" dirty="0" err="1">
                <a:solidFill>
                  <a:srgbClr val="62676B"/>
                </a:solidFill>
                <a:latin typeface="Calibri" pitchFamily="34" charset="0"/>
                <a:ea typeface="Calibri" pitchFamily="34" charset="-122"/>
                <a:cs typeface="Calibri" pitchFamily="34" charset="-120"/>
              </a:rPr>
              <a:t>GeoJSON</a:t>
            </a:r>
            <a:r>
              <a:rPr lang="en-US" sz="1400" dirty="0">
                <a:solidFill>
                  <a:srgbClr val="62676B"/>
                </a:solidFill>
                <a:latin typeface="Calibri" pitchFamily="34" charset="0"/>
                <a:ea typeface="Calibri" pitchFamily="34" charset="-122"/>
                <a:cs typeface="Calibri" pitchFamily="34" charset="-120"/>
              </a:rPr>
              <a:t> data to ensure walking routes are rendered correctly.</a:t>
            </a:r>
            <a:endParaRPr lang="en-US" sz="1400" dirty="0"/>
          </a:p>
        </p:txBody>
      </p:sp>
      <p:sp>
        <p:nvSpPr>
          <p:cNvPr id="12" name="Text 9"/>
          <p:cNvSpPr/>
          <p:nvPr/>
        </p:nvSpPr>
        <p:spPr>
          <a:xfrm>
            <a:off x="3465909" y="5448206"/>
            <a:ext cx="8085703" cy="365760"/>
          </a:xfrm>
          <a:prstGeom prst="rect">
            <a:avLst/>
          </a:prstGeom>
          <a:noFill/>
          <a:ln/>
        </p:spPr>
        <p:txBody>
          <a:bodyPr wrap="square" lIns="0" tIns="0" rIns="0" bIns="0" rtlCol="0" anchor="ctr"/>
          <a:lstStyle/>
          <a:p>
            <a:r>
              <a:rPr lang="en-CN" sz="2000" b="1" dirty="0"/>
              <a:t>Location Privacy Protection</a:t>
            </a:r>
            <a:endParaRPr lang="en-US" dirty="0"/>
          </a:p>
        </p:txBody>
      </p:sp>
      <p:sp>
        <p:nvSpPr>
          <p:cNvPr id="13" name="Text 10"/>
          <p:cNvSpPr/>
          <p:nvPr/>
        </p:nvSpPr>
        <p:spPr>
          <a:xfrm>
            <a:off x="3465911" y="5631086"/>
            <a:ext cx="8085703" cy="685800"/>
          </a:xfrm>
          <a:prstGeom prst="rect">
            <a:avLst/>
          </a:prstGeom>
          <a:noFill/>
          <a:ln/>
        </p:spPr>
        <p:txBody>
          <a:bodyPr wrap="square" lIns="0" tIns="0" rIns="0" bIns="0" rtlCol="0" anchor="ctr"/>
          <a:lstStyle/>
          <a:p>
            <a:pPr>
              <a:lnSpc>
                <a:spcPct val="125000"/>
              </a:lnSpc>
            </a:pPr>
            <a:r>
              <a:rPr lang="en-US" sz="1400" dirty="0">
                <a:solidFill>
                  <a:srgbClr val="62676B"/>
                </a:solidFill>
                <a:latin typeface="Calibri" pitchFamily="34" charset="0"/>
                <a:ea typeface="Calibri" pitchFamily="34" charset="-122"/>
                <a:cs typeface="Calibri" pitchFamily="34" charset="-120"/>
              </a:rPr>
              <a:t>Ensure user coordinates are never persisted, safeguarding privacy for the map location feature.</a:t>
            </a:r>
            <a:endParaRPr lang="en-US" sz="1400" dirty="0"/>
          </a:p>
        </p:txBody>
      </p:sp>
      <p:sp>
        <p:nvSpPr>
          <p:cNvPr id="19" name="TextBox 18">
            <a:extLst>
              <a:ext uri="{FF2B5EF4-FFF2-40B4-BE49-F238E27FC236}">
                <a16:creationId xmlns:a16="http://schemas.microsoft.com/office/drawing/2014/main" id="{9E17BE1F-7A24-5667-A707-9ADA3C726B01}"/>
              </a:ext>
            </a:extLst>
          </p:cNvPr>
          <p:cNvSpPr txBox="1"/>
          <p:nvPr/>
        </p:nvSpPr>
        <p:spPr>
          <a:xfrm>
            <a:off x="3465909" y="2188935"/>
            <a:ext cx="6849345" cy="944503"/>
          </a:xfrm>
          <a:prstGeom prst="rect">
            <a:avLst/>
          </a:prstGeom>
          <a:noFill/>
          <a:ln/>
        </p:spPr>
        <p:txBody>
          <a:bodyPr wrap="square" lIns="0" tIns="0" rIns="0" bIns="0" rtlCol="0" anchor="ctr"/>
          <a:lstStyle>
            <a:lvl1pPr>
              <a:lnSpc>
                <a:spcPct val="125000"/>
              </a:lnSpc>
              <a:defRPr sz="1300">
                <a:solidFill>
                  <a:srgbClr val="62676B"/>
                </a:solidFill>
                <a:latin typeface="Calibri" pitchFamily="34" charset="0"/>
                <a:ea typeface="Calibri" pitchFamily="34" charset="-122"/>
                <a:cs typeface="Calibri" pitchFamily="34" charset="-120"/>
              </a:defRPr>
            </a:lvl1pPr>
          </a:lstStyle>
          <a:p>
            <a:r>
              <a:rPr lang="en-CN" sz="1800" dirty="0">
                <a:solidFill>
                  <a:schemeClr val="tx1"/>
                </a:solidFill>
              </a:rPr>
              <a:t>Each recommendation is grounded in a real OneMap location so users can see exactly where a suggestion sits, paired with an on-demand walking-route estimate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buNone/>
            </a:pPr>
            <a:r>
              <a:rPr lang="en-US" sz="1300" b="1" kern="0" spc="150" dirty="0">
                <a:solidFill>
                  <a:srgbClr val="62676B"/>
                </a:solidFill>
                <a:latin typeface="Calibri" pitchFamily="34" charset="0"/>
                <a:ea typeface="Calibri" pitchFamily="34" charset="-122"/>
                <a:cs typeface="Calibri" pitchFamily="34" charset="-120"/>
              </a:rPr>
              <a:t>FEATURE 2 · EXPLORE</a:t>
            </a:r>
            <a:endParaRPr lang="en-US" sz="1300" dirty="0"/>
          </a:p>
        </p:txBody>
      </p:sp>
      <p:sp>
        <p:nvSpPr>
          <p:cNvPr id="3" name="Text 1"/>
          <p:cNvSpPr/>
          <p:nvPr/>
        </p:nvSpPr>
        <p:spPr>
          <a:xfrm>
            <a:off x="640080" y="786384"/>
            <a:ext cx="7498080" cy="1417320"/>
          </a:xfrm>
          <a:prstGeom prst="rect">
            <a:avLst/>
          </a:prstGeom>
          <a:noFill/>
          <a:ln/>
        </p:spPr>
        <p:txBody>
          <a:bodyPr wrap="square" lIns="0" tIns="0" rIns="0" bIns="0" rtlCol="0" anchor="t"/>
          <a:lstStyle/>
          <a:p>
            <a:pPr marL="0" indent="0" algn="l">
              <a:lnSpc>
                <a:spcPct val="103000"/>
              </a:lnSpc>
              <a:buNone/>
            </a:pPr>
            <a:r>
              <a:rPr lang="en-US" sz="3600" b="1" dirty="0">
                <a:solidFill>
                  <a:srgbClr val="111111"/>
                </a:solidFill>
                <a:latin typeface="Calibri" pitchFamily="34" charset="0"/>
                <a:ea typeface="Calibri" pitchFamily="34" charset="-122"/>
                <a:cs typeface="Calibri" pitchFamily="34" charset="-120"/>
              </a:rPr>
              <a:t>Browsing turns into a shortlist, not just scrolling</a:t>
            </a:r>
            <a:endParaRPr lang="en-US" sz="3600" dirty="0"/>
          </a:p>
        </p:txBody>
      </p:sp>
      <p:sp>
        <p:nvSpPr>
          <p:cNvPr id="4" name="Shape 2"/>
          <p:cNvSpPr/>
          <p:nvPr/>
        </p:nvSpPr>
        <p:spPr>
          <a:xfrm>
            <a:off x="10317175" y="502920"/>
            <a:ext cx="1234440" cy="384048"/>
          </a:xfrm>
          <a:prstGeom prst="roundRect">
            <a:avLst>
              <a:gd name="adj" fmla="val 50000"/>
            </a:avLst>
          </a:prstGeom>
          <a:solidFill>
            <a:srgbClr val="D9EF74"/>
          </a:solidFill>
          <a:ln/>
        </p:spPr>
        <p:txBody>
          <a:bodyPr/>
          <a:lstStyle/>
          <a:p>
            <a:endParaRPr lang="en-CN"/>
          </a:p>
        </p:txBody>
      </p:sp>
      <p:sp>
        <p:nvSpPr>
          <p:cNvPr id="5" name="Text 3"/>
          <p:cNvSpPr/>
          <p:nvPr/>
        </p:nvSpPr>
        <p:spPr>
          <a:xfrm>
            <a:off x="10317175" y="502920"/>
            <a:ext cx="1234440" cy="384048"/>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DISCOVER</a:t>
            </a:r>
            <a:endParaRPr lang="en-US" sz="1200" dirty="0"/>
          </a:p>
        </p:txBody>
      </p:sp>
      <p:sp>
        <p:nvSpPr>
          <p:cNvPr id="6" name="Shape 4"/>
          <p:cNvSpPr/>
          <p:nvPr/>
        </p:nvSpPr>
        <p:spPr>
          <a:xfrm>
            <a:off x="640080" y="2331720"/>
            <a:ext cx="2173986" cy="4562856"/>
          </a:xfrm>
          <a:prstGeom prst="roundRect">
            <a:avLst>
              <a:gd name="adj" fmla="val 5468"/>
            </a:avLst>
          </a:prstGeom>
          <a:solidFill>
            <a:srgbClr val="0D100D"/>
          </a:solidFill>
          <a:ln w="9525">
            <a:solidFill>
              <a:srgbClr val="2A302A"/>
            </a:solidFill>
            <a:prstDash val="solid"/>
          </a:ln>
          <a:effectLst>
            <a:outerShdw blurRad="127000" dist="38100" dir="5400000" algn="bl" rotWithShape="0">
              <a:srgbClr val="111111">
                <a:alpha val="24000"/>
              </a:srgbClr>
            </a:outerShdw>
          </a:effectLst>
        </p:spPr>
        <p:txBody>
          <a:bodyPr/>
          <a:lstStyle/>
          <a:p>
            <a:endParaRPr lang="en-CN"/>
          </a:p>
        </p:txBody>
      </p:sp>
      <p:pic>
        <p:nvPicPr>
          <p:cNvPr id="7" name="Image 0"/>
          <p:cNvPicPr>
            <a:picLocks noChangeAspect="1"/>
          </p:cNvPicPr>
          <p:nvPr/>
        </p:nvPicPr>
        <p:blipFill>
          <a:blip r:embed="rId3"/>
          <a:srcRect/>
          <a:stretch/>
        </p:blipFill>
        <p:spPr>
          <a:xfrm>
            <a:off x="749808" y="2503497"/>
            <a:ext cx="1954530" cy="4219302"/>
          </a:xfrm>
          <a:prstGeom prst="rect">
            <a:avLst/>
          </a:prstGeom>
        </p:spPr>
      </p:pic>
      <p:sp>
        <p:nvSpPr>
          <p:cNvPr id="8" name="Text 5"/>
          <p:cNvSpPr/>
          <p:nvPr/>
        </p:nvSpPr>
        <p:spPr>
          <a:xfrm>
            <a:off x="3408426" y="2331720"/>
            <a:ext cx="8143189" cy="41148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Search and curated places, side by side</a:t>
            </a:r>
            <a:endParaRPr lang="en-US" sz="1700" dirty="0"/>
          </a:p>
        </p:txBody>
      </p:sp>
      <p:sp>
        <p:nvSpPr>
          <p:cNvPr id="9" name="Text 6"/>
          <p:cNvSpPr/>
          <p:nvPr/>
        </p:nvSpPr>
        <p:spPr>
          <a:xfrm>
            <a:off x="3408426" y="2788920"/>
            <a:ext cx="8143189" cy="914400"/>
          </a:xfrm>
          <a:prstGeom prst="rect">
            <a:avLst/>
          </a:prstGeom>
          <a:noFill/>
          <a:ln/>
        </p:spPr>
        <p:txBody>
          <a:bodyPr wrap="square" lIns="0" tIns="0" rIns="0" bIns="0" rtlCol="0" anchor="ctr"/>
          <a:lstStyle/>
          <a:p>
            <a:pPr marL="0" indent="0">
              <a:lnSpc>
                <a:spcPct val="130000"/>
              </a:lnSpc>
              <a:buNone/>
            </a:pPr>
            <a:r>
              <a:rPr lang="en-US" sz="1500" dirty="0">
                <a:solidFill>
                  <a:srgbClr val="62676B"/>
                </a:solidFill>
                <a:latin typeface="Calibri" pitchFamily="34" charset="0"/>
                <a:ea typeface="Calibri" pitchFamily="34" charset="-122"/>
                <a:cs typeface="Calibri" pitchFamily="34" charset="-120"/>
              </a:rPr>
              <a:t>Explore lets a user search meals, places and products directly, or browse curated places like Udon Don Bar and The Royals Bistro without typing anything.</a:t>
            </a:r>
            <a:endParaRPr lang="en-US" sz="1500" dirty="0"/>
          </a:p>
        </p:txBody>
      </p:sp>
      <p:sp>
        <p:nvSpPr>
          <p:cNvPr id="10" name="Text 7"/>
          <p:cNvSpPr/>
          <p:nvPr/>
        </p:nvSpPr>
        <p:spPr>
          <a:xfrm>
            <a:off x="3408426" y="3840480"/>
            <a:ext cx="8143189" cy="41148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One tap to keep an idea</a:t>
            </a:r>
            <a:endParaRPr lang="en-US" sz="1700" dirty="0"/>
          </a:p>
        </p:txBody>
      </p:sp>
      <p:sp>
        <p:nvSpPr>
          <p:cNvPr id="11" name="Text 8"/>
          <p:cNvSpPr/>
          <p:nvPr/>
        </p:nvSpPr>
        <p:spPr>
          <a:xfrm>
            <a:off x="3408426" y="4297680"/>
            <a:ext cx="8143189" cy="914400"/>
          </a:xfrm>
          <a:prstGeom prst="rect">
            <a:avLst/>
          </a:prstGeom>
          <a:noFill/>
          <a:ln/>
        </p:spPr>
        <p:txBody>
          <a:bodyPr wrap="square" lIns="0" tIns="0" rIns="0" bIns="0" rtlCol="0" anchor="ctr"/>
          <a:lstStyle/>
          <a:p>
            <a:pPr marL="0" indent="0">
              <a:lnSpc>
                <a:spcPct val="130000"/>
              </a:lnSpc>
              <a:buNone/>
            </a:pPr>
            <a:r>
              <a:rPr lang="en-US" sz="1500" dirty="0">
                <a:solidFill>
                  <a:srgbClr val="62676B"/>
                </a:solidFill>
                <a:latin typeface="Calibri" pitchFamily="34" charset="0"/>
                <a:ea typeface="Calibri" pitchFamily="34" charset="-122"/>
                <a:cs typeface="Calibri" pitchFamily="34" charset="-120"/>
              </a:rPr>
              <a:t>Anything interesting is saved straight to Want to Try, ready to resurface the next time a decision comes up.</a:t>
            </a:r>
            <a:endParaRPr lang="en-US" sz="1500" dirty="0"/>
          </a:p>
        </p:txBody>
      </p:sp>
      <p:sp>
        <p:nvSpPr>
          <p:cNvPr id="12" name="Shape 9"/>
          <p:cNvSpPr/>
          <p:nvPr/>
        </p:nvSpPr>
        <p:spPr>
          <a:xfrm>
            <a:off x="3408426" y="6144768"/>
            <a:ext cx="7548829" cy="594360"/>
          </a:xfrm>
          <a:prstGeom prst="roundRect">
            <a:avLst>
              <a:gd name="adj" fmla="val 15385"/>
            </a:avLst>
          </a:prstGeom>
          <a:solidFill>
            <a:srgbClr val="EFF6F1"/>
          </a:solidFill>
          <a:ln w="12700">
            <a:solidFill>
              <a:srgbClr val="D8E8DC"/>
            </a:solidFill>
            <a:prstDash val="solid"/>
          </a:ln>
        </p:spPr>
        <p:txBody>
          <a:bodyPr/>
          <a:lstStyle/>
          <a:p>
            <a:endParaRPr lang="en-CN"/>
          </a:p>
        </p:txBody>
      </p:sp>
      <p:sp>
        <p:nvSpPr>
          <p:cNvPr id="13" name="Text 10"/>
          <p:cNvSpPr/>
          <p:nvPr/>
        </p:nvSpPr>
        <p:spPr>
          <a:xfrm>
            <a:off x="3609594" y="6144768"/>
            <a:ext cx="7146493" cy="594360"/>
          </a:xfrm>
          <a:prstGeom prst="rect">
            <a:avLst/>
          </a:prstGeom>
          <a:noFill/>
          <a:ln/>
        </p:spPr>
        <p:txBody>
          <a:bodyPr wrap="square" lIns="0" tIns="0" rIns="0" bIns="0" rtlCol="0" anchor="ctr"/>
          <a:lstStyle/>
          <a:p>
            <a:pPr marL="0" indent="0">
              <a:lnSpc>
                <a:spcPct val="115000"/>
              </a:lnSpc>
              <a:buNone/>
            </a:pPr>
            <a:r>
              <a:rPr lang="en-US" sz="1200" b="1" kern="0" spc="50" dirty="0">
                <a:solidFill>
                  <a:srgbClr val="7FB78E"/>
                </a:solidFill>
                <a:latin typeface="Calibri" pitchFamily="34" charset="0"/>
                <a:ea typeface="Calibri" pitchFamily="34" charset="-122"/>
                <a:cs typeface="Calibri" pitchFamily="34" charset="-120"/>
              </a:rPr>
              <a:t>BUSINESS VALUE   </a:t>
            </a:r>
            <a:r>
              <a:rPr lang="en-US" sz="1200" dirty="0">
                <a:solidFill>
                  <a:srgbClr val="62676B"/>
                </a:solidFill>
                <a:latin typeface="Calibri" pitchFamily="34" charset="0"/>
                <a:ea typeface="Calibri" pitchFamily="34" charset="-122"/>
                <a:cs typeface="Calibri" pitchFamily="34" charset="-120"/>
              </a:rPr>
              <a:t>every search and save is a preference signal that sharpens later recommendations.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buNone/>
            </a:pPr>
            <a:r>
              <a:rPr lang="en-US" sz="1300" b="1" kern="0" spc="150" dirty="0">
                <a:solidFill>
                  <a:srgbClr val="62676B"/>
                </a:solidFill>
                <a:latin typeface="Calibri" pitchFamily="34" charset="0"/>
                <a:ea typeface="Calibri" pitchFamily="34" charset="-122"/>
                <a:cs typeface="Calibri" pitchFamily="34" charset="-120"/>
              </a:rPr>
              <a:t>FEATURE 3 · COOKING</a:t>
            </a:r>
            <a:endParaRPr lang="en-US" sz="1300" dirty="0"/>
          </a:p>
        </p:txBody>
      </p:sp>
      <p:sp>
        <p:nvSpPr>
          <p:cNvPr id="3" name="Text 1"/>
          <p:cNvSpPr/>
          <p:nvPr/>
        </p:nvSpPr>
        <p:spPr>
          <a:xfrm>
            <a:off x="640080" y="786384"/>
            <a:ext cx="7772400" cy="1417320"/>
          </a:xfrm>
          <a:prstGeom prst="rect">
            <a:avLst/>
          </a:prstGeom>
          <a:noFill/>
          <a:ln/>
        </p:spPr>
        <p:txBody>
          <a:bodyPr wrap="square" lIns="0" tIns="0" rIns="0" bIns="0" rtlCol="0" anchor="t"/>
          <a:lstStyle/>
          <a:p>
            <a:pPr marL="0" indent="0" algn="l">
              <a:lnSpc>
                <a:spcPct val="103000"/>
              </a:lnSpc>
              <a:buNone/>
            </a:pPr>
            <a:r>
              <a:rPr lang="en-US" sz="3600" b="1" dirty="0">
                <a:solidFill>
                  <a:srgbClr val="111111"/>
                </a:solidFill>
                <a:latin typeface="Calibri" pitchFamily="34" charset="0"/>
                <a:ea typeface="Calibri" pitchFamily="34" charset="-122"/>
                <a:cs typeface="Calibri" pitchFamily="34" charset="-120"/>
              </a:rPr>
              <a:t>Cooking recovers from real constraints, then finishes with a plan</a:t>
            </a:r>
            <a:endParaRPr lang="en-US" sz="3600" dirty="0"/>
          </a:p>
        </p:txBody>
      </p:sp>
      <p:sp>
        <p:nvSpPr>
          <p:cNvPr id="4" name="Shape 2"/>
          <p:cNvSpPr/>
          <p:nvPr/>
        </p:nvSpPr>
        <p:spPr>
          <a:xfrm>
            <a:off x="10545775" y="502920"/>
            <a:ext cx="1005840" cy="384048"/>
          </a:xfrm>
          <a:prstGeom prst="roundRect">
            <a:avLst>
              <a:gd name="adj" fmla="val 50000"/>
            </a:avLst>
          </a:prstGeom>
          <a:solidFill>
            <a:srgbClr val="D9EF74"/>
          </a:solidFill>
          <a:ln/>
        </p:spPr>
        <p:txBody>
          <a:bodyPr/>
          <a:lstStyle/>
          <a:p>
            <a:endParaRPr lang="en-CN"/>
          </a:p>
        </p:txBody>
      </p:sp>
      <p:sp>
        <p:nvSpPr>
          <p:cNvPr id="5" name="Text 3"/>
          <p:cNvSpPr/>
          <p:nvPr/>
        </p:nvSpPr>
        <p:spPr>
          <a:xfrm>
            <a:off x="10545775" y="502920"/>
            <a:ext cx="1005840" cy="384048"/>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COOK</a:t>
            </a:r>
            <a:endParaRPr lang="en-US" sz="1200" dirty="0"/>
          </a:p>
        </p:txBody>
      </p:sp>
      <p:sp>
        <p:nvSpPr>
          <p:cNvPr id="6" name="Shape 4"/>
          <p:cNvSpPr/>
          <p:nvPr/>
        </p:nvSpPr>
        <p:spPr>
          <a:xfrm>
            <a:off x="640080" y="2331720"/>
            <a:ext cx="2173986" cy="4562856"/>
          </a:xfrm>
          <a:prstGeom prst="roundRect">
            <a:avLst>
              <a:gd name="adj" fmla="val 5468"/>
            </a:avLst>
          </a:prstGeom>
          <a:solidFill>
            <a:srgbClr val="0D100D"/>
          </a:solidFill>
          <a:ln w="9525">
            <a:solidFill>
              <a:srgbClr val="2A302A"/>
            </a:solidFill>
            <a:prstDash val="solid"/>
          </a:ln>
          <a:effectLst>
            <a:outerShdw blurRad="127000" dist="38100" dir="5400000" algn="bl" rotWithShape="0">
              <a:srgbClr val="111111">
                <a:alpha val="24000"/>
              </a:srgbClr>
            </a:outerShdw>
          </a:effectLst>
        </p:spPr>
        <p:txBody>
          <a:bodyPr/>
          <a:lstStyle/>
          <a:p>
            <a:endParaRPr lang="en-CN"/>
          </a:p>
        </p:txBody>
      </p:sp>
      <p:pic>
        <p:nvPicPr>
          <p:cNvPr id="7" name="Image 0" descr="/sessions/charming-upbeat-keller/mnt/ppt-design/foodmind-features/assets/android-final-plan.png"/>
          <p:cNvPicPr>
            <a:picLocks noChangeAspect="1"/>
          </p:cNvPicPr>
          <p:nvPr/>
        </p:nvPicPr>
        <p:blipFill>
          <a:blip r:embed="rId3"/>
          <a:stretch>
            <a:fillRect/>
          </a:stretch>
        </p:blipFill>
        <p:spPr>
          <a:xfrm>
            <a:off x="749808" y="2441448"/>
            <a:ext cx="1954530" cy="4343400"/>
          </a:xfrm>
          <a:prstGeom prst="rect">
            <a:avLst/>
          </a:prstGeom>
        </p:spPr>
      </p:pic>
      <p:sp>
        <p:nvSpPr>
          <p:cNvPr id="8" name="Shape 5"/>
          <p:cNvSpPr/>
          <p:nvPr/>
        </p:nvSpPr>
        <p:spPr>
          <a:xfrm>
            <a:off x="3408426" y="2331720"/>
            <a:ext cx="384048" cy="384048"/>
          </a:xfrm>
          <a:prstGeom prst="ellipse">
            <a:avLst/>
          </a:prstGeom>
          <a:solidFill>
            <a:srgbClr val="7FB78E"/>
          </a:solidFill>
          <a:ln/>
        </p:spPr>
        <p:txBody>
          <a:bodyPr/>
          <a:lstStyle/>
          <a:p>
            <a:endParaRPr lang="en-CN"/>
          </a:p>
        </p:txBody>
      </p:sp>
      <p:sp>
        <p:nvSpPr>
          <p:cNvPr id="9" name="Text 6"/>
          <p:cNvSpPr/>
          <p:nvPr/>
        </p:nvSpPr>
        <p:spPr>
          <a:xfrm>
            <a:off x="3408426" y="23317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3938778" y="2313432"/>
            <a:ext cx="7612837"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Paste a recipe</a:t>
            </a:r>
            <a:endParaRPr lang="en-US" sz="1700" dirty="0"/>
          </a:p>
        </p:txBody>
      </p:sp>
      <p:sp>
        <p:nvSpPr>
          <p:cNvPr id="11" name="Text 8"/>
          <p:cNvSpPr/>
          <p:nvPr/>
        </p:nvSpPr>
        <p:spPr>
          <a:xfrm>
            <a:off x="3938778" y="2697480"/>
            <a:ext cx="7612837" cy="502920"/>
          </a:xfrm>
          <a:prstGeom prst="rect">
            <a:avLst/>
          </a:prstGeom>
          <a:noFill/>
          <a:ln/>
        </p:spPr>
        <p:txBody>
          <a:bodyPr wrap="square" lIns="0" tIns="0" rIns="0" bIns="0" rtlCol="0" anchor="ctr"/>
          <a:lstStyle/>
          <a:p>
            <a:pPr marL="0" indent="0">
              <a:lnSpc>
                <a:spcPct val="122000"/>
              </a:lnSpc>
              <a:buNone/>
            </a:pPr>
            <a:r>
              <a:rPr lang="en-US" sz="1300" dirty="0">
                <a:solidFill>
                  <a:srgbClr val="62676B"/>
                </a:solidFill>
                <a:latin typeface="Calibri" pitchFamily="34" charset="0"/>
                <a:ea typeface="Calibri" pitchFamily="34" charset="-122"/>
                <a:cs typeface="Calibri" pitchFamily="34" charset="-120"/>
              </a:rPr>
              <a:t>Any language, reviewed before saving.</a:t>
            </a:r>
            <a:endParaRPr lang="en-US" sz="1300" dirty="0"/>
          </a:p>
        </p:txBody>
      </p:sp>
      <p:sp>
        <p:nvSpPr>
          <p:cNvPr id="12" name="Shape 9"/>
          <p:cNvSpPr/>
          <p:nvPr/>
        </p:nvSpPr>
        <p:spPr>
          <a:xfrm>
            <a:off x="3408426" y="3264408"/>
            <a:ext cx="384048" cy="384048"/>
          </a:xfrm>
          <a:prstGeom prst="ellipse">
            <a:avLst/>
          </a:prstGeom>
          <a:solidFill>
            <a:srgbClr val="7FB78E"/>
          </a:solidFill>
          <a:ln/>
        </p:spPr>
        <p:txBody>
          <a:bodyPr/>
          <a:lstStyle/>
          <a:p>
            <a:endParaRPr lang="en-CN"/>
          </a:p>
        </p:txBody>
      </p:sp>
      <p:sp>
        <p:nvSpPr>
          <p:cNvPr id="13" name="Text 10"/>
          <p:cNvSpPr/>
          <p:nvPr/>
        </p:nvSpPr>
        <p:spPr>
          <a:xfrm>
            <a:off x="3408426" y="326440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p:nvPr/>
        </p:nvSpPr>
        <p:spPr>
          <a:xfrm>
            <a:off x="3938778" y="3246120"/>
            <a:ext cx="7612837"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Something’s missing</a:t>
            </a:r>
            <a:endParaRPr lang="en-US" sz="1700" dirty="0"/>
          </a:p>
        </p:txBody>
      </p:sp>
      <p:sp>
        <p:nvSpPr>
          <p:cNvPr id="15" name="Text 12"/>
          <p:cNvSpPr/>
          <p:nvPr/>
        </p:nvSpPr>
        <p:spPr>
          <a:xfrm>
            <a:off x="3938778" y="3630168"/>
            <a:ext cx="7612837" cy="502920"/>
          </a:xfrm>
          <a:prstGeom prst="rect">
            <a:avLst/>
          </a:prstGeom>
          <a:noFill/>
          <a:ln/>
        </p:spPr>
        <p:txBody>
          <a:bodyPr wrap="square" lIns="0" tIns="0" rIns="0" bIns="0" rtlCol="0" anchor="ctr"/>
          <a:lstStyle/>
          <a:p>
            <a:pPr marL="0" indent="0">
              <a:lnSpc>
                <a:spcPct val="122000"/>
              </a:lnSpc>
              <a:buNone/>
            </a:pPr>
            <a:r>
              <a:rPr lang="en-US" sz="1300" dirty="0">
                <a:solidFill>
                  <a:srgbClr val="62676B"/>
                </a:solidFill>
                <a:latin typeface="Calibri" pitchFamily="34" charset="0"/>
                <a:ea typeface="Calibri" pitchFamily="34" charset="-122"/>
                <a:cs typeface="Calibri" pitchFamily="34" charset="-120"/>
              </a:rPr>
              <a:t>The Cooking Agent pauses and asks — reduce servings, or buy what’s missing.</a:t>
            </a:r>
            <a:endParaRPr lang="en-US" sz="1300" dirty="0"/>
          </a:p>
        </p:txBody>
      </p:sp>
      <p:sp>
        <p:nvSpPr>
          <p:cNvPr id="16" name="Shape 13"/>
          <p:cNvSpPr/>
          <p:nvPr/>
        </p:nvSpPr>
        <p:spPr>
          <a:xfrm>
            <a:off x="3408426" y="4197096"/>
            <a:ext cx="384048" cy="384048"/>
          </a:xfrm>
          <a:prstGeom prst="ellipse">
            <a:avLst/>
          </a:prstGeom>
          <a:solidFill>
            <a:srgbClr val="7FB78E"/>
          </a:solidFill>
          <a:ln/>
        </p:spPr>
        <p:txBody>
          <a:bodyPr/>
          <a:lstStyle/>
          <a:p>
            <a:endParaRPr lang="en-CN"/>
          </a:p>
        </p:txBody>
      </p:sp>
      <p:sp>
        <p:nvSpPr>
          <p:cNvPr id="17" name="Text 14"/>
          <p:cNvSpPr/>
          <p:nvPr/>
        </p:nvSpPr>
        <p:spPr>
          <a:xfrm>
            <a:off x="3408426" y="419709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5"/>
          <p:cNvSpPr/>
          <p:nvPr/>
        </p:nvSpPr>
        <p:spPr>
          <a:xfrm>
            <a:off x="3938778" y="4178808"/>
            <a:ext cx="7612837"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Ready to cook</a:t>
            </a:r>
            <a:endParaRPr lang="en-US" sz="1700" dirty="0"/>
          </a:p>
        </p:txBody>
      </p:sp>
      <p:sp>
        <p:nvSpPr>
          <p:cNvPr id="19" name="Text 16"/>
          <p:cNvSpPr/>
          <p:nvPr/>
        </p:nvSpPr>
        <p:spPr>
          <a:xfrm>
            <a:off x="3938778" y="4562856"/>
            <a:ext cx="7612837" cy="502920"/>
          </a:xfrm>
          <a:prstGeom prst="rect">
            <a:avLst/>
          </a:prstGeom>
          <a:noFill/>
          <a:ln/>
        </p:spPr>
        <p:txBody>
          <a:bodyPr wrap="square" lIns="0" tIns="0" rIns="0" bIns="0" rtlCol="0" anchor="ctr"/>
          <a:lstStyle/>
          <a:p>
            <a:pPr marL="0" indent="0">
              <a:lnSpc>
                <a:spcPct val="122000"/>
              </a:lnSpc>
              <a:buNone/>
            </a:pPr>
            <a:r>
              <a:rPr lang="en-US" sz="1300" dirty="0">
                <a:solidFill>
                  <a:srgbClr val="62676B"/>
                </a:solidFill>
                <a:latin typeface="Calibri" pitchFamily="34" charset="0"/>
                <a:ea typeface="Calibri" pitchFamily="34" charset="-122"/>
                <a:cs typeface="Calibri" pitchFamily="34" charset="-120"/>
              </a:rPr>
              <a:t>A solver-optimal task order with a live makespan comes out the other end.</a:t>
            </a:r>
            <a:endParaRPr lang="en-US" sz="1300" dirty="0"/>
          </a:p>
        </p:txBody>
      </p:sp>
      <p:sp>
        <p:nvSpPr>
          <p:cNvPr id="20" name="Shape 17"/>
          <p:cNvSpPr/>
          <p:nvPr/>
        </p:nvSpPr>
        <p:spPr>
          <a:xfrm>
            <a:off x="3408426" y="6144768"/>
            <a:ext cx="7548829" cy="594360"/>
          </a:xfrm>
          <a:prstGeom prst="roundRect">
            <a:avLst>
              <a:gd name="adj" fmla="val 15385"/>
            </a:avLst>
          </a:prstGeom>
          <a:solidFill>
            <a:srgbClr val="EFF6F1"/>
          </a:solidFill>
          <a:ln w="12700">
            <a:solidFill>
              <a:srgbClr val="D8E8DC"/>
            </a:solidFill>
            <a:prstDash val="solid"/>
          </a:ln>
        </p:spPr>
        <p:txBody>
          <a:bodyPr/>
          <a:lstStyle/>
          <a:p>
            <a:endParaRPr lang="en-CN"/>
          </a:p>
        </p:txBody>
      </p:sp>
      <p:sp>
        <p:nvSpPr>
          <p:cNvPr id="21" name="Text 18"/>
          <p:cNvSpPr/>
          <p:nvPr/>
        </p:nvSpPr>
        <p:spPr>
          <a:xfrm>
            <a:off x="3609594" y="6144768"/>
            <a:ext cx="7146493" cy="594360"/>
          </a:xfrm>
          <a:prstGeom prst="rect">
            <a:avLst/>
          </a:prstGeom>
          <a:noFill/>
          <a:ln/>
        </p:spPr>
        <p:txBody>
          <a:bodyPr wrap="square" lIns="0" tIns="0" rIns="0" bIns="0" rtlCol="0" anchor="ctr"/>
          <a:lstStyle/>
          <a:p>
            <a:pPr marL="0" indent="0">
              <a:lnSpc>
                <a:spcPct val="115000"/>
              </a:lnSpc>
              <a:buNone/>
            </a:pPr>
            <a:r>
              <a:rPr lang="en-US" sz="1200" b="1" kern="0" spc="50" dirty="0">
                <a:solidFill>
                  <a:srgbClr val="7FB78E"/>
                </a:solidFill>
                <a:latin typeface="Calibri" pitchFamily="34" charset="0"/>
                <a:ea typeface="Calibri" pitchFamily="34" charset="-122"/>
                <a:cs typeface="Calibri" pitchFamily="34" charset="-120"/>
              </a:rPr>
              <a:t>BUSINESS VALUE   </a:t>
            </a:r>
            <a:r>
              <a:rPr lang="en-US" sz="1200" dirty="0">
                <a:solidFill>
                  <a:srgbClr val="62676B"/>
                </a:solidFill>
                <a:latin typeface="Calibri" pitchFamily="34" charset="0"/>
                <a:ea typeface="Calibri" pitchFamily="34" charset="-122"/>
                <a:cs typeface="Calibri" pitchFamily="34" charset="-120"/>
              </a:rPr>
              <a:t>a finished plan turns one recommendation into a repeatable, higher-effort habit.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buNone/>
            </a:pPr>
            <a:r>
              <a:rPr lang="en-US" sz="1300" b="1" kern="0" spc="150" dirty="0">
                <a:solidFill>
                  <a:srgbClr val="62676B"/>
                </a:solidFill>
                <a:latin typeface="Calibri" pitchFamily="34" charset="0"/>
                <a:ea typeface="Calibri" pitchFamily="34" charset="-122"/>
                <a:cs typeface="Calibri" pitchFamily="34" charset="-120"/>
              </a:rPr>
              <a:t>FEATURE 4 · CHATBOT</a:t>
            </a:r>
            <a:endParaRPr lang="en-US" sz="1300" dirty="0"/>
          </a:p>
        </p:txBody>
      </p:sp>
      <p:sp>
        <p:nvSpPr>
          <p:cNvPr id="3" name="Text 1"/>
          <p:cNvSpPr/>
          <p:nvPr/>
        </p:nvSpPr>
        <p:spPr>
          <a:xfrm>
            <a:off x="640080" y="786384"/>
            <a:ext cx="7955280" cy="1417320"/>
          </a:xfrm>
          <a:prstGeom prst="rect">
            <a:avLst/>
          </a:prstGeom>
          <a:noFill/>
          <a:ln/>
        </p:spPr>
        <p:txBody>
          <a:bodyPr wrap="square" lIns="0" tIns="0" rIns="0" bIns="0" rtlCol="0" anchor="t"/>
          <a:lstStyle/>
          <a:p>
            <a:pPr marL="0" indent="0" algn="l">
              <a:lnSpc>
                <a:spcPct val="103000"/>
              </a:lnSpc>
              <a:buNone/>
            </a:pPr>
            <a:r>
              <a:rPr lang="en-US" sz="3600" b="1" dirty="0">
                <a:solidFill>
                  <a:srgbClr val="111111"/>
                </a:solidFill>
                <a:latin typeface="Calibri" pitchFamily="34" charset="0"/>
                <a:ea typeface="Calibri" pitchFamily="34" charset="-122"/>
                <a:cs typeface="Calibri" pitchFamily="34" charset="-120"/>
              </a:rPr>
              <a:t>A read-only assistant, grounded in your own data</a:t>
            </a:r>
            <a:endParaRPr lang="en-US" sz="3600" dirty="0"/>
          </a:p>
        </p:txBody>
      </p:sp>
      <p:sp>
        <p:nvSpPr>
          <p:cNvPr id="4" name="Shape 2"/>
          <p:cNvSpPr/>
          <p:nvPr/>
        </p:nvSpPr>
        <p:spPr>
          <a:xfrm>
            <a:off x="10637215" y="502920"/>
            <a:ext cx="914400" cy="384048"/>
          </a:xfrm>
          <a:prstGeom prst="roundRect">
            <a:avLst>
              <a:gd name="adj" fmla="val 50000"/>
            </a:avLst>
          </a:prstGeom>
          <a:solidFill>
            <a:srgbClr val="D9EF74"/>
          </a:solidFill>
          <a:ln/>
        </p:spPr>
        <p:txBody>
          <a:bodyPr/>
          <a:lstStyle/>
          <a:p>
            <a:endParaRPr lang="en-CN"/>
          </a:p>
        </p:txBody>
      </p:sp>
      <p:sp>
        <p:nvSpPr>
          <p:cNvPr id="5" name="Text 3"/>
          <p:cNvSpPr/>
          <p:nvPr/>
        </p:nvSpPr>
        <p:spPr>
          <a:xfrm>
            <a:off x="10637215" y="502920"/>
            <a:ext cx="914400" cy="384048"/>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CHAT</a:t>
            </a:r>
            <a:endParaRPr lang="en-US" sz="1200" dirty="0"/>
          </a:p>
        </p:txBody>
      </p:sp>
      <p:sp>
        <p:nvSpPr>
          <p:cNvPr id="6" name="Shape 4"/>
          <p:cNvSpPr/>
          <p:nvPr/>
        </p:nvSpPr>
        <p:spPr>
          <a:xfrm>
            <a:off x="640080" y="1965960"/>
            <a:ext cx="2040860" cy="4151376"/>
          </a:xfrm>
          <a:prstGeom prst="roundRect">
            <a:avLst>
              <a:gd name="adj" fmla="val 5825"/>
            </a:avLst>
          </a:prstGeom>
          <a:solidFill>
            <a:srgbClr val="0D100D"/>
          </a:solidFill>
          <a:ln w="9525">
            <a:solidFill>
              <a:srgbClr val="2A302A"/>
            </a:solidFill>
            <a:prstDash val="solid"/>
          </a:ln>
          <a:effectLst>
            <a:outerShdw blurRad="127000" dist="38100" dir="5400000" algn="bl" rotWithShape="0">
              <a:srgbClr val="111111">
                <a:alpha val="24000"/>
              </a:srgbClr>
            </a:outerShdw>
          </a:effectLst>
        </p:spPr>
        <p:txBody>
          <a:bodyPr/>
          <a:lstStyle/>
          <a:p>
            <a:endParaRPr lang="en-CN"/>
          </a:p>
        </p:txBody>
      </p:sp>
      <p:pic>
        <p:nvPicPr>
          <p:cNvPr id="7" name="Image 0" descr="/sessions/charming-upbeat-keller/mnt/ppt-design/foodmind-features/assets/android-chatbot-prompts.jpg"/>
          <p:cNvPicPr>
            <a:picLocks noChangeAspect="1"/>
          </p:cNvPicPr>
          <p:nvPr/>
        </p:nvPicPr>
        <p:blipFill>
          <a:blip r:embed="rId3"/>
          <a:stretch>
            <a:fillRect/>
          </a:stretch>
        </p:blipFill>
        <p:spPr>
          <a:xfrm>
            <a:off x="749808" y="2075688"/>
            <a:ext cx="1821404" cy="3931920"/>
          </a:xfrm>
          <a:prstGeom prst="rect">
            <a:avLst/>
          </a:prstGeom>
        </p:spPr>
      </p:pic>
      <p:sp>
        <p:nvSpPr>
          <p:cNvPr id="8" name="Shape 5"/>
          <p:cNvSpPr/>
          <p:nvPr/>
        </p:nvSpPr>
        <p:spPr>
          <a:xfrm>
            <a:off x="2955260" y="1965960"/>
            <a:ext cx="2040860" cy="4151376"/>
          </a:xfrm>
          <a:prstGeom prst="roundRect">
            <a:avLst>
              <a:gd name="adj" fmla="val 5825"/>
            </a:avLst>
          </a:prstGeom>
          <a:solidFill>
            <a:srgbClr val="0D100D"/>
          </a:solidFill>
          <a:ln w="9525">
            <a:solidFill>
              <a:srgbClr val="2A302A"/>
            </a:solidFill>
            <a:prstDash val="solid"/>
          </a:ln>
          <a:effectLst>
            <a:outerShdw blurRad="127000" dist="38100" dir="5400000" algn="bl" rotWithShape="0">
              <a:srgbClr val="111111">
                <a:alpha val="24000"/>
              </a:srgbClr>
            </a:outerShdw>
          </a:effectLst>
        </p:spPr>
        <p:txBody>
          <a:bodyPr/>
          <a:lstStyle/>
          <a:p>
            <a:endParaRPr lang="en-CN"/>
          </a:p>
        </p:txBody>
      </p:sp>
      <p:pic>
        <p:nvPicPr>
          <p:cNvPr id="9" name="Image 1" descr="/sessions/charming-upbeat-keller/mnt/ppt-design/foodmind-features/assets/android-chatbot-compose.jpg"/>
          <p:cNvPicPr>
            <a:picLocks noChangeAspect="1"/>
          </p:cNvPicPr>
          <p:nvPr/>
        </p:nvPicPr>
        <p:blipFill>
          <a:blip r:embed="rId4"/>
          <a:stretch>
            <a:fillRect/>
          </a:stretch>
        </p:blipFill>
        <p:spPr>
          <a:xfrm>
            <a:off x="3064988" y="2075688"/>
            <a:ext cx="1821404" cy="3931920"/>
          </a:xfrm>
          <a:prstGeom prst="rect">
            <a:avLst/>
          </a:prstGeom>
        </p:spPr>
      </p:pic>
      <p:sp>
        <p:nvSpPr>
          <p:cNvPr id="10" name="Text 6"/>
          <p:cNvSpPr/>
          <p:nvPr/>
        </p:nvSpPr>
        <p:spPr>
          <a:xfrm>
            <a:off x="5499040" y="1965960"/>
            <a:ext cx="6052575"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Prompts open the door</a:t>
            </a:r>
            <a:endParaRPr lang="en-US" sz="1700" dirty="0"/>
          </a:p>
        </p:txBody>
      </p:sp>
      <p:sp>
        <p:nvSpPr>
          <p:cNvPr id="11" name="Text 7"/>
          <p:cNvSpPr/>
          <p:nvPr/>
        </p:nvSpPr>
        <p:spPr>
          <a:xfrm>
            <a:off x="5499040" y="2350008"/>
            <a:ext cx="6052575" cy="960120"/>
          </a:xfrm>
          <a:prstGeom prst="rect">
            <a:avLst/>
          </a:prstGeom>
          <a:noFill/>
          <a:ln/>
        </p:spPr>
        <p:txBody>
          <a:bodyPr wrap="square" lIns="0" tIns="0" rIns="0" bIns="0" rtlCol="0" anchor="ctr"/>
          <a:lstStyle/>
          <a:p>
            <a:pPr marL="0" indent="0">
              <a:lnSpc>
                <a:spcPct val="125000"/>
              </a:lnSpc>
              <a:buNone/>
            </a:pPr>
            <a:r>
              <a:rPr lang="en-US" sz="1300" dirty="0">
                <a:solidFill>
                  <a:srgbClr val="62676B"/>
                </a:solidFill>
                <a:latin typeface="Calibri" pitchFamily="34" charset="0"/>
                <a:ea typeface="Calibri" pitchFamily="34" charset="-122"/>
                <a:cs typeface="Calibri" pitchFamily="34" charset="-120"/>
              </a:rPr>
              <a:t>Four suggested prompts — summarise records, compare attached sources, find a recent place, or ask a general nutrition question — show what’s in scope without the user guessing.</a:t>
            </a:r>
            <a:endParaRPr lang="en-US" sz="1300" dirty="0"/>
          </a:p>
        </p:txBody>
      </p:sp>
      <p:sp>
        <p:nvSpPr>
          <p:cNvPr id="12" name="Text 8"/>
          <p:cNvSpPr/>
          <p:nvPr/>
        </p:nvSpPr>
        <p:spPr>
          <a:xfrm>
            <a:off x="5499040" y="3474720"/>
            <a:ext cx="6052575"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Read-only, and it says so</a:t>
            </a:r>
            <a:endParaRPr lang="en-US" sz="1700" dirty="0"/>
          </a:p>
        </p:txBody>
      </p:sp>
      <p:sp>
        <p:nvSpPr>
          <p:cNvPr id="13" name="Text 9"/>
          <p:cNvSpPr/>
          <p:nvPr/>
        </p:nvSpPr>
        <p:spPr>
          <a:xfrm>
            <a:off x="5499040" y="3858768"/>
            <a:ext cx="6052575" cy="960120"/>
          </a:xfrm>
          <a:prstGeom prst="rect">
            <a:avLst/>
          </a:prstGeom>
          <a:noFill/>
          <a:ln/>
        </p:spPr>
        <p:txBody>
          <a:bodyPr wrap="square" lIns="0" tIns="0" rIns="0" bIns="0" rtlCol="0" anchor="ctr"/>
          <a:lstStyle/>
          <a:p>
            <a:pPr marL="0" indent="0">
              <a:lnSpc>
                <a:spcPct val="125000"/>
              </a:lnSpc>
              <a:buNone/>
            </a:pPr>
            <a:r>
              <a:rPr lang="en-US" sz="1300" dirty="0">
                <a:solidFill>
                  <a:srgbClr val="62676B"/>
                </a:solidFill>
                <a:latin typeface="Calibri" pitchFamily="34" charset="0"/>
                <a:ea typeface="Calibri" pitchFamily="34" charset="-122"/>
                <a:cs typeface="Calibri" pitchFamily="34" charset="-120"/>
              </a:rPr>
              <a:t>It can use authorised FoodMind sources or general knowledge, but never changes data or executes a recommendation or cooking action; source cards appear only for grounded answers, and don’t carry over between turns.</a:t>
            </a:r>
            <a:endParaRPr lang="en-US" sz="1300" dirty="0"/>
          </a:p>
        </p:txBody>
      </p:sp>
      <p:sp>
        <p:nvSpPr>
          <p:cNvPr id="14" name="Shape 10"/>
          <p:cNvSpPr/>
          <p:nvPr/>
        </p:nvSpPr>
        <p:spPr>
          <a:xfrm>
            <a:off x="5499040" y="5522976"/>
            <a:ext cx="5458215" cy="594360"/>
          </a:xfrm>
          <a:prstGeom prst="roundRect">
            <a:avLst>
              <a:gd name="adj" fmla="val 15385"/>
            </a:avLst>
          </a:prstGeom>
          <a:solidFill>
            <a:srgbClr val="EFF6F1"/>
          </a:solidFill>
          <a:ln w="12700">
            <a:solidFill>
              <a:srgbClr val="D8E8DC"/>
            </a:solidFill>
            <a:prstDash val="solid"/>
          </a:ln>
        </p:spPr>
        <p:txBody>
          <a:bodyPr/>
          <a:lstStyle/>
          <a:p>
            <a:endParaRPr lang="en-CN"/>
          </a:p>
        </p:txBody>
      </p:sp>
      <p:sp>
        <p:nvSpPr>
          <p:cNvPr id="15" name="Text 11"/>
          <p:cNvSpPr/>
          <p:nvPr/>
        </p:nvSpPr>
        <p:spPr>
          <a:xfrm>
            <a:off x="5700208" y="5522976"/>
            <a:ext cx="5055879" cy="594360"/>
          </a:xfrm>
          <a:prstGeom prst="rect">
            <a:avLst/>
          </a:prstGeom>
          <a:noFill/>
          <a:ln/>
        </p:spPr>
        <p:txBody>
          <a:bodyPr wrap="square" lIns="0" tIns="0" rIns="0" bIns="0" rtlCol="0" anchor="ctr"/>
          <a:lstStyle/>
          <a:p>
            <a:pPr marL="0" indent="0">
              <a:lnSpc>
                <a:spcPct val="115000"/>
              </a:lnSpc>
              <a:buNone/>
            </a:pPr>
            <a:r>
              <a:rPr lang="en-US" sz="1200" b="1" kern="0" spc="50" dirty="0">
                <a:solidFill>
                  <a:srgbClr val="7FB78E"/>
                </a:solidFill>
                <a:latin typeface="Calibri" pitchFamily="34" charset="0"/>
                <a:ea typeface="Calibri" pitchFamily="34" charset="-122"/>
                <a:cs typeface="Calibri" pitchFamily="34" charset="-120"/>
              </a:rPr>
              <a:t>BUSINESS VALUE   </a:t>
            </a:r>
            <a:r>
              <a:rPr lang="en-US" sz="1200" dirty="0">
                <a:solidFill>
                  <a:srgbClr val="62676B"/>
                </a:solidFill>
                <a:latin typeface="Calibri" pitchFamily="34" charset="0"/>
                <a:ea typeface="Calibri" pitchFamily="34" charset="-122"/>
                <a:cs typeface="Calibri" pitchFamily="34" charset="-120"/>
              </a:rPr>
              <a:t>an assistant that only reads and cites its sources is safer to trust with real user data — and easier to explain to a reviewer.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buNone/>
            </a:pPr>
            <a:r>
              <a:rPr lang="en-US" sz="1300" b="1" kern="0" spc="150" dirty="0">
                <a:solidFill>
                  <a:srgbClr val="62676B"/>
                </a:solidFill>
                <a:latin typeface="Calibri" pitchFamily="34" charset="0"/>
                <a:ea typeface="Calibri" pitchFamily="34" charset="-122"/>
                <a:cs typeface="Calibri" pitchFamily="34" charset="-120"/>
              </a:rPr>
              <a:t>FEATURE 4 · EVERYTHING ELSE</a:t>
            </a:r>
            <a:endParaRPr lang="en-US" sz="1300" dirty="0"/>
          </a:p>
        </p:txBody>
      </p:sp>
      <p:sp>
        <p:nvSpPr>
          <p:cNvPr id="3" name="Text 1"/>
          <p:cNvSpPr/>
          <p:nvPr/>
        </p:nvSpPr>
        <p:spPr>
          <a:xfrm>
            <a:off x="640080" y="786384"/>
            <a:ext cx="7955280" cy="1417320"/>
          </a:xfrm>
          <a:prstGeom prst="rect">
            <a:avLst/>
          </a:prstGeom>
          <a:noFill/>
          <a:ln/>
        </p:spPr>
        <p:txBody>
          <a:bodyPr wrap="square" lIns="0" tIns="0" rIns="0" bIns="0" rtlCol="0" anchor="t"/>
          <a:lstStyle/>
          <a:p>
            <a:pPr marL="0" indent="0" algn="l">
              <a:lnSpc>
                <a:spcPct val="103000"/>
              </a:lnSpc>
              <a:buNone/>
            </a:pPr>
            <a:r>
              <a:rPr lang="en-US" sz="3600" b="1" dirty="0">
                <a:solidFill>
                  <a:srgbClr val="111111"/>
                </a:solidFill>
                <a:latin typeface="Calibri" pitchFamily="34" charset="0"/>
                <a:ea typeface="Calibri" pitchFamily="34" charset="-122"/>
                <a:cs typeface="Calibri" pitchFamily="34" charset="-120"/>
              </a:rPr>
              <a:t>The rest of the loop</a:t>
            </a:r>
            <a:endParaRPr lang="en-US" sz="3600" dirty="0"/>
          </a:p>
        </p:txBody>
      </p:sp>
      <p:sp>
        <p:nvSpPr>
          <p:cNvPr id="4" name="Shape 2"/>
          <p:cNvSpPr/>
          <p:nvPr/>
        </p:nvSpPr>
        <p:spPr>
          <a:xfrm>
            <a:off x="10500055" y="502920"/>
            <a:ext cx="1097280" cy="384048"/>
          </a:xfrm>
          <a:prstGeom prst="roundRect">
            <a:avLst>
              <a:gd name="adj" fmla="val 50000"/>
            </a:avLst>
          </a:prstGeom>
          <a:solidFill>
            <a:srgbClr val="D9EF74"/>
          </a:solidFill>
          <a:ln/>
        </p:spPr>
        <p:txBody>
          <a:bodyPr/>
          <a:lstStyle/>
          <a:p>
            <a:endParaRPr lang="en-CN"/>
          </a:p>
        </p:txBody>
      </p:sp>
      <p:sp>
        <p:nvSpPr>
          <p:cNvPr id="5" name="Text 3"/>
          <p:cNvSpPr/>
          <p:nvPr/>
        </p:nvSpPr>
        <p:spPr>
          <a:xfrm>
            <a:off x="10500055" y="502920"/>
            <a:ext cx="1097280" cy="384048"/>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LEARN</a:t>
            </a:r>
            <a:endParaRPr lang="en-US" sz="1200" dirty="0"/>
          </a:p>
        </p:txBody>
      </p:sp>
      <p:sp>
        <p:nvSpPr>
          <p:cNvPr id="6" name="Shape 4"/>
          <p:cNvSpPr/>
          <p:nvPr/>
        </p:nvSpPr>
        <p:spPr>
          <a:xfrm>
            <a:off x="640080" y="1701800"/>
            <a:ext cx="2173986" cy="4562856"/>
          </a:xfrm>
          <a:prstGeom prst="roundRect">
            <a:avLst>
              <a:gd name="adj" fmla="val 5468"/>
            </a:avLst>
          </a:prstGeom>
          <a:solidFill>
            <a:srgbClr val="0D100D"/>
          </a:solidFill>
          <a:ln w="9525">
            <a:solidFill>
              <a:srgbClr val="2A302A"/>
            </a:solidFill>
            <a:prstDash val="solid"/>
          </a:ln>
          <a:effectLst>
            <a:outerShdw blurRad="127000" dist="38100" dir="5400000" algn="bl" rotWithShape="0">
              <a:srgbClr val="111111">
                <a:alpha val="24000"/>
              </a:srgbClr>
            </a:outerShdw>
          </a:effectLst>
        </p:spPr>
        <p:txBody>
          <a:bodyPr/>
          <a:lstStyle/>
          <a:p>
            <a:endParaRPr lang="en-CN"/>
          </a:p>
        </p:txBody>
      </p:sp>
      <p:pic>
        <p:nvPicPr>
          <p:cNvPr id="7" name="Image 0" descr="/sessions/charming-upbeat-keller/mnt/ppt-design/foodmind-features/assets/android-groups-created.png"/>
          <p:cNvPicPr>
            <a:picLocks noChangeAspect="1"/>
          </p:cNvPicPr>
          <p:nvPr/>
        </p:nvPicPr>
        <p:blipFill>
          <a:blip r:embed="rId3"/>
          <a:stretch>
            <a:fillRect/>
          </a:stretch>
        </p:blipFill>
        <p:spPr>
          <a:xfrm>
            <a:off x="749808" y="1811528"/>
            <a:ext cx="1954530" cy="4343400"/>
          </a:xfrm>
          <a:prstGeom prst="rect">
            <a:avLst/>
          </a:prstGeom>
        </p:spPr>
      </p:pic>
      <p:sp>
        <p:nvSpPr>
          <p:cNvPr id="8" name="Text 5"/>
          <p:cNvSpPr/>
          <p:nvPr/>
        </p:nvSpPr>
        <p:spPr>
          <a:xfrm>
            <a:off x="3408426" y="1712722"/>
            <a:ext cx="8143189"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Trusted group sharing</a:t>
            </a:r>
            <a:endParaRPr lang="en-US" sz="1700" dirty="0"/>
          </a:p>
        </p:txBody>
      </p:sp>
      <p:sp>
        <p:nvSpPr>
          <p:cNvPr id="9" name="Text 6"/>
          <p:cNvSpPr/>
          <p:nvPr/>
        </p:nvSpPr>
        <p:spPr>
          <a:xfrm>
            <a:off x="3408426" y="2096770"/>
            <a:ext cx="8143189" cy="685800"/>
          </a:xfrm>
          <a:prstGeom prst="rect">
            <a:avLst/>
          </a:prstGeom>
          <a:noFill/>
          <a:ln/>
        </p:spPr>
        <p:txBody>
          <a:bodyPr wrap="square" lIns="0" tIns="0" rIns="0" bIns="0" rtlCol="0" anchor="ctr"/>
          <a:lstStyle/>
          <a:p>
            <a:pPr marL="0" indent="0">
              <a:lnSpc>
                <a:spcPct val="125000"/>
              </a:lnSpc>
              <a:buNone/>
            </a:pPr>
            <a:r>
              <a:rPr lang="en-US" sz="1300" dirty="0">
                <a:solidFill>
                  <a:srgbClr val="62676B"/>
                </a:solidFill>
                <a:latin typeface="Calibri" pitchFamily="34" charset="0"/>
                <a:ea typeface="Calibri" pitchFamily="34" charset="-122"/>
                <a:cs typeface="Calibri" pitchFamily="34" charset="-120"/>
              </a:rPr>
              <a:t>Members share tastes, records and meal ideas inside a circle they chose — private by default, shared only when the user opts in.</a:t>
            </a:r>
            <a:endParaRPr lang="en-US" sz="1300" dirty="0"/>
          </a:p>
        </p:txBody>
      </p:sp>
      <p:sp>
        <p:nvSpPr>
          <p:cNvPr id="12" name="Text 9"/>
          <p:cNvSpPr/>
          <p:nvPr/>
        </p:nvSpPr>
        <p:spPr>
          <a:xfrm>
            <a:off x="3408426" y="3029966"/>
            <a:ext cx="8143189"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Records management</a:t>
            </a:r>
            <a:endParaRPr lang="en-US" sz="1700" dirty="0"/>
          </a:p>
        </p:txBody>
      </p:sp>
      <p:sp>
        <p:nvSpPr>
          <p:cNvPr id="13" name="Text 10"/>
          <p:cNvSpPr/>
          <p:nvPr/>
        </p:nvSpPr>
        <p:spPr>
          <a:xfrm>
            <a:off x="3408426" y="3414014"/>
            <a:ext cx="8143189" cy="685800"/>
          </a:xfrm>
          <a:prstGeom prst="rect">
            <a:avLst/>
          </a:prstGeom>
          <a:noFill/>
          <a:ln/>
        </p:spPr>
        <p:txBody>
          <a:bodyPr wrap="square" lIns="0" tIns="0" rIns="0" bIns="0" rtlCol="0" anchor="ctr"/>
          <a:lstStyle/>
          <a:p>
            <a:pPr marL="0" indent="0">
              <a:lnSpc>
                <a:spcPct val="125000"/>
              </a:lnSpc>
              <a:buNone/>
            </a:pPr>
            <a:r>
              <a:rPr lang="en-US" sz="1300" dirty="0">
                <a:solidFill>
                  <a:srgbClr val="62676B"/>
                </a:solidFill>
                <a:latin typeface="Calibri" pitchFamily="34" charset="0"/>
                <a:ea typeface="Calibri" pitchFamily="34" charset="-122"/>
                <a:cs typeface="Calibri" pitchFamily="34" charset="-120"/>
              </a:rPr>
              <a:t>Food and Drink records can be created, edited or deleted directly — Cooking, Insights and Recommendation all read from the same accurate history.</a:t>
            </a:r>
            <a:endParaRPr lang="en-US" sz="1300" dirty="0"/>
          </a:p>
        </p:txBody>
      </p:sp>
      <p:sp>
        <p:nvSpPr>
          <p:cNvPr id="14" name="Shape 11"/>
          <p:cNvSpPr/>
          <p:nvPr/>
        </p:nvSpPr>
        <p:spPr>
          <a:xfrm>
            <a:off x="3408426" y="5514848"/>
            <a:ext cx="7548829" cy="594360"/>
          </a:xfrm>
          <a:prstGeom prst="roundRect">
            <a:avLst>
              <a:gd name="adj" fmla="val 15385"/>
            </a:avLst>
          </a:prstGeom>
          <a:solidFill>
            <a:srgbClr val="EFF6F1"/>
          </a:solidFill>
          <a:ln w="12700">
            <a:solidFill>
              <a:srgbClr val="D8E8DC"/>
            </a:solidFill>
            <a:prstDash val="solid"/>
          </a:ln>
        </p:spPr>
        <p:txBody>
          <a:bodyPr/>
          <a:lstStyle/>
          <a:p>
            <a:endParaRPr lang="en-CN"/>
          </a:p>
        </p:txBody>
      </p:sp>
      <p:sp>
        <p:nvSpPr>
          <p:cNvPr id="15" name="Text 12"/>
          <p:cNvSpPr/>
          <p:nvPr/>
        </p:nvSpPr>
        <p:spPr>
          <a:xfrm>
            <a:off x="3609594" y="5514848"/>
            <a:ext cx="7146493" cy="594360"/>
          </a:xfrm>
          <a:prstGeom prst="rect">
            <a:avLst/>
          </a:prstGeom>
          <a:noFill/>
          <a:ln/>
        </p:spPr>
        <p:txBody>
          <a:bodyPr wrap="square" lIns="0" tIns="0" rIns="0" bIns="0" rtlCol="0" anchor="ctr"/>
          <a:lstStyle/>
          <a:p>
            <a:pPr marL="0" indent="0">
              <a:lnSpc>
                <a:spcPct val="115000"/>
              </a:lnSpc>
              <a:buNone/>
            </a:pPr>
            <a:r>
              <a:rPr lang="en-US" sz="1200" b="1" kern="0" spc="50" dirty="0">
                <a:solidFill>
                  <a:srgbClr val="7FB78E"/>
                </a:solidFill>
                <a:latin typeface="Calibri" pitchFamily="34" charset="0"/>
                <a:ea typeface="Calibri" pitchFamily="34" charset="-122"/>
                <a:cs typeface="Calibri" pitchFamily="34" charset="-120"/>
              </a:rPr>
              <a:t>BUSINESS VALUE   </a:t>
            </a:r>
            <a:r>
              <a:rPr lang="en-US" sz="1200" dirty="0">
                <a:solidFill>
                  <a:srgbClr val="62676B"/>
                </a:solidFill>
                <a:latin typeface="Calibri" pitchFamily="34" charset="0"/>
                <a:ea typeface="Calibri" pitchFamily="34" charset="-122"/>
                <a:cs typeface="Calibri" pitchFamily="34" charset="-120"/>
              </a:rPr>
              <a:t>a controllable social graph and a clean records base are the quiet infrastructure the rest of the product's data moat depends 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8F8F6"/>
        </a:solidFill>
        <a:effectLst/>
      </p:bgPr>
    </p:bg>
    <p:spTree>
      <p:nvGrpSpPr>
        <p:cNvPr id="1" name=""/>
        <p:cNvGrpSpPr/>
        <p:nvPr/>
      </p:nvGrpSpPr>
      <p:grpSpPr>
        <a:xfrm>
          <a:off x="0" y="0"/>
          <a:ext cx="0" cy="0"/>
          <a:chOff x="0" y="0"/>
          <a:chExt cx="0" cy="0"/>
        </a:xfrm>
      </p:grpSpPr>
      <p:sp>
        <p:nvSpPr>
          <p:cNvPr id="3" name="Text 1"/>
          <p:cNvSpPr/>
          <p:nvPr/>
        </p:nvSpPr>
        <p:spPr>
          <a:xfrm>
            <a:off x="640080" y="786384"/>
            <a:ext cx="7772400" cy="1417320"/>
          </a:xfrm>
          <a:prstGeom prst="rect">
            <a:avLst/>
          </a:prstGeom>
          <a:noFill/>
          <a:ln/>
        </p:spPr>
        <p:txBody>
          <a:bodyPr wrap="square" lIns="0" tIns="0" rIns="0" bIns="0" rtlCol="0" anchor="t"/>
          <a:lstStyle/>
          <a:p>
            <a:pPr marL="0" indent="0" algn="l">
              <a:lnSpc>
                <a:spcPct val="103000"/>
              </a:lnSpc>
              <a:buNone/>
            </a:pPr>
            <a:r>
              <a:rPr lang="en-US" sz="3600" b="1" dirty="0">
                <a:solidFill>
                  <a:srgbClr val="111111"/>
                </a:solidFill>
                <a:latin typeface="Calibri" pitchFamily="34" charset="0"/>
                <a:ea typeface="Calibri" pitchFamily="34" charset="-122"/>
                <a:cs typeface="Calibri" pitchFamily="34" charset="-120"/>
              </a:rPr>
              <a:t>The same history, read two ways</a:t>
            </a:r>
            <a:endParaRPr lang="en-US" sz="3600" dirty="0"/>
          </a:p>
        </p:txBody>
      </p:sp>
      <p:sp>
        <p:nvSpPr>
          <p:cNvPr id="4" name="Shape 2"/>
          <p:cNvSpPr/>
          <p:nvPr/>
        </p:nvSpPr>
        <p:spPr>
          <a:xfrm>
            <a:off x="10317175" y="502920"/>
            <a:ext cx="1234440" cy="384048"/>
          </a:xfrm>
          <a:prstGeom prst="roundRect">
            <a:avLst>
              <a:gd name="adj" fmla="val 50000"/>
            </a:avLst>
          </a:prstGeom>
          <a:solidFill>
            <a:srgbClr val="D9EF74"/>
          </a:solidFill>
          <a:ln/>
        </p:spPr>
        <p:txBody>
          <a:bodyPr/>
          <a:lstStyle/>
          <a:p>
            <a:endParaRPr lang="en-CN"/>
          </a:p>
        </p:txBody>
      </p:sp>
      <p:sp>
        <p:nvSpPr>
          <p:cNvPr id="5" name="Text 3"/>
          <p:cNvSpPr/>
          <p:nvPr/>
        </p:nvSpPr>
        <p:spPr>
          <a:xfrm>
            <a:off x="10317175" y="502920"/>
            <a:ext cx="1234440" cy="384048"/>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INSIGHTS</a:t>
            </a:r>
            <a:endParaRPr lang="en-US" sz="1200" dirty="0"/>
          </a:p>
        </p:txBody>
      </p:sp>
      <p:sp>
        <p:nvSpPr>
          <p:cNvPr id="6" name="Shape 4"/>
          <p:cNvSpPr/>
          <p:nvPr/>
        </p:nvSpPr>
        <p:spPr>
          <a:xfrm>
            <a:off x="640080" y="1965960"/>
            <a:ext cx="2040860" cy="4151376"/>
          </a:xfrm>
          <a:prstGeom prst="roundRect">
            <a:avLst>
              <a:gd name="adj" fmla="val 5825"/>
            </a:avLst>
          </a:prstGeom>
          <a:solidFill>
            <a:srgbClr val="0D100D"/>
          </a:solidFill>
          <a:ln w="9525">
            <a:solidFill>
              <a:srgbClr val="2A302A"/>
            </a:solidFill>
            <a:prstDash val="solid"/>
          </a:ln>
          <a:effectLst>
            <a:outerShdw blurRad="127000" dist="38100" dir="5400000" algn="bl" rotWithShape="0">
              <a:srgbClr val="111111">
                <a:alpha val="24000"/>
              </a:srgbClr>
            </a:outerShdw>
          </a:effectLst>
        </p:spPr>
        <p:txBody>
          <a:bodyPr/>
          <a:lstStyle/>
          <a:p>
            <a:endParaRPr lang="en-CN"/>
          </a:p>
        </p:txBody>
      </p:sp>
      <p:pic>
        <p:nvPicPr>
          <p:cNvPr id="7" name="Image 0" descr="/sessions/charming-upbeat-keller/mnt/ppt-design/foodmind-features/assets/android-discover-2.JPG"/>
          <p:cNvPicPr>
            <a:picLocks noChangeAspect="1"/>
          </p:cNvPicPr>
          <p:nvPr/>
        </p:nvPicPr>
        <p:blipFill>
          <a:blip r:embed="rId3"/>
          <a:stretch>
            <a:fillRect/>
          </a:stretch>
        </p:blipFill>
        <p:spPr>
          <a:xfrm>
            <a:off x="749808" y="2075688"/>
            <a:ext cx="1821404" cy="3931920"/>
          </a:xfrm>
          <a:prstGeom prst="rect">
            <a:avLst/>
          </a:prstGeom>
        </p:spPr>
      </p:pic>
      <p:sp>
        <p:nvSpPr>
          <p:cNvPr id="8" name="Shape 5"/>
          <p:cNvSpPr/>
          <p:nvPr/>
        </p:nvSpPr>
        <p:spPr>
          <a:xfrm>
            <a:off x="2955260" y="1965960"/>
            <a:ext cx="2040860" cy="4151376"/>
          </a:xfrm>
          <a:prstGeom prst="roundRect">
            <a:avLst>
              <a:gd name="adj" fmla="val 5825"/>
            </a:avLst>
          </a:prstGeom>
          <a:solidFill>
            <a:srgbClr val="0D100D"/>
          </a:solidFill>
          <a:ln w="9525">
            <a:solidFill>
              <a:srgbClr val="2A302A"/>
            </a:solidFill>
            <a:prstDash val="solid"/>
          </a:ln>
          <a:effectLst>
            <a:outerShdw blurRad="127000" dist="38100" dir="5400000" algn="bl" rotWithShape="0">
              <a:srgbClr val="111111">
                <a:alpha val="24000"/>
              </a:srgbClr>
            </a:outerShdw>
          </a:effectLst>
        </p:spPr>
        <p:txBody>
          <a:bodyPr/>
          <a:lstStyle/>
          <a:p>
            <a:endParaRPr lang="en-CN"/>
          </a:p>
        </p:txBody>
      </p:sp>
      <p:pic>
        <p:nvPicPr>
          <p:cNvPr id="9" name="Image 1" descr="/sessions/charming-upbeat-keller/mnt/ppt-design/foodmind-features/assets/android-discover-3.JPG"/>
          <p:cNvPicPr>
            <a:picLocks noChangeAspect="1"/>
          </p:cNvPicPr>
          <p:nvPr/>
        </p:nvPicPr>
        <p:blipFill>
          <a:blip r:embed="rId4"/>
          <a:stretch>
            <a:fillRect/>
          </a:stretch>
        </p:blipFill>
        <p:spPr>
          <a:xfrm>
            <a:off x="3064988" y="2075688"/>
            <a:ext cx="1821404" cy="3931920"/>
          </a:xfrm>
          <a:prstGeom prst="rect">
            <a:avLst/>
          </a:prstGeom>
        </p:spPr>
      </p:pic>
      <p:sp>
        <p:nvSpPr>
          <p:cNvPr id="10" name="Text 6"/>
          <p:cNvSpPr/>
          <p:nvPr/>
        </p:nvSpPr>
        <p:spPr>
          <a:xfrm>
            <a:off x="5499040" y="1965960"/>
            <a:ext cx="6052575"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Weekly Recap is the report</a:t>
            </a:r>
            <a:endParaRPr lang="en-US" sz="1700" dirty="0"/>
          </a:p>
        </p:txBody>
      </p:sp>
      <p:sp>
        <p:nvSpPr>
          <p:cNvPr id="11" name="Text 7"/>
          <p:cNvSpPr/>
          <p:nvPr/>
        </p:nvSpPr>
        <p:spPr>
          <a:xfrm>
            <a:off x="5499040" y="2350008"/>
            <a:ext cx="6052575" cy="960120"/>
          </a:xfrm>
          <a:prstGeom prst="rect">
            <a:avLst/>
          </a:prstGeom>
          <a:noFill/>
          <a:ln/>
        </p:spPr>
        <p:txBody>
          <a:bodyPr wrap="square" lIns="0" tIns="0" rIns="0" bIns="0" rtlCol="0" anchor="ctr"/>
          <a:lstStyle/>
          <a:p>
            <a:pPr marL="0" indent="0">
              <a:lnSpc>
                <a:spcPct val="125000"/>
              </a:lnSpc>
              <a:buNone/>
            </a:pPr>
            <a:r>
              <a:rPr lang="en-US" sz="1300" dirty="0">
                <a:solidFill>
                  <a:srgbClr val="62676B"/>
                </a:solidFill>
                <a:latin typeface="Calibri" pitchFamily="34" charset="0"/>
                <a:ea typeface="Calibri" pitchFamily="34" charset="-122"/>
                <a:cs typeface="Calibri" pitchFamily="34" charset="-120"/>
              </a:rPr>
              <a:t>Both screens are the Weekly Recap tab: a snapshot anchored to one Monday date, walking through cuisine mix, recommendation outcomes and a “food story” that connects activity, spending, cuisine, rating and outcomes.</a:t>
            </a:r>
            <a:endParaRPr lang="en-US" sz="1300" dirty="0"/>
          </a:p>
        </p:txBody>
      </p:sp>
      <p:sp>
        <p:nvSpPr>
          <p:cNvPr id="12" name="Text 8"/>
          <p:cNvSpPr/>
          <p:nvPr/>
        </p:nvSpPr>
        <p:spPr>
          <a:xfrm>
            <a:off x="5499040" y="3474720"/>
            <a:ext cx="6052575" cy="365760"/>
          </a:xfrm>
          <a:prstGeom prst="rect">
            <a:avLst/>
          </a:prstGeom>
          <a:noFill/>
          <a:ln/>
        </p:spPr>
        <p:txBody>
          <a:bodyPr wrap="square" lIns="0" tIns="0" rIns="0" bIns="0" rtlCol="0" anchor="ctr"/>
          <a:lstStyle/>
          <a:p>
            <a:pPr marL="0" indent="0">
              <a:buNone/>
            </a:pPr>
            <a:r>
              <a:rPr lang="en-US" sz="1700" b="1" dirty="0">
                <a:solidFill>
                  <a:srgbClr val="111111"/>
                </a:solidFill>
                <a:latin typeface="Calibri" pitchFamily="34" charset="0"/>
                <a:ea typeface="Calibri" pitchFamily="34" charset="-122"/>
                <a:cs typeface="Calibri" pitchFamily="34" charset="-120"/>
              </a:rPr>
              <a:t>Trends is the live dashboard</a:t>
            </a:r>
            <a:endParaRPr lang="en-US" sz="1700" dirty="0"/>
          </a:p>
        </p:txBody>
      </p:sp>
      <p:sp>
        <p:nvSpPr>
          <p:cNvPr id="13" name="Text 9"/>
          <p:cNvSpPr/>
          <p:nvPr/>
        </p:nvSpPr>
        <p:spPr>
          <a:xfrm>
            <a:off x="5499040" y="3858768"/>
            <a:ext cx="6052575" cy="960120"/>
          </a:xfrm>
          <a:prstGeom prst="rect">
            <a:avLst/>
          </a:prstGeom>
          <a:noFill/>
          <a:ln/>
        </p:spPr>
        <p:txBody>
          <a:bodyPr wrap="square" lIns="0" tIns="0" rIns="0" bIns="0" rtlCol="0" anchor="ctr"/>
          <a:lstStyle/>
          <a:p>
            <a:pPr marL="0" indent="0">
              <a:lnSpc>
                <a:spcPct val="125000"/>
              </a:lnSpc>
              <a:buNone/>
            </a:pPr>
            <a:r>
              <a:rPr lang="en-US" sz="1300" dirty="0">
                <a:solidFill>
                  <a:srgbClr val="62676B"/>
                </a:solidFill>
                <a:latin typeface="Calibri" pitchFamily="34" charset="0"/>
                <a:ea typeface="Calibri" pitchFamily="34" charset="-122"/>
                <a:cs typeface="Calibri" pitchFamily="34" charset="-120"/>
              </a:rPr>
              <a:t>The Trends tab sits right next to it — the always-on view a user can open any time, reading the same underlying history without waiting for the week to end.</a:t>
            </a:r>
            <a:endParaRPr lang="en-US" sz="1300" dirty="0"/>
          </a:p>
        </p:txBody>
      </p:sp>
      <p:sp>
        <p:nvSpPr>
          <p:cNvPr id="14" name="Shape 10"/>
          <p:cNvSpPr/>
          <p:nvPr/>
        </p:nvSpPr>
        <p:spPr>
          <a:xfrm>
            <a:off x="5499040" y="6144768"/>
            <a:ext cx="5458215" cy="594360"/>
          </a:xfrm>
          <a:prstGeom prst="roundRect">
            <a:avLst>
              <a:gd name="adj" fmla="val 15385"/>
            </a:avLst>
          </a:prstGeom>
          <a:solidFill>
            <a:srgbClr val="EFF6F1"/>
          </a:solidFill>
          <a:ln w="12700">
            <a:solidFill>
              <a:srgbClr val="D8E8DC"/>
            </a:solidFill>
            <a:prstDash val="solid"/>
          </a:ln>
        </p:spPr>
        <p:txBody>
          <a:bodyPr/>
          <a:lstStyle/>
          <a:p>
            <a:endParaRPr lang="en-CN"/>
          </a:p>
        </p:txBody>
      </p:sp>
      <p:sp>
        <p:nvSpPr>
          <p:cNvPr id="15" name="Text 11"/>
          <p:cNvSpPr/>
          <p:nvPr/>
        </p:nvSpPr>
        <p:spPr>
          <a:xfrm>
            <a:off x="5700208" y="6144768"/>
            <a:ext cx="5055879" cy="594360"/>
          </a:xfrm>
          <a:prstGeom prst="rect">
            <a:avLst/>
          </a:prstGeom>
          <a:noFill/>
          <a:ln/>
        </p:spPr>
        <p:txBody>
          <a:bodyPr wrap="square" lIns="0" tIns="0" rIns="0" bIns="0" rtlCol="0" anchor="ctr"/>
          <a:lstStyle/>
          <a:p>
            <a:pPr marL="0" indent="0">
              <a:lnSpc>
                <a:spcPct val="115000"/>
              </a:lnSpc>
              <a:buNone/>
            </a:pPr>
            <a:r>
              <a:rPr lang="en-US" sz="1200" b="1" kern="0" spc="50" dirty="0">
                <a:solidFill>
                  <a:srgbClr val="7FB78E"/>
                </a:solidFill>
                <a:latin typeface="Calibri" pitchFamily="34" charset="0"/>
                <a:ea typeface="Calibri" pitchFamily="34" charset="-122"/>
                <a:cs typeface="Calibri" pitchFamily="34" charset="-120"/>
              </a:rPr>
              <a:t>BUSINESS VALUE   </a:t>
            </a:r>
            <a:r>
              <a:rPr lang="en-US" sz="1200" dirty="0">
                <a:solidFill>
                  <a:srgbClr val="62676B"/>
                </a:solidFill>
                <a:latin typeface="Calibri" pitchFamily="34" charset="0"/>
                <a:ea typeface="Calibri" pitchFamily="34" charset="-122"/>
                <a:cs typeface="Calibri" pitchFamily="34" charset="-120"/>
              </a:rPr>
              <a:t>a live dashboard and a periodic report from one history keep users checking in for different reasons.</a:t>
            </a:r>
            <a:endParaRPr lang="en-US" sz="1200" dirty="0"/>
          </a:p>
        </p:txBody>
      </p:sp>
      <p:sp>
        <p:nvSpPr>
          <p:cNvPr id="17" name="Text 0">
            <a:extLst>
              <a:ext uri="{FF2B5EF4-FFF2-40B4-BE49-F238E27FC236}">
                <a16:creationId xmlns:a16="http://schemas.microsoft.com/office/drawing/2014/main" id="{1E1F4288-4428-BD35-2546-1355EACDC1FA}"/>
              </a:ext>
            </a:extLst>
          </p:cNvPr>
          <p:cNvSpPr/>
          <p:nvPr/>
        </p:nvSpPr>
        <p:spPr>
          <a:xfrm>
            <a:off x="640080" y="457200"/>
            <a:ext cx="8229600" cy="292608"/>
          </a:xfrm>
          <a:prstGeom prst="rect">
            <a:avLst/>
          </a:prstGeom>
          <a:noFill/>
          <a:ln/>
        </p:spPr>
        <p:txBody>
          <a:bodyPr wrap="square" lIns="0" tIns="0" rIns="0" bIns="0" rtlCol="0" anchor="ctr"/>
          <a:lstStyle/>
          <a:p>
            <a:pPr marL="0" indent="0">
              <a:buNone/>
            </a:pPr>
            <a:r>
              <a:rPr lang="en-US" sz="1300" b="1" kern="0" spc="150" dirty="0">
                <a:solidFill>
                  <a:srgbClr val="62676B"/>
                </a:solidFill>
                <a:latin typeface="Calibri" pitchFamily="34" charset="0"/>
                <a:ea typeface="Calibri" pitchFamily="34" charset="-122"/>
                <a:cs typeface="Calibri" pitchFamily="34" charset="-120"/>
              </a:rPr>
              <a:t>FEATURE 4 · EVERYTHING ELSE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00D"/>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92608"/>
          </a:xfrm>
          <a:prstGeom prst="rect">
            <a:avLst/>
          </a:prstGeom>
          <a:noFill/>
          <a:ln/>
        </p:spPr>
        <p:txBody>
          <a:bodyPr wrap="square" lIns="0" tIns="0" rIns="0" bIns="0" rtlCol="0" anchor="ctr"/>
          <a:lstStyle/>
          <a:p>
            <a:pPr marL="0" indent="0">
              <a:buNone/>
            </a:pPr>
            <a:r>
              <a:rPr lang="en-US" sz="1300" b="1" kern="0" spc="150" dirty="0">
                <a:solidFill>
                  <a:srgbClr val="D9EF74"/>
                </a:solidFill>
                <a:latin typeface="Calibri" pitchFamily="34" charset="0"/>
                <a:ea typeface="Calibri" pitchFamily="34" charset="-122"/>
                <a:cs typeface="Calibri" pitchFamily="34" charset="-120"/>
              </a:rPr>
              <a:t>FOR TECHNICAL REVIEWERS</a:t>
            </a:r>
            <a:endParaRPr lang="en-US" sz="1300" dirty="0"/>
          </a:p>
        </p:txBody>
      </p:sp>
      <p:sp>
        <p:nvSpPr>
          <p:cNvPr id="3" name="Text 1"/>
          <p:cNvSpPr/>
          <p:nvPr/>
        </p:nvSpPr>
        <p:spPr>
          <a:xfrm>
            <a:off x="640080" y="786384"/>
            <a:ext cx="8961120" cy="1005840"/>
          </a:xfrm>
          <a:prstGeom prst="rect">
            <a:avLst/>
          </a:prstGeom>
          <a:noFill/>
          <a:ln/>
        </p:spPr>
        <p:txBody>
          <a:bodyPr wrap="square" lIns="0" tIns="0" rIns="0" bIns="0" rtlCol="0" anchor="t"/>
          <a:lstStyle/>
          <a:p>
            <a:pPr marL="0" indent="0" algn="l">
              <a:lnSpc>
                <a:spcPct val="103000"/>
              </a:lnSpc>
              <a:buNone/>
            </a:pPr>
            <a:r>
              <a:rPr lang="en-US" sz="3600" b="1" dirty="0">
                <a:solidFill>
                  <a:srgbClr val="FFFFFF"/>
                </a:solidFill>
                <a:latin typeface="Calibri" pitchFamily="34" charset="0"/>
                <a:ea typeface="Calibri" pitchFamily="34" charset="-122"/>
                <a:cs typeface="Calibri" pitchFamily="34" charset="-120"/>
              </a:rPr>
              <a:t>Three product decisions worth a closer look</a:t>
            </a:r>
            <a:endParaRPr lang="en-US" sz="3600" dirty="0"/>
          </a:p>
        </p:txBody>
      </p:sp>
      <p:sp>
        <p:nvSpPr>
          <p:cNvPr id="4" name="Text 2"/>
          <p:cNvSpPr/>
          <p:nvPr/>
        </p:nvSpPr>
        <p:spPr>
          <a:xfrm>
            <a:off x="640080" y="1783080"/>
            <a:ext cx="10241280" cy="502920"/>
          </a:xfrm>
          <a:prstGeom prst="rect">
            <a:avLst/>
          </a:prstGeom>
          <a:noFill/>
          <a:ln/>
        </p:spPr>
        <p:txBody>
          <a:bodyPr wrap="square" lIns="0" tIns="0" rIns="0" bIns="0" rtlCol="0" anchor="ctr"/>
          <a:lstStyle/>
          <a:p>
            <a:pPr marL="0" indent="0">
              <a:lnSpc>
                <a:spcPct val="125000"/>
              </a:lnSpc>
              <a:buNone/>
            </a:pPr>
            <a:r>
              <a:rPr lang="en-US" sz="1700" dirty="0">
                <a:solidFill>
                  <a:srgbClr val="AEB8AE"/>
                </a:solidFill>
                <a:latin typeface="Calibri" pitchFamily="34" charset="0"/>
                <a:ea typeface="Calibri" pitchFamily="34" charset="-122"/>
                <a:cs typeface="Calibri" pitchFamily="34" charset="-120"/>
              </a:rPr>
              <a:t>The narrative above is for users. This page is for reviewers who want to know what is actually running underneath.</a:t>
            </a:r>
            <a:endParaRPr lang="en-US" sz="1700" dirty="0"/>
          </a:p>
        </p:txBody>
      </p:sp>
      <p:sp>
        <p:nvSpPr>
          <p:cNvPr id="5" name="Shape 3"/>
          <p:cNvSpPr/>
          <p:nvPr/>
        </p:nvSpPr>
        <p:spPr>
          <a:xfrm>
            <a:off x="640080" y="2377440"/>
            <a:ext cx="3429000" cy="3840480"/>
          </a:xfrm>
          <a:prstGeom prst="roundRect">
            <a:avLst>
              <a:gd name="adj" fmla="val 3733"/>
            </a:avLst>
          </a:prstGeom>
          <a:solidFill>
            <a:srgbClr val="171B17"/>
          </a:solidFill>
          <a:ln w="12700">
            <a:solidFill>
              <a:srgbClr val="2A302A"/>
            </a:solidFill>
            <a:prstDash val="solid"/>
          </a:ln>
        </p:spPr>
        <p:txBody>
          <a:bodyPr/>
          <a:lstStyle/>
          <a:p>
            <a:endParaRPr lang="en-CN"/>
          </a:p>
        </p:txBody>
      </p:sp>
      <p:sp>
        <p:nvSpPr>
          <p:cNvPr id="6" name="Shape 4"/>
          <p:cNvSpPr/>
          <p:nvPr/>
        </p:nvSpPr>
        <p:spPr>
          <a:xfrm>
            <a:off x="914400" y="2633472"/>
            <a:ext cx="420624" cy="420624"/>
          </a:xfrm>
          <a:prstGeom prst="ellipse">
            <a:avLst/>
          </a:prstGeom>
          <a:solidFill>
            <a:srgbClr val="D9EF74"/>
          </a:solidFill>
          <a:ln/>
        </p:spPr>
        <p:txBody>
          <a:bodyPr/>
          <a:lstStyle/>
          <a:p>
            <a:endParaRPr lang="en-CN"/>
          </a:p>
        </p:txBody>
      </p:sp>
      <p:sp>
        <p:nvSpPr>
          <p:cNvPr id="7" name="Text 5"/>
          <p:cNvSpPr/>
          <p:nvPr/>
        </p:nvSpPr>
        <p:spPr>
          <a:xfrm>
            <a:off x="914400" y="2633472"/>
            <a:ext cx="420624" cy="420624"/>
          </a:xfrm>
          <a:prstGeom prst="rect">
            <a:avLst/>
          </a:prstGeom>
          <a:noFill/>
          <a:ln/>
        </p:spPr>
        <p:txBody>
          <a:bodyPr wrap="square" lIns="0" tIns="0" rIns="0" bIns="0" rtlCol="0" anchor="ctr"/>
          <a:lstStyle/>
          <a:p>
            <a:pPr marL="0" indent="0" algn="ctr">
              <a:buNone/>
            </a:pPr>
            <a:r>
              <a:rPr lang="en-US" sz="1300" b="1" dirty="0">
                <a:solidFill>
                  <a:srgbClr val="0D100D"/>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914400" y="3218688"/>
            <a:ext cx="2880360" cy="713232"/>
          </a:xfrm>
          <a:prstGeom prst="rect">
            <a:avLst/>
          </a:prstGeom>
          <a:noFill/>
          <a:ln/>
        </p:spPr>
        <p:txBody>
          <a:bodyPr wrap="square" lIns="0" tIns="0" rIns="0" bIns="0" rtlCol="0" anchor="ctr"/>
          <a:lstStyle/>
          <a:p>
            <a:pPr marL="0" indent="0">
              <a:lnSpc>
                <a:spcPct val="112000"/>
              </a:lnSpc>
              <a:buNone/>
            </a:pPr>
            <a:r>
              <a:rPr lang="en-US" sz="1700" b="1" dirty="0">
                <a:solidFill>
                  <a:srgbClr val="FFFFFF"/>
                </a:solidFill>
                <a:latin typeface="Calibri" pitchFamily="34" charset="0"/>
                <a:ea typeface="Calibri" pitchFamily="34" charset="-122"/>
                <a:cs typeface="Calibri" pitchFamily="34" charset="-120"/>
              </a:rPr>
              <a:t>Hybrid ranking, not a black box</a:t>
            </a:r>
            <a:endParaRPr lang="en-US" sz="1700" dirty="0"/>
          </a:p>
        </p:txBody>
      </p:sp>
      <p:sp>
        <p:nvSpPr>
          <p:cNvPr id="9" name="Text 7"/>
          <p:cNvSpPr/>
          <p:nvPr/>
        </p:nvSpPr>
        <p:spPr>
          <a:xfrm>
            <a:off x="914400" y="4059936"/>
            <a:ext cx="2880360" cy="1280160"/>
          </a:xfrm>
          <a:prstGeom prst="rect">
            <a:avLst/>
          </a:prstGeom>
          <a:noFill/>
          <a:ln/>
        </p:spPr>
        <p:txBody>
          <a:bodyPr wrap="square" lIns="0" tIns="0" rIns="0" bIns="0" rtlCol="0" anchor="ctr"/>
          <a:lstStyle/>
          <a:p>
            <a:pPr marL="0" indent="0">
              <a:lnSpc>
                <a:spcPct val="122000"/>
              </a:lnSpc>
              <a:buNone/>
            </a:pPr>
            <a:r>
              <a:rPr lang="en-US" sz="1300" dirty="0">
                <a:solidFill>
                  <a:srgbClr val="C6D0C8"/>
                </a:solidFill>
                <a:latin typeface="Calibri" pitchFamily="34" charset="0"/>
                <a:ea typeface="Calibri" pitchFamily="34" charset="-122"/>
                <a:cs typeface="Calibri" pitchFamily="34" charset="-120"/>
              </a:rPr>
              <a:t>Recommendations blend UserCF, ItemCF and a logistic-regression scorer under hard rule filters (allergy, budget, repetition) — each result carries named signals a user can inspect.</a:t>
            </a:r>
            <a:endParaRPr lang="en-US" sz="1300" dirty="0"/>
          </a:p>
        </p:txBody>
      </p:sp>
      <p:sp>
        <p:nvSpPr>
          <p:cNvPr id="11" name="Shape 9"/>
          <p:cNvSpPr/>
          <p:nvPr/>
        </p:nvSpPr>
        <p:spPr>
          <a:xfrm>
            <a:off x="4389120" y="2377440"/>
            <a:ext cx="3429000" cy="3840480"/>
          </a:xfrm>
          <a:prstGeom prst="roundRect">
            <a:avLst>
              <a:gd name="adj" fmla="val 3733"/>
            </a:avLst>
          </a:prstGeom>
          <a:solidFill>
            <a:srgbClr val="171B17"/>
          </a:solidFill>
          <a:ln w="12700">
            <a:solidFill>
              <a:srgbClr val="2A302A"/>
            </a:solidFill>
            <a:prstDash val="solid"/>
          </a:ln>
        </p:spPr>
        <p:txBody>
          <a:bodyPr/>
          <a:lstStyle/>
          <a:p>
            <a:endParaRPr lang="en-CN"/>
          </a:p>
        </p:txBody>
      </p:sp>
      <p:sp>
        <p:nvSpPr>
          <p:cNvPr id="12" name="Shape 10"/>
          <p:cNvSpPr/>
          <p:nvPr/>
        </p:nvSpPr>
        <p:spPr>
          <a:xfrm>
            <a:off x="4663440" y="2633472"/>
            <a:ext cx="420624" cy="420624"/>
          </a:xfrm>
          <a:prstGeom prst="ellipse">
            <a:avLst/>
          </a:prstGeom>
          <a:solidFill>
            <a:srgbClr val="D9EF74"/>
          </a:solidFill>
          <a:ln/>
        </p:spPr>
        <p:txBody>
          <a:bodyPr/>
          <a:lstStyle/>
          <a:p>
            <a:endParaRPr lang="en-CN"/>
          </a:p>
        </p:txBody>
      </p:sp>
      <p:sp>
        <p:nvSpPr>
          <p:cNvPr id="13" name="Text 11"/>
          <p:cNvSpPr/>
          <p:nvPr/>
        </p:nvSpPr>
        <p:spPr>
          <a:xfrm>
            <a:off x="4663440" y="2633472"/>
            <a:ext cx="420624" cy="420624"/>
          </a:xfrm>
          <a:prstGeom prst="rect">
            <a:avLst/>
          </a:prstGeom>
          <a:noFill/>
          <a:ln/>
        </p:spPr>
        <p:txBody>
          <a:bodyPr wrap="square" lIns="0" tIns="0" rIns="0" bIns="0" rtlCol="0" anchor="ctr"/>
          <a:lstStyle/>
          <a:p>
            <a:pPr marL="0" indent="0" algn="ctr">
              <a:buNone/>
            </a:pPr>
            <a:r>
              <a:rPr lang="en-US" sz="1300" b="1" dirty="0">
                <a:solidFill>
                  <a:srgbClr val="0D100D"/>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4663440" y="3218688"/>
            <a:ext cx="2880360" cy="713232"/>
          </a:xfrm>
          <a:prstGeom prst="rect">
            <a:avLst/>
          </a:prstGeom>
          <a:noFill/>
          <a:ln/>
        </p:spPr>
        <p:txBody>
          <a:bodyPr wrap="square" lIns="0" tIns="0" rIns="0" bIns="0" rtlCol="0" anchor="ctr"/>
          <a:lstStyle/>
          <a:p>
            <a:pPr marL="0" indent="0">
              <a:lnSpc>
                <a:spcPct val="112000"/>
              </a:lnSpc>
              <a:buNone/>
            </a:pPr>
            <a:r>
              <a:rPr lang="en-US" sz="1700" b="1" dirty="0">
                <a:solidFill>
                  <a:srgbClr val="FFFFFF"/>
                </a:solidFill>
                <a:latin typeface="Calibri" pitchFamily="34" charset="0"/>
                <a:ea typeface="Calibri" pitchFamily="34" charset="-122"/>
                <a:cs typeface="Calibri" pitchFamily="34" charset="-120"/>
              </a:rPr>
              <a:t>Agent-orchestrated, constraint-based planning</a:t>
            </a:r>
            <a:endParaRPr lang="en-US" sz="1700" dirty="0"/>
          </a:p>
        </p:txBody>
      </p:sp>
      <p:sp>
        <p:nvSpPr>
          <p:cNvPr id="15" name="Text 13"/>
          <p:cNvSpPr/>
          <p:nvPr/>
        </p:nvSpPr>
        <p:spPr>
          <a:xfrm>
            <a:off x="4663440" y="4059936"/>
            <a:ext cx="2880360" cy="1280160"/>
          </a:xfrm>
          <a:prstGeom prst="rect">
            <a:avLst/>
          </a:prstGeom>
          <a:noFill/>
          <a:ln/>
        </p:spPr>
        <p:txBody>
          <a:bodyPr wrap="square" lIns="0" tIns="0" rIns="0" bIns="0" rtlCol="0" anchor="ctr"/>
          <a:lstStyle/>
          <a:p>
            <a:pPr marL="0" indent="0">
              <a:lnSpc>
                <a:spcPct val="122000"/>
              </a:lnSpc>
              <a:buNone/>
            </a:pPr>
            <a:r>
              <a:rPr lang="en-US" sz="1300" dirty="0">
                <a:solidFill>
                  <a:srgbClr val="C6D0C8"/>
                </a:solidFill>
                <a:latin typeface="Calibri" pitchFamily="34" charset="0"/>
                <a:ea typeface="Calibri" pitchFamily="34" charset="-122"/>
                <a:cs typeface="Calibri" pitchFamily="34" charset="-120"/>
              </a:rPr>
              <a:t>A bounded Cooking Planner Agent, orchestrated with LangGraph, treats planning as a scheduling problem over recipes, servings and inventory and returns a solver-optimal task order.</a:t>
            </a:r>
            <a:endParaRPr lang="en-US" sz="1300" dirty="0"/>
          </a:p>
        </p:txBody>
      </p:sp>
      <p:sp>
        <p:nvSpPr>
          <p:cNvPr id="17" name="Shape 15"/>
          <p:cNvSpPr/>
          <p:nvPr/>
        </p:nvSpPr>
        <p:spPr>
          <a:xfrm>
            <a:off x="8138160" y="2377440"/>
            <a:ext cx="3429000" cy="3840480"/>
          </a:xfrm>
          <a:prstGeom prst="roundRect">
            <a:avLst>
              <a:gd name="adj" fmla="val 3733"/>
            </a:avLst>
          </a:prstGeom>
          <a:solidFill>
            <a:srgbClr val="171B17"/>
          </a:solidFill>
          <a:ln w="12700">
            <a:solidFill>
              <a:srgbClr val="2A302A"/>
            </a:solidFill>
            <a:prstDash val="solid"/>
          </a:ln>
        </p:spPr>
        <p:txBody>
          <a:bodyPr/>
          <a:lstStyle/>
          <a:p>
            <a:endParaRPr lang="en-CN"/>
          </a:p>
        </p:txBody>
      </p:sp>
      <p:sp>
        <p:nvSpPr>
          <p:cNvPr id="18" name="Shape 16"/>
          <p:cNvSpPr/>
          <p:nvPr/>
        </p:nvSpPr>
        <p:spPr>
          <a:xfrm>
            <a:off x="8412480" y="2633472"/>
            <a:ext cx="420624" cy="420624"/>
          </a:xfrm>
          <a:prstGeom prst="ellipse">
            <a:avLst/>
          </a:prstGeom>
          <a:solidFill>
            <a:srgbClr val="D9EF74"/>
          </a:solidFill>
          <a:ln/>
        </p:spPr>
        <p:txBody>
          <a:bodyPr/>
          <a:lstStyle/>
          <a:p>
            <a:endParaRPr lang="en-CN"/>
          </a:p>
        </p:txBody>
      </p:sp>
      <p:sp>
        <p:nvSpPr>
          <p:cNvPr id="19" name="Text 17"/>
          <p:cNvSpPr/>
          <p:nvPr/>
        </p:nvSpPr>
        <p:spPr>
          <a:xfrm>
            <a:off x="8412480" y="2633472"/>
            <a:ext cx="420624" cy="420624"/>
          </a:xfrm>
          <a:prstGeom prst="rect">
            <a:avLst/>
          </a:prstGeom>
          <a:noFill/>
          <a:ln/>
        </p:spPr>
        <p:txBody>
          <a:bodyPr wrap="square" lIns="0" tIns="0" rIns="0" bIns="0" rtlCol="0" anchor="ctr"/>
          <a:lstStyle/>
          <a:p>
            <a:pPr marL="0" indent="0" algn="ctr">
              <a:buNone/>
            </a:pPr>
            <a:r>
              <a:rPr lang="en-US" sz="1300" b="1" dirty="0">
                <a:solidFill>
                  <a:srgbClr val="0D100D"/>
                </a:solidFill>
                <a:latin typeface="Calibri" pitchFamily="34" charset="0"/>
                <a:ea typeface="Calibri" pitchFamily="34" charset="-122"/>
                <a:cs typeface="Calibri" pitchFamily="34" charset="-120"/>
              </a:rPr>
              <a:t>03</a:t>
            </a:r>
            <a:endParaRPr lang="en-US" sz="1300" dirty="0"/>
          </a:p>
        </p:txBody>
      </p:sp>
      <p:sp>
        <p:nvSpPr>
          <p:cNvPr id="20" name="Text 18"/>
          <p:cNvSpPr/>
          <p:nvPr/>
        </p:nvSpPr>
        <p:spPr>
          <a:xfrm>
            <a:off x="8412480" y="3218688"/>
            <a:ext cx="2880360" cy="713232"/>
          </a:xfrm>
          <a:prstGeom prst="rect">
            <a:avLst/>
          </a:prstGeom>
          <a:noFill/>
          <a:ln/>
        </p:spPr>
        <p:txBody>
          <a:bodyPr wrap="square" lIns="0" tIns="0" rIns="0" bIns="0" rtlCol="0" anchor="ctr"/>
          <a:lstStyle/>
          <a:p>
            <a:pPr marL="0" indent="0">
              <a:lnSpc>
                <a:spcPct val="112000"/>
              </a:lnSpc>
              <a:buNone/>
            </a:pPr>
            <a:r>
              <a:rPr lang="en-US" sz="1700" b="1" dirty="0">
                <a:solidFill>
                  <a:srgbClr val="FFFFFF"/>
                </a:solidFill>
                <a:latin typeface="Calibri" pitchFamily="34" charset="0"/>
                <a:ea typeface="Calibri" pitchFamily="34" charset="-122"/>
                <a:cs typeface="Calibri" pitchFamily="34" charset="-120"/>
              </a:rPr>
              <a:t>Grounded, not open-ended</a:t>
            </a:r>
            <a:endParaRPr lang="en-US" sz="1700" dirty="0"/>
          </a:p>
        </p:txBody>
      </p:sp>
      <p:sp>
        <p:nvSpPr>
          <p:cNvPr id="21" name="Text 19"/>
          <p:cNvSpPr/>
          <p:nvPr/>
        </p:nvSpPr>
        <p:spPr>
          <a:xfrm>
            <a:off x="8412480" y="4059936"/>
            <a:ext cx="2880360" cy="1280160"/>
          </a:xfrm>
          <a:prstGeom prst="rect">
            <a:avLst/>
          </a:prstGeom>
          <a:noFill/>
          <a:ln/>
        </p:spPr>
        <p:txBody>
          <a:bodyPr wrap="square" lIns="0" tIns="0" rIns="0" bIns="0" rtlCol="0" anchor="ctr"/>
          <a:lstStyle/>
          <a:p>
            <a:pPr marL="0" indent="0">
              <a:lnSpc>
                <a:spcPct val="122000"/>
              </a:lnSpc>
              <a:buNone/>
            </a:pPr>
            <a:r>
              <a:rPr lang="en-US" sz="1300" dirty="0">
                <a:solidFill>
                  <a:srgbClr val="C6D0C8"/>
                </a:solidFill>
                <a:latin typeface="Calibri" pitchFamily="34" charset="0"/>
                <a:ea typeface="Calibri" pitchFamily="34" charset="-122"/>
                <a:cs typeface="Calibri" pitchFamily="34" charset="-120"/>
              </a:rPr>
              <a:t>The Chatbot and Recommendation Agent are routed workflows over authorised backend tools, not a free-form LLM — responses stay traceable to the user’s own data.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92608"/>
          </a:xfrm>
          <a:prstGeom prst="rect">
            <a:avLst/>
          </a:prstGeom>
          <a:noFill/>
          <a:ln/>
        </p:spPr>
        <p:txBody>
          <a:bodyPr wrap="square" lIns="0" tIns="0" rIns="0" bIns="0" rtlCol="0" anchor="ctr"/>
          <a:lstStyle/>
          <a:p>
            <a:pPr marL="0" indent="0">
              <a:buNone/>
            </a:pPr>
            <a:r>
              <a:rPr lang="en-US" sz="1300" b="1" kern="0" spc="150" dirty="0">
                <a:solidFill>
                  <a:srgbClr val="62676B"/>
                </a:solidFill>
                <a:latin typeface="Calibri" pitchFamily="34" charset="0"/>
                <a:ea typeface="Calibri" pitchFamily="34" charset="-122"/>
                <a:cs typeface="Calibri" pitchFamily="34" charset="-120"/>
              </a:rPr>
              <a:t>SUMMARY</a:t>
            </a:r>
            <a:endParaRPr lang="en-US" sz="1300" dirty="0"/>
          </a:p>
        </p:txBody>
      </p:sp>
      <p:sp>
        <p:nvSpPr>
          <p:cNvPr id="3" name="Text 1"/>
          <p:cNvSpPr/>
          <p:nvPr/>
        </p:nvSpPr>
        <p:spPr>
          <a:xfrm>
            <a:off x="640080" y="786384"/>
            <a:ext cx="8961120" cy="914400"/>
          </a:xfrm>
          <a:prstGeom prst="rect">
            <a:avLst/>
          </a:prstGeom>
          <a:noFill/>
          <a:ln/>
        </p:spPr>
        <p:txBody>
          <a:bodyPr wrap="square" lIns="0" tIns="0" rIns="0" bIns="0" rtlCol="0" anchor="t"/>
          <a:lstStyle/>
          <a:p>
            <a:pPr marL="0" indent="0" algn="l">
              <a:lnSpc>
                <a:spcPct val="103000"/>
              </a:lnSpc>
              <a:buNone/>
            </a:pPr>
            <a:r>
              <a:rPr lang="en-US" sz="3600" b="1" dirty="0">
                <a:solidFill>
                  <a:srgbClr val="111111"/>
                </a:solidFill>
                <a:latin typeface="Calibri" pitchFamily="34" charset="0"/>
                <a:ea typeface="Calibri" pitchFamily="34" charset="-122"/>
                <a:cs typeface="Calibri" pitchFamily="34" charset="-120"/>
              </a:rPr>
              <a:t>What FoodMind is, and what makes it work</a:t>
            </a:r>
            <a:endParaRPr lang="en-US" sz="3600" dirty="0"/>
          </a:p>
        </p:txBody>
      </p:sp>
      <p:sp>
        <p:nvSpPr>
          <p:cNvPr id="4" name="Shape 2"/>
          <p:cNvSpPr/>
          <p:nvPr/>
        </p:nvSpPr>
        <p:spPr>
          <a:xfrm>
            <a:off x="640080" y="1783080"/>
            <a:ext cx="5212080" cy="4526280"/>
          </a:xfrm>
          <a:prstGeom prst="roundRect">
            <a:avLst>
              <a:gd name="adj" fmla="val 2828"/>
            </a:avLst>
          </a:prstGeom>
          <a:solidFill>
            <a:srgbClr val="FFFFFF"/>
          </a:solidFill>
          <a:ln w="12700">
            <a:solidFill>
              <a:srgbClr val="E4E4E1"/>
            </a:solidFill>
            <a:prstDash val="solid"/>
          </a:ln>
        </p:spPr>
        <p:txBody>
          <a:bodyPr/>
          <a:lstStyle/>
          <a:p>
            <a:endParaRPr lang="en-CN"/>
          </a:p>
        </p:txBody>
      </p:sp>
      <p:sp>
        <p:nvSpPr>
          <p:cNvPr id="5" name="Shape 3"/>
          <p:cNvSpPr/>
          <p:nvPr/>
        </p:nvSpPr>
        <p:spPr>
          <a:xfrm>
            <a:off x="960120" y="2057400"/>
            <a:ext cx="2194560" cy="365760"/>
          </a:xfrm>
          <a:prstGeom prst="roundRect">
            <a:avLst>
              <a:gd name="adj" fmla="val 50000"/>
            </a:avLst>
          </a:prstGeom>
          <a:solidFill>
            <a:srgbClr val="D9EF74"/>
          </a:solidFill>
          <a:ln/>
        </p:spPr>
        <p:txBody>
          <a:bodyPr/>
          <a:lstStyle/>
          <a:p>
            <a:endParaRPr lang="en-CN"/>
          </a:p>
        </p:txBody>
      </p:sp>
      <p:sp>
        <p:nvSpPr>
          <p:cNvPr id="6" name="Text 4"/>
          <p:cNvSpPr/>
          <p:nvPr/>
        </p:nvSpPr>
        <p:spPr>
          <a:xfrm>
            <a:off x="960120" y="2057400"/>
            <a:ext cx="2194560" cy="365760"/>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MAIN FEATURES</a:t>
            </a:r>
            <a:endParaRPr lang="en-US" sz="1200" dirty="0"/>
          </a:p>
        </p:txBody>
      </p:sp>
      <p:sp>
        <p:nvSpPr>
          <p:cNvPr id="7" name="Text 5"/>
          <p:cNvSpPr/>
          <p:nvPr/>
        </p:nvSpPr>
        <p:spPr>
          <a:xfrm>
            <a:off x="960120" y="2651760"/>
            <a:ext cx="4572000" cy="274320"/>
          </a:xfrm>
          <a:prstGeom prst="rect">
            <a:avLst/>
          </a:prstGeom>
          <a:noFill/>
          <a:ln/>
        </p:spPr>
        <p:txBody>
          <a:bodyPr wrap="square" lIns="0" tIns="0" rIns="0" bIns="0" rtlCol="0" anchor="ctr"/>
          <a:lstStyle/>
          <a:p>
            <a:pPr marL="0" indent="0">
              <a:buNone/>
            </a:pPr>
            <a:r>
              <a:rPr lang="en-US" sz="1500" b="1" dirty="0">
                <a:solidFill>
                  <a:srgbClr val="111111"/>
                </a:solidFill>
                <a:latin typeface="Calibri" pitchFamily="34" charset="0"/>
                <a:ea typeface="Calibri" pitchFamily="34" charset="-122"/>
                <a:cs typeface="Calibri" pitchFamily="34" charset="-120"/>
              </a:rPr>
              <a:t>Explore &amp; Save</a:t>
            </a:r>
            <a:endParaRPr lang="en-US" sz="1500" dirty="0"/>
          </a:p>
        </p:txBody>
      </p:sp>
      <p:sp>
        <p:nvSpPr>
          <p:cNvPr id="8" name="Text 6"/>
          <p:cNvSpPr/>
          <p:nvPr/>
        </p:nvSpPr>
        <p:spPr>
          <a:xfrm>
            <a:off x="960120" y="2944368"/>
            <a:ext cx="4572000" cy="365760"/>
          </a:xfrm>
          <a:prstGeom prst="rect">
            <a:avLst/>
          </a:prstGeom>
          <a:noFill/>
          <a:ln/>
        </p:spPr>
        <p:txBody>
          <a:bodyPr wrap="square" lIns="0" tIns="0" rIns="0" bIns="0" rtlCol="0" anchor="ctr"/>
          <a:lstStyle/>
          <a:p>
            <a:pPr marL="0" indent="0">
              <a:lnSpc>
                <a:spcPct val="108000"/>
              </a:lnSpc>
              <a:buNone/>
            </a:pPr>
            <a:r>
              <a:rPr lang="en-US" sz="1150" dirty="0">
                <a:solidFill>
                  <a:srgbClr val="62676B"/>
                </a:solidFill>
                <a:latin typeface="Calibri" pitchFamily="34" charset="0"/>
                <a:ea typeface="Calibri" pitchFamily="34" charset="-122"/>
                <a:cs typeface="Calibri" pitchFamily="34" charset="-120"/>
              </a:rPr>
              <a:t>Search or browse curated places, keep a Want to Try shortlist.</a:t>
            </a:r>
            <a:endParaRPr lang="en-US" sz="1150" dirty="0"/>
          </a:p>
        </p:txBody>
      </p:sp>
      <p:sp>
        <p:nvSpPr>
          <p:cNvPr id="9" name="Text 7"/>
          <p:cNvSpPr/>
          <p:nvPr/>
        </p:nvSpPr>
        <p:spPr>
          <a:xfrm>
            <a:off x="960120" y="3383280"/>
            <a:ext cx="4572000" cy="274320"/>
          </a:xfrm>
          <a:prstGeom prst="rect">
            <a:avLst/>
          </a:prstGeom>
          <a:noFill/>
          <a:ln/>
        </p:spPr>
        <p:txBody>
          <a:bodyPr wrap="square" lIns="0" tIns="0" rIns="0" bIns="0" rtlCol="0" anchor="ctr"/>
          <a:lstStyle/>
          <a:p>
            <a:pPr marL="0" indent="0">
              <a:buNone/>
            </a:pPr>
            <a:r>
              <a:rPr lang="en-US" sz="1500" b="1" dirty="0">
                <a:solidFill>
                  <a:srgbClr val="111111"/>
                </a:solidFill>
                <a:latin typeface="Calibri" pitchFamily="34" charset="0"/>
                <a:ea typeface="Calibri" pitchFamily="34" charset="-122"/>
                <a:cs typeface="Calibri" pitchFamily="34" charset="-120"/>
              </a:rPr>
              <a:t>Insights &amp; Recap</a:t>
            </a:r>
            <a:endParaRPr lang="en-US" sz="1500" dirty="0"/>
          </a:p>
        </p:txBody>
      </p:sp>
      <p:sp>
        <p:nvSpPr>
          <p:cNvPr id="10" name="Text 8"/>
          <p:cNvSpPr/>
          <p:nvPr/>
        </p:nvSpPr>
        <p:spPr>
          <a:xfrm>
            <a:off x="960120" y="3675888"/>
            <a:ext cx="4572000" cy="365760"/>
          </a:xfrm>
          <a:prstGeom prst="rect">
            <a:avLst/>
          </a:prstGeom>
          <a:noFill/>
          <a:ln/>
        </p:spPr>
        <p:txBody>
          <a:bodyPr wrap="square" lIns="0" tIns="0" rIns="0" bIns="0" rtlCol="0" anchor="ctr"/>
          <a:lstStyle/>
          <a:p>
            <a:pPr marL="0" indent="0">
              <a:lnSpc>
                <a:spcPct val="108000"/>
              </a:lnSpc>
              <a:buNone/>
            </a:pPr>
            <a:r>
              <a:rPr lang="en-US" sz="1150" dirty="0">
                <a:solidFill>
                  <a:srgbClr val="62676B"/>
                </a:solidFill>
                <a:latin typeface="Calibri" pitchFamily="34" charset="0"/>
                <a:ea typeface="Calibri" pitchFamily="34" charset="-122"/>
                <a:cs typeface="Calibri" pitchFamily="34" charset="-120"/>
              </a:rPr>
              <a:t>A live Trends dashboard and a periodic Weekly Recap report.</a:t>
            </a:r>
            <a:endParaRPr lang="en-US" sz="1150" dirty="0"/>
          </a:p>
        </p:txBody>
      </p:sp>
      <p:sp>
        <p:nvSpPr>
          <p:cNvPr id="11" name="Text 9"/>
          <p:cNvSpPr/>
          <p:nvPr/>
        </p:nvSpPr>
        <p:spPr>
          <a:xfrm>
            <a:off x="960120" y="4114800"/>
            <a:ext cx="4572000" cy="274320"/>
          </a:xfrm>
          <a:prstGeom prst="rect">
            <a:avLst/>
          </a:prstGeom>
          <a:noFill/>
          <a:ln/>
        </p:spPr>
        <p:txBody>
          <a:bodyPr wrap="square" lIns="0" tIns="0" rIns="0" bIns="0" rtlCol="0" anchor="ctr"/>
          <a:lstStyle/>
          <a:p>
            <a:pPr marL="0" indent="0">
              <a:buNone/>
            </a:pPr>
            <a:r>
              <a:rPr lang="en-US" sz="1500" b="1" dirty="0">
                <a:solidFill>
                  <a:srgbClr val="111111"/>
                </a:solidFill>
                <a:latin typeface="Calibri" pitchFamily="34" charset="0"/>
                <a:ea typeface="Calibri" pitchFamily="34" charset="-122"/>
                <a:cs typeface="Calibri" pitchFamily="34" charset="-120"/>
              </a:rPr>
              <a:t>Recommendation</a:t>
            </a:r>
            <a:endParaRPr lang="en-US" sz="1500" dirty="0"/>
          </a:p>
        </p:txBody>
      </p:sp>
      <p:sp>
        <p:nvSpPr>
          <p:cNvPr id="12" name="Text 10"/>
          <p:cNvSpPr/>
          <p:nvPr/>
        </p:nvSpPr>
        <p:spPr>
          <a:xfrm>
            <a:off x="960120" y="4407408"/>
            <a:ext cx="4572000" cy="365760"/>
          </a:xfrm>
          <a:prstGeom prst="rect">
            <a:avLst/>
          </a:prstGeom>
          <a:noFill/>
          <a:ln/>
        </p:spPr>
        <p:txBody>
          <a:bodyPr wrap="square" lIns="0" tIns="0" rIns="0" bIns="0" rtlCol="0" anchor="ctr"/>
          <a:lstStyle/>
          <a:p>
            <a:pPr marL="0" indent="0">
              <a:lnSpc>
                <a:spcPct val="108000"/>
              </a:lnSpc>
              <a:buNone/>
            </a:pPr>
            <a:r>
              <a:rPr lang="en-US" sz="1150" dirty="0">
                <a:solidFill>
                  <a:srgbClr val="62676B"/>
                </a:solidFill>
                <a:latin typeface="Calibri" pitchFamily="34" charset="0"/>
                <a:ea typeface="Calibri" pitchFamily="34" charset="-122"/>
                <a:cs typeface="Calibri" pitchFamily="34" charset="-120"/>
              </a:rPr>
              <a:t>Context in, a ranked, explained choice out.</a:t>
            </a:r>
            <a:endParaRPr lang="en-US" sz="1150" dirty="0"/>
          </a:p>
        </p:txBody>
      </p:sp>
      <p:sp>
        <p:nvSpPr>
          <p:cNvPr id="13" name="Text 11"/>
          <p:cNvSpPr/>
          <p:nvPr/>
        </p:nvSpPr>
        <p:spPr>
          <a:xfrm>
            <a:off x="960120" y="4846320"/>
            <a:ext cx="4572000" cy="274320"/>
          </a:xfrm>
          <a:prstGeom prst="rect">
            <a:avLst/>
          </a:prstGeom>
          <a:noFill/>
          <a:ln/>
        </p:spPr>
        <p:txBody>
          <a:bodyPr wrap="square" lIns="0" tIns="0" rIns="0" bIns="0" rtlCol="0" anchor="ctr"/>
          <a:lstStyle/>
          <a:p>
            <a:pPr marL="0" indent="0">
              <a:buNone/>
            </a:pPr>
            <a:r>
              <a:rPr lang="en-US" sz="1500" b="1" dirty="0">
                <a:solidFill>
                  <a:srgbClr val="111111"/>
                </a:solidFill>
                <a:latin typeface="Calibri" pitchFamily="34" charset="0"/>
                <a:ea typeface="Calibri" pitchFamily="34" charset="-122"/>
                <a:cs typeface="Calibri" pitchFamily="34" charset="-120"/>
              </a:rPr>
              <a:t>Cooking</a:t>
            </a:r>
            <a:endParaRPr lang="en-US" sz="1500" dirty="0"/>
          </a:p>
        </p:txBody>
      </p:sp>
      <p:sp>
        <p:nvSpPr>
          <p:cNvPr id="14" name="Text 12"/>
          <p:cNvSpPr/>
          <p:nvPr/>
        </p:nvSpPr>
        <p:spPr>
          <a:xfrm>
            <a:off x="960120" y="5138928"/>
            <a:ext cx="4572000" cy="365760"/>
          </a:xfrm>
          <a:prstGeom prst="rect">
            <a:avLst/>
          </a:prstGeom>
          <a:noFill/>
          <a:ln/>
        </p:spPr>
        <p:txBody>
          <a:bodyPr wrap="square" lIns="0" tIns="0" rIns="0" bIns="0" rtlCol="0" anchor="ctr"/>
          <a:lstStyle/>
          <a:p>
            <a:pPr marL="0" indent="0">
              <a:lnSpc>
                <a:spcPct val="108000"/>
              </a:lnSpc>
              <a:buNone/>
            </a:pPr>
            <a:r>
              <a:rPr lang="en-US" sz="1150" dirty="0">
                <a:solidFill>
                  <a:srgbClr val="62676B"/>
                </a:solidFill>
                <a:latin typeface="Calibri" pitchFamily="34" charset="0"/>
                <a:ea typeface="Calibri" pitchFamily="34" charset="-122"/>
                <a:cs typeface="Calibri" pitchFamily="34" charset="-120"/>
              </a:rPr>
              <a:t>Free-text recipes become an executable plan.</a:t>
            </a:r>
            <a:endParaRPr lang="en-US" sz="1150" dirty="0"/>
          </a:p>
        </p:txBody>
      </p:sp>
      <p:sp>
        <p:nvSpPr>
          <p:cNvPr id="15" name="Text 13"/>
          <p:cNvSpPr/>
          <p:nvPr/>
        </p:nvSpPr>
        <p:spPr>
          <a:xfrm>
            <a:off x="960120" y="5577840"/>
            <a:ext cx="4572000" cy="274320"/>
          </a:xfrm>
          <a:prstGeom prst="rect">
            <a:avLst/>
          </a:prstGeom>
          <a:noFill/>
          <a:ln/>
        </p:spPr>
        <p:txBody>
          <a:bodyPr wrap="square" lIns="0" tIns="0" rIns="0" bIns="0" rtlCol="0" anchor="ctr"/>
          <a:lstStyle/>
          <a:p>
            <a:pPr marL="0" indent="0">
              <a:buNone/>
            </a:pPr>
            <a:r>
              <a:rPr lang="en-US" sz="1500" b="1" dirty="0">
                <a:solidFill>
                  <a:srgbClr val="111111"/>
                </a:solidFill>
                <a:latin typeface="Calibri" pitchFamily="34" charset="0"/>
                <a:ea typeface="Calibri" pitchFamily="34" charset="-122"/>
                <a:cs typeface="Calibri" pitchFamily="34" charset="-120"/>
              </a:rPr>
              <a:t>Groups, Records &amp; Chat</a:t>
            </a:r>
            <a:endParaRPr lang="en-US" sz="1500" dirty="0"/>
          </a:p>
        </p:txBody>
      </p:sp>
      <p:sp>
        <p:nvSpPr>
          <p:cNvPr id="16" name="Text 14"/>
          <p:cNvSpPr/>
          <p:nvPr/>
        </p:nvSpPr>
        <p:spPr>
          <a:xfrm>
            <a:off x="960120" y="5870448"/>
            <a:ext cx="4572000" cy="365760"/>
          </a:xfrm>
          <a:prstGeom prst="rect">
            <a:avLst/>
          </a:prstGeom>
          <a:noFill/>
          <a:ln/>
        </p:spPr>
        <p:txBody>
          <a:bodyPr wrap="square" lIns="0" tIns="0" rIns="0" bIns="0" rtlCol="0" anchor="ctr"/>
          <a:lstStyle/>
          <a:p>
            <a:pPr marL="0" indent="0">
              <a:lnSpc>
                <a:spcPct val="108000"/>
              </a:lnSpc>
              <a:buNone/>
            </a:pPr>
            <a:r>
              <a:rPr lang="en-US" sz="1150" dirty="0">
                <a:solidFill>
                  <a:srgbClr val="62676B"/>
                </a:solidFill>
                <a:latin typeface="Calibri" pitchFamily="34" charset="0"/>
                <a:ea typeface="Calibri" pitchFamily="34" charset="-122"/>
                <a:cs typeface="Calibri" pitchFamily="34" charset="-120"/>
              </a:rPr>
              <a:t>Trusted-circle sharing, records, and a read-only assistant.</a:t>
            </a:r>
            <a:endParaRPr lang="en-US" sz="1150" dirty="0"/>
          </a:p>
        </p:txBody>
      </p:sp>
      <p:sp>
        <p:nvSpPr>
          <p:cNvPr id="17" name="Shape 15"/>
          <p:cNvSpPr/>
          <p:nvPr/>
        </p:nvSpPr>
        <p:spPr>
          <a:xfrm>
            <a:off x="6336792" y="1783080"/>
            <a:ext cx="5212080" cy="4526280"/>
          </a:xfrm>
          <a:prstGeom prst="roundRect">
            <a:avLst>
              <a:gd name="adj" fmla="val 2828"/>
            </a:avLst>
          </a:prstGeom>
          <a:solidFill>
            <a:srgbClr val="0D100D"/>
          </a:solidFill>
          <a:ln/>
        </p:spPr>
        <p:txBody>
          <a:bodyPr/>
          <a:lstStyle/>
          <a:p>
            <a:endParaRPr lang="en-CN"/>
          </a:p>
        </p:txBody>
      </p:sp>
      <p:sp>
        <p:nvSpPr>
          <p:cNvPr id="18" name="Shape 16"/>
          <p:cNvSpPr/>
          <p:nvPr/>
        </p:nvSpPr>
        <p:spPr>
          <a:xfrm>
            <a:off x="6656832" y="2057400"/>
            <a:ext cx="2743200" cy="365760"/>
          </a:xfrm>
          <a:prstGeom prst="roundRect">
            <a:avLst>
              <a:gd name="adj" fmla="val 50000"/>
            </a:avLst>
          </a:prstGeom>
          <a:solidFill>
            <a:srgbClr val="D9EF74"/>
          </a:solidFill>
          <a:ln/>
        </p:spPr>
        <p:txBody>
          <a:bodyPr/>
          <a:lstStyle/>
          <a:p>
            <a:endParaRPr lang="en-CN"/>
          </a:p>
        </p:txBody>
      </p:sp>
      <p:sp>
        <p:nvSpPr>
          <p:cNvPr id="19" name="Text 17"/>
          <p:cNvSpPr/>
          <p:nvPr/>
        </p:nvSpPr>
        <p:spPr>
          <a:xfrm>
            <a:off x="6656832" y="2057400"/>
            <a:ext cx="2743200" cy="365760"/>
          </a:xfrm>
          <a:prstGeom prst="rect">
            <a:avLst/>
          </a:prstGeom>
          <a:noFill/>
          <a:ln/>
        </p:spPr>
        <p:txBody>
          <a:bodyPr wrap="square" lIns="0" tIns="0" rIns="0" bIns="0" rtlCol="0" anchor="ctr"/>
          <a:lstStyle/>
          <a:p>
            <a:pPr marL="0" indent="0" algn="ctr">
              <a:buNone/>
            </a:pPr>
            <a:r>
              <a:rPr lang="en-US" sz="1200" b="1" kern="0" spc="100" dirty="0">
                <a:solidFill>
                  <a:srgbClr val="111111"/>
                </a:solidFill>
                <a:latin typeface="Calibri" pitchFamily="34" charset="0"/>
                <a:ea typeface="Calibri" pitchFamily="34" charset="-122"/>
                <a:cs typeface="Calibri" pitchFamily="34" charset="-120"/>
              </a:rPr>
              <a:t>IMPLEMENTED TECHNOLOGY</a:t>
            </a:r>
            <a:endParaRPr lang="en-US" sz="1200" dirty="0"/>
          </a:p>
        </p:txBody>
      </p:sp>
      <p:sp>
        <p:nvSpPr>
          <p:cNvPr id="20" name="Text 18"/>
          <p:cNvSpPr/>
          <p:nvPr/>
        </p:nvSpPr>
        <p:spPr>
          <a:xfrm>
            <a:off x="6656832" y="2651760"/>
            <a:ext cx="457200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Hybrid ranking</a:t>
            </a:r>
            <a:endParaRPr lang="en-US" sz="1500" dirty="0"/>
          </a:p>
        </p:txBody>
      </p:sp>
      <p:sp>
        <p:nvSpPr>
          <p:cNvPr id="21" name="Text 19"/>
          <p:cNvSpPr/>
          <p:nvPr/>
        </p:nvSpPr>
        <p:spPr>
          <a:xfrm>
            <a:off x="6656832" y="2944368"/>
            <a:ext cx="4572000" cy="365760"/>
          </a:xfrm>
          <a:prstGeom prst="rect">
            <a:avLst/>
          </a:prstGeom>
          <a:noFill/>
          <a:ln/>
        </p:spPr>
        <p:txBody>
          <a:bodyPr wrap="square" lIns="0" tIns="0" rIns="0" bIns="0" rtlCol="0" anchor="ctr"/>
          <a:lstStyle/>
          <a:p>
            <a:pPr marL="0" indent="0">
              <a:lnSpc>
                <a:spcPct val="108000"/>
              </a:lnSpc>
              <a:buNone/>
            </a:pPr>
            <a:r>
              <a:rPr lang="en-US" sz="1150" dirty="0">
                <a:solidFill>
                  <a:srgbClr val="AEB8AE"/>
                </a:solidFill>
                <a:latin typeface="Calibri" pitchFamily="34" charset="0"/>
                <a:ea typeface="Calibri" pitchFamily="34" charset="-122"/>
                <a:cs typeface="Calibri" pitchFamily="34" charset="-120"/>
              </a:rPr>
              <a:t>UserCF + ItemCF + logistic regression, hard rules.</a:t>
            </a:r>
            <a:endParaRPr lang="en-US" sz="1150" dirty="0"/>
          </a:p>
        </p:txBody>
      </p:sp>
      <p:sp>
        <p:nvSpPr>
          <p:cNvPr id="22" name="Text 20"/>
          <p:cNvSpPr/>
          <p:nvPr/>
        </p:nvSpPr>
        <p:spPr>
          <a:xfrm>
            <a:off x="6656832" y="3383280"/>
            <a:ext cx="457200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Agentic, constraint-based planning</a:t>
            </a:r>
            <a:endParaRPr lang="en-US" sz="1500" dirty="0"/>
          </a:p>
        </p:txBody>
      </p:sp>
      <p:sp>
        <p:nvSpPr>
          <p:cNvPr id="23" name="Text 21"/>
          <p:cNvSpPr/>
          <p:nvPr/>
        </p:nvSpPr>
        <p:spPr>
          <a:xfrm>
            <a:off x="6656832" y="3675888"/>
            <a:ext cx="4572000" cy="365760"/>
          </a:xfrm>
          <a:prstGeom prst="rect">
            <a:avLst/>
          </a:prstGeom>
          <a:noFill/>
          <a:ln/>
        </p:spPr>
        <p:txBody>
          <a:bodyPr wrap="square" lIns="0" tIns="0" rIns="0" bIns="0" rtlCol="0" anchor="ctr"/>
          <a:lstStyle/>
          <a:p>
            <a:pPr marL="0" indent="0">
              <a:lnSpc>
                <a:spcPct val="108000"/>
              </a:lnSpc>
              <a:buNone/>
            </a:pPr>
            <a:r>
              <a:rPr lang="en-US" sz="1150" dirty="0">
                <a:solidFill>
                  <a:srgbClr val="AEB8AE"/>
                </a:solidFill>
                <a:latin typeface="Calibri" pitchFamily="34" charset="0"/>
                <a:ea typeface="Calibri" pitchFamily="34" charset="-122"/>
                <a:cs typeface="Calibri" pitchFamily="34" charset="-120"/>
              </a:rPr>
              <a:t>LangGraph Cooking Agent, solver-optimal order.</a:t>
            </a:r>
            <a:endParaRPr lang="en-US" sz="1150" dirty="0"/>
          </a:p>
        </p:txBody>
      </p:sp>
      <p:sp>
        <p:nvSpPr>
          <p:cNvPr id="24" name="Text 22"/>
          <p:cNvSpPr/>
          <p:nvPr/>
        </p:nvSpPr>
        <p:spPr>
          <a:xfrm>
            <a:off x="6656832" y="4114800"/>
            <a:ext cx="457200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Grounded chatbot &amp; recommendation agent</a:t>
            </a:r>
            <a:endParaRPr lang="en-US" sz="1500" dirty="0"/>
          </a:p>
        </p:txBody>
      </p:sp>
      <p:sp>
        <p:nvSpPr>
          <p:cNvPr id="25" name="Text 23"/>
          <p:cNvSpPr/>
          <p:nvPr/>
        </p:nvSpPr>
        <p:spPr>
          <a:xfrm>
            <a:off x="6656832" y="4407408"/>
            <a:ext cx="4572000" cy="365760"/>
          </a:xfrm>
          <a:prstGeom prst="rect">
            <a:avLst/>
          </a:prstGeom>
          <a:noFill/>
          <a:ln/>
        </p:spPr>
        <p:txBody>
          <a:bodyPr wrap="square" lIns="0" tIns="0" rIns="0" bIns="0" rtlCol="0" anchor="ctr"/>
          <a:lstStyle/>
          <a:p>
            <a:pPr marL="0" indent="0">
              <a:lnSpc>
                <a:spcPct val="108000"/>
              </a:lnSpc>
              <a:buNone/>
            </a:pPr>
            <a:r>
              <a:rPr lang="en-US" sz="1150" dirty="0">
                <a:solidFill>
                  <a:srgbClr val="AEB8AE"/>
                </a:solidFill>
                <a:latin typeface="Calibri" pitchFamily="34" charset="0"/>
                <a:ea typeface="Calibri" pitchFamily="34" charset="-122"/>
                <a:cs typeface="Calibri" pitchFamily="34" charset="-120"/>
              </a:rPr>
              <a:t>Routed workflows, not open-ended generation.</a:t>
            </a:r>
            <a:endParaRPr lang="en-US" sz="1150" dirty="0"/>
          </a:p>
        </p:txBody>
      </p:sp>
      <p:sp>
        <p:nvSpPr>
          <p:cNvPr id="26" name="Text 24"/>
          <p:cNvSpPr/>
          <p:nvPr/>
        </p:nvSpPr>
        <p:spPr>
          <a:xfrm>
            <a:off x="6656832" y="4846320"/>
            <a:ext cx="457200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Permission-aware sharing</a:t>
            </a:r>
            <a:endParaRPr lang="en-US" sz="1500" dirty="0"/>
          </a:p>
        </p:txBody>
      </p:sp>
      <p:sp>
        <p:nvSpPr>
          <p:cNvPr id="27" name="Text 25"/>
          <p:cNvSpPr/>
          <p:nvPr/>
        </p:nvSpPr>
        <p:spPr>
          <a:xfrm>
            <a:off x="6656832" y="5138928"/>
            <a:ext cx="4572000" cy="365760"/>
          </a:xfrm>
          <a:prstGeom prst="rect">
            <a:avLst/>
          </a:prstGeom>
          <a:noFill/>
          <a:ln/>
        </p:spPr>
        <p:txBody>
          <a:bodyPr wrap="square" lIns="0" tIns="0" rIns="0" bIns="0" rtlCol="0" anchor="ctr"/>
          <a:lstStyle/>
          <a:p>
            <a:pPr marL="0" indent="0">
              <a:lnSpc>
                <a:spcPct val="108000"/>
              </a:lnSpc>
              <a:buNone/>
            </a:pPr>
            <a:r>
              <a:rPr lang="en-US" sz="1150" dirty="0">
                <a:solidFill>
                  <a:srgbClr val="AEB8AE"/>
                </a:solidFill>
                <a:latin typeface="Calibri" pitchFamily="34" charset="0"/>
                <a:ea typeface="Calibri" pitchFamily="34" charset="-122"/>
                <a:cs typeface="Calibri" pitchFamily="34" charset="-120"/>
              </a:rPr>
              <a:t>Group visibility enforced by the backend.</a:t>
            </a:r>
            <a:endParaRPr lang="en-US" sz="1150" dirty="0"/>
          </a:p>
        </p:txBody>
      </p:sp>
      <p:sp>
        <p:nvSpPr>
          <p:cNvPr id="28" name="Text 26"/>
          <p:cNvSpPr/>
          <p:nvPr/>
        </p:nvSpPr>
        <p:spPr>
          <a:xfrm>
            <a:off x="6656832" y="5577840"/>
            <a:ext cx="457200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One product, two surfaces</a:t>
            </a:r>
            <a:endParaRPr lang="en-US" sz="1500" dirty="0"/>
          </a:p>
        </p:txBody>
      </p:sp>
      <p:sp>
        <p:nvSpPr>
          <p:cNvPr id="29" name="Text 27"/>
          <p:cNvSpPr/>
          <p:nvPr/>
        </p:nvSpPr>
        <p:spPr>
          <a:xfrm>
            <a:off x="6656832" y="5870448"/>
            <a:ext cx="4572000" cy="365760"/>
          </a:xfrm>
          <a:prstGeom prst="rect">
            <a:avLst/>
          </a:prstGeom>
          <a:noFill/>
          <a:ln/>
        </p:spPr>
        <p:txBody>
          <a:bodyPr wrap="square" lIns="0" tIns="0" rIns="0" bIns="0" rtlCol="0" anchor="ctr"/>
          <a:lstStyle/>
          <a:p>
            <a:pPr marL="0" indent="0">
              <a:lnSpc>
                <a:spcPct val="108000"/>
              </a:lnSpc>
              <a:buNone/>
            </a:pPr>
            <a:r>
              <a:rPr lang="en-US" sz="1150" dirty="0">
                <a:solidFill>
                  <a:srgbClr val="AEB8AE"/>
                </a:solidFill>
                <a:latin typeface="Calibri" pitchFamily="34" charset="0"/>
                <a:ea typeface="Calibri" pitchFamily="34" charset="-122"/>
                <a:cs typeface="Calibri" pitchFamily="34" charset="-120"/>
              </a:rPr>
              <a:t>One consistent experience, Android and web.</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3505</Words>
  <Application>Microsoft Office PowerPoint</Application>
  <PresentationFormat>宽屏</PresentationFormat>
  <Paragraphs>213</Paragraphs>
  <Slides>14</Slides>
  <Notes>14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14</vt:i4>
      </vt:variant>
    </vt:vector>
  </HeadingPairs>
  <TitlesOfParts>
    <vt:vector size="17"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Chen Terrence Yaqi</cp:lastModifiedBy>
  <cp:revision>15</cp:revision>
  <dcterms:created xsi:type="dcterms:W3CDTF">2026-08-20T17:39:44Z</dcterms:created>
  <dcterms:modified xsi:type="dcterms:W3CDTF">2026-08-21T07:33:07Z</dcterms:modified>
</cp:coreProperties>
</file>