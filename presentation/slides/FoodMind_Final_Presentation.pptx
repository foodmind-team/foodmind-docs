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d28f0783dfc4937" /><Relationship Type="http://schemas.openxmlformats.org/officeDocument/2006/relationships/extended-properties" Target="/docProps/app.xml" Id="R8a498ba741fd4b46" /><Relationship Type="http://schemas.openxmlformats.org/officeDocument/2006/relationships/officeDocument" Target="/ppt/presentation.xml" Id="Rfb70c52063df49a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90f6176c9864c3a"/>
  </p:sldMasterIdLst>
  <p:notesMasterIdLst>
    <p:notesMasterId xmlns:r="http://schemas.openxmlformats.org/officeDocument/2006/relationships" r:id="R1086675bb8574d0c"/>
  </p:notesMasterIdLst>
  <p:sldIdLst>
    <p:sldId xmlns:r="http://schemas.openxmlformats.org/officeDocument/2006/relationships" id="256" r:id="R31ba4b402a2a4eb6"/>
    <p:sldId xmlns:r="http://schemas.openxmlformats.org/officeDocument/2006/relationships" id="257" r:id="R66d2ea0807614822"/>
    <p:sldId xmlns:r="http://schemas.openxmlformats.org/officeDocument/2006/relationships" id="258" r:id="R7900578336234b36"/>
    <p:sldId xmlns:r="http://schemas.openxmlformats.org/officeDocument/2006/relationships" id="259" r:id="R9640417ac36a490c"/>
    <p:sldId xmlns:r="http://schemas.openxmlformats.org/officeDocument/2006/relationships" id="260" r:id="Ree9227eaf88345e5"/>
    <p:sldId xmlns:r="http://schemas.openxmlformats.org/officeDocument/2006/relationships" id="261" r:id="R80bf5d6710944b33"/>
    <p:sldId xmlns:r="http://schemas.openxmlformats.org/officeDocument/2006/relationships" id="262" r:id="Rad4b8d16dafd44a8"/>
    <p:sldId xmlns:r="http://schemas.openxmlformats.org/officeDocument/2006/relationships" id="263" r:id="R6e35fc13963d46f8"/>
    <p:sldId xmlns:r="http://schemas.openxmlformats.org/officeDocument/2006/relationships" id="264" r:id="Rfba7bad294014e22"/>
    <p:sldId xmlns:r="http://schemas.openxmlformats.org/officeDocument/2006/relationships" id="265" r:id="R135d52b5560b4af8"/>
    <p:sldId xmlns:r="http://schemas.openxmlformats.org/officeDocument/2006/relationships" id="266" r:id="R964c65f57c9742d3"/>
    <p:sldId xmlns:r="http://schemas.openxmlformats.org/officeDocument/2006/relationships" id="267" r:id="R43a5e97d102b4ede"/>
    <p:sldId xmlns:r="http://schemas.openxmlformats.org/officeDocument/2006/relationships" id="268" r:id="Rda8be5f2402a4bb0"/>
    <p:sldId xmlns:r="http://schemas.openxmlformats.org/officeDocument/2006/relationships" id="269" r:id="Rb4582c4519cc4d93"/>
    <p:sldId xmlns:r="http://schemas.openxmlformats.org/officeDocument/2006/relationships" id="270" r:id="R197f133bd77d4185"/>
    <p:sldId xmlns:r="http://schemas.openxmlformats.org/officeDocument/2006/relationships" id="271" r:id="Rd5b92a8b3a314909"/>
    <p:sldId xmlns:r="http://schemas.openxmlformats.org/officeDocument/2006/relationships" id="272" r:id="R08cee48a21bb4d3d"/>
    <p:sldId xmlns:r="http://schemas.openxmlformats.org/officeDocument/2006/relationships" id="273" r:id="R631f1ea008c04650"/>
    <p:sldId xmlns:r="http://schemas.openxmlformats.org/officeDocument/2006/relationships" id="274" r:id="R6eecd4265e6b4f13"/>
    <p:sldId xmlns:r="http://schemas.openxmlformats.org/officeDocument/2006/relationships" id="275" r:id="Rbb1bd160d70e4be9"/>
    <p:sldId xmlns:r="http://schemas.openxmlformats.org/officeDocument/2006/relationships" id="276" r:id="Rb97782f636444dc2"/>
    <p:sldId xmlns:r="http://schemas.openxmlformats.org/officeDocument/2006/relationships" id="277" r:id="Rf31237b4cdf6452c"/>
    <p:sldId xmlns:r="http://schemas.openxmlformats.org/officeDocument/2006/relationships" id="278" r:id="R87cbf1c8643c49d6"/>
    <p:sldId xmlns:r="http://schemas.openxmlformats.org/officeDocument/2006/relationships" id="279" r:id="R0b8c13c1b58f4568"/>
    <p:sldId xmlns:r="http://schemas.openxmlformats.org/officeDocument/2006/relationships" id="280" r:id="R75030122458b4fef"/>
    <p:sldId xmlns:r="http://schemas.openxmlformats.org/officeDocument/2006/relationships" id="281" r:id="R154c19670abb462f"/>
    <p:sldId xmlns:r="http://schemas.openxmlformats.org/officeDocument/2006/relationships" id="282" r:id="R446b08703ab64ab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60d1e2cb0e14ff9" /><Relationship Type="http://schemas.openxmlformats.org/officeDocument/2006/relationships/slideMaster" Target="/ppt/slideMasters/slideMaster1.xml" Id="R390f6176c9864c3a" /><Relationship Type="http://schemas.openxmlformats.org/officeDocument/2006/relationships/notesMaster" Target="/ppt/notesMasters/notesMaster1.xml" Id="R1086675bb8574d0c" /><Relationship Type="http://schemas.openxmlformats.org/officeDocument/2006/relationships/presProps" Target="/ppt/presProps.xml" Id="Rdb1a0be1b1ef480e" /><Relationship Type="http://schemas.openxmlformats.org/officeDocument/2006/relationships/viewProps" Target="/ppt/viewProps.xml" Id="R117003ae4e154179" /><Relationship Type="http://schemas.openxmlformats.org/officeDocument/2006/relationships/tableStyles" Target="/ppt/tableStyles.xml" Id="R7b2da481fdc842bf" /><Relationship Type="http://schemas.openxmlformats.org/officeDocument/2006/relationships/slide" Target="/ppt/slides/slide1.xml" Id="R31ba4b402a2a4eb6" /><Relationship Type="http://schemas.openxmlformats.org/officeDocument/2006/relationships/slide" Target="/ppt/slides/slide2.xml" Id="R66d2ea0807614822" /><Relationship Type="http://schemas.openxmlformats.org/officeDocument/2006/relationships/slide" Target="/ppt/slides/slide3.xml" Id="R7900578336234b36" /><Relationship Type="http://schemas.openxmlformats.org/officeDocument/2006/relationships/slide" Target="/ppt/slides/slide4.xml" Id="R9640417ac36a490c" /><Relationship Type="http://schemas.openxmlformats.org/officeDocument/2006/relationships/slide" Target="/ppt/slides/slide5.xml" Id="Ree9227eaf88345e5" /><Relationship Type="http://schemas.openxmlformats.org/officeDocument/2006/relationships/slide" Target="/ppt/slides/slide6.xml" Id="R80bf5d6710944b33" /><Relationship Type="http://schemas.openxmlformats.org/officeDocument/2006/relationships/slide" Target="/ppt/slides/slide7.xml" Id="Rad4b8d16dafd44a8" /><Relationship Type="http://schemas.openxmlformats.org/officeDocument/2006/relationships/slide" Target="/ppt/slides/slide8.xml" Id="R6e35fc13963d46f8" /><Relationship Type="http://schemas.openxmlformats.org/officeDocument/2006/relationships/slide" Target="/ppt/slides/slide9.xml" Id="Rfba7bad294014e22" /><Relationship Type="http://schemas.openxmlformats.org/officeDocument/2006/relationships/slide" Target="/ppt/slides/slide10.xml" Id="R135d52b5560b4af8" /><Relationship Type="http://schemas.openxmlformats.org/officeDocument/2006/relationships/slide" Target="/ppt/slides/slide11.xml" Id="R964c65f57c9742d3" /><Relationship Type="http://schemas.openxmlformats.org/officeDocument/2006/relationships/slide" Target="/ppt/slides/slide12.xml" Id="R43a5e97d102b4ede" /><Relationship Type="http://schemas.openxmlformats.org/officeDocument/2006/relationships/slide" Target="/ppt/slides/slide13.xml" Id="Rda8be5f2402a4bb0" /><Relationship Type="http://schemas.openxmlformats.org/officeDocument/2006/relationships/slide" Target="/ppt/slides/slide14.xml" Id="Rb4582c4519cc4d93" /><Relationship Type="http://schemas.openxmlformats.org/officeDocument/2006/relationships/slide" Target="/ppt/slides/slide15.xml" Id="R197f133bd77d4185" /><Relationship Type="http://schemas.openxmlformats.org/officeDocument/2006/relationships/slide" Target="/ppt/slides/slide16.xml" Id="Rd5b92a8b3a314909" /><Relationship Type="http://schemas.openxmlformats.org/officeDocument/2006/relationships/slide" Target="/ppt/slides/slide17.xml" Id="R08cee48a21bb4d3d" /><Relationship Type="http://schemas.openxmlformats.org/officeDocument/2006/relationships/slide" Target="/ppt/slides/slide18.xml" Id="R631f1ea008c04650" /><Relationship Type="http://schemas.openxmlformats.org/officeDocument/2006/relationships/slide" Target="/ppt/slides/slide19.xml" Id="R6eecd4265e6b4f13" /><Relationship Type="http://schemas.openxmlformats.org/officeDocument/2006/relationships/slide" Target="/ppt/slides/slide20.xml" Id="Rbb1bd160d70e4be9" /><Relationship Type="http://schemas.openxmlformats.org/officeDocument/2006/relationships/slide" Target="/ppt/slides/slide21.xml" Id="Rb97782f636444dc2" /><Relationship Type="http://schemas.openxmlformats.org/officeDocument/2006/relationships/slide" Target="/ppt/slides/slide22.xml" Id="Rf31237b4cdf6452c" /><Relationship Type="http://schemas.openxmlformats.org/officeDocument/2006/relationships/slide" Target="/ppt/slides/slide23.xml" Id="R87cbf1c8643c49d6" /><Relationship Type="http://schemas.openxmlformats.org/officeDocument/2006/relationships/slide" Target="/ppt/slides/slide24.xml" Id="R0b8c13c1b58f4568" /><Relationship Type="http://schemas.openxmlformats.org/officeDocument/2006/relationships/slide" Target="/ppt/slides/slide25.xml" Id="R75030122458b4fef" /><Relationship Type="http://schemas.openxmlformats.org/officeDocument/2006/relationships/slide" Target="/ppt/slides/slide26.xml" Id="R154c19670abb462f" /><Relationship Type="http://schemas.openxmlformats.org/officeDocument/2006/relationships/slide" Target="/ppt/slides/slide27.xml" Id="R446b08703ab64ab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acb02b8bd8c4cc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85065e637814ae5" /><Relationship Type="http://schemas.openxmlformats.org/officeDocument/2006/relationships/notesMaster" Target="/ppt/notesMasters/notesMaster1.xml" Id="R6dbb858874264c2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013f608988c4e96" /><Relationship Type="http://schemas.openxmlformats.org/officeDocument/2006/relationships/notesMaster" Target="/ppt/notesMasters/notesMaster1.xml" Id="Rbb88cd7c787743b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43f4a25d5144d5c" /><Relationship Type="http://schemas.openxmlformats.org/officeDocument/2006/relationships/notesMaster" Target="/ppt/notesMasters/notesMaster1.xml" Id="Ra1a29bd2d40f483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4fa9cc6c7bf42a7" /><Relationship Type="http://schemas.openxmlformats.org/officeDocument/2006/relationships/notesMaster" Target="/ppt/notesMasters/notesMaster1.xml" Id="Rb82674140b4946d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f4ae3268d8a4816" /><Relationship Type="http://schemas.openxmlformats.org/officeDocument/2006/relationships/notesMaster" Target="/ppt/notesMasters/notesMaster1.xml" Id="Rf121476d3771457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ca8c574030b4702" /><Relationship Type="http://schemas.openxmlformats.org/officeDocument/2006/relationships/notesMaster" Target="/ppt/notesMasters/notesMaster1.xml" Id="Rf97d60933ed3456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64ee642e94943cb" /><Relationship Type="http://schemas.openxmlformats.org/officeDocument/2006/relationships/notesMaster" Target="/ppt/notesMasters/notesMaster1.xml" Id="Rd9b95e641d7e46b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08ce19872544ef3" /><Relationship Type="http://schemas.openxmlformats.org/officeDocument/2006/relationships/notesMaster" Target="/ppt/notesMasters/notesMaster1.xml" Id="R89accd304a9941d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0b92df97eef4a12" /><Relationship Type="http://schemas.openxmlformats.org/officeDocument/2006/relationships/notesMaster" Target="/ppt/notesMasters/notesMaster1.xml" Id="Rf2ad91f151a1442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056bb71cae64b9a" /><Relationship Type="http://schemas.openxmlformats.org/officeDocument/2006/relationships/notesMaster" Target="/ppt/notesMasters/notesMaster1.xml" Id="Rf1a4d85ade7746e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dfab626eeca4ee1" /><Relationship Type="http://schemas.openxmlformats.org/officeDocument/2006/relationships/notesMaster" Target="/ppt/notesMasters/notesMaster1.xml" Id="Recf7ce830f73404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bb4986d8aab4b54" /><Relationship Type="http://schemas.openxmlformats.org/officeDocument/2006/relationships/notesMaster" Target="/ppt/notesMasters/notesMaster1.xml" Id="R71a9fcae00d2413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ac5795b9fb14b69" /><Relationship Type="http://schemas.openxmlformats.org/officeDocument/2006/relationships/notesMaster" Target="/ppt/notesMasters/notesMaster1.xml" Id="R75072bd7283e448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235a218023d492f" /><Relationship Type="http://schemas.openxmlformats.org/officeDocument/2006/relationships/notesMaster" Target="/ppt/notesMasters/notesMaster1.xml" Id="R4c8645acc7414a7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cdd1aa31b1140ec" /><Relationship Type="http://schemas.openxmlformats.org/officeDocument/2006/relationships/notesMaster" Target="/ppt/notesMasters/notesMaster1.xml" Id="R15aad4f360f7402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cadab081e914c68" /><Relationship Type="http://schemas.openxmlformats.org/officeDocument/2006/relationships/notesMaster" Target="/ppt/notesMasters/notesMaster1.xml" Id="R05058c835b8448e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232556730934cdb" /><Relationship Type="http://schemas.openxmlformats.org/officeDocument/2006/relationships/notesMaster" Target="/ppt/notesMasters/notesMaster1.xml" Id="R5fb2b2de23f44ee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e98983ebc2347df" /><Relationship Type="http://schemas.openxmlformats.org/officeDocument/2006/relationships/notesMaster" Target="/ppt/notesMasters/notesMaster1.xml" Id="Rfd370c8a1e5744b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c1793a9ccbf4c5e" /><Relationship Type="http://schemas.openxmlformats.org/officeDocument/2006/relationships/notesMaster" Target="/ppt/notesMasters/notesMaster1.xml" Id="R6712a51008704a0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f109cb5fedde4a75" /><Relationship Type="http://schemas.openxmlformats.org/officeDocument/2006/relationships/notesMaster" Target="/ppt/notesMasters/notesMaster1.xml" Id="R5997af794efd4da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0f4edd02c584950" /><Relationship Type="http://schemas.openxmlformats.org/officeDocument/2006/relationships/notesMaster" Target="/ppt/notesMasters/notesMaster1.xml" Id="R10e3e1782ec546a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ce67318d73be4083" /><Relationship Type="http://schemas.openxmlformats.org/officeDocument/2006/relationships/notesMaster" Target="/ppt/notesMasters/notesMaster1.xml" Id="Re6419d2d74544ef3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ac03f0c4abe84966" /><Relationship Type="http://schemas.openxmlformats.org/officeDocument/2006/relationships/notesMaster" Target="/ppt/notesMasters/notesMaster1.xml" Id="R1a3ea641358045de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038370a41fa4ff7" /><Relationship Type="http://schemas.openxmlformats.org/officeDocument/2006/relationships/notesMaster" Target="/ppt/notesMasters/notesMaster1.xml" Id="Raa66c1dcfe44412a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e0b1291cd8ad4753" /><Relationship Type="http://schemas.openxmlformats.org/officeDocument/2006/relationships/notesMaster" Target="/ppt/notesMasters/notesMaster1.xml" Id="Rbf5a85fc07bd4c63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111b12138f384524" /><Relationship Type="http://schemas.openxmlformats.org/officeDocument/2006/relationships/notesMaster" Target="/ppt/notesMasters/notesMaster1.xml" Id="Rb41acc20e23e4177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8edb6c324b3d47d1" /><Relationship Type="http://schemas.openxmlformats.org/officeDocument/2006/relationships/notesMaster" Target="/ppt/notesMasters/notesMaster1.xml" Id="R7cc3e189c5104e9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Internal: foodmind-docs README — canonical scope and repository topology.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Internal: presentation narrative derived from the current six repositories.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Internal: foodmind-docs README — recommendation-first UX clarification.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Internal: foodmind-docs README — product-experience clarification.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Internal: foodmind-web README — recommendation context, ordered candidates, feedback and re-recommendation.</a:t>
            </a:r>
          </a:p>
          <a:p xmlns:a="http://schemas.openxmlformats.org/drawingml/2006/main">
            <a:r>
              <a:t>Internal: foodmind-backend README — product-experience contract.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Internal: foodmind-web README — included capabilities.</a:t>
            </a:r>
          </a:p>
          <a:p xmlns:a="http://schemas.openxmlformats.org/drawingml/2006/main">
            <a:r>
              <a:t>Internal: foodmind-android README — responsibilities.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screenshot: foodmind-web/docs/ux/today-dashboard-web.png.</a:t>
            </a:r>
          </a:p>
          <a:p xmlns:a="http://schemas.openxmlformats.org/drawingml/2006/main">
            <a:r>
              <a:t>Internal: foodmind-web README — responsive recommendation-first decision loop.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screenshot: foodmind-web/docs/ux/today-dashboard-mobile-web.png.</a:t>
            </a:r>
          </a:p>
          <a:p xmlns:a="http://schemas.openxmlformats.org/drawingml/2006/main">
            <a:r>
              <a:t>Internal: foodmind-backend README — public and private system boundary.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screenshot: foodmind-web/docs/ux/explore-feed-web.png.</a:t>
            </a:r>
          </a:p>
          <a:p xmlns:a="http://schemas.openxmlformats.org/drawingml/2006/main">
            <a:r>
              <a:t>Internal: foodmind-web README — authorised Explore and Search.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Internal: foodmind-ml README — hybrid model and project-stage limitation.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source: foodmind-backend/src/main/java/com/foodmind/foodmindbackend/recommendation/domain/filter/HardFilterPipeline.java:16-34.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source: foodmind-ml/src/foodmind_ml/pipeline.py:449-495.</a:t>
            </a:r>
          </a:p>
          <a:p xmlns:a="http://schemas.openxmlformats.org/drawingml/2006/main">
            <a:r>
              <a:t>Internal: foodmind-ml README — feature contract and explanation boundary.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data: foodmind-ml/reports/metrics/hybrid_lr_metrics.json.</a:t>
            </a:r>
          </a:p>
          <a:p xmlns:a="http://schemas.openxmlformats.org/drawingml/2006/main">
            <a:r>
              <a:t>Internal data: foodmind-ml/data/processed/foodcom_summary.json.</a:t>
            </a:r>
          </a:p>
          <a:p xmlns:a="http://schemas.openxmlformats.org/drawingml/2006/main">
            <a:r>
              <a:t>Internal: foodmind-ml README — project-stage and evaluation limitations.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Internal: foodmind-intelligence/agent-service/app/agents/README.md.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source: foodmind-intelligence/agent-service/app/agents/recommendation/src/recommendation_agent/workflow/graph.py:17-75.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source: foodmind-intelligence/agent-service/app/agents/recommendation/src/recommendation_agent/application/service.py:21-49.</a:t>
            </a:r>
          </a:p>
          <a:p xmlns:a="http://schemas.openxmlformats.org/drawingml/2006/main">
            <a:r>
              <a:t>Internal source: foodmind-intelligence/agent-service/app/agents/recommendation/src/recommendation_agent/workflow/graph.py:93-160.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Internal: foodmind-backend README — public business API and system-of-record boundary.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Internal: foodmind-backend README — Spring Boot authorisation, persistence and private integrations.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source: foodmind-backend/src/main/java/com/foodmind/foodmindbackend/recommendation/application/GenerateRecommendation.java:58-116.</a:t>
            </a:r>
            <a:endParaRPr/>
          </a:p>
          <a:p xmlns:a="http://schemas.openxmlformats.org/drawingml/2006/main">
            <a:r>
              <a:t>Internal: foodmind-backend README — system boundary.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source: foodmind-android/build.gradle.kts:136-182.</a:t>
            </a:r>
          </a:p>
          <a:p xmlns:a="http://schemas.openxmlformats.org/drawingml/2006/main">
            <a:r>
              <a:t>Internal: foodmind-web README — API check and coverage gate.</a:t>
            </a:r>
          </a:p>
          <a:p xmlns:a="http://schemas.openxmlformats.org/drawingml/2006/main">
            <a:r>
              <a:t>Internal: foodmind-android/contracts/backend-openapi-v1.lock — 84 operations.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Internal: foodmind-web README — dashboard metrics and weekly recaps.</a:t>
            </a:r>
          </a:p>
          <a:p xmlns:a="http://schemas.openxmlformats.org/drawingml/2006/main">
            <a:r>
              <a:t>Internal source: foodmind-backend/src/main/java/com/foodmind/foodmindbackend/analytics/api/DashboardController.java.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Internal: foodmind-docs README — required delivery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Internal: foodmind-web README — validation commands.</a:t>
            </a:r>
          </a:p>
          <a:p xmlns:a="http://schemas.openxmlformats.org/drawingml/2006/main">
            <a:r>
              <a:t>Internal: foodmind-android README — API generation and coverage gates.</a:t>
            </a:r>
          </a:p>
          <a:p xmlns:a="http://schemas.openxmlformats.org/drawingml/2006/main">
            <a:r>
              <a:t>Internal: foodmind-intelligence agent README — private service topology.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source: foodmind-intelligence/inference-service/app/model.py:31-74.</a:t>
            </a:r>
          </a:p>
          <a:p xmlns:a="http://schemas.openxmlformats.org/drawingml/2006/main">
            <a:r>
              <a:t>Internal: foodmind-backend README — security and private integration boundary.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source: foodmind-backend/.../HardFilterPipeline.java:16-34.</a:t>
            </a:r>
          </a:p>
          <a:p xmlns:a="http://schemas.openxmlformats.org/drawingml/2006/main">
            <a:r>
              <a:t>Internal source: foodmind-ml/src/foodmind_ml/pipeline.py:449-495.</a:t>
            </a:r>
          </a:p>
          <a:p xmlns:a="http://schemas.openxmlformats.org/drawingml/2006/main">
            <a:r>
              <a:t>Internal source: foodmind-android/build.gradle.kts:136-182.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Internal: foodmind-docs README — confirmed six-repository topology.</a:t>
            </a:r>
          </a:p>
          <a:p xmlns:a="http://schemas.openxmlformats.org/drawingml/2006/main">
            <a:r>
              <a:t>Internal: foodmind-backend README — public/private system boundary.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Internal: synthesis of current FoodMind repositories and source evidence cited throughout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eaf9f9f64c44a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d4b07eb5b4490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bdecc5058a473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25179130a049d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6464ef72b1460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ed333354cf463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95ef7e78c8465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21056f3884469d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ed9ac9f6f2417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b5992c36f84208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d113c084524624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a8ba379a8e4894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2611E7D-A96E-4CCA-A830-BE413FAD314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40727667-C73C-4448-83A1-3AC9E9986FA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497021E-058A-4BC8-8D4D-5BDDF825AC3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8/15/2026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E9F5798-94CA-4E62-8483-3B220556D1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B5158B5-CB49-4F3B-BA47-0F820408ED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52A3A0D-B7F5-4342-BF13-83B8820B8C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812B5C5-43D4-41F7-A2CE-DE4D51C80CE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B28048C-6BED-4D18-B614-F069C70B5BD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8/15/2026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A1BA9D4-73BE-4AC2-ACDA-39A58BEDCE2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D824B92-9E32-49D4-AE9A-02BFFDE1D17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83D42F5-9BCF-4BA3-9562-9F7C0A0A60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5A2F524-35EB-4155-93B7-4EF9E378CAB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0636E29-02A9-41E2-AA4A-0E51DA62481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8/15/2026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3F1B895-78C3-4015-9422-97D6DD762CA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AD00D45-7C94-47AF-9292-B4285D739CE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0DA96AE-A6B8-45F0-A1FA-4E4633DF44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93761A0-C747-4EF7-B482-BBB969D5BA2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78DC0E0-7926-4CEE-84CC-7BD56D0092F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D9734B5-2512-4959-B01D-8C874EDB648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8/15/2026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EB2BAA9-7F28-42D2-931E-B16A09B3693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D10B7F0-2913-458C-BE27-83C23CAEF5B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E5902AE-03ED-4BCA-9B73-3885CAC4C73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2D716A4-8A07-4E78-916E-794A84A1B42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DB44164-A846-422A-B706-2B582C7324B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6F90F41B-4A29-4B56-97E3-A8396A0CAA02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DB2EB5B-0B3D-474E-9C96-C502E198466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365B9A3B-7101-423C-93CC-FCE93D06B62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8/15/2026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CB5BE3CF-37FF-4744-8E85-5B165E2F5C7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B80B0EAB-4AE1-4B7A-BAB1-6E7649AA0BA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08A9C37-C094-408B-A546-D1C6A8790C2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ACAD3B07-E429-48B7-A3DA-CD582F97B60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8/15/2026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A8A3F1EB-D7D4-44A9-8096-6A2F63C08D2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5FECEE6F-157A-4968-8239-546496EA0EE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63D080C5-5627-4101-96D9-95A92A5BC4B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8/15/2026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2F3FAB0-B554-4C4C-A5D7-70FEEEC6CA7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0380D0B5-BA84-4F8D-80BE-907A14D403F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12835B5-465B-4C2B-B138-5A95044A719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6BAD051-E155-47A8-86FC-81D519C11A6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4B1D63A-98D9-4781-BD34-C50B4CD1570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DBB4303-0445-469E-8A52-972E7C3406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8/15/2026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813A04C-F9F8-445F-9475-67166F19F0C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D7DA598-D4B5-4A7E-8357-53610835C1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E94087-69C3-43FB-9F29-7E135CCF55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F1F2481-5EBA-44B7-907C-5D2933F0509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3D545F6A-5879-4E93-9A83-4A131E94BE4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3BE488C-0036-46DF-8DD7-C7F725E155E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8/15/2026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19E2C593-5583-4C33-A9C8-50709BC4F7A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7F90EDF-7042-44C0-B3B9-EC046BB22B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8029EA6-8576-4232-A95B-6FE7C0A091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758150F-103E-4FA2-9B8A-121110BC3AC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727D0C4-F9E2-49E6-BB19-EF10132B420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8/15/2026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F525FF-83D1-4559-9895-B3978DAA618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824C68D-66B3-4CA1-B9B6-78F9EB2D7C9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5463BEA8-19CD-4039-8B59-5B1E39A45BE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783DEE8-EE6F-4114-8A20-299945EA334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090B82D-7D7C-4B85-99C4-13BBB84491C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8/15/2026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D8FAB45-EC4B-41F3-9F06-7FD9F61B64F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C227C9F-CC75-42FB-BC14-EA0AD40C1F6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b77382a18834634" /><Relationship Type="http://schemas.openxmlformats.org/officeDocument/2006/relationships/slideLayout" Target="/ppt/slideLayouts/slideLayout1.xml" Id="Rfff88b55a375446b" /><Relationship Type="http://schemas.openxmlformats.org/officeDocument/2006/relationships/slideLayout" Target="/ppt/slideLayouts/slideLayout2.xml" Id="R97951bd39e144056" /><Relationship Type="http://schemas.openxmlformats.org/officeDocument/2006/relationships/slideLayout" Target="/ppt/slideLayouts/slideLayout3.xml" Id="Rbf5f25c57fee45f3" /><Relationship Type="http://schemas.openxmlformats.org/officeDocument/2006/relationships/slideLayout" Target="/ppt/slideLayouts/slideLayout4.xml" Id="R18c0184c1f1f42a5" /><Relationship Type="http://schemas.openxmlformats.org/officeDocument/2006/relationships/slideLayout" Target="/ppt/slideLayouts/slideLayout5.xml" Id="Rd0014b01bc07436f" /><Relationship Type="http://schemas.openxmlformats.org/officeDocument/2006/relationships/slideLayout" Target="/ppt/slideLayouts/slideLayout6.xml" Id="R0cfaf9d6b5b84177" /><Relationship Type="http://schemas.openxmlformats.org/officeDocument/2006/relationships/slideLayout" Target="/ppt/slideLayouts/slideLayout7.xml" Id="R0adcfe5ca2d44455" /><Relationship Type="http://schemas.openxmlformats.org/officeDocument/2006/relationships/slideLayout" Target="/ppt/slideLayouts/slideLayout8.xml" Id="R55804a4fe5ea4b79" /><Relationship Type="http://schemas.openxmlformats.org/officeDocument/2006/relationships/slideLayout" Target="/ppt/slideLayouts/slideLayout9.xml" Id="R4a726f1499e14c34" /><Relationship Type="http://schemas.openxmlformats.org/officeDocument/2006/relationships/slideLayout" Target="/ppt/slideLayouts/slideLayout10.xml" Id="R7729035eb0a6409e" /><Relationship Type="http://schemas.openxmlformats.org/officeDocument/2006/relationships/slideLayout" Target="/ppt/slideLayouts/slideLayout11.xml" Id="R91619b9c7eba4330" /><Relationship Type="http://schemas.openxmlformats.org/officeDocument/2006/relationships/slideLayout" Target="/ppt/slideLayouts/slideLayout12.xml" Id="Rb32665f1a8bf4745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818CB61-9412-494B-A03A-7918A05163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5DC1C0B-C095-45CC-8A3C-4F432B6D7CB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05BEE7D-04FE-407B-9FBF-EEA7C7E72481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8/15/2026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EADCBD8-57A3-4506-9C4B-973D2DDDEEA5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346CF58-7507-44A0-92A5-B6E2653722A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ff88b55a375446b"/>
    <p:sldLayoutId xmlns:r="http://schemas.openxmlformats.org/officeDocument/2006/relationships" id="2147483650" r:id="R97951bd39e144056"/>
    <p:sldLayoutId xmlns:r="http://schemas.openxmlformats.org/officeDocument/2006/relationships" id="2147483651" r:id="Rbf5f25c57fee45f3"/>
    <p:sldLayoutId xmlns:r="http://schemas.openxmlformats.org/officeDocument/2006/relationships" id="2147483652" r:id="R18c0184c1f1f42a5"/>
    <p:sldLayoutId xmlns:r="http://schemas.openxmlformats.org/officeDocument/2006/relationships" id="2147483653" r:id="Rd0014b01bc07436f"/>
    <p:sldLayoutId xmlns:r="http://schemas.openxmlformats.org/officeDocument/2006/relationships" id="2147483654" r:id="R0cfaf9d6b5b84177"/>
    <p:sldLayoutId xmlns:r="http://schemas.openxmlformats.org/officeDocument/2006/relationships" id="2147483655" r:id="R0adcfe5ca2d44455"/>
    <p:sldLayoutId xmlns:r="http://schemas.openxmlformats.org/officeDocument/2006/relationships" id="2147483656" r:id="R55804a4fe5ea4b79"/>
    <p:sldLayoutId xmlns:r="http://schemas.openxmlformats.org/officeDocument/2006/relationships" id="2147483657" r:id="R4a726f1499e14c34"/>
    <p:sldLayoutId xmlns:r="http://schemas.openxmlformats.org/officeDocument/2006/relationships" id="2147483658" r:id="R7729035eb0a6409e"/>
    <p:sldLayoutId xmlns:r="http://schemas.openxmlformats.org/officeDocument/2006/relationships" id="2147483659" r:id="R91619b9c7eba4330"/>
    <p:sldLayoutId xmlns:r="http://schemas.openxmlformats.org/officeDocument/2006/relationships" id="2147483660" r:id="Rb32665f1a8bf4745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dcef51cd1de47b8" /><Relationship Type="http://schemas.openxmlformats.org/officeDocument/2006/relationships/notesSlide" Target="/ppt/notesSlides/notesSlide1.xml" Id="Rb2216029c98544b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50a27f8e2e2410d" /><Relationship Type="http://schemas.openxmlformats.org/officeDocument/2006/relationships/notesSlide" Target="/ppt/notesSlides/notesSlide2.xml" Id="Rae0c56c7080447a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fee4661f90f46f1" /><Relationship Type="http://schemas.openxmlformats.org/officeDocument/2006/relationships/notesSlide" Target="/ppt/notesSlides/notesSlide3.xml" Id="Re9326517da9d471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92e4df3f42d4277" /><Relationship Type="http://schemas.openxmlformats.org/officeDocument/2006/relationships/notesSlide" Target="/ppt/notesSlides/notesSlide4.xml" Id="Rf068de90c9244cc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a60f15e87bd4c5b" /><Relationship Type="http://schemas.openxmlformats.org/officeDocument/2006/relationships/notesSlide" Target="/ppt/notesSlides/notesSlide5.xml" Id="Rffe385f5d59443d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dc526f617184949" /><Relationship Type="http://schemas.openxmlformats.org/officeDocument/2006/relationships/notesSlide" Target="/ppt/notesSlides/notesSlide6.xml" Id="R114943e15a8e47f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932de97a21743df" /><Relationship Type="http://schemas.openxmlformats.org/officeDocument/2006/relationships/image" Target="/ppt/media/image.jpeg" Id="R452b7f4665794add" /><Relationship Type="http://schemas.openxmlformats.org/officeDocument/2006/relationships/notesSlide" Target="/ppt/notesSlides/notesSlide7.xml" Id="R5f5f00547c704d7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84336519cdf45d9" /><Relationship Type="http://schemas.openxmlformats.org/officeDocument/2006/relationships/image" Target="/ppt/media/image2.jpeg" Id="Rd654f799122a42a5" /><Relationship Type="http://schemas.openxmlformats.org/officeDocument/2006/relationships/notesSlide" Target="/ppt/notesSlides/notesSlide8.xml" Id="Rae582a6c7e79440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9e434253b41499e" /><Relationship Type="http://schemas.openxmlformats.org/officeDocument/2006/relationships/image" Target="/ppt/media/image3.jpeg" Id="R3064d480476345a7" /><Relationship Type="http://schemas.openxmlformats.org/officeDocument/2006/relationships/notesSlide" Target="/ppt/notesSlides/notesSlide9.xml" Id="R62d9f5cf90b34e1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94f9513a12c4688" /><Relationship Type="http://schemas.openxmlformats.org/officeDocument/2006/relationships/notesSlide" Target="/ppt/notesSlides/notesSlide10.xml" Id="Rc735e5d427db418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1c51f4699f754ef0" /><Relationship Type="http://schemas.openxmlformats.org/officeDocument/2006/relationships/notesSlide" Target="/ppt/notesSlides/notesSlide11.xml" Id="Rfb4eb065d7ab4eb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abb6e2c9b53450b" /><Relationship Type="http://schemas.openxmlformats.org/officeDocument/2006/relationships/image" Target="/ppt/media/image.png" Id="Ra707757012d74003" /><Relationship Type="http://schemas.openxmlformats.org/officeDocument/2006/relationships/notesSlide" Target="/ppt/notesSlides/notesSlide12.xml" Id="R0424baf3d72b47b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1f4c36335fd41b1" /><Relationship Type="http://schemas.openxmlformats.org/officeDocument/2006/relationships/notesSlide" Target="/ppt/notesSlides/notesSlide13.xml" Id="Ra0bc432254224ef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5c104a472474088" /><Relationship Type="http://schemas.openxmlformats.org/officeDocument/2006/relationships/notesSlide" Target="/ppt/notesSlides/notesSlide14.xml" Id="R51de1858b9134e5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2f4ebf11f1aa40a4" /><Relationship Type="http://schemas.openxmlformats.org/officeDocument/2006/relationships/notesSlide" Target="/ppt/notesSlides/notesSlide15.xml" Id="Rc317620311bc434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d2735c0bb6b4e98" /><Relationship Type="http://schemas.openxmlformats.org/officeDocument/2006/relationships/image" Target="/ppt/media/image2.png" Id="R7a953f42c6c74fb8" /><Relationship Type="http://schemas.openxmlformats.org/officeDocument/2006/relationships/notesSlide" Target="/ppt/notesSlides/notesSlide16.xml" Id="R7d5fdfb35d6c4e7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60c11b1d3d543aa" /><Relationship Type="http://schemas.openxmlformats.org/officeDocument/2006/relationships/notesSlide" Target="/ppt/notesSlides/notesSlide17.xml" Id="Rba1550c72e11448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f102a5850764fd4" /><Relationship Type="http://schemas.openxmlformats.org/officeDocument/2006/relationships/notesSlide" Target="/ppt/notesSlides/notesSlide18.xml" Id="R4666cb48b8d84a7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8f9d54c9d3d44b5c" /><Relationship Type="http://schemas.openxmlformats.org/officeDocument/2006/relationships/notesSlide" Target="/ppt/notesSlides/notesSlide19.xml" Id="Rf55915d732fe476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65b6027ba3b4742" /><Relationship Type="http://schemas.openxmlformats.org/officeDocument/2006/relationships/notesSlide" Target="/ppt/notesSlides/notesSlide20.xml" Id="Rd0e665d311da4a4b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016c85449ed4735" /><Relationship Type="http://schemas.openxmlformats.org/officeDocument/2006/relationships/notesSlide" Target="/ppt/notesSlides/notesSlide21.xml" Id="R46ed4933bd8f4e8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8d3d6faa05c442f" /><Relationship Type="http://schemas.openxmlformats.org/officeDocument/2006/relationships/notesSlide" Target="/ppt/notesSlides/notesSlide22.xml" Id="Rcab3992aedb4445b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64146ddf3d74577" /><Relationship Type="http://schemas.openxmlformats.org/officeDocument/2006/relationships/image" Target="/ppt/media/image3.png" Id="R448138cc748e422d" /><Relationship Type="http://schemas.openxmlformats.org/officeDocument/2006/relationships/notesSlide" Target="/ppt/notesSlides/notesSlide23.xml" Id="Rd5b0deb5f981439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ef599eb1dcc40b8" /><Relationship Type="http://schemas.openxmlformats.org/officeDocument/2006/relationships/notesSlide" Target="/ppt/notesSlides/notesSlide24.xml" Id="Ra48a7765d11b48e7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a852d41f1684605" /><Relationship Type="http://schemas.openxmlformats.org/officeDocument/2006/relationships/notesSlide" Target="/ppt/notesSlides/notesSlide25.xml" Id="R5e49cbe1f2754f9d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c7fae42aee14abf" /><Relationship Type="http://schemas.openxmlformats.org/officeDocument/2006/relationships/notesSlide" Target="/ppt/notesSlides/notesSlide26.xml" Id="R7534468ae5464d4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a26bc0088254b9d" /><Relationship Type="http://schemas.openxmlformats.org/officeDocument/2006/relationships/notesSlide" Target="/ppt/notesSlides/notesSlide27.xml" Id="R93e4d405d524421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441381D-5DE4-43BD-8BFD-B1F1DE286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EFEC2C5-8414-43D0-A6F0-E99633EE0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90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420060C-CDA4-41FB-9ED5-EBFB9DEC5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960120"/>
            <a:ext cx="1051560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60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FoodMind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C1E5D9C-EEEC-4CE5-A9B1-EF7E5BACF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2148840"/>
            <a:ext cx="105156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400" b="1" i="0">
                <a:solidFill>
                  <a:srgbClr val="C44607"/>
                </a:solidFill>
                <a:latin typeface="Calibri"/>
                <a:ea typeface="Calibri"/>
                <a:cs typeface="Calibri"/>
              </a:rPr>
              <a:t>Decide dinner with confidence.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64C3BA5-F202-4E55-BA4D-6EAB38C05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2743200"/>
            <a:ext cx="1051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6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AD Project  ·  Team 5  ·  Final Project Presentation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CACC63F-840D-440B-B48B-82275E51F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657600"/>
            <a:ext cx="30175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6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Chen Yaqi</a:t>
            </a:r>
            <a:r>
              <a:rPr sz="14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   A0335050U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4B1FE31-C6CF-4BD7-8B2A-5C7FDB0E2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297680"/>
            <a:ext cx="30175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6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Wu Aomo</a:t>
            </a:r>
            <a:r>
              <a:rPr sz="14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   A0335088X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D9E334B-BE33-431A-B6F3-9A406CF9C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937760"/>
            <a:ext cx="30175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6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Huang Qijun</a:t>
            </a:r>
            <a:r>
              <a:rPr sz="14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   A0335061N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5237D68-9B39-494A-A3A2-0727F26F2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577840"/>
            <a:ext cx="30175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6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Luo Yuxiang</a:t>
            </a:r>
            <a:r>
              <a:rPr sz="14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   A0335071M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87923C5-2286-4B2E-A519-31803AA15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3360" y="3657600"/>
            <a:ext cx="30175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6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Lei Tianyou</a:t>
            </a:r>
            <a:r>
              <a:rPr sz="14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   A0335067A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58CFDD6-7C6B-443F-BBAD-D5DCA363E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3360" y="4297680"/>
            <a:ext cx="30175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6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Chen Chen</a:t>
            </a:r>
            <a:r>
              <a:rPr sz="14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   A0335082J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99610FB-51AC-409B-BBE2-8FE5C253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3360" y="4937760"/>
            <a:ext cx="30175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6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Deng Yunke</a:t>
            </a:r>
            <a:r>
              <a:rPr sz="14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   A0335081L</a:t>
            </a:r>
          </a:p>
        </p:txBody>
      </p:sp>
    </p:spTree>
    <p:extLst>
      <p:ext uri="{BB962C8B-B14F-4D97-AF65-F5344CB8AC3E}">
        <p14:creationId xmlns:p14="http://schemas.microsoft.com/office/powerpoint/2010/main" val="60207263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1AA7E1C-0B93-4138-B27C-04A58EB5E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619F5FB-7259-45B1-B844-2414EF4B5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90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F28200D-3098-412C-A264-B4456102E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7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The FoodMind story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1DF6BF3-F754-4EF8-8F4F-09623B905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024128"/>
            <a:ext cx="12801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90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85B6E21-1F75-4B7D-9FB7-B25A8DAC2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FoodMind · Team 5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82758BE-9467-4F27-903C-4194BB0AB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73952"/>
            <a:ext cx="731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D032072-DF7C-448F-8829-446A16225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1554480"/>
            <a:ext cx="9601200" cy="389850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sz="2000" b="1" i="0">
                <a:solidFill>
                  <a:srgbClr val="E8590C"/>
                </a:solidFill>
                <a:latin typeface="Calibri"/>
                <a:ea typeface="Calibri"/>
                <a:cs typeface="Calibri"/>
              </a:rPr>
              <a:t>01  The user experience</a:t>
            </a:r>
            <a:endParaRPr sz="2000" b="0" i="0">
              <a:solidFill>
                <a:srgbClr val="1F2937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sz="2000" b="1" i="0">
                <a:solidFill>
                  <a:srgbClr val="E8590C"/>
                </a:solidFill>
                <a:latin typeface="Calibri"/>
                <a:ea typeface="Calibri"/>
                <a:cs typeface="Calibri"/>
              </a:rPr>
              <a:t>02  Trust &amp; ranking</a:t>
            </a:r>
            <a:endParaRPr sz="2000" b="0" i="0">
              <a:solidFill>
                <a:srgbClr val="1F2937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sz="2000" b="1" i="0">
                <a:solidFill>
                  <a:srgbClr val="E8590C"/>
                </a:solidFill>
                <a:latin typeface="Calibri"/>
                <a:ea typeface="Calibri"/>
                <a:cs typeface="Calibri"/>
              </a:rPr>
              <a:t>03  Bounded agents</a:t>
            </a:r>
            <a:endParaRPr sz="2000" b="0" i="0">
              <a:solidFill>
                <a:srgbClr val="1F2937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sz="2000" b="1" i="0">
                <a:solidFill>
                  <a:srgbClr val="E8590C"/>
                </a:solidFill>
                <a:latin typeface="Calibri"/>
                <a:ea typeface="Calibri"/>
                <a:cs typeface="Calibri"/>
              </a:rPr>
              <a:t>04  Backend &amp; client parity</a:t>
            </a:r>
            <a:endParaRPr sz="2000" b="0" i="0">
              <a:solidFill>
                <a:srgbClr val="1F2937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sz="2000" b="1" i="0">
                <a:solidFill>
                  <a:srgbClr val="E8590C"/>
                </a:solidFill>
                <a:latin typeface="Calibri"/>
                <a:ea typeface="Calibri"/>
                <a:cs typeface="Calibri"/>
              </a:rPr>
              <a:t>05  Delivery &amp; security</a:t>
            </a:r>
            <a:endParaRPr sz="2000" b="0" i="0">
              <a:solidFill>
                <a:srgbClr val="1F2937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623001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文本框 1">
            <a:extLst xmlns:a="http://schemas.openxmlformats.org/drawingml/2006/main">
              <a:ext uri="{FF2B5EF4-FFF2-40B4-BE49-F238E27FC236}">
                <a16:creationId xmlns:a16="http://schemas.microsoft.com/office/drawing/2014/main" id="{EA6A850F-9530-3B3C-C121-AC983E98C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2973" y="2921168"/>
            <a:ext cx="3146054" cy="10156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6000"/>
              <a:t>The user experience</a:t>
            </a:r>
            <a:endParaRPr sz="6000"/>
          </a:p>
        </p:txBody>
      </p:sp>
    </p:spTree>
    <p:extLst>
      <p:ext uri="{BB962C8B-B14F-4D97-AF65-F5344CB8AC3E}">
        <p14:creationId xmlns:p14="http://schemas.microsoft.com/office/powerpoint/2010/main" val="33445431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C29080F-146B-439B-A601-8685C97FC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3985E75-A395-4188-A6E2-8AEFABCBE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90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F6ECEC1-2089-4817-8CFC-78260AE21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7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Dinner should not be a research project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01CFB7E-F624-4F10-9CCE-B24CD0911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024128"/>
            <a:ext cx="12801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90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CC17785-5E46-4469-B1E7-B8F1DB9B5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FoodMind · Team 5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5736AA5-A3B3-4B33-AC9B-AE39F140A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73952"/>
            <a:ext cx="731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CC00D3A-BD04-450E-B53E-3EBA36C5D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325880"/>
            <a:ext cx="1115568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sz="16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A meal decision often starts with scattered memories, changing constraints and a group chat that never reaches an answer.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CC3291A7-4368-4AA0-8E81-9570F8210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246120"/>
            <a:ext cx="361188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EEDEFC88-9870-43A7-9706-727DC5FF4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246120"/>
            <a:ext cx="3611880" cy="822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90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B272D50-8BB1-42A9-92DD-3A6BFC86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520440"/>
            <a:ext cx="31546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200" b="1" i="0">
                <a:solidFill>
                  <a:srgbClr val="E8590C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87990C4-3D3D-4D8E-978F-E50101627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069080"/>
            <a:ext cx="31546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9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Decision fatigue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E64FD62-6387-4443-9485-3BF17ACAA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17720"/>
            <a:ext cx="31546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Searching, comparing and coordinating consumes the moment meant for eating.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7E68366A-C209-42BC-8B3A-F1DBB1530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246120"/>
            <a:ext cx="361188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1C55F718-9F56-49A8-ACAE-A1ADF30B8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246120"/>
            <a:ext cx="3611880" cy="822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90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777787B-F1AE-485B-808C-0A7FE5A10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3520440"/>
            <a:ext cx="31546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200" b="1" i="0">
                <a:solidFill>
                  <a:srgbClr val="E8590C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E79C7593-99E4-4108-9848-B38C6AEC4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4069080"/>
            <a:ext cx="31546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9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Context is fragmented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02E594B-B3AA-4898-A8FA-DC91DF81F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4617720"/>
            <a:ext cx="31546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History, dietary needs, budget, distance and trusted group signals live apart.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E5FB2DD4-4F84-4EFD-A4A1-30B0CA406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3246120"/>
            <a:ext cx="361188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A3358A0B-354D-4165-8B48-33ED88192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3246120"/>
            <a:ext cx="3611880" cy="822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90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1DFCBCD0-553B-4DC2-B413-95208CA2D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520440"/>
            <a:ext cx="31546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200" b="1" i="0">
                <a:solidFill>
                  <a:srgbClr val="E8590C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33DF227B-2609-4F23-B5B7-628EF57C8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069080"/>
            <a:ext cx="31546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9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No accountable answer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AB5A149E-AF1E-4364-9FCE-526D2F682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617720"/>
            <a:ext cx="31546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Most discovery products still leave the final decision to the user.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0CB07F74-A75A-4ECB-B0C2-5211DE5B7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806440"/>
            <a:ext cx="11155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700" b="1" i="0">
                <a:solidFill>
                  <a:srgbClr val="C44607"/>
                </a:solidFill>
                <a:latin typeface="Calibri"/>
                <a:ea typeface="Calibri"/>
                <a:cs typeface="Calibri"/>
              </a:rPr>
              <a:t>FoodMind turns trusted context into a clear next step.</a:t>
            </a:r>
          </a:p>
        </p:txBody>
      </p:sp>
    </p:spTree>
    <p:extLst>
      <p:ext uri="{BB962C8B-B14F-4D97-AF65-F5344CB8AC3E}">
        <p14:creationId xmlns:p14="http://schemas.microsoft.com/office/powerpoint/2010/main" val="77151750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1B3FDC7-E9FF-4B86-A4A5-E7362D454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40B6373-D8BF-400D-BEB6-F929B2E9C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90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BDF1904-6E80-4053-A071-BD0DFFCEE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7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A decision loop, not another feed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68FDB00-18BC-4A42-8067-3F0E7BB7B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024128"/>
            <a:ext cx="12801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90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BD96FC9-8C98-48D6-B0F5-D8710CDA8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FoodMind · Team 5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15274A4-F500-424C-9C1C-187CFA249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73952"/>
            <a:ext cx="731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7753E43-C2EE-4DF5-9E88-C51A278F7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423" y="1737360"/>
            <a:ext cx="1481328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98C87E0-2D8D-4E5E-AD9D-447C24FE6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423" y="2086838"/>
            <a:ext cx="1481328" cy="2154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Remember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DE1B29B-18B1-4C03-B599-A4FD21E7E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8751" y="1737360"/>
            <a:ext cx="164592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000" b="1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›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37DE487A-AB0C-471D-8417-CEC01F2D4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3343" y="1737360"/>
            <a:ext cx="1481328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90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10B5AB0-A2EB-4180-B7C7-E6DEE8494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3343" y="1737360"/>
            <a:ext cx="1481328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Ask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B544F79-AF84-4972-B9ED-EF3C7AE5F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4671" y="1737360"/>
            <a:ext cx="164592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000" b="1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›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0AA94827-91B1-405C-AC74-B167647B7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9263" y="1737360"/>
            <a:ext cx="1481328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90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4469F03D-AC3D-451D-A812-0A271A315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9263" y="1737360"/>
            <a:ext cx="1481328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Protect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2192883C-F943-4D4D-B73D-2A340B8CC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0591" y="1737360"/>
            <a:ext cx="164592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000" b="1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›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88A89297-C03C-4DA1-B5C7-97EBB3590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5183" y="1737360"/>
            <a:ext cx="1481328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FCC6F19-111A-4A7A-8506-134D6FBC1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5183" y="1737360"/>
            <a:ext cx="1481328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Explain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827A94B6-6422-4D38-AB0E-B16BEEC7A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6511" y="1737360"/>
            <a:ext cx="164592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000" b="1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›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7AB57C3F-D310-4BB6-9BE5-5CE399381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1103" y="1737360"/>
            <a:ext cx="1481328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DEA1A278-63EE-47DD-9B79-68D9B0A1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1103" y="1737360"/>
            <a:ext cx="1481328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Decide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13F0FCE2-91B4-4341-8CF7-CB196B2C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2431" y="1737360"/>
            <a:ext cx="164592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000" b="1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›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9CB7D316-829C-425C-BA79-875D84861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7023" y="1737360"/>
            <a:ext cx="1481328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BA9B2CDF-E2A2-4B64-A29B-F5E5FC8BB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7023" y="1737360"/>
            <a:ext cx="1481328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Learn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3A113133-7B4A-45CF-B3AD-62E61FE21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8351" y="1737360"/>
            <a:ext cx="164592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000" b="1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›</a:t>
            </a:r>
          </a:p>
        </p:txBody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23E503F0-4C53-4C3D-8926-450812676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2943" y="1737360"/>
            <a:ext cx="1481328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8D5D4AB3-6605-4DA6-9E46-9FA1D676D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2943" y="1737360"/>
            <a:ext cx="1481328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Reflect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44760ACC-814B-4E28-8F23-D3F9D2C01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047" y="3132900"/>
            <a:ext cx="10515600" cy="24468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4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Authorised history and group evidence create the context. Hard constraints protect the choice; ranking orders the safe candidates; verified reasons explain the lead result; explicit feedback improves the next decision.</a:t>
            </a:r>
          </a:p>
        </p:txBody>
      </p:sp>
    </p:spTree>
    <p:extLst>
      <p:ext uri="{BB962C8B-B14F-4D97-AF65-F5344CB8AC3E}">
        <p14:creationId xmlns:p14="http://schemas.microsoft.com/office/powerpoint/2010/main" val="127933437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5DC5AA8-CDDB-4BFC-A0C8-9FE5A9480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2EA6A15-7218-435B-99D9-7A46FF4E7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90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15109B8-3C6D-4D95-BEF5-6B56AD605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7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A complete decision experience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DDEE64D-9869-42D9-A484-C6CE240C2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024128"/>
            <a:ext cx="12801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90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13552EC-B6E7-4A6E-B28D-C25D2D6B2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FoodMind · Team 5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E7BA53E-0EDF-4380-8FF3-47F2CE98A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73952"/>
            <a:ext cx="731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02920" y="1325880"/>
          <a:ext xmlns:a="http://schemas.openxmlformats.org/drawingml/2006/main" cx="11155680" cy="4846320"/>
        </p:xfrm>
        <a:graphic xmlns:a="http://schemas.openxmlformats.org/drawingml/2006/main"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22960"/>
                <a:gridCol w="5669280"/>
                <a:gridCol w="4663440"/>
              </a:tblGrid>
              <a:tr h="48463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Moment</a:t>
                      </a:r>
                    </a:p>
                  </a:txBody>
                  <a:tcPr marL="91440" marR="91440" marT="38100" marB="38100">
                    <a:solidFill>
                      <a:srgbClr val="E8590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What FoodMind enables</a:t>
                      </a:r>
                    </a:p>
                  </a:txBody>
                  <a:tcPr marL="91440" marR="91440" marT="38100" marB="38100">
                    <a:solidFill>
                      <a:srgbClr val="E8590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Evidence</a:t>
                      </a:r>
                    </a:p>
                  </a:txBody>
                  <a:tcPr marL="91440" marR="91440" marT="38100" marB="38100">
                    <a:solidFill>
                      <a:srgbClr val="E8590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 marL="91440" marR="9144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Start with context</a:t>
                      </a:r>
                    </a:p>
                  </a:txBody>
                  <a:tcPr marL="91440" marR="9144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Preferences, history and constraints</a:t>
                      </a:r>
                    </a:p>
                  </a:txBody>
                  <a:tcPr marL="91440" marR="91440" marT="25400" marB="25400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 marL="91440" marR="91440" marT="25400" marB="254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Choose together</a:t>
                      </a:r>
                    </a:p>
                  </a:txBody>
                  <a:tcPr marL="91440" marR="91440" marT="25400" marB="254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Trusted groups, feeds and Want to Try</a:t>
                      </a:r>
                    </a:p>
                  </a:txBody>
                  <a:tcPr marL="91440" marR="91440" marT="25400" marB="25400">
                    <a:solidFill>
                      <a:srgbClr val="F3F4F6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91440" marR="9144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Receive one lead answer</a:t>
                      </a:r>
                    </a:p>
                  </a:txBody>
                  <a:tcPr marL="91440" marR="9144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Ordered recommendations + Try another</a:t>
                      </a:r>
                    </a:p>
                  </a:txBody>
                  <a:tcPr marL="91440" marR="91440" marT="25400" marB="25400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 marL="91440" marR="91440" marT="25400" marB="254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Know why</a:t>
                      </a:r>
                    </a:p>
                  </a:txBody>
                  <a:tcPr marL="91440" marR="91440" marT="25400" marB="254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Verified reason codes and fallback disclosure</a:t>
                      </a:r>
                    </a:p>
                  </a:txBody>
                  <a:tcPr marL="91440" marR="91440" marT="25400" marB="25400">
                    <a:solidFill>
                      <a:srgbClr val="F3F4F6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 marL="91440" marR="9144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Switch to cooking</a:t>
                      </a:r>
                    </a:p>
                  </a:txBody>
                  <a:tcPr marL="91440" marR="9144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Manual ingredients, plan and history</a:t>
                      </a:r>
                    </a:p>
                  </a:txBody>
                  <a:tcPr marL="91440" marR="91440" marT="25400" marB="25400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6</a:t>
                      </a:r>
                    </a:p>
                  </a:txBody>
                  <a:tcPr marL="91440" marR="91440" marT="25400" marB="254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Ask grounded questions</a:t>
                      </a:r>
                    </a:p>
                  </a:txBody>
                  <a:tcPr marL="91440" marR="91440" marT="25400" marB="254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Chat references, comparison and summary</a:t>
                      </a:r>
                    </a:p>
                  </a:txBody>
                  <a:tcPr marL="91440" marR="91440" marT="25400" marB="25400">
                    <a:solidFill>
                      <a:srgbClr val="F3F4F6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7</a:t>
                      </a:r>
                    </a:p>
                  </a:txBody>
                  <a:tcPr marL="91440" marR="9144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See the pattern</a:t>
                      </a:r>
                    </a:p>
                  </a:txBody>
                  <a:tcPr marL="91440" marR="9144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Backend-owned dashboard and weekly recap</a:t>
                      </a:r>
                    </a:p>
                  </a:txBody>
                  <a:tcPr marL="91440" marR="91440" marT="25400" marB="25400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8</a:t>
                      </a:r>
                    </a:p>
                  </a:txBody>
                  <a:tcPr marL="91440" marR="91440" marT="25400" marB="254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Stay in control</a:t>
                      </a:r>
                    </a:p>
                  </a:txBody>
                  <a:tcPr marL="91440" marR="91440" marT="25400" marB="254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Permission-safe Explore and search</a:t>
                      </a:r>
                    </a:p>
                  </a:txBody>
                  <a:tcPr marL="91440" marR="91440" marT="25400" marB="25400">
                    <a:solidFill>
                      <a:srgbClr val="F3F4F6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UC-09</a:t>
                      </a:r>
                    </a:p>
                  </a:txBody>
                  <a:tcPr marL="91440" marR="9144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Dashboard &amp; weekly recap</a:t>
                      </a:r>
                    </a:p>
                  </a:txBody>
                  <a:tcPr marL="91440" marR="9144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Vico / Recharts, Spring Boot aggregation</a:t>
                      </a:r>
                    </a:p>
                  </a:txBody>
                  <a:tcPr marL="91440" marR="9144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49B5D59-1DDF-4EDF-99AF-2332AEBD2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63640"/>
            <a:ext cx="11155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300" b="0" i="1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The same public contract powers Web and Android; each client keeps the interaction native to its platform.</a:t>
            </a:r>
          </a:p>
        </p:txBody>
      </p:sp>
    </p:spTree>
    <p:extLst>
      <p:ext uri="{BB962C8B-B14F-4D97-AF65-F5344CB8AC3E}">
        <p14:creationId xmlns:p14="http://schemas.microsoft.com/office/powerpoint/2010/main" val="64438977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E8D7081-AB68-4B32-BEE6-F6E1BC333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ABD0FE2-B3C7-4CD7-992A-022DF20A9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90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E33CDC7-0AF8-4AF0-A98F-BC4F61D80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7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A decision in one calm minute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3A9C142-0B7A-48E4-8EF6-72352E2DF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024128"/>
            <a:ext cx="12801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90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184F400-5AA0-4D5A-AEC2-E57DB900C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FoodMind · Team 5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5436AC8-B81E-4895-8056-246654FFA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73952"/>
            <a:ext cx="731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pic>
        <p:nvPicPr>
          <p:cNvPr id="15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2b7f4665794add"/>
          <a:stretch xmlns:a="http://schemas.openxmlformats.org/drawingml/2006/main"/>
        </p:blipFill>
        <p:spPr>
          <a:xfrm xmlns:a="http://schemas.openxmlformats.org/drawingml/2006/main">
            <a:off x="2382818" y="1234440"/>
            <a:ext cx="7395882" cy="50292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725268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6513247-1050-42DE-8F08-5686FD053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DDD91B8-3259-4249-A130-6B7905985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90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3364FF6-008B-47E5-88B8-F1E2E9550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7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One experience across devices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4FB5290-8B99-4A33-8AB8-F84C405CF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024128"/>
            <a:ext cx="12801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90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AEB17A3-0C39-4D93-8336-D600DFA3D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FoodMind · Team 5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6F9373F-13A2-439D-8C9A-3DB79310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73952"/>
            <a:ext cx="731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0015B12-FB6A-421E-A0DB-259CB2B2A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463040"/>
            <a:ext cx="4023360" cy="457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3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Web and Android call the same /api/v1 contract. The backend owns authorisation and business rules; private Agent and inference services never become browser or mobile endpoints.</a:t>
            </a:r>
          </a:p>
        </p:txBody>
      </p:sp>
      <p:pic>
        <p:nvPicPr>
          <p:cNvPr id="18" name="FoodMind architecture diagram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54f799122a42a5"/>
          <a:stretch xmlns:a="http://schemas.openxmlformats.org/drawingml/2006/main"/>
        </p:blipFill>
        <p:spPr>
          <a:xfrm xmlns:a="http://schemas.openxmlformats.org/drawingml/2006/main">
            <a:off x="2528140" y="698264"/>
            <a:ext cx="2755549" cy="61219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68497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A0280F1-960A-4BE3-A868-C09469EAD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9715FDE-FBCC-44FA-9F29-3FC5803C1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90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7D9A1ED-2B08-4B9B-A068-A4D05757F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0515600" cy="41549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700" b="1" i="0">
                <a:solidFill>
                  <a:srgbClr val="1F2937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</a:rPr>
              <a:t>Trust belongs in the product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7684736-3A7D-45BE-A064-CBEE42C1A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024128"/>
            <a:ext cx="12801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90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4B4D924-5008-4C34-A76B-E96ABCE77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FoodMind · Team 5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09DF9DE-0AAE-4573-B99E-A45A39C5B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73952"/>
            <a:ext cx="731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>
        <p:nvPicPr>
          <p:cNvPr id="15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64d480476345a7"/>
          <a:stretch xmlns:a="http://schemas.openxmlformats.org/drawingml/2006/main"/>
        </p:blipFill>
        <p:spPr>
          <a:xfrm xmlns:a="http://schemas.openxmlformats.org/drawingml/2006/main">
            <a:off x="2627871" y="1069847"/>
            <a:ext cx="6867575" cy="466995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073726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文本框 1">
            <a:extLst xmlns:a="http://schemas.openxmlformats.org/drawingml/2006/main">
              <a:ext uri="{FF2B5EF4-FFF2-40B4-BE49-F238E27FC236}">
                <a16:creationId xmlns:a16="http://schemas.microsoft.com/office/drawing/2014/main" id="{6413599A-8933-1501-8677-2D4FEAAE9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2037" y="2921168"/>
            <a:ext cx="5767926" cy="10156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6000"/>
              <a:t>Technology &amp; trust</a:t>
            </a:r>
            <a:endParaRPr sz="6000"/>
          </a:p>
        </p:txBody>
      </p:sp>
    </p:spTree>
    <p:extLst>
      <p:ext uri="{BB962C8B-B14F-4D97-AF65-F5344CB8AC3E}">
        <p14:creationId xmlns:p14="http://schemas.microsoft.com/office/powerpoint/2010/main" val="238413730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20D9A2E1-E88C-4CD7-A1F2-31591B672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666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B5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1CD4F976-F6EC-44DF-A807-6C4723A99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720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450" b="1" i="0">
                <a:solidFill>
                  <a:srgbClr val="192526"/>
                </a:solidFill>
                <a:latin typeface="Arial"/>
                <a:ea typeface="Arial"/>
                <a:cs typeface="Arial"/>
              </a:defRPr>
            </a:pPr>
            <a:r>
              <a:rPr sz="3450" b="1" i="0">
                <a:solidFill>
                  <a:srgbClr val="192526"/>
                </a:solidFill>
                <a:latin typeface="Arial"/>
                <a:ea typeface="Arial"/>
                <a:cs typeface="Arial"/>
              </a:rPr>
              <a:t>Safety comes before ranking</a:t>
            </a:r>
            <a:endParaRPr sz="3450" b="1" i="0">
              <a:solidFill>
                <a:srgbClr val="19252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直接连接符 2">
            <a:extLst xmlns:a="http://schemas.openxmlformats.org/drawingml/2006/main">
              <a:ext uri="{FF2B5EF4-FFF2-40B4-BE49-F238E27FC236}">
                <a16:creationId xmlns:a16="http://schemas.microsoft.com/office/drawing/2014/main" id="{64BDC852-FFF9-4B14-9524-41E98C54B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D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F47B87D9-1A84-4FCE-A6DF-C153C65CB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67174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67174"/>
                </a:solidFill>
                <a:latin typeface="Arial"/>
                <a:ea typeface="Arial"/>
                <a:cs typeface="Arial"/>
              </a:rPr>
              <a:t>FOODMIND  •  TEAM 5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EAAD4A59-037F-44E1-B97D-64D01F56F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667174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174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6" name="矩形: 圆角 5">
            <a:extLst xmlns:a="http://schemas.openxmlformats.org/drawingml/2006/main">
              <a:ext uri="{FF2B5EF4-FFF2-40B4-BE49-F238E27FC236}">
                <a16:creationId xmlns:a16="http://schemas.microsoft.com/office/drawing/2014/main" id="{D39B4821-DF72-4F57-8014-DFCF4D69E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2095500" cy="685800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F4E8E1"/>
          </a:solidFill>
          <a:ln xmlns:a="http://schemas.openxmlformats.org/drawingml/2006/main" w="13335">
            <a:solidFill>
              <a:srgbClr val="B86143"/>
            </a:solidFill>
            <a:prstDash val="solid"/>
          </a:ln>
        </p:spPr>
        <p:txBody>
          <a:bodyPr xmlns:a="http://schemas.openxmlformats.org/drawingml/2006/main" wrap="square" lIns="114300" tIns="95250" rIns="11430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B8614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B86143"/>
                </a:solidFill>
                <a:latin typeface="Arial"/>
                <a:ea typeface="Arial"/>
                <a:cs typeface="Arial"/>
              </a:rPr>
              <a:t>HARD FILTERS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D3194691-C257-434B-BE46-B9BA9B7E2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676400"/>
            <a:ext cx="7924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 i="0">
                <a:solidFill>
                  <a:srgbClr val="667174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667174"/>
                </a:solidFill>
                <a:latin typeface="Arial"/>
                <a:ea typeface="Arial"/>
                <a:cs typeface="Arial"/>
              </a:rPr>
              <a:t>allergy · diet · budget · spice · repetition · distance</a:t>
            </a:r>
          </a:p>
        </p:txBody>
      </p:sp>
      <p:sp>
        <p:nvSpPr>
          <p:cNvPr id="8" name="直接连接符 7">
            <a:extLst xmlns:a="http://schemas.openxmlformats.org/drawingml/2006/main">
              <a:ext uri="{FF2B5EF4-FFF2-40B4-BE49-F238E27FC236}">
                <a16:creationId xmlns:a16="http://schemas.microsoft.com/office/drawing/2014/main" id="{E760F973-9230-422D-8A49-332BEC24B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1036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8DD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矩形: 圆角 8">
            <a:extLst xmlns:a="http://schemas.openxmlformats.org/drawingml/2006/main">
              <a:ext uri="{FF2B5EF4-FFF2-40B4-BE49-F238E27FC236}">
                <a16:creationId xmlns:a16="http://schemas.microsoft.com/office/drawing/2014/main" id="{05163E14-23F6-464C-8A79-C281D2026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09900"/>
            <a:ext cx="5295900" cy="2152650"/>
          </a:xfrm>
          <a:prstGeom xmlns:a="http://schemas.openxmlformats.org/drawingml/2006/main" prst="roundRect">
            <a:avLst>
              <a:gd name="adj" fmla="val 70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F806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4FF74F85-90D6-4288-8D8E-B211DAC66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194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 i="0">
                <a:solidFill>
                  <a:srgbClr val="356B56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356B56"/>
                </a:solidFill>
                <a:latin typeface="Arial"/>
                <a:ea typeface="Arial"/>
                <a:cs typeface="Arial"/>
              </a:rPr>
              <a:t>SOURCE CODE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AB8C57AB-E7F7-4555-A106-597141087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95700"/>
            <a:ext cx="1162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192526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92526"/>
                </a:solidFill>
                <a:latin typeface="Arial"/>
                <a:ea typeface="Arial"/>
                <a:cs typeface="Arial"/>
              </a:rPr>
              <a:t>for (HardFilterPolicy policy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E7C116C2-9859-4E90-B40D-2174FCE2D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7147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 i="0">
                <a:solidFill>
                  <a:srgbClr val="667174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667174"/>
                </a:solidFill>
                <a:latin typeface="Arial"/>
                <a:ea typeface="Arial"/>
                <a:cs typeface="Arial"/>
              </a:rPr>
              <a:t>  : policies) {</a:t>
            </a:r>
          </a:p>
        </p:txBody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8C5394DC-9D02-4416-A1E6-1B71359CC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95750"/>
            <a:ext cx="4705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D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64A13D41-5F83-40A4-8F58-D39917641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48150"/>
            <a:ext cx="1162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192526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92526"/>
                </a:solidFill>
                <a:latin typeface="Arial"/>
                <a:ea typeface="Arial"/>
                <a:cs typeface="Arial"/>
              </a:rPr>
              <a:t>  decision = policy.apply(...);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CAE61713-32F9-46F0-9472-F464AC6AB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2672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 i="0">
                <a:solidFill>
                  <a:srgbClr val="667174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667174"/>
                </a:solidFill>
                <a:latin typeface="Arial"/>
                <a:ea typeface="Arial"/>
                <a:cs typeface="Arial"/>
              </a:rPr>
              <a:t>  if (!decision.allowed())</a:t>
            </a:r>
          </a:p>
        </p:txBody>
      </p:sp>
      <p:sp>
        <p:nvSpPr>
          <p:cNvPr id="16" name="直接连接符 15">
            <a:extLst xmlns:a="http://schemas.openxmlformats.org/drawingml/2006/main">
              <a:ext uri="{FF2B5EF4-FFF2-40B4-BE49-F238E27FC236}">
                <a16:creationId xmlns:a16="http://schemas.microsoft.com/office/drawing/2014/main" id="{73B86C44-783F-4A39-BFE2-545214D0B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48200"/>
            <a:ext cx="4705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D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CACDEC88-DDCB-4283-A3EC-CF3BA1197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781550"/>
            <a:ext cx="1162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192526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92526"/>
                </a:solidFill>
                <a:latin typeface="Arial"/>
                <a:ea typeface="Arial"/>
                <a:cs typeface="Arial"/>
              </a:rPr>
              <a:t>    return rejected;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D50061F2-86E4-468B-9AF4-2CFE1E2DB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80060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667174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67174"/>
                </a:solidFill>
                <a:latin typeface="Arial"/>
                <a:ea typeface="Arial"/>
                <a:cs typeface="Arial"/>
              </a:rPr>
              <a:t>}</a:t>
            </a:r>
          </a:p>
        </p:txBody>
      </p:sp>
      <p:sp>
        <p:nvSpPr>
          <p:cNvPr id="19" name="矩形: 圆角 18">
            <a:extLst xmlns:a="http://schemas.openxmlformats.org/drawingml/2006/main">
              <a:ext uri="{FF2B5EF4-FFF2-40B4-BE49-F238E27FC236}">
                <a16:creationId xmlns:a16="http://schemas.microsoft.com/office/drawing/2014/main" id="{1F66D045-9E70-48B7-B0A4-F9D888A4B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448050"/>
            <a:ext cx="2266950" cy="1276350"/>
          </a:xfrm>
          <a:prstGeom xmlns:a="http://schemas.openxmlformats.org/drawingml/2006/main" prst="roundRect">
            <a:avLst>
              <a:gd name="adj" fmla="val 10448"/>
            </a:avLst>
          </a:prstGeom>
          <a:solidFill xmlns:a="http://schemas.openxmlformats.org/drawingml/2006/main">
            <a:srgbClr val="E7F0EB"/>
          </a:solidFill>
          <a:ln xmlns:a="http://schemas.openxmlformats.org/drawingml/2006/main" w="13335">
            <a:solidFill>
              <a:srgbClr val="4F806B"/>
            </a:solidFill>
            <a:prstDash val="solid"/>
          </a:ln>
        </p:spPr>
        <p:txBody>
          <a:bodyPr xmlns:a="http://schemas.openxmlformats.org/drawingml/2006/main" wrap="square" lIns="114300" tIns="95250" rIns="11430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356B5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56B56"/>
                </a:solidFill>
                <a:latin typeface="Arial"/>
                <a:ea typeface="Arial"/>
                <a:cs typeface="Arial"/>
              </a:rPr>
              <a:t>SAFE CANDIDATES</a:t>
            </a:r>
          </a:p>
        </p:txBody>
      </p:sp>
      <p:sp>
        <p:nvSpPr>
          <p:cNvPr id="20" name="矩形: 圆角 19">
            <a:extLst xmlns:a="http://schemas.openxmlformats.org/drawingml/2006/main">
              <a:ext uri="{FF2B5EF4-FFF2-40B4-BE49-F238E27FC236}">
                <a16:creationId xmlns:a16="http://schemas.microsoft.com/office/drawing/2014/main" id="{7DE022AF-2FF8-44A6-BB8F-EC2DA9D17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449336"/>
            <a:ext cx="1943100" cy="1276350"/>
          </a:xfrm>
          <a:prstGeom xmlns:a="http://schemas.openxmlformats.org/drawingml/2006/main" prst="roundRect">
            <a:avLst>
              <a:gd name="adj" fmla="val 10448"/>
            </a:avLst>
          </a:prstGeom>
          <a:solidFill xmlns:a="http://schemas.openxmlformats.org/drawingml/2006/main">
            <a:srgbClr val="F4E8E1"/>
          </a:solidFill>
          <a:ln xmlns:a="http://schemas.openxmlformats.org/drawingml/2006/main" w="13335">
            <a:solidFill>
              <a:srgbClr val="B86143"/>
            </a:solidFill>
            <a:prstDash val="solid"/>
          </a:ln>
        </p:spPr>
        <p:txBody>
          <a:bodyPr xmlns:a="http://schemas.openxmlformats.org/drawingml/2006/main" wrap="square" lIns="114300" tIns="95250" rIns="11430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B8614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B86143"/>
                </a:solidFill>
                <a:latin typeface="Arial"/>
                <a:ea typeface="Arial"/>
                <a:cs typeface="Arial"/>
              </a:rPr>
              <a:t>RANKED RESULTS</a:t>
            </a:r>
          </a:p>
        </p:txBody>
      </p:sp>
      <p:cxnSp>
        <p:nvCxnSpPr>
          <p:cNvPr id="133" name="直接箭头连接符 44"/>
          <p:cNvCxnSpPr>
            <a:stCxn xmlns:a="http://schemas.openxmlformats.org/drawingml/2006/main" id="9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5962650" y="4086225"/>
            <a:ext cx="762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F806B"/>
            </a:solidFill>
            <a:prstDash val="solid"/>
            <a:tailEnd type="arrow" w="sm" len="sm"/>
          </a:ln>
        </p:spPr>
      </p:cxnSp>
      <p:cxnSp>
        <p:nvCxnSpPr>
          <p:cNvPr id="134" name="直接箭头连接符 45"/>
          <p:cNvCxnSpPr>
            <a:stCxn xmlns:a="http://schemas.openxmlformats.org/drawingml/2006/main" id="19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8991600" y="4086225"/>
            <a:ext cx="590550" cy="1286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B86143"/>
            </a:solidFill>
            <a:prstDash val="solid"/>
            <a:tailEnd type="arrow" w="sm" len="sm"/>
          </a:ln>
        </p:spPr>
      </p:cxnSp>
      <p:sp>
        <p:nvSpPr>
          <p:cNvPr id="23" name="矩形: 圆角 22">
            <a:extLst xmlns:a="http://schemas.openxmlformats.org/drawingml/2006/main">
              <a:ext uri="{FF2B5EF4-FFF2-40B4-BE49-F238E27FC236}">
                <a16:creationId xmlns:a16="http://schemas.microsoft.com/office/drawing/2014/main" id="{FF9AD598-DE59-4A7A-B349-03A9D8969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24500"/>
            <a:ext cx="5219700" cy="685800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F0F1EE"/>
          </a:solidFill>
          <a:ln xmlns:a="http://schemas.openxmlformats.org/drawingml/2006/main" w="9525">
            <a:solidFill>
              <a:srgbClr val="D8DDD9"/>
            </a:solidFill>
            <a:prstDash val="solid"/>
          </a:ln>
        </p:spPr>
        <p:txBody>
          <a:bodyPr xmlns:a="http://schemas.openxmlformats.org/drawingml/2006/main" wrap="square" lIns="152400" tIns="104775" rIns="152400" bIns="9525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67174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667174"/>
                </a:solidFill>
                <a:latin typeface="Arial"/>
                <a:ea typeface="Arial"/>
                <a:cs typeface="Arial"/>
              </a:rPr>
              <a:t>HardFilterPipeline.java · lines 16–34</a:t>
            </a:r>
            <a:endParaRPr sz="1350" b="0">
              <a:solidFill>
                <a:srgbClr val="667174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" name="矩形: 圆角 23">
            <a:extLst xmlns:a="http://schemas.openxmlformats.org/drawingml/2006/main">
              <a:ext uri="{FF2B5EF4-FFF2-40B4-BE49-F238E27FC236}">
                <a16:creationId xmlns:a16="http://schemas.microsoft.com/office/drawing/2014/main" id="{59F18F94-AA8C-4FAD-BD46-29DE2EB90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524500"/>
            <a:ext cx="5238750" cy="685800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F0F1EE"/>
          </a:solidFill>
          <a:ln xmlns:a="http://schemas.openxmlformats.org/drawingml/2006/main" w="9525">
            <a:solidFill>
              <a:srgbClr val="D8DDD9"/>
            </a:solidFill>
            <a:prstDash val="solid"/>
          </a:ln>
        </p:spPr>
        <p:txBody>
          <a:bodyPr xmlns:a="http://schemas.openxmlformats.org/drawingml/2006/main" wrap="square" lIns="152400" tIns="104775" rIns="152400" bIns="952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6717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174"/>
                </a:solidFill>
                <a:latin typeface="Arial"/>
                <a:ea typeface="Arial"/>
                <a:cs typeface="Arial"/>
              </a:rPr>
              <a:t>A prediction never overrides a hard constraint.</a:t>
            </a:r>
          </a:p>
        </p:txBody>
      </p:sp>
    </p:spTree>
    <p:extLst>
      <p:ext uri="{BB962C8B-B14F-4D97-AF65-F5344CB8AC3E}">
        <p14:creationId xmlns:p14="http://schemas.microsoft.com/office/powerpoint/2010/main" val="1393030118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16FAB31-39A7-4C71-B717-A82ECC3D6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AE2B012-F29F-4E55-8F90-F564181C2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90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0E3B6E9-48E7-40E2-8729-279A10E06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7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Ranking learns from evidence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6913DE3-9CAA-4BB6-B44D-D4AEF4AF2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024128"/>
            <a:ext cx="12801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90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ECA6266-AF96-453E-8227-7C3A2477B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FoodMind · Team 5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8B3B2A2-BE76-4BBD-BDBF-091314861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73952"/>
            <a:ext cx="731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pic>
        <p:nvPicPr>
          <p:cNvPr id="17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07757012d7400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77529" y="1234440"/>
            <a:ext cx="10406461" cy="2468880"/>
          </a:xfrm>
          <a:prstGeom xmlns:a="http://schemas.openxmlformats.org/drawingml/2006/main" prst="rect">
            <a:avLst/>
          </a:prstGeom>
        </p:spPr>
      </p:pic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10029FC-C3DA-41FF-85F7-153BF0691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977639"/>
            <a:ext cx="10515600" cy="2194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200">
                <a:solidFill>
                  <a:srgbClr val="24313A"/>
                </a:solidFill>
              </a:defRPr>
            </a:pPr>
            <a:r>
              <a:rPr sz="1200" b="1" i="0">
                <a:solidFill>
                  <a:srgbClr val="24313A"/>
                </a:solidFill>
                <a:latin typeface="Calibri"/>
                <a:ea typeface="Calibri"/>
                <a:cs typeface="Calibri"/>
              </a:rPr>
              <a:t>model = NumpyLogisticRegression()</a:t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200">
                <a:solidFill>
                  <a:srgbClr val="24313A"/>
                </a:solidFill>
              </a:defRPr>
            </a:pPr>
            <a:r>
              <a:rPr sz="1200" b="1" i="0">
                <a:solidFill>
                  <a:srgbClr val="24313A"/>
                </a:solidFill>
                <a:latin typeface="Calibri"/>
                <a:ea typeface="Calibri"/>
                <a:cs typeface="Calibri"/>
              </a:rPr>
              <a:t>model.fit(x_train, y_train)</a:t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200">
                <a:solidFill>
                  <a:srgbClr val="24313A"/>
                </a:solidFill>
              </a:defRPr>
            </a:pPr>
            <a:r>
              <a:rPr sz="1200" b="1" i="0">
                <a:solidFill>
                  <a:srgbClr val="24313A"/>
                </a:solidFill>
                <a:latin typeface="Calibri"/>
                <a:ea typeface="Calibri"/>
                <a:cs typeface="Calibri"/>
              </a:rPr>
              <a:t>Features combine UserCF, ItemCF, preference, context, price, distance and history. Availability flags keep missing collaborative signals neutral.</a:t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200">
                <a:solidFill>
                  <a:srgbClr val="24313A"/>
                </a:solidFill>
              </a:defRPr>
            </a:pPr>
            <a:r>
              <a:rPr sz="1200" b="1" i="0">
                <a:solidFill>
                  <a:srgbClr val="24313A"/>
                </a:solidFill>
                <a:latin typeface="Calibri"/>
                <a:ea typeface="Calibri"/>
                <a:cs typeface="Calibri"/>
              </a:rPr>
              <a:t>The returned score ranks safe candidates; verified reason codes—not the score—explain the result.</a:t>
            </a:r>
          </a:p>
        </p:txBody>
      </p:sp>
    </p:spTree>
    <p:extLst>
      <p:ext uri="{BB962C8B-B14F-4D97-AF65-F5344CB8AC3E}">
        <p14:creationId xmlns:p14="http://schemas.microsoft.com/office/powerpoint/2010/main" val="177258512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C66C149-1244-4B41-9A20-627C982FE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9BA9CBE-FBB9-483C-B816-DD3148703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90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83E8EAC-1F90-44D5-8326-D836E0AA8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7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What the current evidence can—and cannot—say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6BADF56-5940-434A-B7FF-9DCA50729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024128"/>
            <a:ext cx="12801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90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421BA7F-75C0-4969-BC86-369926C08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FoodMind · Team 5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3E81156-3A47-4B82-87B1-72AFE6E0C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73952"/>
            <a:ext cx="731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  <p:graphicFrame>
        <p:nvGraphicFramePr>
          <p:cNvPr id="18" name="Table 7"/>
          <p:cNvGraphicFramePr/>
          <p:nvPr/>
        </p:nvGraphicFramePr>
        <p:xfrm>
          <a:off xmlns:a="http://schemas.openxmlformats.org/drawingml/2006/main" x="502920" y="1371600"/>
          <a:ext xmlns:a="http://schemas.openxmlformats.org/drawingml/2006/main" cx="7498080" cy="3108960"/>
        </p:xfrm>
        <a:graphic xmlns:a="http://schemas.openxmlformats.org/drawingml/2006/main"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828800"/>
                <a:gridCol w="1828800"/>
                <a:gridCol w="1920240"/>
                <a:gridCol w="1920240"/>
              </a:tblGrid>
              <a:tr h="5181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Metric</a:t>
                      </a:r>
                    </a:p>
                  </a:txBody>
                  <a:tcPr marL="91440" marR="91440" marT="38100" marB="38100">
                    <a:solidFill>
                      <a:srgbClr val="E8590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Majority (val)</a:t>
                      </a:r>
                    </a:p>
                  </a:txBody>
                  <a:tcPr marL="91440" marR="91440" marT="38100" marB="38100">
                    <a:solidFill>
                      <a:srgbClr val="E8590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Hybrid LR (val)</a:t>
                      </a:r>
                    </a:p>
                  </a:txBody>
                  <a:tcPr marL="91440" marR="91440" marT="38100" marB="38100">
                    <a:solidFill>
                      <a:srgbClr val="E8590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Hybrid LR (test)</a:t>
                      </a:r>
                    </a:p>
                  </a:txBody>
                  <a:tcPr marL="91440" marR="91440" marT="38100" marB="38100">
                    <a:solidFill>
                      <a:srgbClr val="E8590C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Accuracy</a:t>
                      </a:r>
                    </a:p>
                  </a:txBody>
                  <a:tcPr marL="91440" marR="9144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0.9925</a:t>
                      </a:r>
                    </a:p>
                  </a:txBody>
                  <a:tcPr marL="91440" marR="9144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0.9925</a:t>
                      </a:r>
                    </a:p>
                  </a:txBody>
                  <a:tcPr marL="91440" marR="9144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0.9815</a:t>
                      </a:r>
                    </a:p>
                  </a:txBody>
                  <a:tcPr marL="91440" marR="91440" marT="25400" marB="25400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Precision</a:t>
                      </a:r>
                    </a:p>
                  </a:txBody>
                  <a:tcPr marL="91440" marR="91440" marT="25400" marB="254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0.9925</a:t>
                      </a:r>
                    </a:p>
                  </a:txBody>
                  <a:tcPr marL="91440" marR="91440" marT="25400" marB="254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0.9925</a:t>
                      </a:r>
                    </a:p>
                  </a:txBody>
                  <a:tcPr marL="91440" marR="91440" marT="25400" marB="254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0.9815</a:t>
                      </a:r>
                    </a:p>
                  </a:txBody>
                  <a:tcPr marL="91440" marR="91440" marT="25400" marB="25400">
                    <a:solidFill>
                      <a:srgbClr val="F3F4F6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Recall</a:t>
                      </a:r>
                    </a:p>
                  </a:txBody>
                  <a:tcPr marL="91440" marR="9144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1.0000</a:t>
                      </a:r>
                    </a:p>
                  </a:txBody>
                  <a:tcPr marL="91440" marR="9144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1.0000</a:t>
                      </a:r>
                    </a:p>
                  </a:txBody>
                  <a:tcPr marL="91440" marR="9144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1.0000</a:t>
                      </a:r>
                    </a:p>
                  </a:txBody>
                  <a:tcPr marL="91440" marR="91440" marT="25400" marB="25400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F1</a:t>
                      </a:r>
                    </a:p>
                  </a:txBody>
                  <a:tcPr marL="91440" marR="91440" marT="25400" marB="254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0.9962</a:t>
                      </a:r>
                    </a:p>
                  </a:txBody>
                  <a:tcPr marL="91440" marR="91440" marT="25400" marB="254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0.9962</a:t>
                      </a:r>
                    </a:p>
                  </a:txBody>
                  <a:tcPr marL="91440" marR="91440" marT="25400" marB="254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0.9907</a:t>
                      </a:r>
                    </a:p>
                  </a:txBody>
                  <a:tcPr marL="91440" marR="91440" marT="25400" marB="25400">
                    <a:solidFill>
                      <a:srgbClr val="F3F4F6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ROC-AUC</a:t>
                      </a:r>
                    </a:p>
                  </a:txBody>
                  <a:tcPr marL="91440" marR="9144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0.5000</a:t>
                      </a:r>
                    </a:p>
                  </a:txBody>
                  <a:tcPr marL="91440" marR="9144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0.5568</a:t>
                      </a:r>
                    </a:p>
                  </a:txBody>
                  <a:tcPr marL="91440" marR="9144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0.8068</a:t>
                      </a:r>
                    </a:p>
                  </a:txBody>
                  <a:tcPr marL="91440" marR="9144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7273CDD-7685-4211-BDE7-00974F3A9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1371600"/>
            <a:ext cx="3383280" cy="3108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Offline experiment</a:t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3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Train: 48,379 rows</a:t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3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Validation: 266 rows</a:t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3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Test: 270 rows</a:t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3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19 engineered features</a:t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100" b="0" i="1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100" b="0" i="1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Food.com source summary</a:t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100" b="0" i="1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231,637 recipes · 538,139 interactions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84F5E12-5D9C-4F7D-AB7D-6038924BF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663440"/>
            <a:ext cx="1115568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500" b="1" i="0">
                <a:solidFill>
                  <a:srgbClr val="C44607"/>
                </a:solidFill>
                <a:latin typeface="Calibri"/>
                <a:ea typeface="Calibri"/>
                <a:cs typeface="Calibri"/>
              </a:rPr>
              <a:t>Project-stage candidate, not production-validated.</a:t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3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3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The label distribution is strongly positive; validation has no true negatives. Report ROC-AUC beside accuracy, and retain deterministic preference/context fallback for cold start or unavailable collaborative signals.</a:t>
            </a:r>
          </a:p>
        </p:txBody>
      </p:sp>
    </p:spTree>
    <p:extLst>
      <p:ext uri="{BB962C8B-B14F-4D97-AF65-F5344CB8AC3E}">
        <p14:creationId xmlns:p14="http://schemas.microsoft.com/office/powerpoint/2010/main" val="614053845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文本框 1">
            <a:extLst xmlns:a="http://schemas.openxmlformats.org/drawingml/2006/main">
              <a:ext uri="{FF2B5EF4-FFF2-40B4-BE49-F238E27FC236}">
                <a16:creationId xmlns:a16="http://schemas.microsoft.com/office/drawing/2014/main" id="{22B6D802-FCC3-89BF-4160-CE30FA945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3896" y="2921168"/>
            <a:ext cx="2024208" cy="10156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6000"/>
              <a:t>Bounded agents</a:t>
            </a:r>
            <a:endParaRPr sz="6000"/>
          </a:p>
        </p:txBody>
      </p:sp>
    </p:spTree>
    <p:extLst>
      <p:ext uri="{BB962C8B-B14F-4D97-AF65-F5344CB8AC3E}">
        <p14:creationId xmlns:p14="http://schemas.microsoft.com/office/powerpoint/2010/main" val="1287027358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6B956062-6872-41BE-9D6C-5CF227C92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666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B5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4ED1C83C-7EF4-4EF0-8AC1-E96BD87B9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720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450" b="1" i="0">
                <a:solidFill>
                  <a:srgbClr val="192526"/>
                </a:solidFill>
                <a:latin typeface="Arial"/>
                <a:ea typeface="Arial"/>
                <a:cs typeface="Arial"/>
              </a:defRPr>
            </a:pPr>
            <a:r>
              <a:rPr sz="4800" b="1" i="0">
                <a:solidFill>
                  <a:srgbClr val="192526"/>
                </a:solidFill>
                <a:latin typeface="Arial"/>
                <a:ea typeface="Arial"/>
                <a:cs typeface="Arial"/>
              </a:rPr>
              <a:t>One fixed graph. One scoring call.</a:t>
            </a:r>
            <a:endParaRPr sz="3450" b="1" i="0">
              <a:solidFill>
                <a:srgbClr val="19252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直接连接符 2">
            <a:extLst xmlns:a="http://schemas.openxmlformats.org/drawingml/2006/main">
              <a:ext uri="{FF2B5EF4-FFF2-40B4-BE49-F238E27FC236}">
                <a16:creationId xmlns:a16="http://schemas.microsoft.com/office/drawing/2014/main" id="{A341B89E-F124-426E-A5F9-B5AFBBA3E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D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EC0E0A4C-F0D9-46E6-B046-A8537669B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67174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67174"/>
                </a:solidFill>
                <a:latin typeface="Arial"/>
                <a:ea typeface="Arial"/>
                <a:cs typeface="Arial"/>
              </a:rPr>
              <a:t>FOODMIND  •  TEAM 5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5CD27802-8175-4425-9FE4-0C8AE9E99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667174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174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9352B7F0-DFF8-4F9D-8DB0-4E665B91A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70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356B56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356B5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4FDCAFDD-857B-4537-B17A-7D0A76A98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3028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667174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667174"/>
                </a:solidFill>
                <a:latin typeface="Arial"/>
                <a:ea typeface="Arial"/>
                <a:cs typeface="Arial"/>
              </a:rPr>
              <a:t>RECOMMENDATION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ECDF3DD6-B010-49CC-BF4F-F385485C6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955" y="2838450"/>
            <a:ext cx="382279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192526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192526"/>
                </a:solidFill>
                <a:latin typeface="Arial"/>
                <a:ea typeface="Arial"/>
                <a:cs typeface="Arial"/>
              </a:rPr>
              <a:t>Validate → score once → select</a:t>
            </a:r>
            <a:endParaRPr sz="2100" b="1" i="0">
              <a:solidFill>
                <a:srgbClr val="19252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787C9841-FF88-4D4E-AA6C-8A193C472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52800"/>
            <a:ext cx="314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667174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667174"/>
                </a:solidFill>
                <a:latin typeface="Arial"/>
                <a:ea typeface="Arial"/>
                <a:cs typeface="Arial"/>
              </a:rPr>
              <a:t>A fixed acyclic graph produces up to three ordered results.</a:t>
            </a:r>
          </a:p>
        </p:txBody>
      </p:sp>
      <p:sp>
        <p:nvSpPr>
          <p:cNvPr id="10" name="直接连接符 9">
            <a:extLst xmlns:a="http://schemas.openxmlformats.org/drawingml/2006/main">
              <a:ext uri="{FF2B5EF4-FFF2-40B4-BE49-F238E27FC236}">
                <a16:creationId xmlns:a16="http://schemas.microsoft.com/office/drawing/2014/main" id="{1C56C701-8F82-47CD-BDD7-ED96EB72B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60020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D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直接连接符 10">
            <a:extLst xmlns:a="http://schemas.openxmlformats.org/drawingml/2006/main">
              <a:ext uri="{FF2B5EF4-FFF2-40B4-BE49-F238E27FC236}">
                <a16:creationId xmlns:a16="http://schemas.microsoft.com/office/drawing/2014/main" id="{2D84C2BF-56E8-4F78-9260-8D7216B8A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600200"/>
            <a:ext cx="0" cy="3810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8DD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D125D16E-14AC-4F58-A313-9B437B19D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676400"/>
            <a:ext cx="70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356B56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356B5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A4B7B59B-775D-4C90-AB48-7B4D31F8B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2669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667174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667174"/>
                </a:solidFill>
                <a:latin typeface="Arial"/>
                <a:ea typeface="Arial"/>
                <a:cs typeface="Arial"/>
              </a:rPr>
              <a:t>COOKING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CFA48AD0-07F9-423D-9CDB-C34041D9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838450"/>
            <a:ext cx="314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192526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192526"/>
                </a:solidFill>
                <a:latin typeface="Arial"/>
                <a:ea typeface="Arial"/>
                <a:cs typeface="Arial"/>
              </a:rPr>
              <a:t>Controlled recipe planning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645B9F1-427D-473B-89A2-6C7551973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619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667174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667174"/>
                </a:solidFill>
                <a:latin typeface="Arial"/>
                <a:ea typeface="Arial"/>
                <a:cs typeface="Arial"/>
              </a:rPr>
              <a:t>Manual/authorised inputs; time, budget and dietary rules are validated.</a:t>
            </a:r>
          </a:p>
        </p:txBody>
      </p:sp>
      <p:sp>
        <p:nvSpPr>
          <p:cNvPr id="16" name="直接连接符 15">
            <a:extLst xmlns:a="http://schemas.openxmlformats.org/drawingml/2006/main">
              <a:ext uri="{FF2B5EF4-FFF2-40B4-BE49-F238E27FC236}">
                <a16:creationId xmlns:a16="http://schemas.microsoft.com/office/drawing/2014/main" id="{F7CB57B3-C620-473C-8229-D4D3BFD6B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600200"/>
            <a:ext cx="0" cy="3810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8DD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DA73F909-54A6-4C1A-AC4B-014176F33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76400"/>
            <a:ext cx="70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25" b="1" i="0">
                <a:solidFill>
                  <a:srgbClr val="B86143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B86143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BAB93A56-DB33-4691-A7A1-B4EF2202A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669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667174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667174"/>
                </a:solidFill>
                <a:latin typeface="Arial"/>
                <a:ea typeface="Arial"/>
                <a:cs typeface="Arial"/>
              </a:rPr>
              <a:t>CHATBOT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8CB6E57B-BBC5-4764-8E29-F4C92174A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3845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 i="0">
                <a:solidFill>
                  <a:srgbClr val="192526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192526"/>
                </a:solidFill>
                <a:latin typeface="Arial"/>
                <a:ea typeface="Arial"/>
                <a:cs typeface="Arial"/>
              </a:rPr>
              <a:t>Grounded search and summary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647C0D22-9731-46D7-9108-06E9A3AE4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390900"/>
            <a:ext cx="314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725" b="1" i="0">
                <a:solidFill>
                  <a:srgbClr val="356B56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356B56"/>
                </a:solidFill>
                <a:latin typeface="Arial"/>
                <a:ea typeface="Arial"/>
                <a:cs typeface="Arial"/>
              </a:rPr>
              <a:t>Allow-listed backend tools only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72A8EB44-5E42-421D-B89D-6823AA8C8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3624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667174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67174"/>
                </a:solidFill>
                <a:latin typeface="Arial"/>
                <a:ea typeface="Arial"/>
                <a:cs typeface="Arial"/>
              </a:rPr>
              <a:t>No direct database or public-web access.</a:t>
            </a:r>
          </a:p>
        </p:txBody>
      </p:sp>
      <p:sp>
        <p:nvSpPr>
          <p:cNvPr id="22" name="矩形: 圆角 21">
            <a:extLst xmlns:a="http://schemas.openxmlformats.org/drawingml/2006/main">
              <a:ext uri="{FF2B5EF4-FFF2-40B4-BE49-F238E27FC236}">
                <a16:creationId xmlns:a16="http://schemas.microsoft.com/office/drawing/2014/main" id="{961C28F3-AD1E-4910-AAE4-66563CF2B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476875"/>
            <a:ext cx="90678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7F0EB"/>
          </a:solidFill>
          <a:ln xmlns:a="http://schemas.openxmlformats.org/drawingml/2006/main" w="10478">
            <a:solidFill>
              <a:srgbClr val="4F806B"/>
            </a:solidFill>
            <a:prstDash val="solid"/>
          </a:ln>
        </p:spPr>
        <p:txBody>
          <a:bodyPr xmlns:a="http://schemas.openxmlformats.org/drawingml/2006/main" wrap="square" lIns="114300" tIns="95250" rIns="11430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1D514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D5146"/>
                </a:solidFill>
                <a:latin typeface="Arial"/>
                <a:ea typeface="Arial"/>
                <a:cs typeface="Arial"/>
              </a:rPr>
              <a:t>graph.add_edge(START, "validate_envelope")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1D514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D5146"/>
                </a:solidFill>
                <a:latin typeface="Arial"/>
                <a:ea typeface="Arial"/>
                <a:cs typeface="Arial"/>
              </a:rPr>
              <a:t>… validate → score_once → select_results → reasons → response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1D514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D5146"/>
                </a:solidFill>
                <a:latin typeface="Arial"/>
                <a:ea typeface="Arial"/>
                <a:cs typeface="Arial"/>
              </a:rPr>
              <a:t>MAX_WORKFLOW_STEPS = 8</a:t>
            </a:r>
          </a:p>
        </p:txBody>
      </p:sp>
    </p:spTree>
    <p:extLst>
      <p:ext uri="{BB962C8B-B14F-4D97-AF65-F5344CB8AC3E}">
        <p14:creationId xmlns:p14="http://schemas.microsoft.com/office/powerpoint/2010/main" val="584264589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63764AD-342B-461F-B4EB-0CFBC9AD8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3434A62-9779-4C94-B39B-7A39AD38F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90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801E650-A980-4A66-9D76-20DAB595D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7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Every AI response remains accountable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BF10311-A9E2-4B81-AFDC-0F97416B7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024128"/>
            <a:ext cx="12801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90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0A63753-ED1B-4A38-BB42-EA56A84CA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FoodMind · Team 5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731E846-AFB6-4F57-8276-68A34197E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73952"/>
            <a:ext cx="731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>
        <p:nvPicPr>
          <p:cNvPr id="17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953f42c6c74f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65934" y="1188720"/>
            <a:ext cx="5829651" cy="3383280"/>
          </a:xfrm>
          <a:prstGeom xmlns:a="http://schemas.openxmlformats.org/drawingml/2006/main" prst="rect">
            <a:avLst/>
          </a:prstGeom>
        </p:spPr>
      </p:pic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E824F7E-47A7-4DAC-9494-A0E8BDCF0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754880"/>
            <a:ext cx="10515600" cy="1676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200">
                <a:solidFill>
                  <a:srgbClr val="24313A"/>
                </a:solidFill>
              </a:defRPr>
            </a:pPr>
            <a:r>
              <a:rPr sz="1200" b="1" i="0">
                <a:solidFill>
                  <a:srgbClr val="24313A"/>
                </a:solidFill>
                <a:latin typeface="Calibri"/>
                <a:ea typeface="Calibri"/>
                <a:cs typeface="Calibri"/>
              </a:rPr>
              <a:t>The Agent receives only backend-authorised context, calls private inference once, derives verified reason codes, and returns a schema-validated response.</a:t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200">
                <a:solidFill>
                  <a:srgbClr val="24313A"/>
                </a:solidFill>
              </a:defRPr>
            </a:pPr>
            <a:r>
              <a:rPr sz="1200" b="1" i="0">
                <a:solidFill>
                  <a:srgbClr val="24313A"/>
                </a:solidFill>
                <a:latin typeface="Calibri"/>
                <a:ea typeface="Calibri"/>
                <a:cs typeface="Calibri"/>
              </a:rPr>
              <a:t>if outputs exceed the request candidates → reject</a:t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200">
                <a:solidFill>
                  <a:srgbClr val="24313A"/>
                </a:solidFill>
              </a:defRPr>
            </a:pPr>
            <a:r>
              <a:rPr sz="1200" b="1" i="0">
                <a:solidFill>
                  <a:srgbClr val="24313A"/>
                </a:solidFill>
                <a:latin typeface="Calibri"/>
                <a:ea typeface="Calibri"/>
                <a:cs typeface="Calibri"/>
              </a:rPr>
              <a:t>if the workflow exceeds its deadline → return a bounded failure</a:t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200">
                <a:solidFill>
                  <a:srgbClr val="24313A"/>
                </a:solidFill>
              </a:defRPr>
            </a:pPr>
            <a:r>
              <a:rPr sz="1200" b="1" i="0">
                <a:solidFill>
                  <a:srgbClr val="24313A"/>
                </a:solidFill>
                <a:latin typeface="Calibri"/>
                <a:ea typeface="Calibri"/>
                <a:cs typeface="Calibri"/>
              </a:rPr>
              <a:t>if an internal result is invalid → Backend applies deterministic fallback</a:t>
            </a:r>
          </a:p>
        </p:txBody>
      </p:sp>
    </p:spTree>
    <p:extLst>
      <p:ext uri="{BB962C8B-B14F-4D97-AF65-F5344CB8AC3E}">
        <p14:creationId xmlns:p14="http://schemas.microsoft.com/office/powerpoint/2010/main" val="1401700924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文本框 1">
            <a:extLst xmlns:a="http://schemas.openxmlformats.org/drawingml/2006/main">
              <a:ext uri="{FF2B5EF4-FFF2-40B4-BE49-F238E27FC236}">
                <a16:creationId xmlns:a16="http://schemas.microsoft.com/office/drawing/2014/main" id="{9E150775-A748-54F6-3925-5770DB493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9589" y="2921168"/>
            <a:ext cx="2812821" cy="10156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6000"/>
              <a:t>The system of record</a:t>
            </a:r>
            <a:endParaRPr sz="6000"/>
          </a:p>
        </p:txBody>
      </p:sp>
    </p:spTree>
    <p:extLst>
      <p:ext uri="{BB962C8B-B14F-4D97-AF65-F5344CB8AC3E}">
        <p14:creationId xmlns:p14="http://schemas.microsoft.com/office/powerpoint/2010/main" val="1274716055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文本框 1">
            <a:extLst xmlns:a="http://schemas.openxmlformats.org/drawingml/2006/main">
              <a:ext uri="{FF2B5EF4-FFF2-40B4-BE49-F238E27FC236}">
                <a16:creationId xmlns:a16="http://schemas.microsoft.com/office/drawing/2014/main" id="{BA4EDAA5-983B-5BE6-68EF-615544E2D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573" y="2921168"/>
            <a:ext cx="5648854" cy="10156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6000"/>
              <a:t>Backend orchestration</a:t>
            </a:r>
            <a:endParaRPr sz="6000"/>
          </a:p>
        </p:txBody>
      </p:sp>
    </p:spTree>
    <p:extLst>
      <p:ext uri="{BB962C8B-B14F-4D97-AF65-F5344CB8AC3E}">
        <p14:creationId xmlns:p14="http://schemas.microsoft.com/office/powerpoint/2010/main" val="1067809807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46691D2B-365E-4B32-B199-68D5AC014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666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B5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6A6D6418-72D1-4ACA-9566-EF14A145E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720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450" b="1" i="0">
                <a:solidFill>
                  <a:srgbClr val="192526"/>
                </a:solidFill>
                <a:latin typeface="Arial"/>
                <a:ea typeface="Arial"/>
                <a:cs typeface="Arial"/>
              </a:defRPr>
            </a:pPr>
            <a:r>
              <a:rPr sz="4800" b="1" i="0">
                <a:solidFill>
                  <a:srgbClr val="192526"/>
                </a:solidFill>
                <a:latin typeface="Arial"/>
                <a:ea typeface="Arial"/>
                <a:cs typeface="Arial"/>
              </a:rPr>
              <a:t>One contract. Two clients.</a:t>
            </a:r>
            <a:endParaRPr sz="3450" b="1" i="0">
              <a:solidFill>
                <a:srgbClr val="19252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直接连接符 2">
            <a:extLst xmlns:a="http://schemas.openxmlformats.org/drawingml/2006/main">
              <a:ext uri="{FF2B5EF4-FFF2-40B4-BE49-F238E27FC236}">
                <a16:creationId xmlns:a16="http://schemas.microsoft.com/office/drawing/2014/main" id="{A358C5DE-9DE2-4F54-BCA5-486A439C8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D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D7E00DD6-8B21-4D48-A084-6262D2EBB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67174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67174"/>
                </a:solidFill>
                <a:latin typeface="Arial"/>
                <a:ea typeface="Arial"/>
                <a:cs typeface="Arial"/>
              </a:rPr>
              <a:t>FOODMIND  •  TEAM 5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FBF24911-4A84-4D76-BEAD-10152BE0D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 i="0">
                <a:solidFill>
                  <a:srgbClr val="667174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174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6" name="矩形: 圆角 5">
            <a:extLst xmlns:a="http://schemas.openxmlformats.org/drawingml/2006/main">
              <a:ext uri="{FF2B5EF4-FFF2-40B4-BE49-F238E27FC236}">
                <a16:creationId xmlns:a16="http://schemas.microsoft.com/office/drawing/2014/main" id="{63484CC2-7A61-4C55-968B-0A70A0D29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52600"/>
            <a:ext cx="2057400" cy="914400"/>
          </a:xfrm>
          <a:prstGeom xmlns:a="http://schemas.openxmlformats.org/drawingml/2006/main" prst="roundRect">
            <a:avLst>
              <a:gd name="adj" fmla="val 145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D8DDD9"/>
            </a:solidFill>
            <a:prstDash val="solid"/>
          </a:ln>
        </p:spPr>
        <p:txBody>
          <a:bodyPr xmlns:a="http://schemas.openxmlformats.org/drawingml/2006/main" wrap="square" lIns="114300" tIns="95250" rIns="11430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9252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92526"/>
                </a:solidFill>
                <a:latin typeface="Arial"/>
                <a:ea typeface="Arial"/>
                <a:cs typeface="Arial"/>
              </a:rPr>
              <a:t>Android · Kotlin + Compose</a:t>
            </a:r>
          </a:p>
        </p:txBody>
      </p:sp>
      <p:sp>
        <p:nvSpPr>
          <p:cNvPr id="7" name="矩形: 圆角 6">
            <a:extLst xmlns:a="http://schemas.openxmlformats.org/drawingml/2006/main">
              <a:ext uri="{FF2B5EF4-FFF2-40B4-BE49-F238E27FC236}">
                <a16:creationId xmlns:a16="http://schemas.microsoft.com/office/drawing/2014/main" id="{10373676-D6D3-46B4-8150-DEBA5D475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67050"/>
            <a:ext cx="2057400" cy="914400"/>
          </a:xfrm>
          <a:prstGeom xmlns:a="http://schemas.openxmlformats.org/drawingml/2006/main" prst="roundRect">
            <a:avLst>
              <a:gd name="adj" fmla="val 145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D8DDD9"/>
            </a:solidFill>
            <a:prstDash val="solid"/>
          </a:ln>
        </p:spPr>
        <p:txBody>
          <a:bodyPr xmlns:a="http://schemas.openxmlformats.org/drawingml/2006/main" wrap="square" lIns="114300" tIns="95250" rIns="11430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9252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92526"/>
                </a:solidFill>
                <a:latin typeface="Arial"/>
                <a:ea typeface="Arial"/>
                <a:cs typeface="Arial"/>
              </a:rPr>
              <a:t>Web · React + TypeScript</a:t>
            </a:r>
          </a:p>
        </p:txBody>
      </p:sp>
      <p:sp>
        <p:nvSpPr>
          <p:cNvPr id="8" name="矩形: 圆角 7">
            <a:extLst xmlns:a="http://schemas.openxmlformats.org/drawingml/2006/main">
              <a:ext uri="{FF2B5EF4-FFF2-40B4-BE49-F238E27FC236}">
                <a16:creationId xmlns:a16="http://schemas.microsoft.com/office/drawing/2014/main" id="{7F77626D-5472-45E5-ACC7-878C365DD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209800"/>
            <a:ext cx="3238500" cy="1390650"/>
          </a:xfrm>
          <a:prstGeom xmlns:a="http://schemas.openxmlformats.org/drawingml/2006/main" prst="roundRect">
            <a:avLst>
              <a:gd name="adj" fmla="val 9589"/>
            </a:avLst>
          </a:prstGeom>
          <a:solidFill xmlns:a="http://schemas.openxmlformats.org/drawingml/2006/main">
            <a:srgbClr val="E7F0EB"/>
          </a:solidFill>
          <a:ln xmlns:a="http://schemas.openxmlformats.org/drawingml/2006/main" w="14288">
            <a:solidFill>
              <a:srgbClr val="4F806B"/>
            </a:solidFill>
            <a:prstDash val="solid"/>
          </a:ln>
        </p:spPr>
        <p:txBody>
          <a:bodyPr xmlns:a="http://schemas.openxmlformats.org/drawingml/2006/main" wrap="square" lIns="114300" tIns="95250" rIns="11430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200" b="1">
                <a:solidFill>
                  <a:srgbClr val="1D514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D5146"/>
                </a:solidFill>
                <a:latin typeface="Arial"/>
                <a:ea typeface="Arial"/>
                <a:cs typeface="Arial"/>
              </a:rPr>
              <a:t>Spring Boot /api/v1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200" b="1">
                <a:solidFill>
                  <a:srgbClr val="1D514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D5146"/>
                </a:solidFill>
                <a:latin typeface="Arial"/>
                <a:ea typeface="Arial"/>
                <a:cs typeface="Arial"/>
              </a:rPr>
              <a:t>authorisation · business rules · validation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650" b="1">
                <a:solidFill>
                  <a:srgbClr val="356B5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56B56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200" b="1">
                <a:solidFill>
                  <a:srgbClr val="1D514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D5146"/>
                </a:solidFill>
                <a:latin typeface="Arial"/>
                <a:ea typeface="Arial"/>
                <a:cs typeface="Arial"/>
              </a:rPr>
              <a:t>idempotencyService.begin(...)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200" b="1">
                <a:solidFill>
                  <a:srgbClr val="1D514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D5146"/>
                </a:solidFill>
                <a:latin typeface="Arial"/>
                <a:ea typeface="Arial"/>
                <a:cs typeface="Arial"/>
              </a:rPr>
              <a:t>… validate Agent output …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200" b="1">
                <a:solidFill>
                  <a:srgbClr val="1D514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D5146"/>
                </a:solidFill>
                <a:latin typeface="Arial"/>
                <a:ea typeface="Arial"/>
                <a:cs typeface="Arial"/>
              </a:rPr>
              <a:t>completeWithFallback(...)</a:t>
            </a:r>
          </a:p>
        </p:txBody>
      </p:sp>
      <p:sp>
        <p:nvSpPr>
          <p:cNvPr id="9" name="矩形: 圆角 8">
            <a:extLst xmlns:a="http://schemas.openxmlformats.org/drawingml/2006/main">
              <a:ext uri="{FF2B5EF4-FFF2-40B4-BE49-F238E27FC236}">
                <a16:creationId xmlns:a16="http://schemas.microsoft.com/office/drawing/2014/main" id="{03D1E896-E34C-4A86-95F2-072A8F6B8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600200"/>
            <a:ext cx="3295650" cy="1009650"/>
          </a:xfrm>
          <a:prstGeom xmlns:a="http://schemas.openxmlformats.org/drawingml/2006/main" prst="roundRect">
            <a:avLst>
              <a:gd name="adj" fmla="val 13208"/>
            </a:avLst>
          </a:prstGeom>
          <a:solidFill xmlns:a="http://schemas.openxmlformats.org/drawingml/2006/main">
            <a:srgbClr val="F1F6F3"/>
          </a:solidFill>
          <a:ln xmlns:a="http://schemas.openxmlformats.org/drawingml/2006/main" w="12383">
            <a:solidFill>
              <a:srgbClr val="4F806B"/>
            </a:solidFill>
            <a:prstDash val="solid"/>
          </a:ln>
        </p:spPr>
        <p:txBody>
          <a:bodyPr xmlns:a="http://schemas.openxmlformats.org/drawingml/2006/main" wrap="square" lIns="114300" tIns="95250" rIns="11430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356B5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56B56"/>
                </a:solidFill>
                <a:latin typeface="Arial"/>
                <a:ea typeface="Arial"/>
                <a:cs typeface="Arial"/>
              </a:rPr>
              <a:t>Private FastAPI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356B5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56B56"/>
                </a:solidFill>
                <a:latin typeface="Arial"/>
                <a:ea typeface="Arial"/>
                <a:cs typeface="Arial"/>
              </a:rPr>
              <a:t>Recommendation Agent + inference runtime</a:t>
            </a:r>
          </a:p>
        </p:txBody>
      </p:sp>
      <p:sp>
        <p:nvSpPr>
          <p:cNvPr id="10" name="矩形: 圆角 9">
            <a:extLst xmlns:a="http://schemas.openxmlformats.org/drawingml/2006/main">
              <a:ext uri="{FF2B5EF4-FFF2-40B4-BE49-F238E27FC236}">
                <a16:creationId xmlns:a16="http://schemas.microsoft.com/office/drawing/2014/main" id="{1A330449-D606-4817-89A4-893D94185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3295650" cy="1009650"/>
          </a:xfrm>
          <a:prstGeom xmlns:a="http://schemas.openxmlformats.org/drawingml/2006/main" prst="roundRect">
            <a:avLst>
              <a:gd name="adj" fmla="val 13208"/>
            </a:avLst>
          </a:prstGeom>
          <a:solidFill xmlns:a="http://schemas.openxmlformats.org/drawingml/2006/main">
            <a:srgbClr val="F4E8E1"/>
          </a:solidFill>
          <a:ln xmlns:a="http://schemas.openxmlformats.org/drawingml/2006/main" w="12383">
            <a:solidFill>
              <a:srgbClr val="B86143"/>
            </a:solidFill>
            <a:prstDash val="solid"/>
          </a:ln>
        </p:spPr>
        <p:txBody>
          <a:bodyPr xmlns:a="http://schemas.openxmlformats.org/drawingml/2006/main" wrap="square" lIns="114300" tIns="95250" rIns="114300" bIns="952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B8614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86143"/>
                </a:solidFill>
                <a:latin typeface="Arial"/>
                <a:ea typeface="Arial"/>
                <a:cs typeface="Arial"/>
              </a:rPr>
              <a:t>PostgreSQL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B8614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86143"/>
                </a:solidFill>
                <a:latin typeface="Arial"/>
                <a:ea typeface="Arial"/>
                <a:cs typeface="Arial"/>
              </a:rPr>
              <a:t>records · groups · sessions · feedback</a:t>
            </a:r>
          </a:p>
        </p:txBody>
      </p:sp>
      <p:cxnSp>
        <p:nvCxnSpPr>
          <p:cNvPr id="86" name="连接符: 肘形 29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724150" y="2209800"/>
            <a:ext cx="914400" cy="6953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4F806B"/>
            </a:solidFill>
            <a:prstDash val="solid"/>
            <a:tailEnd type="arrow" w="sm" len="sm"/>
          </a:ln>
        </p:spPr>
      </p:cxnSp>
      <p:cxnSp>
        <p:nvCxnSpPr>
          <p:cNvPr id="87" name="连接符: 肘形 30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 flipV="1">
            <a:off x="2724150" y="2905125"/>
            <a:ext cx="914400" cy="6191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4F806B"/>
            </a:solidFill>
            <a:prstDash val="solid"/>
            <a:tailEnd type="arrow" w="sm" len="sm"/>
          </a:ln>
        </p:spPr>
      </p:cxnSp>
      <p:cxnSp>
        <p:nvCxnSpPr>
          <p:cNvPr id="88" name="连接符: 肘形 31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 flipV="1">
            <a:off x="6877050" y="2105025"/>
            <a:ext cx="933450" cy="8001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4F806B"/>
            </a:solidFill>
            <a:prstDash val="solid"/>
            <a:tailEnd type="arrow" w="sm" len="sm"/>
          </a:ln>
        </p:spPr>
      </p:cxnSp>
      <p:cxnSp>
        <p:nvCxnSpPr>
          <p:cNvPr id="89" name="连接符: 肘形 32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6877050" y="2905125"/>
            <a:ext cx="933450" cy="7620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B86143"/>
            </a:solidFill>
            <a:prstDash val="solid"/>
            <a:tailEnd type="arrow" w="sm" len="sm"/>
          </a:ln>
        </p:spPr>
      </p:cxn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6397FA86-440F-45F2-8D03-B3B7C0813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192526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92526"/>
                </a:solidFill>
                <a:latin typeface="Arial"/>
                <a:ea typeface="Arial"/>
                <a:cs typeface="Arial"/>
              </a:rPr>
              <a:t>Why the boundary matters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B9D5D3AB-411B-4786-A847-A6AA5F538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0"/>
            <a:ext cx="53340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500" b="0" i="0">
                <a:solidFill>
                  <a:srgbClr val="667174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67174"/>
                </a:solidFill>
                <a:latin typeface="Arial"/>
                <a:ea typeface="Arial"/>
                <a:cs typeface="Arial"/>
              </a:rPr>
              <a:t>Only Spring Boot authenticates users, selects authorised context, validates private-service output and persists the safe result.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A30A1EE4-2CA3-47D6-883C-A8D401AAC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7625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192526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92526"/>
                </a:solidFill>
                <a:latin typeface="Arial"/>
                <a:ea typeface="Arial"/>
                <a:cs typeface="Arial"/>
              </a:rPr>
              <a:t>Traceable recovery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CC5091CA-090F-44C8-84B4-59C645802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219700"/>
            <a:ext cx="426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356B56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356B56"/>
                </a:solidFill>
                <a:latin typeface="Arial"/>
                <a:ea typeface="Arial"/>
                <a:cs typeface="Arial"/>
              </a:rPr>
              <a:t>Schema rejection and agent failure resolve to a deterministic, auditable fallback.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C8D86B1E-3B8B-458D-A9F9-E1D2E6020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6197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 i="0">
                <a:solidFill>
                  <a:srgbClr val="1D5146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1D5146"/>
                </a:solidFill>
                <a:latin typeface="Arial"/>
                <a:ea typeface="Arial"/>
                <a:cs typeface="Arial"/>
              </a:rPr>
              <a:t>GenerateRecommendation.java · lines 58–116</a:t>
            </a:r>
          </a:p>
        </p:txBody>
      </p:sp>
    </p:spTree>
    <p:extLst>
      <p:ext uri="{BB962C8B-B14F-4D97-AF65-F5344CB8AC3E}">
        <p14:creationId xmlns:p14="http://schemas.microsoft.com/office/powerpoint/2010/main" val="374037967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80BFF92-B03F-4006-857A-37F1CAA2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60F29D7-5307-4976-BCF1-F11EC1139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90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C4F5221-FB84-4F9C-BF9F-3B68AFA7B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7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Parity is enforced, not assumed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73F3527-D662-45B4-A204-6FBFD2C93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024128"/>
            <a:ext cx="12801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90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B85C304-1F9D-4FE4-B52D-4374F19CC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FoodMind · Team 5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1F17EAA-4A24-40B4-9F9F-C54016413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73952"/>
            <a:ext cx="731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A44672D-57E9-470D-882E-431BE8791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63040"/>
            <a:ext cx="10332720" cy="3657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defRPr sz="1200">
                <a:solidFill>
                  <a:srgbClr val="24313A"/>
                </a:solidFill>
              </a:defRPr>
            </a:pPr>
            <a:r>
              <a:rPr sz="1200" b="1" i="0">
                <a:solidFill>
                  <a:srgbClr val="24313A"/>
                </a:solidFill>
                <a:latin typeface="Calibri"/>
                <a:ea typeface="Calibri"/>
                <a:cs typeface="Calibri"/>
              </a:rPr>
              <a:t>val expected = operations(contractSnapshot)</a:t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defRPr sz="1200">
                <a:solidFill>
                  <a:srgbClr val="24313A"/>
                </a:solidFill>
              </a:defRPr>
            </a:pPr>
            <a:r>
              <a:rPr sz="1200" b="1" i="0">
                <a:solidFill>
                  <a:srgbClr val="24313A"/>
                </a:solidFill>
                <a:latin typeface="Calibri"/>
                <a:ea typeface="Calibri"/>
                <a:cs typeface="Calibri"/>
              </a:rPr>
              <a:t>val missing = expected - actual.toSet()</a:t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defRPr sz="1200">
                <a:solidFill>
                  <a:srgbClr val="24313A"/>
                </a:solidFill>
              </a:defRPr>
            </a:pPr>
            <a:r>
              <a:rPr sz="1200" b="1" i="0">
                <a:solidFill>
                  <a:srgbClr val="24313A"/>
                </a:solidFill>
                <a:latin typeface="Calibri"/>
                <a:ea typeface="Calibri"/>
                <a:cs typeface="Calibri"/>
              </a:rPr>
              <a:t>check(missing.isEmpty() &amp;&amp; extra.isEmpty())</a:t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defRPr sz="1200">
                <a:solidFill>
                  <a:srgbClr val="24313A"/>
                </a:solidFill>
              </a:defRPr>
            </a:pPr>
            <a:r>
              <a:rPr sz="1200" b="1" i="0">
                <a:solidFill>
                  <a:srgbClr val="24313A"/>
                </a:solidFill>
                <a:latin typeface="Calibri"/>
                <a:ea typeface="Calibri"/>
                <a:cs typeface="Calibri"/>
              </a:rPr>
              <a:t>check(expected.size == 84)</a:t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sz="1600" b="1" i="0">
                <a:solidFill>
                  <a:srgbClr val="E8590C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defRPr sz="1200">
                <a:solidFill>
                  <a:srgbClr val="24313A"/>
                </a:solidFill>
              </a:defRPr>
            </a:pPr>
            <a:r>
              <a:rPr sz="1200" b="1" i="0">
                <a:solidFill>
                  <a:srgbClr val="24313A"/>
                </a:solidFill>
                <a:latin typeface="Calibri"/>
                <a:ea typeface="Calibri"/>
                <a:cs typeface="Calibri"/>
              </a:rPr>
              <a:t>The Android build gate verifies every public backend operation is declared exactly once; Web verifies its generated OpenAPI snapshot and usage coverage.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662BC66-4B68-4CEC-A01E-D1F3E7C99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86400"/>
            <a:ext cx="103327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300" b="0" i="1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Both clients share permission outcomes and backend-owned metric definitions—not duplicated business logic.</a:t>
            </a:r>
          </a:p>
        </p:txBody>
      </p:sp>
    </p:spTree>
    <p:extLst>
      <p:ext uri="{BB962C8B-B14F-4D97-AF65-F5344CB8AC3E}">
        <p14:creationId xmlns:p14="http://schemas.microsoft.com/office/powerpoint/2010/main" val="94218213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CFA489E-9DAC-4248-8FEB-826A6CB4C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39CC439-4455-4E44-A77B-2C08FAEB5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90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943A7C4-9603-41A2-8C6E-B22084825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7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A decision creates evidence for the next one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76E7FCD-75AF-4DB7-951F-B87AABD19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024128"/>
            <a:ext cx="12801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90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7D5458C-1F63-4E88-B7C2-BA2D6D993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FoodMind · Team 5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A167063-F1DA-4610-8C2D-5423BD930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73952"/>
            <a:ext cx="731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B29221B-92B5-44DB-A9DF-7D4467C51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371600"/>
            <a:ext cx="5486400" cy="4206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B28ED023-5264-4B5A-842D-0BEEDDEBC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371600"/>
            <a:ext cx="5486400" cy="822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90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13A54D5-D7CB-40EA-9D3D-D880CF29A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600200"/>
            <a:ext cx="49377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9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Dashboard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44E66D5-6437-4A82-9D7A-C55946DFC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240280"/>
            <a:ext cx="4937760" cy="3108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Backend-owned metrics make spending, cuisine mix, recommendation outcomes and history consistent on Web and Android.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6F3E8CF-9E03-4A60-9C14-8D1F52697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371600"/>
            <a:ext cx="5486400" cy="4206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F8EA7FF2-4AF9-4148-9609-D06842362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371600"/>
            <a:ext cx="5486400" cy="822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73E8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4FF281B4-8FA7-4167-BB8D-37A2FCD6C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600200"/>
            <a:ext cx="49377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9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Weekly recap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47695925-5645-4E7C-A14B-8B8587991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240280"/>
            <a:ext cx="4937760" cy="3108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A concise time-bounded reflection turns recent choices into a usable conversation—not another dense dashboard.</a:t>
            </a:r>
          </a:p>
        </p:txBody>
      </p:sp>
    </p:spTree>
    <p:extLst>
      <p:ext uri="{BB962C8B-B14F-4D97-AF65-F5344CB8AC3E}">
        <p14:creationId xmlns:p14="http://schemas.microsoft.com/office/powerpoint/2010/main" val="1519662104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D1DF8B92-790F-965A-E032-33EA10561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6589" y="2921168"/>
            <a:ext cx="3658822" cy="10156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6000"/>
              <a:t>Delivery &amp; trust</a:t>
            </a:r>
            <a:endParaRPr sz="6000"/>
          </a:p>
        </p:txBody>
      </p:sp>
    </p:spTree>
    <p:extLst>
      <p:ext uri="{BB962C8B-B14F-4D97-AF65-F5344CB8AC3E}">
        <p14:creationId xmlns:p14="http://schemas.microsoft.com/office/powerpoint/2010/main" val="3320352022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4A7325A-EF64-4963-9DD1-DA542B7F7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20876EF-2E33-458C-956B-61C32210D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90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715EE6F-9684-43B0-B146-6D1C57A5D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7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Quality gates travel with the contract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FB25644-9E01-4F45-BF25-795C6B617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024128"/>
            <a:ext cx="12801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90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54C4E5E-99A2-4EC9-92F2-E08BCEE27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FoodMind · Team 5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B5DFE28-CC4F-4664-A4DB-B21C45280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73952"/>
            <a:ext cx="731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>
        <p:nvPicPr>
          <p:cNvPr id="17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8138cc748e42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43221" y="1234440"/>
            <a:ext cx="3875078" cy="3108960"/>
          </a:xfrm>
          <a:prstGeom xmlns:a="http://schemas.openxmlformats.org/drawingml/2006/main" prst="rect">
            <a:avLst/>
          </a:prstGeom>
        </p:spPr>
      </p:pic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1C4B285-140A-4F34-A4C5-05951750D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526280"/>
            <a:ext cx="1051560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3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Backend validates OpenAPI and tests the Spring Boot boundary. Web verifies API coverage, lint, types, tests and production build. Intelligence validates contracts, security tests, dependency/secret/image scans and SBOM evidence.</a:t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3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3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The point is not a pipeline diagram—it is preventing cross-repository drift before it reaches a user.</a:t>
            </a:r>
          </a:p>
        </p:txBody>
      </p:sp>
    </p:spTree>
    <p:extLst>
      <p:ext uri="{BB962C8B-B14F-4D97-AF65-F5344CB8AC3E}">
        <p14:creationId xmlns:p14="http://schemas.microsoft.com/office/powerpoint/2010/main" val="1239659053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3CC8141-B789-4E51-B191-19925C597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4302A7D-0872-4FBE-B793-B33CF5F8D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90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5D9E16D-C31C-4603-980E-307938175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7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Private models must be verifiable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3E4ED19-FAE5-43F6-AB28-D2A3D7E5A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024128"/>
            <a:ext cx="12801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90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7C7CA4D-DE76-41E0-A7CF-1DE7BE64E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FoodMind · Team 5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1C0BBB0-6DB6-4B19-918B-C0BAFCDFD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73952"/>
            <a:ext cx="731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74C2C33-3593-49C5-9205-F18249EAF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371600"/>
            <a:ext cx="10515600" cy="3931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200">
                <a:solidFill>
                  <a:srgbClr val="24313A"/>
                </a:solidFill>
              </a:defRPr>
            </a:pPr>
            <a:r>
              <a:rPr sz="1200" b="1" i="0">
                <a:solidFill>
                  <a:srgbClr val="24313A"/>
                </a:solidFill>
                <a:latin typeface="Calibri"/>
                <a:ea typeface="Calibri"/>
                <a:cs typeface="Calibri"/>
              </a:rPr>
              <a:t>Model package guard</a:t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200">
                <a:solidFill>
                  <a:srgbClr val="24313A"/>
                </a:solidFill>
              </a:defRPr>
            </a:pPr>
            <a:r>
              <a:rPr sz="1200" b="1" i="0">
                <a:solidFill>
                  <a:srgbClr val="24313A"/>
                </a:solidFill>
                <a:latin typeface="Calibri"/>
                <a:ea typeface="Calibri"/>
                <a:cs typeface="Calibri"/>
              </a:rPr>
              <a:t>digest = hashlib.sha256(artifact.read_bytes()).hexdigest()</a:t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200">
                <a:solidFill>
                  <a:srgbClr val="24313A"/>
                </a:solidFill>
              </a:defRPr>
            </a:pPr>
            <a:r>
              <a:rPr sz="1200" b="1" i="0">
                <a:solidFill>
                  <a:srgbClr val="24313A"/>
                </a:solidFill>
                <a:latin typeface="Calibri"/>
                <a:ea typeface="Calibri"/>
                <a:cs typeface="Calibri"/>
              </a:rPr>
              <a:t>if digest != manifest["artifactSha256"]:</a:t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200">
                <a:solidFill>
                  <a:srgbClr val="24313A"/>
                </a:solidFill>
              </a:defRPr>
            </a:pPr>
            <a:r>
              <a:rPr sz="1200" b="1" i="0">
                <a:solidFill>
                  <a:srgbClr val="24313A"/>
                </a:solidFill>
                <a:latin typeface="Calibri"/>
                <a:ea typeface="Calibri"/>
                <a:cs typeface="Calibri"/>
              </a:rPr>
              <a:t>    raise ModelPackageError("model artifact checksum mismatch")</a:t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200">
                <a:solidFill>
                  <a:srgbClr val="24313A"/>
                </a:solidFill>
              </a:defRPr>
            </a:pPr>
            <a:r>
              <a:rPr sz="1200" b="1" i="0">
                <a:solidFill>
                  <a:srgbClr val="24313A"/>
                </a:solidFill>
                <a:latin typeface="Calibri"/>
                <a:ea typeface="Calibri"/>
                <a:cs typeface="Calibri"/>
              </a:rPr>
              <a:t>The runtime also rejects incompatible schemas, invalid tensor shapes and non-local packages. User authorisation remains in Spring Boot; private services receive only service-scoped requests.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FBE4125-E241-4654-9DF8-699288A07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486400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>
                <a:solidFill>
                  <a:srgbClr val="C44607"/>
                </a:solidFill>
                <a:latin typeface="Calibri"/>
                <a:ea typeface="Calibri"/>
                <a:cs typeface="Calibri"/>
              </a:rPr>
              <a:t>Security evidence is presented as implemented controls and repository tests—not a claim of completed production certification.</a:t>
            </a:r>
          </a:p>
        </p:txBody>
      </p:sp>
    </p:spTree>
    <p:extLst>
      <p:ext uri="{BB962C8B-B14F-4D97-AF65-F5344CB8AC3E}">
        <p14:creationId xmlns:p14="http://schemas.microsoft.com/office/powerpoint/2010/main" val="379980299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BF4A6AE-6FBA-4F39-988E-F0690E777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7FE1CC0-D053-4BB4-8C66-B2C855032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90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1CDD781-6776-46C7-84DC-524C3397E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7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Six code paths. One accountable product.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00A93D2-0534-4BF3-865D-5AF90A3E0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024128"/>
            <a:ext cx="12801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90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FACFAEA-6336-416E-B876-B1E4199CD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FoodMind · Team 5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3379870-D335-48A8-AF09-C07BBF51D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73952"/>
            <a:ext cx="731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0BB681D-9CC6-4BFF-B09B-1234C2D94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37160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600" b="1" i="0">
                <a:solidFill>
                  <a:srgbClr val="E8590C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4B86783-D6C8-4729-BE5D-E83DFD11E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371600"/>
            <a:ext cx="97840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1  Safe candidates first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A81761A-7E65-4399-A41B-FC7298007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874520"/>
            <a:ext cx="978408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HardFilterPipeline evaluates each candidate against allergen, dietary, budget, spice, repeat, distance, time and cleanliness policy before ranking.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4883C9F-7D0C-4BDA-80F3-569A98B90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06324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600" b="1" i="0">
                <a:solidFill>
                  <a:srgbClr val="E8590C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8EE6B28-C1C7-4464-84AD-856944376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063240"/>
            <a:ext cx="97840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2  Ranking with a boundary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617171D7-7207-436F-9067-6DF2D7F44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566160"/>
            <a:ext cx="978408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The ML pipeline fits a Logistic Regression over explicit feature availability; its current offline evidence stays labelled project-stage.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E4B1B318-1870-4450-8776-07AA5EFD2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75488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600" b="1" i="0">
                <a:solidFill>
                  <a:srgbClr val="E8590C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93BC7C9-0908-400C-AD70-FEF131F0C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754880"/>
            <a:ext cx="97840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3  Contract parity by design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9EA05A2E-B004-495C-86A7-31536C46F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257800"/>
            <a:ext cx="978408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Android rejects any API drift from the committed 84-operation OpenAPI snapshot; Web applies its own snapshot and usage coverage checks.</a:t>
            </a:r>
          </a:p>
        </p:txBody>
      </p:sp>
    </p:spTree>
    <p:extLst>
      <p:ext uri="{BB962C8B-B14F-4D97-AF65-F5344CB8AC3E}">
        <p14:creationId xmlns:p14="http://schemas.microsoft.com/office/powerpoint/2010/main" val="1480213364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7DB31C0-662B-45FF-A6BE-7F0DFA28C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1A5FCF8-CC73-4606-8DE2-4055AA577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90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744D86D-4CD6-4B65-8AFE-B31ADB066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0515600" cy="41549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700" b="1" i="0">
                <a:solidFill>
                  <a:srgbClr val="1F2937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</a:rPr>
              <a:t>Six repositories. One delivery boundary.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F1FDBEC-FE83-43BC-B19C-52E327A43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024128"/>
            <a:ext cx="12801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90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C193E15-0C12-4EA5-ABD8-25E6FA677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FoodMind · Team 5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8547702-6764-4238-BB2B-79DFA76A4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73952"/>
            <a:ext cx="731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0104FDA8-7DA0-432A-BC20-3A421BC9B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63040"/>
            <a:ext cx="237744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820251B-2A83-411C-ABDF-1DB48B341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63040"/>
            <a:ext cx="23774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600" b="1" i="0">
                <a:solidFill>
                  <a:srgbClr val="C44607"/>
                </a:solidFill>
                <a:latin typeface="Calibri"/>
                <a:ea typeface="Calibri"/>
                <a:cs typeface="Calibri"/>
              </a:rPr>
              <a:t>Web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487D431-FAD7-4930-A757-A0FFDBC6E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804824"/>
            <a:ext cx="8229600" cy="2308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0000"/>
                </a:solidFill>
                <a:latin typeface="Calibri"/>
                <a:ea typeface="Calibri"/>
                <a:cs typeface="Calibri"/>
              </a:rPr>
              <a:t>React · TypeScript</a:t>
            </a:r>
            <a:endParaRPr sz="1500" b="0" i="0">
              <a:solidFill>
                <a:srgbClr val="FF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6E427659-968B-48B5-B6E3-4C43C0BBE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606040"/>
            <a:ext cx="237744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840832D-1557-4557-A494-9CB4C2D12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606040"/>
            <a:ext cx="23774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600" b="1" i="0">
                <a:solidFill>
                  <a:srgbClr val="C44607"/>
                </a:solidFill>
                <a:latin typeface="Calibri"/>
                <a:ea typeface="Calibri"/>
                <a:cs typeface="Calibri"/>
              </a:rPr>
              <a:t>Backend + private services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B3ECB6D-7648-4D3A-A64A-43F719F96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947824"/>
            <a:ext cx="8229600" cy="2308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Spring Boot · FastAPI</a:t>
            </a:r>
            <a:endParaRPr sz="1500" b="0" i="0">
              <a:solidFill>
                <a:srgbClr val="1F2937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241E5CE8-D1BA-4568-B447-538784D90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749040"/>
            <a:ext cx="237744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D0CF1C3-A4BD-452D-8404-F8FFE9EC3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749040"/>
            <a:ext cx="23774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600" b="1" i="0">
                <a:solidFill>
                  <a:srgbClr val="C44607"/>
                </a:solidFill>
                <a:latin typeface="Calibri"/>
                <a:ea typeface="Calibri"/>
                <a:cs typeface="Calibri"/>
              </a:rPr>
              <a:t>Data + model package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3ACAB7C-3CF8-4C6C-AC9B-E547BA26D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90824"/>
            <a:ext cx="8229600" cy="2308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PostgreSQL · ML release</a:t>
            </a:r>
            <a:endParaRPr sz="1500" b="0" i="0">
              <a:solidFill>
                <a:srgbClr val="1F2937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62D2D45E-2982-47C4-A25E-993044822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892040"/>
            <a:ext cx="237744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46E21293-5D17-494E-A8BE-D78017D17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892040"/>
            <a:ext cx="23774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600" b="1" i="0">
                <a:solidFill>
                  <a:srgbClr val="C44607"/>
                </a:solidFill>
                <a:latin typeface="Calibri"/>
                <a:ea typeface="Calibri"/>
                <a:cs typeface="Calibri"/>
              </a:rPr>
              <a:t>Android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63B9425B-8EE5-411E-93DD-C0CC932C2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233824"/>
            <a:ext cx="8229600" cy="2308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50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Kotlin · Compose</a:t>
            </a:r>
            <a:endParaRPr sz="1500" b="0" i="0">
              <a:solidFill>
                <a:srgbClr val="1F2937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1CDCFB0-5B12-489C-B566-F6456C36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126480"/>
            <a:ext cx="1051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300" b="0" i="1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The architecture separates public clients, the system-of-record backend, private agents/inference and offline model development. Deployment claims remain limited to repository-backed evidence.</a:t>
            </a:r>
          </a:p>
        </p:txBody>
      </p:sp>
    </p:spTree>
    <p:extLst>
      <p:ext uri="{BB962C8B-B14F-4D97-AF65-F5344CB8AC3E}">
        <p14:creationId xmlns:p14="http://schemas.microsoft.com/office/powerpoint/2010/main" val="1819305901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81368D1-607E-4A38-9DCF-3AA3A4AE2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8E1D0CE-4BFD-459E-91FF-4C94F2AFD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90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8C1EA4B-9518-4739-A311-0200E7244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05156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700" b="1" i="0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FoodMind makes the next meal an easier yes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D68D758-1173-4EA6-B758-E633417AA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024128"/>
            <a:ext cx="128016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90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33AEDF5-F36E-4708-A798-377C254A0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FoodMind · Team 5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11FD8FC-520B-4F93-B293-5D3DF7B39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73952"/>
            <a:ext cx="731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5B6472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02920" y="1325880"/>
          <a:ext xmlns:a="http://schemas.openxmlformats.org/drawingml/2006/main" cx="11155680" cy="3840480"/>
        </p:xfrm>
        <a:graphic xmlns:a="http://schemas.openxmlformats.org/drawingml/2006/main"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60320"/>
                <a:gridCol w="8595360"/>
              </a:tblGrid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Promise</a:t>
                      </a:r>
                    </a:p>
                  </a:txBody>
                  <a:tcPr marL="91440" marR="91440" marT="38100" marB="38100">
                    <a:solidFill>
                      <a:srgbClr val="E8590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How we keep it accountable</a:t>
                      </a:r>
                    </a:p>
                  </a:txBody>
                  <a:tcPr marL="91440" marR="91440" marT="38100" marB="38100">
                    <a:solidFill>
                      <a:srgbClr val="E8590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A better next meal</a:t>
                      </a:r>
                    </a:p>
                  </a:txBody>
                  <a:tcPr marL="91440" marR="9144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Personal context, trusted groups and clear choices</a:t>
                      </a:r>
                    </a:p>
                  </a:txBody>
                  <a:tcPr marL="91440" marR="91440" marT="25400" marB="254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A safer recommendation</a:t>
                      </a:r>
                    </a:p>
                  </a:txBody>
                  <a:tcPr marL="91440" marR="91440" marT="25400" marB="254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Hard filters before hybrid ranking</a:t>
                      </a:r>
                    </a:p>
                  </a:txBody>
                  <a:tcPr marL="91440" marR="91440" marT="25400" marB="25400">
                    <a:solidFill>
                      <a:srgbClr val="F3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An explainable answer</a:t>
                      </a:r>
                    </a:p>
                  </a:txBody>
                  <a:tcPr marL="91440" marR="9144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Verified reason codes and deterministic fallback</a:t>
                      </a:r>
                    </a:p>
                  </a:txBody>
                  <a:tcPr marL="91440" marR="91440" marT="25400" marB="254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A consistent product</a:t>
                      </a:r>
                    </a:p>
                  </a:txBody>
                  <a:tcPr marL="91440" marR="91440" marT="25400" marB="254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One OpenAPI contract across Web and Android</a:t>
                      </a:r>
                    </a:p>
                  </a:txBody>
                  <a:tcPr marL="91440" marR="91440" marT="25400" marB="25400">
                    <a:solidFill>
                      <a:srgbClr val="F3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A responsible AI boundary</a:t>
                      </a:r>
                    </a:p>
                  </a:txBody>
                  <a:tcPr marL="91440" marR="9144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Private services, validated packages and traceability</a:t>
                      </a:r>
                    </a:p>
                  </a:txBody>
                  <a:tcPr marL="91440" marR="91440" marT="25400" marB="254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A repeatable delivery path</a:t>
                      </a:r>
                    </a:p>
                  </a:txBody>
                  <a:tcPr marL="91440" marR="91440" marT="25400" marB="254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</a:rPr>
                        <a:t>Six repositories with explicit ownership and quality gates</a:t>
                      </a:r>
                    </a:p>
                  </a:txBody>
                  <a:tcPr marL="91440" marR="91440" marT="25400" marB="25400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B34303A-85FD-4243-8DD4-BBF3CC5F9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486400"/>
            <a:ext cx="111556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600" b="1" i="0">
                <a:solidFill>
                  <a:srgbClr val="C44607"/>
                </a:solidFill>
                <a:latin typeface="Calibri"/>
                <a:ea typeface="Calibri"/>
                <a:cs typeface="Calibri"/>
              </a:rPr>
              <a:t>A trusted decision loop—designed for people, backed by accountable technology.</a:t>
            </a:r>
          </a:p>
        </p:txBody>
      </p:sp>
    </p:spTree>
    <p:extLst>
      <p:ext uri="{BB962C8B-B14F-4D97-AF65-F5344CB8AC3E}">
        <p14:creationId xmlns:p14="http://schemas.microsoft.com/office/powerpoint/2010/main" val="73567903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2026-08-16T06:56:53.4900000Z</dcterms:created>
  <dcterms:modified xsi:type="dcterms:W3CDTF">2026-08-16T06:56:53.4900000Z</dcterms:modified>
</coreProperties>
</file>