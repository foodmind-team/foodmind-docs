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e5f39d6e7e43a7" /><Relationship Type="http://schemas.openxmlformats.org/officeDocument/2006/relationships/extended-properties" Target="/docProps/app.xml" Id="Re37fd2b04cc043ce" /><Relationship Type="http://schemas.openxmlformats.org/officeDocument/2006/relationships/officeDocument" Target="/ppt/presentation.xml" Id="Rb48d9c41397a40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b574f5a4eb4d0e"/>
  </p:sldMasterIdLst>
  <p:notesMasterIdLst>
    <p:notesMasterId xmlns:r="http://schemas.openxmlformats.org/officeDocument/2006/relationships" r:id="Rb7e6bb51bc8e4b24"/>
  </p:notesMasterIdLst>
  <p:sldIdLst>
    <p:sldId xmlns:r="http://schemas.openxmlformats.org/officeDocument/2006/relationships" id="256" r:id="R542481026987465d"/>
    <p:sldId xmlns:r="http://schemas.openxmlformats.org/officeDocument/2006/relationships" id="257" r:id="Rf6de84ac1c334031"/>
    <p:sldId xmlns:r="http://schemas.openxmlformats.org/officeDocument/2006/relationships" id="258" r:id="Rf24e7cc957754fc3"/>
    <p:sldId xmlns:r="http://schemas.openxmlformats.org/officeDocument/2006/relationships" id="259" r:id="R32235e5059e544f3"/>
    <p:sldId xmlns:r="http://schemas.openxmlformats.org/officeDocument/2006/relationships" id="260" r:id="R0d3eaa7b8e924cfd"/>
    <p:sldId xmlns:r="http://schemas.openxmlformats.org/officeDocument/2006/relationships" id="261" r:id="R273ffcebd9164cb8"/>
    <p:sldId xmlns:r="http://schemas.openxmlformats.org/officeDocument/2006/relationships" id="262" r:id="Re0d6700dcb6c48aa"/>
    <p:sldId xmlns:r="http://schemas.openxmlformats.org/officeDocument/2006/relationships" id="263" r:id="Ra13997d72d17489a"/>
    <p:sldId xmlns:r="http://schemas.openxmlformats.org/officeDocument/2006/relationships" id="264" r:id="Rbd30775cb4bd4e75"/>
    <p:sldId xmlns:r="http://schemas.openxmlformats.org/officeDocument/2006/relationships" id="265" r:id="Rb43102f739414150"/>
    <p:sldId xmlns:r="http://schemas.openxmlformats.org/officeDocument/2006/relationships" id="266" r:id="R039548f301ef4350"/>
    <p:sldId xmlns:r="http://schemas.openxmlformats.org/officeDocument/2006/relationships" id="267" r:id="R0d6cd7ee4ccb40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6f7710ac054a90" /><Relationship Type="http://schemas.openxmlformats.org/officeDocument/2006/relationships/slideMaster" Target="/ppt/slideMasters/slideMaster1.xml" Id="Ra1b574f5a4eb4d0e" /><Relationship Type="http://schemas.openxmlformats.org/officeDocument/2006/relationships/notesMaster" Target="/ppt/notesMasters/notesMaster1.xml" Id="Rb7e6bb51bc8e4b24" /><Relationship Type="http://schemas.openxmlformats.org/officeDocument/2006/relationships/presProps" Target="/ppt/presProps.xml" Id="R5049e26ce99e435d" /><Relationship Type="http://schemas.openxmlformats.org/officeDocument/2006/relationships/tableStyles" Target="/ppt/tableStyles.xml" Id="Rcd31a63604a04c1a" /><Relationship Type="http://schemas.openxmlformats.org/officeDocument/2006/relationships/slide" Target="/ppt/slides/slide1.xml" Id="R542481026987465d" /><Relationship Type="http://schemas.openxmlformats.org/officeDocument/2006/relationships/slide" Target="/ppt/slides/slide2.xml" Id="Rf6de84ac1c334031" /><Relationship Type="http://schemas.openxmlformats.org/officeDocument/2006/relationships/slide" Target="/ppt/slides/slide3.xml" Id="Rf24e7cc957754fc3" /><Relationship Type="http://schemas.openxmlformats.org/officeDocument/2006/relationships/slide" Target="/ppt/slides/slide4.xml" Id="R32235e5059e544f3" /><Relationship Type="http://schemas.openxmlformats.org/officeDocument/2006/relationships/slide" Target="/ppt/slides/slide5.xml" Id="R0d3eaa7b8e924cfd" /><Relationship Type="http://schemas.openxmlformats.org/officeDocument/2006/relationships/slide" Target="/ppt/slides/slide6.xml" Id="R273ffcebd9164cb8" /><Relationship Type="http://schemas.openxmlformats.org/officeDocument/2006/relationships/slide" Target="/ppt/slides/slide7.xml" Id="Re0d6700dcb6c48aa" /><Relationship Type="http://schemas.openxmlformats.org/officeDocument/2006/relationships/slide" Target="/ppt/slides/slide8.xml" Id="Ra13997d72d17489a" /><Relationship Type="http://schemas.openxmlformats.org/officeDocument/2006/relationships/slide" Target="/ppt/slides/slide9.xml" Id="Rbd30775cb4bd4e75" /><Relationship Type="http://schemas.openxmlformats.org/officeDocument/2006/relationships/slide" Target="/ppt/slides/slide10.xml" Id="Rb43102f739414150" /><Relationship Type="http://schemas.openxmlformats.org/officeDocument/2006/relationships/slide" Target="/ppt/slides/slide11.xml" Id="R039548f301ef4350" /><Relationship Type="http://schemas.openxmlformats.org/officeDocument/2006/relationships/slide" Target="/ppt/slides/slide12.xml" Id="R0d6cd7ee4ccb40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069f9edc214f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7e07e6e255417c" /><Relationship Type="http://schemas.openxmlformats.org/officeDocument/2006/relationships/notesMaster" Target="/ppt/notesMasters/notesMaster1.xml" Id="Rfb6aefa253144f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abdd930fff40a0" /><Relationship Type="http://schemas.openxmlformats.org/officeDocument/2006/relationships/notesMaster" Target="/ppt/notesMasters/notesMaster1.xml" Id="R64163c05ca0040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3768871ba543ed" /><Relationship Type="http://schemas.openxmlformats.org/officeDocument/2006/relationships/notesMaster" Target="/ppt/notesMasters/notesMaster1.xml" Id="Re3b2d23fc5db4b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3e41d3a0a74be7" /><Relationship Type="http://schemas.openxmlformats.org/officeDocument/2006/relationships/notesMaster" Target="/ppt/notesMasters/notesMaster1.xml" Id="R120cea55f72a4c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896dabd65c4fc0" /><Relationship Type="http://schemas.openxmlformats.org/officeDocument/2006/relationships/notesMaster" Target="/ppt/notesMasters/notesMaster1.xml" Id="R51bc4706ff5342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b0b7c1d5c245d5" /><Relationship Type="http://schemas.openxmlformats.org/officeDocument/2006/relationships/notesMaster" Target="/ppt/notesMasters/notesMaster1.xml" Id="Rad96e05301084f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97550e1bf24eae" /><Relationship Type="http://schemas.openxmlformats.org/officeDocument/2006/relationships/notesMaster" Target="/ppt/notesMasters/notesMaster1.xml" Id="Rd00732305de9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22d618659c4935" /><Relationship Type="http://schemas.openxmlformats.org/officeDocument/2006/relationships/notesMaster" Target="/ppt/notesMasters/notesMaster1.xml" Id="R9450a81e752245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4d8ee0fd16454b" /><Relationship Type="http://schemas.openxmlformats.org/officeDocument/2006/relationships/notesMaster" Target="/ppt/notesMasters/notesMaster1.xml" Id="Rc82dae5779ef4b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a2b94b3d364dd0" /><Relationship Type="http://schemas.openxmlformats.org/officeDocument/2006/relationships/notesMaster" Target="/ppt/notesMasters/notesMaster1.xml" Id="R2b9d7a51eb8949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93e12388e14b50" /><Relationship Type="http://schemas.openxmlformats.org/officeDocument/2006/relationships/notesMaster" Target="/ppt/notesMasters/notesMaster1.xml" Id="R2ac9124eaca54c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8facc9d56b4843" /><Relationship Type="http://schemas.openxmlformats.org/officeDocument/2006/relationships/notesMaster" Target="/ppt/notesMasters/notesMaster1.xml" Id="Raa4c5e71eca647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list of DevSecOps tools. It is the evidence path for one staging release: a reviewable change is tested, scanned before registry publication, deployed by immutable digest with short-lived AWS identity, and checked again in the running environment. I will show the design, the latest verified evidence chain, and a five-minute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https://github.com/foodmind-team/foodmind-infra/actions/runs/31976983656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  <a:p xmlns:a="http://schemas.openxmlformats.org/drawingml/2006/main">
            <a:r>
              <a:t>- https://github.com/foodmind-team/foodmind-infra/actions/runs/31977378261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apply fast feedback close to the pull request, then run integration, image, runtime and monitoring controls when an environment exists. This preserves developer speed without pretending that a unit test alone proves a safe deployment.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 repository GitHub Actions workflow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boundary is Spring Boot: Web and Android call /api/v1, not Agent or inference services. Intelligence hosts private Agent and inference workloads. ML remains offline and produces an immutable model package. Infra is the integration and release control plane.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foodmind-backend/README.md</a:t>
            </a:r>
          </a:p>
          <a:p xmlns:a="http://schemas.openxmlformats.org/drawingml/2006/main">
            <a:r>
              <a:t>- foodmind-web/README.md</a:t>
            </a:r>
          </a:p>
          <a:p xmlns:a="http://schemas.openxmlformats.org/drawingml/2006/main">
            <a:r>
              <a:t>- foodmind-ml/README.md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workflows test correctness and run CodeQL and dependency checks at their defined policy thresholds. One important qualification: a failed relevant workflow fails, but universal GitHub required-check enforcement is not yet complete across every repository. That is a hardening action, not a completed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 repository GitHub Actions workflows</a:t>
            </a:r>
          </a:p>
          <a:p xmlns:a="http://schemas.openxmlformats.org/drawingml/2006/main">
            <a:r>
              <a:t>- foodmind-infra/docs/branch-protection-rollout.md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publication workflow builds seven release artifacts. For each candidate, it generates a CycloneDX SBOM, scans before push, and publishes only after the configured fixable Medium-or-higher policy passes. The release manifest records ECR SHA-256 digests, so deploy uses the exact scanned artifact. The Model Package is a one-shot release job, not a continuously running service.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foodmind-infra/.github/workflows/publish-staging.yml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GitHub uses OIDC to assume a short-lived, constrained AWS role; no long-lived AWS access key is stored in the workflow. Systems Manager deploys digest-pinned images to staging EC2 without SSH. If candidate startup or verification fails, the deployment script restores the previous captured image set. This is staging, not a high-availability platform.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foodmind-infra/.github/workflows/deploy-staging.yml</a:t>
            </a:r>
          </a:p>
          <a:p xmlns:a="http://schemas.openxmlformats.org/drawingml/2006/main">
            <a:r>
              <a:t>- foodmind-infra/scripts/cd/deploy-staging.sh</a:t>
            </a:r>
          </a:p>
          <a:p xmlns:a="http://schemas.openxmlformats.org/drawingml/2006/main">
            <a:r>
              <a:t>- https://github.com/foodmind-team/foodmind-infra/actions/runs/31977378261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Here is the latest verified successful chain: Compose validation, secure image publication, deployment, passive DAST, and scheduled smoke performance. The manifest is staging-b7ef36cdb57b-31977105758-1; it records seven immutable ECR digests. I call it latest verified because the public health endpoint does not publish a version string.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https://github.com/foodmind-team/foodmind-infra/actions/runs/31976983656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  <a:p xmlns:a="http://schemas.openxmlformats.org/drawingml/2006/main">
            <a:r>
              <a:t>- https://github.com/foodmind-team/foodmind-infra/actions/runs/31977378261</a:t>
            </a:r>
          </a:p>
          <a:p xmlns:a="http://schemas.openxmlformats.org/drawingml/2006/main">
            <a:r>
              <a:t>- https://github.com/foodmind-team/foodmind-infra/actions/runs/31977624736</a:t>
            </a:r>
          </a:p>
          <a:p xmlns:a="http://schemas.openxmlformats.org/drawingml/2006/main">
            <a:r>
              <a:t>- https://github.com/foodmind-team/foodmind-infra/actions/runs/31992358944</a:t>
            </a:r>
          </a:p>
          <a:p xmlns:a="http://schemas.openxmlformats.org/drawingml/2006/main">
            <a:r>
              <a:t>- https://13.229.2.154.sslip.io/healthz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historical remediation result, not a permanent zero-risk claim. The baseline found 142 fixable Medium-or-higher findings in six images. After OS and dependency remediation and runtime reduction, the declared policy reported zero fixable Medium-or-higher findings across the seven-release-image scan. Unfixed findings and new vulnerabilities still require ongoing monitoring.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foodmind-infra/docs/security/devsecops-security-testing-report-2026-08-14.md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latest 20-request staging smoke had zero errors and a p95 of 876 milliseconds, below the two-second policy. This is a lightweight smoke signal, not a load-capacity claim. ZAP is passive and unauthenticated, and its documented CSP and COEP exceptions remain explicit.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https://github.com/foodmind-team/foodmind-infra/actions/runs/31992358944</a:t>
            </a:r>
          </a:p>
          <a:p xmlns:a="http://schemas.openxmlformats.org/drawingml/2006/main">
            <a:r>
              <a:t>- https://github.com/foodmind-team/foodmind-infra/actions/runs/31977624736</a:t>
            </a:r>
          </a:p>
          <a:p xmlns:a="http://schemas.openxmlformats.org/drawingml/2006/main">
            <a:r>
              <a:t>- https://13.229.2.154.sslip.io/healthz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will open five preloaded tabs: the application PR checks, Compose run 31976983656, publish run 31977105758, deploy run 31977378261, then the release manifest, live health endpoint, DAST and JMeter evidence. I will show summaries and artifacts only; I will not open secrets, tokens, AWS parameter values or environment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https://github.com/foodmind-team/foodmind-infra/actions/runs/31976983656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  <a:p xmlns:a="http://schemas.openxmlformats.org/drawingml/2006/main">
            <a:r>
              <a:t>- https://github.com/foodmind-team/foodmind-infra/actions/runs/31977378261</a:t>
            </a:r>
          </a:p>
          <a:p xmlns:a="http://schemas.openxmlformats.org/drawingml/2006/main">
            <a:r>
              <a:t>- https://github.com/foodmind-team/foodmind-infra/actions/runs/31977624736</a:t>
            </a:r>
          </a:p>
          <a:p xmlns:a="http://schemas.openxmlformats.org/drawingml/2006/main">
            <a:r>
              <a:t>- https://github.com/foodmind-team/foodmind-infra/actions/runs/31992358944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 network is unstable, the repository-relative source files explain the same controls: releases/staging-source.json, the publish workflow, the deployment script and the verification script. Local source explains implementation; successful GitHub Actions artifacts remain the primary operational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foodmind-infra/releases/staging-source.json</a:t>
            </a:r>
          </a:p>
          <a:p xmlns:a="http://schemas.openxmlformats.org/drawingml/2006/main">
            <a:r>
              <a:t>- foodmind-infra/.github/workflows/publish-staging.yml</a:t>
            </a:r>
          </a:p>
          <a:p xmlns:a="http://schemas.openxmlformats.org/drawingml/2006/main">
            <a:r>
              <a:t>- foodmind-infra/scripts/cd/deploy-staging.sh</a:t>
            </a:r>
          </a:p>
          <a:p xmlns:a="http://schemas.openxmlformats.org/drawingml/2006/main">
            <a:r>
              <a:t>- foodmind-infra/scripts/verify-aws-demo.sh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FoodMind has an implemented, evidenced staging release path: digest-pinned image publication, temporary AWS identity, controlled deployment, runtime checks and retained artifacts. The next hardening work is explicit: make the required merge checks universal and retain proof from a deliberate rollback drill.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https://github.com/foodmind-team/foodmind-infra/actions/runs/31977105758</a:t>
            </a:r>
          </a:p>
          <a:p xmlns:a="http://schemas.openxmlformats.org/drawingml/2006/main">
            <a:r>
              <a:t>- https://github.com/foodmind-team/foodmind-infra/actions/runs/31977378261</a:t>
            </a:r>
          </a:p>
          <a:p xmlns:a="http://schemas.openxmlformats.org/drawingml/2006/main">
            <a:r>
              <a:t>- https://github.com/foodmind-team/foodmind-infra/actions/runs/31977624736</a:t>
            </a:r>
          </a:p>
          <a:p xmlns:a="http://schemas.openxmlformats.org/drawingml/2006/main">
            <a:r>
              <a:t>- https://github.com/foodmind-team/foodmind-infra/actions/runs/31992358944</a:t>
            </a:r>
          </a:p>
          <a:p xmlns:a="http://schemas.openxmlformats.org/drawingml/2006/main">
            <a:r>
              <a:t>- foodmind-infra/docs/branch-protection-rollout.md</a:t>
            </a:r>
          </a:p>
          <a:p xmlns:a="http://schemas.openxmlformats.org/drawingml/2006/main">
            <a:r>
              <a:t>- foodmind-infra/scripts/cd/deploy-staging.sh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1208bcaba244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41b69ef1594d78" /><Relationship Type="http://schemas.openxmlformats.org/officeDocument/2006/relationships/slideLayout" Target="/ppt/slideLayouts/slideLayout1.xml" Id="Rcbe91988389c47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e91988389c47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0534dcfd74410" /><Relationship Type="http://schemas.openxmlformats.org/officeDocument/2006/relationships/notesSlide" Target="/ppt/notesSlides/notesSlide1.xml" Id="Rb76510af90194d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4bfc884c24f47" /><Relationship Type="http://schemas.openxmlformats.org/officeDocument/2006/relationships/notesSlide" Target="/ppt/notesSlides/notesSlide2.xml" Id="R504038d9773944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52be7814c41a1" /><Relationship Type="http://schemas.openxmlformats.org/officeDocument/2006/relationships/image" Target="/ppt/media/image.png" Id="Red5c3c9fb0d245c7" /><Relationship Type="http://schemas.openxmlformats.org/officeDocument/2006/relationships/notesSlide" Target="/ppt/notesSlides/notesSlide3.xml" Id="Rcdf4b11aa81f48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837e1839094e88" /><Relationship Type="http://schemas.openxmlformats.org/officeDocument/2006/relationships/notesSlide" Target="/ppt/notesSlides/notesSlide4.xml" Id="Rf4f782216cfe44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7da17de144dc3" /><Relationship Type="http://schemas.openxmlformats.org/officeDocument/2006/relationships/notesSlide" Target="/ppt/notesSlides/notesSlide5.xml" Id="R0421a59841ab4a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89ff446994d51" /><Relationship Type="http://schemas.openxmlformats.org/officeDocument/2006/relationships/notesSlide" Target="/ppt/notesSlides/notesSlide6.xml" Id="Re30f5f9c20c241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1992c5ccb4ade" /><Relationship Type="http://schemas.openxmlformats.org/officeDocument/2006/relationships/notesSlide" Target="/ppt/notesSlides/notesSlide7.xml" Id="Re886298257e642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eaea9a9194a39" /><Relationship Type="http://schemas.openxmlformats.org/officeDocument/2006/relationships/notesSlide" Target="/ppt/notesSlides/notesSlide8.xml" Id="R9a9ba47416c541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84b9556164aa7" /><Relationship Type="http://schemas.openxmlformats.org/officeDocument/2006/relationships/notesSlide" Target="/ppt/notesSlides/notesSlide9.xml" Id="Rc86f5e893d7746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3f1c0d0484418" /><Relationship Type="http://schemas.openxmlformats.org/officeDocument/2006/relationships/notesSlide" Target="/ppt/notesSlides/notesSlide10.xml" Id="Rb6c9b5cd314043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6e3a118524200" /><Relationship Type="http://schemas.openxmlformats.org/officeDocument/2006/relationships/notesSlide" Target="/ppt/notesSlides/notesSlide11.xml" Id="R754508f3929648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500a238784dc7" /><Relationship Type="http://schemas.openxmlformats.org/officeDocument/2006/relationships/notesSlide" Target="/ppt/notesSlides/notesSlide12.xml" Id="R2b6694edd6f948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FF552C-9828-422A-9F7A-0155F39F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5E36E-B7F2-4E1C-B0C4-192CF01A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FoodMind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FDBD3-01A4-4B31-8052-103C8A59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DevSecOps CI/CD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A7A0C-294B-481C-AAD5-8C4FE86B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F8B8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8B8D"/>
                </a:solidFill>
                <a:latin typeface="Aptos"/>
                <a:ea typeface="Aptos"/>
                <a:cs typeface="Aptos"/>
              </a:rPr>
              <a:t>Secure. Observable. Reversible.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31116-FCF9-452A-A6A7-4FA22FEB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A running AWS pipeline that turns every release into verifiable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321A3-6269-4FAE-881B-DA415DFB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8115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CB363F-6F68-4AFF-B061-E7CDF95F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D0F89-C5E5-4145-8046-AD1BFC56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10176-1BA3-46E0-9F0A-71BA4B0E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9A36C-A79A-4DC9-8CDA-5EC3FB34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AC2328-E17E-433F-A64D-90EF729A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8120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80D62-4FC4-443E-ABAA-80548A7B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58115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539B4-FD4A-461A-A26B-5BE4514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6764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3AE7E-E4AD-456B-8804-2C33529C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546389-8D9F-4A55-96D5-5120C5BD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099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456F7E-BA1F-4FB0-B0A7-E7567691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0515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97DE7F-DF98-4097-9266-2358B345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Package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A13A4-D528-439C-9A17-ADC7BB00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099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460D98-1CB5-465D-99BF-559AEED7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0515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1F086-2BDD-4A0C-AD8B-E9C5EE7F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0995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Deploy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5FCD93-F671-41EC-A2F8-D1439781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099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0E0448-C230-42D0-A85C-9B32A4BA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0515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82FC18-1650-49CF-AAA4-C0A04862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40995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15F017-FA02-4F9C-819C-911769DC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19 AUGUST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311DFF-AB8B-48A4-8BBA-C0EDCCEF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SA4106 • AD Project</a:t>
            </a:r>
          </a:p>
        </p:txBody>
      </p:sp>
    </p:spTree>
    <p:extLst>
      <p:ext uri="{BB962C8B-B14F-4D97-AF65-F5344CB8AC3E}">
        <p14:creationId xmlns:p14="http://schemas.microsoft.com/office/powerpoint/2010/main" val="18780114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981C70-7452-498C-9698-69ED5A94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DESIGN PRINCIPLE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CA48D-B5BE-424E-AED5-C67AC024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course model becomes an operating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8CF2F-9E5F-4F7E-8E96-E3D7BF6D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B78F1-ED3B-46E3-A03C-BBE0308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C722EF-1C05-4358-B3FC-3528BB5A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5B74F-8912-4F70-A041-7156A9D7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BCB73-14A8-45F0-8F2F-0CFC7F43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Reviewable 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949BD-A0F4-4BFD-AA40-47237219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E7041-8D30-4525-BDDB-75ED6741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F7D03-E4C5-47C0-9AA0-2D0E0F2F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D7AC8E-2CB5-443F-A1D3-E6392C4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SAST • SCA • repository-specific secret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D4126B-C4C4-4611-8491-217519C5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FCA20F-D62C-48FA-8B7B-F9E8CA9B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0A2DC-28D8-44A4-A547-47D9BA5B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Set 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B9D1A-E83C-400D-9339-DE2236C1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Compose • IaC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496B48-7797-4FF0-8373-04E3A012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52C1D-84BA-4A44-B020-D4BA5E65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56371E-3F9D-474A-8E46-DA30282B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AE4ED8-181C-4549-B545-7476D520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Unit • integration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CDD2A3-B073-47CC-A3B0-67818769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A600B0-E2F3-4630-983F-C54CF72B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74B04D-36C3-44AA-8624-376FCA7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Deploy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E895FA-2E27-4A2A-A601-8EDE6E96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Digest • OIDC • SSM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88592-16C0-48D5-8855-B7EF945A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B316B9-C5DD-442C-8FE2-14F52736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E11035-03CE-43DF-8E5E-ECC1273D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E45F1C-F9C9-48DF-8D8A-EFD02410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ZAP • JMeter • logs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3BC2FB-625D-4277-B60D-BA2104C1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384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3BD889-0C4A-47B9-A022-3238704E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860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1B600B-508E-49FD-958A-BC28CD4B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190750"/>
            <a:ext cx="12573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Repeat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207C7B-3DBE-4DBD-A01F-FBA5A9F3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337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Evidence → backlog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711801-69D1-433A-A5D8-0E30BBDE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10629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674F69-5CAD-4424-8989-8A5CA19F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Fast feedback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2FE9F5-9F47-4466-AE47-C9D6FE4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PR checks finish early and close to the developer.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42D460-5367-4C17-8B99-B3719DC1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52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Release assurance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9819EC-D6E0-4F7D-B72A-20BD9BB0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149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Integration, DAST and performance run at the correct later stage.</a:t>
            </a:r>
          </a:p>
        </p:txBody>
      </p:sp>
    </p:spTree>
    <p:extLst>
      <p:ext uri="{BB962C8B-B14F-4D97-AF65-F5344CB8AC3E}">
        <p14:creationId xmlns:p14="http://schemas.microsoft.com/office/powerpoint/2010/main" val="21412279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5c3c9fb0d245c7"/>
          <a:stretch xmlns:a="http://schemas.openxmlformats.org/drawingml/2006/main"/>
        </p:blipFill>
        <p:spPr>
          <a:xfrm xmlns:a="http://schemas.openxmlformats.org/drawingml/2006/main">
            <a:off x="952500" y="0"/>
            <a:ext cx="10287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AC69B-E774-4124-B57C-BD9B63C4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341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4502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09682-D597-4337-8C11-6E915889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CONTINUOUS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DB1C6-9E99-4956-8521-20CD1051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Pull requests stop defects before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B01C4-4A59-48F1-9F39-D30614DF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93FA1-05EB-4EA1-96F3-46BC048A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55733-FB6B-40DD-AD84-A1B57437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06EEB-3105-472F-BB9C-60E0B8E4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47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Correctness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30DE89-D24F-4DE6-B150-49CC4BD8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4787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58EAE-2EAB-41F0-A711-521E0B64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954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B380F-8F04-4018-88E4-C9A8A289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288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Lint • type • unit • contract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7AA34-352B-4310-9888-5882AE6E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47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CodeQL SAST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2BBD1-7A4F-40C9-8974-5DF7055C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0512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4D9BD-3B51-4EFC-B723-50B6F61A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527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5C21DE-A141-40A8-B080-5FC5CEBF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8605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security-extended queries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68433D-F6D0-4508-901F-C39DF980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247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EE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B46A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B46A1"/>
                </a:solidFill>
                <a:latin typeface="Aptos"/>
                <a:ea typeface="Aptos"/>
                <a:cs typeface="Aptos"/>
              </a:rPr>
              <a:t>Dependency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80F5E-D6F3-42A8-AAC3-3273DDD8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6237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6524-35CB-48D9-8267-B1F9790E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099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7022BF-36C2-4DB0-8A93-9BDAC4CC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4330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Medium+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99C21D-DFF2-4B71-9573-C7601743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2476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031E3C-0A63-402B-AEDC-D733FC4A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1962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3D0F1-B78D-482D-B830-83BAF732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672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0272BB-8DB7-48BC-9EAF-AC24AA3E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0055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SARIF • tests • artifacts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6684DE-9878-45CF-B795-F997064F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381250" cy="30289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E6B8B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A90099-5B8B-440F-B1EC-EE343480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336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BLOCK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F72AAC-DA9D-4EBA-8867-45B87414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24150"/>
            <a:ext cx="1924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Medium+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CC699-29E5-4046-A3FA-C34562A0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909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RELEVANT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18408-1556-4552-B906-1660F674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Relevant workflows fail at their policy threshold.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E41E2D-201E-4A00-9E85-B18143AC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72125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Controls vary by repository; Android has no workflow secret scan.</a:t>
            </a:r>
          </a:p>
        </p:txBody>
      </p:sp>
    </p:spTree>
    <p:extLst>
      <p:ext uri="{BB962C8B-B14F-4D97-AF65-F5344CB8AC3E}">
        <p14:creationId xmlns:p14="http://schemas.microsoft.com/office/powerpoint/2010/main" val="1608657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69B5C2-35E3-4BB6-88BB-B9FFCEC8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SECURE SUPPLY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3FC49-80FF-4C86-81B8-79D21F96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release is scanned before it reaches the registry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D76E0-A4BE-4D3A-A50B-DDF4452C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62456-385A-4753-BB76-5F5AFCD7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4A1F5-9C0F-4DE3-B9D0-77513672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71E09-BD77-45EF-8DB7-4091961D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2095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58E224-8871-4F8B-BFC7-FBDE7D01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7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60998-D2DF-486F-9A19-A1036920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7172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DC75E-363B-46B8-9AB9-DAC4D8C1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193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EFE06-F148-4386-A23B-22C0DEC1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38350"/>
            <a:ext cx="2095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SBOM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0EA22-6BB4-4F10-AAF3-9A17F863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90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D0166-8198-403E-B284-8A73E024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7172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F844B-1376-4657-8CF2-20974998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193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138BB-7874-4201-9308-1873E94B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38350"/>
            <a:ext cx="2095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TRIVY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078BF-3EEA-49D1-851B-CE61F898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90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Fixable Medium+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EB156-D47E-4314-9642-5F56886D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71725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0AD274-2048-4524-8CB5-97EF564B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193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0107C-B977-4E84-8D50-A7B55321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038350"/>
            <a:ext cx="2095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E8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27A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27A2C"/>
                </a:solidFill>
                <a:latin typeface="Aptos"/>
                <a:ea typeface="Aptos"/>
                <a:cs typeface="Aptos"/>
              </a:rPr>
              <a:t>ECR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EF3874-9532-4B48-91BC-18542691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90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SHA-256 digest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B8D751-4B6F-49A3-B737-D48352DB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3FEBD9-F0C7-47A6-9DA8-352225F3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02191-8553-4B9A-BBCE-FE81630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44A59E-9184-458D-9311-A0C0EA27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Web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FCF490-4F9A-4F67-A37C-56D12AB6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E641CF-A17C-4309-80E4-B2BCABE0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Inference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7D3402-2215-4E1B-8CBD-8E357DB2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41C305-ACDF-4E18-B688-74DB67A6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BDB13E-5D7C-404E-B7B1-D74AB631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C2A43A-C355-4575-8923-3DA950F5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Cooking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0C80CA-0D2D-4093-BC28-343035C0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800B4A-3E82-418A-B866-51E54CD9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B09A47-352E-4EC5-95EE-FBAA17EC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910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405C32-3FFB-48F1-B1A1-A55BE3F8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14337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Model Package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1C8529-1BFB-433C-BFB0-EC04669A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050CF5-BCAA-4CAC-98FB-418EDE66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Ordering guarantee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03651B-7EC4-4425-BA44-08E10B2E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816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Scan before push: blocks fixable Medium+; SBOM + Trivy JSON retained.</a:t>
            </a:r>
          </a:p>
        </p:txBody>
      </p:sp>
    </p:spTree>
    <p:extLst>
      <p:ext uri="{BB962C8B-B14F-4D97-AF65-F5344CB8AC3E}">
        <p14:creationId xmlns:p14="http://schemas.microsoft.com/office/powerpoint/2010/main" val="15631266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F778EA-18BE-486A-A315-47B4A443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CONTINUOUS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6B154-2071-492A-8A50-5BB8AC36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AWS credentials are temporary; a rollback path is automated.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FDA1D-1901-40F1-AC76-23107728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307AC-7EB0-4850-B6E3-653C4BBA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7F077-2116-4A54-A8DC-77E4C5D1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074AA-9FC4-4836-A90E-5815FA8B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1526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GitHub OIDC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ED302-C332-48B3-AD6B-C2796843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EB2CE7-7EEA-4972-8B2D-D94B48C8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8600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81DAC-2175-4AE3-BAB0-5E152605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1336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D69DEE-4E3C-4B6E-AF4C-F1D06FA3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62150"/>
            <a:ext cx="21526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AWS IAM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53A37-74FF-4590-AFF0-1403EBA7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575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Short-lived role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A7DB-3C4D-4571-991E-808F83E8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8600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4A443-C34E-471E-83CB-EFF4F3FA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336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5B419-EBED-4847-B318-DF75DEC0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62150"/>
            <a:ext cx="21526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3EE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Systems Manager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7F658-46D3-4F66-B7E6-AB5B171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Controlled deploy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49D38-AE7E-4F59-A414-88483081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8600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B493D-9ED2-4159-B5DF-62D9B94E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1336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8991E-8011-4F36-8182-B5FAC51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62150"/>
            <a:ext cx="21526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3E8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  <p:txBody>
          <a:bodyPr xmlns:a="http://schemas.openxmlformats.org/drawingml/2006/main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EC2 Compose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8D7178-D2B2-46C4-8448-1473A248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Digest-pinned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7088EB-3FC4-4A9A-8B91-EB1F3CE9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45910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5DD0A-7F8D-454D-A0AF-819FA419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Readiness passes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386AB-8836-4015-A77D-A692F99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Release remains active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C8D4B-5033-406B-8727-FC83779B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86200"/>
            <a:ext cx="45910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E6B8B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06BF29-3BC3-40E0-8F55-8A9E44DC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Readiness fails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60A728-3AD5-4A65-A46A-1F9C8363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76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Restore captured image set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198C69-5A4D-4437-AC27-DCD9F020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Single-EC2 staging; not HA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2B7B5A-9D0E-4E21-92D2-8F236B32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721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CloudWatch logs + alarms → next backlog</a:t>
            </a:r>
          </a:p>
        </p:txBody>
      </p:sp>
    </p:spTree>
    <p:extLst>
      <p:ext uri="{BB962C8B-B14F-4D97-AF65-F5344CB8AC3E}">
        <p14:creationId xmlns:p14="http://schemas.microsoft.com/office/powerpoint/2010/main" val="11278605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397532-A19B-4016-BC3F-1F148D12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PIPELINE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E29CF-B46E-4092-A4AD-F3D51E0E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Latest verified release: complete evidence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B507-E15C-4C6C-8696-DBEAF016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A867E-6981-4EB8-809E-F8E6D8DD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C0EEE-A6F1-4F4B-B13A-E2FF6FB5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C1943-F4E6-4BAA-8190-17384AB0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30DF6-D0EA-48F3-B120-2776E5F1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4CDD8-14B6-4727-844B-F90E0337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14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Application PRs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43C3C-C39A-4935-86A8-2E1E11AD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145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Tests • CodeQL • SCA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76B02-DFFC-4F62-8A6B-BA8F064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098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71849-2093-4C30-AFFA-8594D622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DDA72-6394-40F9-8605-DE1F3826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AC928-1D3A-4DE9-A15C-886F59EB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336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Compose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5B044-07F7-49AF-A9D5-9B57DA82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Run 31976983656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A1968-5754-4714-8BF1-1B9CEEA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E0810-276D-46B6-88D9-73EA1A29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909D93-3FFD-4DEE-B6C6-B5C977D9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49ECCE-8BCD-4A44-9CEE-850AC855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52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Secure publish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D089F-7909-4C30-89F8-EAFB28A5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52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Run 31977105758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057C72-EBE4-45D8-A945-048D937E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481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514B-0726-4EE6-B47B-CC0502D9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CC4AF-761B-49A6-B612-22C52EB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33FDA0-F860-470A-8C2F-A247D4EB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AWS deployment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33F0D-B849-4BAA-A12E-2762E81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71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Run 31977378261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48580-21EF-4228-A4D2-38FFDA54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755635-FBF1-4FC0-83AC-5E8138A4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034D4A-782E-481A-A957-4B0DCD3E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F96C42-8F5B-4795-91A4-5FCC26CD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91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Assurance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A0265A-D9F8-4471-A34C-78DCD8FA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911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ZAP 31977624736 • JMeter 31992358944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0BCA89-8C7E-43DB-AC77-EF03EE4F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71650"/>
            <a:ext cx="2038350" cy="33718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409BA9-F167-4ADC-97DB-B0C481CF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76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468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LATEST VERIFIED RELEASE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D8D5CE-DD29-4808-A8C4-E76CEF4C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2415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One chain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DBF6AF-2F44-4AB7-999F-013EC415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33750"/>
            <a:ext cx="1428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Show runs, manifest and live staging evidence.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07D3F3-4900-4961-A1B2-61975641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362450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Never expose secrets or tokens.</a:t>
            </a:r>
          </a:p>
        </p:txBody>
      </p:sp>
    </p:spTree>
    <p:extLst>
      <p:ext uri="{BB962C8B-B14F-4D97-AF65-F5344CB8AC3E}">
        <p14:creationId xmlns:p14="http://schemas.microsoft.com/office/powerpoint/2010/main" val="2045490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0A78F5-10A1-442E-AC3E-C12D966C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SECURITY TESTING REPORT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A2CA9-ACEA-49A5-8C62-89B5D57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Security evidence proves detect, fix, and re-scan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58E3E-3740-40E6-A525-367127FB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A231C-915E-4D08-B7CC-9328B4D5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1B092-1E64-4B54-A79B-31FE4B31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C325F-27CF-4D59-8A70-AB7D72BF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HISTORICAL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C2F14-B2F0-447A-A95F-E8F79B64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13906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37076-09BF-469E-AA15-7A0B1FB4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142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99E97-4CC6-4C0B-8027-9B47838C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1390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117 Medium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25 High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71663-C7A8-4319-AC8F-481AA8B3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F3116-0BDF-4EF8-A8FE-15E40A20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812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OS packages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0316A5-67CF-482B-8D75-2460E9E4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289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Pinned dependencies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8E22D-6836-4C95-A2E3-CD37676A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6766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Lean runtime tooling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A8937-2219-487E-AD57-8A7912C5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3852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56508-EDF4-4C8E-B75E-AC7D3BD2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861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B5BFB-1177-4E56-9E20-D2EF316B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38525"/>
            <a:ext cx="914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910525-8F56-4A91-A5FB-03817446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861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431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3BA32-6390-4225-869D-B87CE4B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526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RE-SCAN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7B0B3-05AF-4FB9-865C-A5989E6C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24100"/>
            <a:ext cx="13906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B64E73-4DDF-43C3-A33C-8475A77E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F0A7CE-DCA3-4232-A2AE-603AA864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90950"/>
            <a:ext cx="1390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Fixable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Medium+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4A2D9-0E19-4462-81EB-3362136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Six baseline images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ED0DC-F13E-4FD9-8F87-C7FEFC49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05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Seven release images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F5EDAA-9A70-4D76-B2CF-3BF9AC52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82930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22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Seven release images: 0 fixable Medium+ under declared policy — not zero risk.</a:t>
            </a:r>
          </a:p>
        </p:txBody>
      </p:sp>
    </p:spTree>
    <p:extLst>
      <p:ext uri="{BB962C8B-B14F-4D97-AF65-F5344CB8AC3E}">
        <p14:creationId xmlns:p14="http://schemas.microsoft.com/office/powerpoint/2010/main" val="562625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B7804D-153A-456E-86CC-68D1FA5F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DAST • PERFORMANCE • MONITORING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7E071-7D56-4ED8-9E5B-DE45E235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Latest staging smoke passes post-deployment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FA743-9AC8-4406-B2FF-FE78046F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6EB86-5862-4211-A0A4-32A0F141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29D06-F72C-4325-B326-2A7227E4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A51FA-ADF0-4021-B209-52163559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78B93-84CA-4411-A081-AA01E687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request smoke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45653-2391-4289-B2F0-E59BE43C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19300"/>
            <a:ext cx="19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4A8F85-48DA-4AE0-961B-D3FBD00E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859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F4474-D16E-49EF-887F-A685BF78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error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7D1C3-DC1C-40DF-99E2-CF49F1EF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9300"/>
            <a:ext cx="19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DC882-BBD6-4633-808D-97F00205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876 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25B21-B06B-4A63-94D5-1C1227A5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9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p95 latency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1C992-5E3E-41DE-B5BC-C4E2B3C7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66900"/>
            <a:ext cx="1790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09A0EA-A165-43C2-A16F-CC38F822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764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27C7CF-915E-48A5-A2C9-EB0B4CF0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76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p95 ≤ 2,000 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7D3B8-12DA-45F7-926C-AA176993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p95 budget used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E1C30-1130-42D8-811C-EF3BDC2C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02870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5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5AF52-635B-484C-A293-2E635B84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4505706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DA6F9-EB4A-4D00-9379-DD350A32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876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5C90DA-5FD6-486D-85C4-A1AF769F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338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2,000 ms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4DFCA1-CC46-4A41-A620-DFDEDF28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3143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C51A72-9EFD-4B44-8831-818AD246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578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Passive unauthenticated ZAP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E7130-CD4A-419D-A95B-DDF1E344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105400"/>
            <a:ext cx="3143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AB8427-5B10-40CB-8E87-56D4C1D7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2578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486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Headers; CSP/COEP exceptions documented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8F9680-2856-411E-9A55-54FA0EEF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054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C0CC37-DF8D-4279-9E4E-C6F6139B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257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CloudWatch feedback</a:t>
            </a:r>
          </a:p>
        </p:txBody>
      </p:sp>
    </p:spTree>
    <p:extLst>
      <p:ext uri="{BB962C8B-B14F-4D97-AF65-F5344CB8AC3E}">
        <p14:creationId xmlns:p14="http://schemas.microsoft.com/office/powerpoint/2010/main" val="1026449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397532-A19B-4016-BC3F-1F148D12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LIVE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E29CF-B46E-4092-A4AD-F3D51E0E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Open five screens in this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B507-E15C-4C6C-8696-DBEAF016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A867E-6981-4EB8-809E-F8E6D8DD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C0EEE-A6F1-4F4B-B13A-E2FF6FB5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C1943-F4E6-4BAA-8190-17384AB0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30DF6-D0EA-48F3-B120-2776E5F1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335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4CDD8-14B6-4727-844B-F90E0337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14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PR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43C3C-C39A-4935-86A8-2E1E11AD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145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Application repository • Checks tab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76B02-DFFC-4F62-8A6B-BA8F064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098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71849-2093-4C30-AFFA-8594D622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DDA72-6394-40F9-8605-DE1F3826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AC928-1D3A-4DE9-A15C-886F59EB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336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Compose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5B044-07F7-49AF-A9D5-9B57DA82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Infra Actions • run 31976983656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A1968-5754-4714-8BF1-1B9CEEA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E0810-276D-46B6-88D9-73EA1A29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909D93-3FFD-4DEE-B6C6-B5C977D9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49ECCE-8BCD-4A44-9CEE-850AC855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52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D089F-7909-4C30-89F8-EAFB28A5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52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Infra Actions • run 31977105758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057C72-EBE4-45D8-A945-048D937E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481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514B-0726-4EE6-B47B-CC0502D9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CC4AF-761B-49A6-B612-22C52EB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33FDA0-F860-470A-8C2F-A247D4EB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Deploy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33F0D-B849-4BAA-A12E-2762E81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71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Infra Actions • run 31977378261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48580-21EF-4228-A4D2-38FFDA54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755635-FBF1-4FC0-83AC-5E8138A4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034D4A-782E-481A-A957-4B0DCD3E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F96C42-8F5B-4795-91A4-5FCC26CD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91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Live assurance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A0265A-D9F8-4471-A34C-78DCD8FA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911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Manifest • /healthz • ZAP • JMeter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0BCA89-8C7E-43DB-AC77-EF03EE4F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71650"/>
            <a:ext cx="2038350" cy="33718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409BA9-F167-4ADC-97DB-B0C481CF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76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5–7 MINUTES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D8D5CE-DD29-4808-A8C4-E76CEF4C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2415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10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One evidence chain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DBF6AF-2F44-4AB7-999F-013EC415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33750"/>
            <a:ext cx="1428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A6571"/>
                </a:solidFill>
                <a:latin typeface="Aptos"/>
                <a:ea typeface="Aptos"/>
                <a:cs typeface="Aptos"/>
              </a:rPr>
              <a:t>Pre-open every link in a separate browser tab.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07D3F3-4900-4961-A1B2-61975641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362450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3261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3261E"/>
                </a:solidFill>
                <a:latin typeface="Aptos"/>
                <a:ea typeface="Aptos"/>
                <a:cs typeface="Aptos"/>
              </a:rPr>
              <a:t>Use the guide if Wi-Fi is unstable.</a:t>
            </a:r>
          </a:p>
        </p:txBody>
      </p:sp>
    </p:spTree>
    <p:extLst>
      <p:ext uri="{BB962C8B-B14F-4D97-AF65-F5344CB8AC3E}">
        <p14:creationId xmlns:p14="http://schemas.microsoft.com/office/powerpoint/2010/main" val="2045490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0E05A-5126-4837-93EC-73446F61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LOCAL DEMO BACKUP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B1529-2242-4E9B-BD14-492C1651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Know where every demo artifact lives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0BC20-240F-47D7-ACD6-D2373064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FE904-8C48-4246-8429-CD7FACE1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C322E-CF7E-4537-B9E7-64F9063D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6C0FD-74EA-4816-ACC7-E332E87A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07CA6-71C9-4AC5-BBFC-64F64A37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C6420-2E89-4C24-9CE4-F0078CFF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526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Open foodmind-infra in VS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62951-A041-4953-8B97-CBE4C71B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585FD-E1FA-4091-B21F-B936D78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4DCF8-1025-4542-A808-90B08283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384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releases/staging-source.json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210BE-4265-40D7-B05B-2EC74EB9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6FDA8-9B47-4C49-AC89-B45BA203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E7F62-74F9-4D2D-A4D7-3AD3B0FB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242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.github/workflows/publish-staging.yml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B5B1E-F385-4E3F-A768-A52BE383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0B03E-5E02-4B4C-8668-00253F6B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ED94DA-00F6-4646-8AEC-651A4BAB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00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scripts/cd/deploy-staging.sh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F45EEA-D447-4B23-A7C5-CE900F69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B1CF22-000B-46A6-962C-BBB42A0B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D97196-627E-4723-904F-2AFD2CB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958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scripts/verify-aws-demo.sh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63FAB-C5B5-4B4E-A29A-4BF009CA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52600"/>
            <a:ext cx="2876550" cy="342900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FC1CC8-4E5C-42CF-8F75-BDBAC319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SAFE COMMANDS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E3CFA-CA4F-4558-B0FE-85E320E8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24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05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GitHub Actions artifacts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4AE0C0-891B-4FC3-96A6-53B2A57C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623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02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gh run list (summaries only)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EB3435-AAB6-4908-A2D9-71B51DFA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0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0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curl /healthz (no secrets)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AE759-8554-4EFC-A480-B2DCE9C3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38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0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check security headers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7B3DD3-072C-4AE0-9F0C-E9E469F1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767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069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Do not open .env or SSM values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BB258-4E46-4D67-ACDF-8E242034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GitHub Actions is primary proof; local files explain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6889367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0E05A-5126-4837-93EC-73446F61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OPERATING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B1529-2242-4E9B-BD14-492C1651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staging release path is implemented and evidenced.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0BC20-240F-47D7-ACD6-D2373064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FE904-8C48-4246-8429-CD7FACE1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FOODMIND  •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C322E-CF7E-4537-B9E7-64F9063D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6C0FD-74EA-4816-ACC7-E332E87A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07CA6-71C9-4AC5-BBFC-64F64A37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C6420-2E89-4C24-9CE4-F0078CFF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526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Security workflows configured; universal merge enforcement next.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62951-A041-4953-8B97-CBE4C71B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585FD-E1FA-4091-B21F-B936D78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4DCF8-1025-4542-A808-90B08283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384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Seven images are scanned before ECR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210BE-4265-40D7-B05B-2EC74EB9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85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6FDA8-9B47-4C49-AC89-B45BA203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E7F62-74F9-4D2D-A4D7-3AD3B0FB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242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release is deployed by immutable digest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B5B1E-F385-4E3F-A768-A52BE383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0B03E-5E02-4B4C-8668-00253F6B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ED94DA-00F6-4646-8AEC-651A4BAB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00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Rollback path implemented; drill evidence next.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F45EEA-D447-4B23-A7C5-CE900F69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B1CF22-000B-46A6-962C-BBB42A0B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D97196-627E-4723-904F-2AFD2CB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958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ZAP, headers and JMeter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63FAB-C5B5-4B4E-A29A-4BF009CA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52600"/>
            <a:ext cx="2876550" cy="342900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E9F6EF"/>
          </a:solidFill>
          <a:ln xmlns:a="http://schemas.openxmlformats.org/drawingml/2006/main" w="9525">
            <a:solidFill>
              <a:srgbClr val="D9E3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FC1CC8-4E5C-42CF-8F75-BDBAC319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LATEST VERIFIED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E3CFA-CA4F-4558-B0FE-85E320E8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24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Infra b7ef36cd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4AE0C0-891B-4FC3-96A6-53B2A57C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623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7 ECR digests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EB3435-AAB6-4908-A2D9-71B51DFA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0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p95 876 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AE759-8554-4EFC-A480-B2DCE9C3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38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PASSIVE ZAP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7B3DD3-072C-4AE0-9F0C-E9E469F1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767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854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854F"/>
                </a:solidFill>
                <a:latin typeface="Aptos"/>
                <a:ea typeface="Aptos"/>
                <a:cs typeface="Aptos"/>
              </a:rPr>
              <a:t>Evidence retained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BB258-4E46-4D67-ACDF-8E242034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A657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1"/>
                </a:solidFill>
                <a:latin typeface="Aptos"/>
                <a:ea typeface="Aptos"/>
                <a:cs typeface="Aptos"/>
              </a:rPr>
              <a:t>Latest: staging-b7ef36cdb57b-31977105758-1</a:t>
            </a:r>
          </a:p>
        </p:txBody>
      </p:sp>
    </p:spTree>
    <p:extLst>
      <p:ext uri="{BB962C8B-B14F-4D97-AF65-F5344CB8AC3E}">
        <p14:creationId xmlns:p14="http://schemas.microsoft.com/office/powerpoint/2010/main" val="6889367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2026-08-17T16:52:28.1480000Z</dcterms:created>
  <dcterms:modified xsi:type="dcterms:W3CDTF">2026-08-17T16:52:28.1480000Z</dcterms:modified>
</coreProperties>
</file>